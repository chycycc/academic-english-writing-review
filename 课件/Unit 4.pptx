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257" r:id="rId2"/>
    <p:sldId id="256" r:id="rId3"/>
    <p:sldId id="258" r:id="rId4"/>
    <p:sldId id="259" r:id="rId5"/>
    <p:sldId id="260" r:id="rId6"/>
    <p:sldId id="261" r:id="rId7"/>
    <p:sldId id="263" r:id="rId8"/>
    <p:sldId id="262" r:id="rId9"/>
    <p:sldId id="264" r:id="rId10"/>
    <p:sldId id="266" r:id="rId11"/>
    <p:sldId id="265" r:id="rId12"/>
    <p:sldId id="267" r:id="rId13"/>
    <p:sldId id="268" r:id="rId14"/>
    <p:sldId id="269" r:id="rId15"/>
    <p:sldId id="270" r:id="rId16"/>
    <p:sldId id="271" r:id="rId17"/>
    <p:sldId id="272" r:id="rId18"/>
    <p:sldId id="273" r:id="rId19"/>
    <p:sldId id="275" r:id="rId20"/>
    <p:sldId id="276" r:id="rId21"/>
    <p:sldId id="277" r:id="rId22"/>
    <p:sldId id="278" r:id="rId23"/>
    <p:sldId id="288" r:id="rId24"/>
    <p:sldId id="290" r:id="rId25"/>
    <p:sldId id="280" r:id="rId26"/>
    <p:sldId id="289" r:id="rId27"/>
    <p:sldId id="281" r:id="rId28"/>
    <p:sldId id="282" r:id="rId29"/>
    <p:sldId id="283" r:id="rId30"/>
    <p:sldId id="284" r:id="rId31"/>
    <p:sldId id="291" r:id="rId32"/>
    <p:sldId id="286" r:id="rId33"/>
    <p:sldId id="287" r:id="rId34"/>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2026/4/7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9"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tags" Target="../tags/tag16.xml"/><Relationship Id="rId7"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s>
</file>

<file path=ppt/slides/_rels/slide5.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Layout" Target="../slideLayouts/slideLayout2.xml"/><Relationship Id="rId5" Type="http://schemas.openxmlformats.org/officeDocument/2006/relationships/tags" Target="../tags/tag24.xml"/><Relationship Id="rId4" Type="http://schemas.openxmlformats.org/officeDocument/2006/relationships/tags" Target="../tags/tag23.xml"/></Relationships>
</file>

<file path=ppt/slides/_rels/slide6.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slideLayout" Target="../slideLayouts/slideLayout2.xml"/><Relationship Id="rId5" Type="http://schemas.openxmlformats.org/officeDocument/2006/relationships/tags" Target="../tags/tag29.xml"/><Relationship Id="rId4" Type="http://schemas.openxmlformats.org/officeDocument/2006/relationships/tags" Target="../tags/tag28.xml"/></Relationships>
</file>

<file path=ppt/slides/_rels/slide7.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Layout" Target="../slideLayouts/slideLayout2.xml"/><Relationship Id="rId5" Type="http://schemas.openxmlformats.org/officeDocument/2006/relationships/tags" Target="../tags/tag34.xml"/><Relationship Id="rId4" Type="http://schemas.openxmlformats.org/officeDocument/2006/relationships/tags" Target="../tags/tag33.xml"/></Relationships>
</file>

<file path=ppt/slides/_rels/slide8.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slideLayout" Target="../slideLayouts/slideLayout2.xml"/><Relationship Id="rId5" Type="http://schemas.openxmlformats.org/officeDocument/2006/relationships/tags" Target="../tags/tag39.xml"/><Relationship Id="rId4" Type="http://schemas.openxmlformats.org/officeDocument/2006/relationships/tags" Target="../tags/tag38.xml"/></Relationships>
</file>

<file path=ppt/slides/_rels/slide9.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slideLayout" Target="../slideLayouts/slideLayout2.xml"/><Relationship Id="rId5" Type="http://schemas.openxmlformats.org/officeDocument/2006/relationships/tags" Target="../tags/tag44.xml"/><Relationship Id="rId4" Type="http://schemas.openxmlformats.org/officeDocument/2006/relationships/tags" Target="../tags/tag43.xml"/></Relationships>
</file>

<file path=ppt/slides/_rels/slide10.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slideLayout" Target="../slideLayouts/slideLayout2.xml"/><Relationship Id="rId5" Type="http://schemas.openxmlformats.org/officeDocument/2006/relationships/tags" Target="../tags/tag49.xml"/><Relationship Id="rId4" Type="http://schemas.openxmlformats.org/officeDocument/2006/relationships/tags" Target="../tags/tag48.xml"/></Relationships>
</file>

<file path=ppt/slides/_rels/slide11.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slideLayout" Target="../slideLayouts/slideLayout2.xml"/><Relationship Id="rId4" Type="http://schemas.openxmlformats.org/officeDocument/2006/relationships/tags" Target="../tags/tag53.xml"/></Relationships>
</file>

<file path=ppt/slides/_rels/slide12.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Layout" Target="../slideLayouts/slideLayout2.xml"/><Relationship Id="rId4" Type="http://schemas.openxmlformats.org/officeDocument/2006/relationships/tags" Target="../tags/tag57.xml"/></Relationships>
</file>

<file path=ppt/slides/_rels/slide13.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slideLayout" Target="../slideLayouts/slideLayout2.xml"/><Relationship Id="rId4" Type="http://schemas.openxmlformats.org/officeDocument/2006/relationships/tags" Target="../tags/tag61.xml"/></Relationships>
</file>

<file path=ppt/slides/_rels/slide14.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slideLayout" Target="../slideLayouts/slideLayout2.xml"/><Relationship Id="rId4" Type="http://schemas.openxmlformats.org/officeDocument/2006/relationships/tags" Target="../tags/tag65.xml"/></Relationships>
</file>

<file path=ppt/slides/_rels/slide15.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slideLayout" Target="../slideLayouts/slideLayout2.xml"/><Relationship Id="rId4" Type="http://schemas.openxmlformats.org/officeDocument/2006/relationships/tags" Target="../tags/tag69.xml"/></Relationships>
</file>

<file path=ppt/slides/_rels/slide16.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slideLayout" Target="../slideLayouts/slideLayout2.xml"/><Relationship Id="rId4" Type="http://schemas.openxmlformats.org/officeDocument/2006/relationships/tags" Target="../tags/tag73.xml"/></Relationships>
</file>

<file path=ppt/slides/_rels/slide17.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slideLayout" Target="../slideLayouts/slideLayout2.xml"/><Relationship Id="rId4" Type="http://schemas.openxmlformats.org/officeDocument/2006/relationships/tags" Target="../tags/tag77.xml"/></Relationships>
</file>

<file path=ppt/slides/_rels/slide18.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slideLayout" Target="../slideLayouts/slideLayout2.xml"/><Relationship Id="rId4" Type="http://schemas.openxmlformats.org/officeDocument/2006/relationships/tags" Target="../tags/tag81.xml"/></Relationships>
</file>

<file path=ppt/slides/_rels/slide19.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slideLayout" Target="../slideLayouts/slideLayout2.xml"/><Relationship Id="rId4" Type="http://schemas.openxmlformats.org/officeDocument/2006/relationships/tags" Target="../tags/tag85.xml"/></Relationships>
</file>

<file path=ppt/slides/_rels/slide20.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slideLayout" Target="../slideLayouts/slideLayout2.xml"/><Relationship Id="rId4" Type="http://schemas.openxmlformats.org/officeDocument/2006/relationships/tags" Target="../tags/tag89.xml"/></Relationships>
</file>

<file path=ppt/slides/_rels/slide21.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slideLayout" Target="../slideLayouts/slideLayout2.xml"/><Relationship Id="rId4" Type="http://schemas.openxmlformats.org/officeDocument/2006/relationships/tags" Target="../tags/tag93.xml"/></Relationships>
</file>

<file path=ppt/slides/_rels/slide22.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5" Type="http://schemas.openxmlformats.org/officeDocument/2006/relationships/slideLayout" Target="../slideLayouts/slideLayout2.xml"/><Relationship Id="rId4" Type="http://schemas.openxmlformats.org/officeDocument/2006/relationships/tags" Target="../tags/tag9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 Id="rId5" Type="http://schemas.openxmlformats.org/officeDocument/2006/relationships/slideLayout" Target="../slideLayouts/slideLayout2.xml"/><Relationship Id="rId4" Type="http://schemas.openxmlformats.org/officeDocument/2006/relationships/tags" Target="../tags/tag101.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slideLayout" Target="../slideLayouts/slideLayout2.xml"/><Relationship Id="rId4" Type="http://schemas.openxmlformats.org/officeDocument/2006/relationships/tags" Target="../tags/tag105.xml"/></Relationships>
</file>

<file path=ppt/slides/_rels/slide28.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slideLayout" Target="../slideLayouts/slideLayout2.xml"/><Relationship Id="rId4" Type="http://schemas.openxmlformats.org/officeDocument/2006/relationships/tags" Target="../tags/tag109.xml"/></Relationships>
</file>

<file path=ppt/slides/_rels/slide29.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slideLayout" Target="../slideLayouts/slideLayout2.xml"/><Relationship Id="rId4" Type="http://schemas.openxmlformats.org/officeDocument/2006/relationships/tags" Target="../tags/tag113.xml"/></Relationships>
</file>

<file path=ppt/slides/_rels/slide30.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slideLayout" Target="../slideLayouts/slideLayout2.xml"/><Relationship Id="rId4" Type="http://schemas.openxmlformats.org/officeDocument/2006/relationships/tags" Target="../tags/tag1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1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2"/>
          <p:cNvSpPr txBox="1"/>
          <p:nvPr>
            <p:custDataLst>
              <p:tags r:id="rId2"/>
            </p:custDataLst>
          </p:nvPr>
        </p:nvSpPr>
        <p:spPr>
          <a:xfrm>
            <a:off x="609600" y="410845"/>
            <a:ext cx="10972800" cy="1326515"/>
          </a:xfrm>
          <a:prstGeom prst="rect">
            <a:avLst/>
          </a:prstGeom>
          <a:solidFill>
            <a:schemeClr val="bg1">
              <a:lumMod val="95000"/>
            </a:schemeClr>
          </a:solidFill>
          <a:effectLst>
            <a:innerShdw blurRad="114300">
              <a:prstClr val="black"/>
            </a:innerShdw>
            <a:softEdge rad="63500"/>
          </a:effectLst>
        </p:spPr>
        <p:txBody>
          <a:bodyPr wrap="square" lIns="63500" tIns="25400" rIns="63500" bIns="25400" rtlCol="0" anchor="t" anchorCtr="0">
            <a:normAutofit fontScale="92500" lnSpcReduction="10000"/>
          </a:bodyPr>
          <a:lstStyle/>
          <a:p>
            <a:pPr indent="0" algn="ctr" fontAlgn="auto">
              <a:lnSpc>
                <a:spcPct val="150000"/>
              </a:lnSpc>
              <a:spcBef>
                <a:spcPts val="0"/>
              </a:spcBef>
              <a:spcAft>
                <a:spcPts val="0"/>
              </a:spcAft>
              <a:buSzPct val="100000"/>
              <a:buNone/>
            </a:pPr>
            <a:r>
              <a:rPr lang="en-US" altLang="zh-CN" sz="3200" b="1">
                <a:solidFill>
                  <a:schemeClr val="accent1"/>
                </a:solidFill>
                <a:uFillTx/>
                <a:latin typeface="Times New Roman" panose="02020603050405020304" charset="0"/>
                <a:ea typeface="微软雅黑" panose="020B0503020204020204" charset="-122"/>
                <a:cs typeface="Times New Roman" panose="02020603050405020304" charset="0"/>
                <a:sym typeface="+mn-ea"/>
              </a:rPr>
              <a:t>Writing English Papers</a:t>
            </a:r>
          </a:p>
          <a:p>
            <a:pPr indent="0" algn="ctr" fontAlgn="auto">
              <a:lnSpc>
                <a:spcPct val="150000"/>
              </a:lnSpc>
              <a:spcBef>
                <a:spcPts val="0"/>
              </a:spcBef>
              <a:spcAft>
                <a:spcPts val="0"/>
              </a:spcAft>
              <a:buSzPct val="100000"/>
              <a:buNone/>
            </a:pPr>
            <a:r>
              <a:rPr lang="zh-CN" altLang="zh-CN" sz="3200" b="1" spc="170">
                <a:solidFill>
                  <a:schemeClr val="accent1"/>
                </a:solidFill>
                <a:uFillTx/>
                <a:latin typeface="Times New Roman" panose="02020603050405020304" charset="0"/>
                <a:ea typeface="微软雅黑" panose="020B0503020204020204" charset="-122"/>
                <a:cs typeface="Times New Roman" panose="02020603050405020304" charset="0"/>
                <a:sym typeface="+mn-ea"/>
              </a:rPr>
              <a:t>《学术英语论文写作》</a:t>
            </a:r>
          </a:p>
        </p:txBody>
      </p:sp>
      <p:pic>
        <p:nvPicPr>
          <p:cNvPr id="7" name="图片 3"/>
          <p:cNvPicPr>
            <a:picLocks noChangeAspect="1"/>
          </p:cNvPicPr>
          <p:nvPr>
            <p:custDataLst>
              <p:tags r:id="rId3"/>
            </p:custDataLst>
          </p:nvPr>
        </p:nvPicPr>
        <p:blipFill rotWithShape="1">
          <a:blip r:embed="rId6"/>
          <a:srcRect t="26602" b="26602"/>
          <a:stretch>
            <a:fillRect/>
          </a:stretch>
        </p:blipFill>
        <p:spPr>
          <a:xfrm>
            <a:off x="609562" y="2042160"/>
            <a:ext cx="10972876" cy="2889261"/>
          </a:xfrm>
          <a:custGeom>
            <a:avLst/>
            <a:gdLst/>
            <a:ahLst/>
            <a:cxnLst>
              <a:cxn ang="3">
                <a:pos x="hc" y="t"/>
              </a:cxn>
              <a:cxn ang="cd2">
                <a:pos x="l" y="vc"/>
              </a:cxn>
              <a:cxn ang="cd4">
                <a:pos x="hc" y="b"/>
              </a:cxn>
              <a:cxn ang="0">
                <a:pos x="r" y="vc"/>
              </a:cxn>
            </a:cxnLst>
            <a:rect l="l" t="t" r="r" b="b"/>
            <a:pathLst>
              <a:path w="17280" h="4320">
                <a:moveTo>
                  <a:pt x="0" y="0"/>
                </a:moveTo>
                <a:lnTo>
                  <a:pt x="17280" y="0"/>
                </a:lnTo>
                <a:lnTo>
                  <a:pt x="17280" y="4320"/>
                </a:lnTo>
                <a:lnTo>
                  <a:pt x="0" y="4320"/>
                </a:lnTo>
                <a:lnTo>
                  <a:pt x="0" y="0"/>
                </a:lnTo>
                <a:close/>
              </a:path>
            </a:pathLst>
          </a:custGeom>
          <a:ln>
            <a:solidFill>
              <a:schemeClr val="accent2">
                <a:lumMod val="20000"/>
                <a:lumOff val="80000"/>
              </a:schemeClr>
            </a:solidFill>
          </a:ln>
          <a:effectLst>
            <a:innerShdw blurRad="114300">
              <a:prstClr val="black"/>
            </a:innerShdw>
          </a:effectLst>
        </p:spPr>
      </p:pic>
      <p:sp>
        <p:nvSpPr>
          <p:cNvPr id="11" name="Title 6"/>
          <p:cNvSpPr txBox="1"/>
          <p:nvPr>
            <p:custDataLst>
              <p:tags r:id="rId4"/>
            </p:custDataLst>
          </p:nvPr>
        </p:nvSpPr>
        <p:spPr>
          <a:xfrm>
            <a:off x="609562" y="5236196"/>
            <a:ext cx="10972800" cy="859804"/>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ctr" fontAlgn="auto">
              <a:lnSpc>
                <a:spcPct val="100000"/>
              </a:lnSpc>
              <a:spcBef>
                <a:spcPts val="0"/>
              </a:spcBef>
              <a:spcAft>
                <a:spcPts val="800"/>
              </a:spcAft>
              <a:buSzPct val="100000"/>
              <a:buNone/>
            </a:pPr>
            <a:r>
              <a:rPr lang="en-US" altLang="zh-CN" sz="2400" kern="0" spc="0">
                <a:ln w="3175">
                  <a:noFill/>
                  <a:prstDash val="dash"/>
                </a:ln>
                <a:solidFill>
                  <a:schemeClr val="tx1">
                    <a:lumMod val="75000"/>
                    <a:lumOff val="25000"/>
                  </a:schemeClr>
                </a:solidFill>
                <a:uFillTx/>
                <a:latin typeface="Times New Roman" panose="02020603050405020304" charset="0"/>
                <a:ea typeface="宋体" panose="02010600030101010101" pitchFamily="2" charset="-122"/>
                <a:cs typeface="Times New Roman" panose="02020603050405020304" charset="0"/>
                <a:sym typeface="+mn-ea"/>
              </a:rPr>
              <a:t>Lecturer: Liu Xindan</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552450"/>
            <a:ext cx="9144000" cy="1113790"/>
          </a:xfrm>
        </p:spPr>
        <p:txBody>
          <a:bodyPr>
            <a:normAutofit/>
          </a:bodyPr>
          <a:lstStyle/>
          <a:p>
            <a:r>
              <a:rPr lang="en-US" altLang="zh-CN" sz="3600" b="1">
                <a:latin typeface="Times New Roman" panose="02020603050405020304" charset="0"/>
                <a:cs typeface="Times New Roman" panose="02020603050405020304" charset="0"/>
              </a:rPr>
              <a:t>Chapter 4 Abstract</a:t>
            </a:r>
          </a:p>
        </p:txBody>
      </p:sp>
      <p:pic>
        <p:nvPicPr>
          <p:cNvPr id="100" name="图片 99"/>
          <p:cNvPicPr/>
          <p:nvPr>
            <p:custDataLst>
              <p:tags r:id="rId1"/>
            </p:custDataLst>
          </p:nvPr>
        </p:nvPicPr>
        <p:blipFill>
          <a:blip r:embed="rId3"/>
          <a:stretch>
            <a:fillRect/>
          </a:stretch>
        </p:blipFill>
        <p:spPr>
          <a:xfrm>
            <a:off x="694055" y="1998980"/>
            <a:ext cx="10975340" cy="381000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endParaRPr lang="en-US" altLang="zh-CN" sz="2800" b="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8" name="圆角矩形 7"/>
          <p:cNvSpPr/>
          <p:nvPr>
            <p:custDataLst>
              <p:tags r:id="rId5"/>
            </p:custDataLst>
          </p:nvPr>
        </p:nvSpPr>
        <p:spPr>
          <a:xfrm>
            <a:off x="1416050" y="2388870"/>
            <a:ext cx="3613785" cy="2625090"/>
          </a:xfrm>
          <a:prstGeom prst="roundRect">
            <a:avLst/>
          </a:prstGeom>
          <a:blipFill rotWithShape="1">
            <a:blip r:embed="rId9"/>
            <a:stretch>
              <a:fillRect/>
            </a:stretch>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2"/>
          <p:cNvSpPr>
            <a:spLocks noGrp="1"/>
          </p:cNvSpPr>
          <p:nvPr>
            <p:custDataLst>
              <p:tags r:id="rId6"/>
            </p:custDataLst>
          </p:nvPr>
        </p:nvSpPr>
        <p:spPr>
          <a:xfrm>
            <a:off x="1456055" y="5166360"/>
            <a:ext cx="3573780" cy="6711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a:latin typeface="Times New Roman" panose="02020603050405020304" charset="0"/>
                <a:cs typeface="Times New Roman" panose="02020603050405020304" charset="0"/>
              </a:rPr>
              <a:t>Contents</a:t>
            </a:r>
          </a:p>
        </p:txBody>
      </p:sp>
      <p:sp>
        <p:nvSpPr>
          <p:cNvPr id="12" name="标题 1"/>
          <p:cNvSpPr>
            <a:spLocks noGrp="1"/>
          </p:cNvSpPr>
          <p:nvPr>
            <p:custDataLst>
              <p:tags r:id="rId7"/>
            </p:custDataLst>
          </p:nvPr>
        </p:nvSpPr>
        <p:spPr>
          <a:xfrm>
            <a:off x="5791200" y="1468120"/>
            <a:ext cx="6293485" cy="47923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pPr>
            <a:r>
              <a:rPr lang="en-US" altLang="zh-CN" sz="2800" b="1" i="1">
                <a:solidFill>
                  <a:schemeClr val="accent2">
                    <a:lumMod val="75000"/>
                  </a:schemeClr>
                </a:solidFill>
                <a:latin typeface="Times New Roman" panose="02020603050405020304" charset="0"/>
                <a:cs typeface="Times New Roman" panose="02020603050405020304" charset="0"/>
              </a:rPr>
              <a:t>1. </a:t>
            </a:r>
            <a:r>
              <a:rPr lang="en-US" altLang="zh-CN" sz="2800">
                <a:latin typeface="Times New Roman" panose="02020603050405020304" charset="0"/>
                <a:cs typeface="Times New Roman" panose="02020603050405020304" charset="0"/>
              </a:rPr>
              <a:t>The Introduction</a:t>
            </a:r>
          </a:p>
          <a:p>
            <a:pPr indent="0" fontAlgn="auto">
              <a:lnSpc>
                <a:spcPct val="200000"/>
              </a:lnSpc>
            </a:pPr>
            <a:r>
              <a:rPr lang="en-US" altLang="zh-CN" sz="2800" b="1" i="1">
                <a:solidFill>
                  <a:schemeClr val="accent2">
                    <a:lumMod val="75000"/>
                  </a:schemeClr>
                </a:solidFill>
                <a:latin typeface="Times New Roman" panose="02020603050405020304" charset="0"/>
                <a:cs typeface="Times New Roman" panose="02020603050405020304" charset="0"/>
              </a:rPr>
              <a:t>2.</a:t>
            </a:r>
            <a:r>
              <a:rPr lang="en-US" altLang="zh-CN" sz="2800">
                <a:latin typeface="Times New Roman" panose="02020603050405020304" charset="0"/>
                <a:cs typeface="Times New Roman" panose="02020603050405020304" charset="0"/>
              </a:rPr>
              <a:t> Types of Abstracts</a:t>
            </a:r>
          </a:p>
          <a:p>
            <a:pPr indent="0" fontAlgn="auto">
              <a:lnSpc>
                <a:spcPct val="200000"/>
              </a:lnSpc>
            </a:pPr>
            <a:r>
              <a:rPr lang="en-US" altLang="zh-CN" sz="2800" b="1" i="1">
                <a:solidFill>
                  <a:schemeClr val="accent2">
                    <a:lumMod val="75000"/>
                  </a:schemeClr>
                </a:solidFill>
                <a:latin typeface="Times New Roman" panose="02020603050405020304" charset="0"/>
                <a:cs typeface="Times New Roman" panose="02020603050405020304" charset="0"/>
              </a:rPr>
              <a:t>3.</a:t>
            </a:r>
            <a:r>
              <a:rPr lang="en-US" altLang="zh-CN" sz="2800">
                <a:latin typeface="Times New Roman" panose="02020603050405020304" charset="0"/>
                <a:cs typeface="Times New Roman" panose="02020603050405020304" charset="0"/>
              </a:rPr>
              <a:t> Qualities of a Good Abstract</a:t>
            </a:r>
          </a:p>
          <a:p>
            <a:pPr algn="l" eaLnBrk="1" hangingPunct="1">
              <a:lnSpc>
                <a:spcPct val="200000"/>
              </a:lnSpc>
              <a:buClrTx/>
              <a:buSzTx/>
              <a:buNone/>
            </a:pPr>
            <a:r>
              <a:rPr lang="en-US" altLang="zh-CN" sz="2800" b="1" i="1">
                <a:solidFill>
                  <a:schemeClr val="accent2">
                    <a:lumMod val="75000"/>
                  </a:schemeClr>
                </a:solidFill>
                <a:latin typeface="Times New Roman" panose="02020603050405020304" charset="0"/>
                <a:cs typeface="Times New Roman" panose="02020603050405020304" charset="0"/>
              </a:rPr>
              <a:t>4. </a:t>
            </a:r>
            <a:r>
              <a:rPr lang="en-US" altLang="zh-CN" sz="2800">
                <a:latin typeface="Times New Roman" panose="02020603050405020304" charset="0"/>
                <a:cs typeface="Times New Roman" panose="02020603050405020304" charset="0"/>
                <a:sym typeface="+mn-ea"/>
              </a:rPr>
              <a:t>Approaches to Writing an Abstract</a:t>
            </a:r>
            <a:endParaRPr lang="en-US" altLang="zh-CN" sz="280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endParaRPr lang="en-US" altLang="zh-CN" sz="2800" b="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custDataLst>
              <p:tags r:id="rId5"/>
            </p:custDataLst>
          </p:nvPr>
        </p:nvSpPr>
        <p:spPr>
          <a:xfrm>
            <a:off x="5992495" y="1501775"/>
            <a:ext cx="6092190" cy="42221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pPr>
            <a:r>
              <a:rPr lang="en-US" altLang="zh-CN" sz="2800" b="1" i="1">
                <a:solidFill>
                  <a:schemeClr val="accent2">
                    <a:lumMod val="75000"/>
                  </a:schemeClr>
                </a:solidFill>
                <a:latin typeface="Times New Roman" panose="02020603050405020304" charset="0"/>
                <a:cs typeface="Times New Roman" panose="02020603050405020304" charset="0"/>
              </a:rPr>
              <a:t>1.1 </a:t>
            </a:r>
            <a:r>
              <a:rPr lang="en-US" altLang="zh-CN" sz="2800">
                <a:latin typeface="Times New Roman" panose="02020603050405020304" charset="0"/>
                <a:cs typeface="Times New Roman" panose="02020603050405020304" charset="0"/>
              </a:rPr>
              <a:t>Definition of Abstract</a:t>
            </a:r>
          </a:p>
          <a:p>
            <a:pPr indent="0" fontAlgn="auto">
              <a:lnSpc>
                <a:spcPct val="200000"/>
              </a:lnSpc>
            </a:pPr>
            <a:r>
              <a:rPr lang="en-US" altLang="zh-CN" sz="2800" b="1" i="1">
                <a:solidFill>
                  <a:schemeClr val="accent2">
                    <a:lumMod val="75000"/>
                  </a:schemeClr>
                </a:solidFill>
                <a:latin typeface="Times New Roman" panose="02020603050405020304" charset="0"/>
                <a:cs typeface="Times New Roman" panose="02020603050405020304" charset="0"/>
              </a:rPr>
              <a:t>1.2</a:t>
            </a:r>
            <a:r>
              <a:rPr lang="en-US" altLang="zh-CN" sz="2800">
                <a:latin typeface="Times New Roman" panose="02020603050405020304" charset="0"/>
                <a:cs typeface="Times New Roman" panose="02020603050405020304" charset="0"/>
              </a:rPr>
              <a:t> Features of Abstracts</a:t>
            </a:r>
          </a:p>
          <a:p>
            <a:pPr indent="0" fontAlgn="auto">
              <a:lnSpc>
                <a:spcPct val="200000"/>
              </a:lnSpc>
            </a:pPr>
            <a:r>
              <a:rPr lang="en-US" altLang="zh-CN" sz="2800" b="1" i="1">
                <a:solidFill>
                  <a:schemeClr val="accent2">
                    <a:lumMod val="75000"/>
                  </a:schemeClr>
                </a:solidFill>
                <a:latin typeface="Times New Roman" panose="02020603050405020304" charset="0"/>
                <a:cs typeface="Times New Roman" panose="02020603050405020304" charset="0"/>
              </a:rPr>
              <a:t>1.3 </a:t>
            </a:r>
            <a:r>
              <a:rPr lang="en-US" altLang="zh-CN" sz="2800">
                <a:latin typeface="Times New Roman" panose="02020603050405020304" charset="0"/>
                <a:cs typeface="Times New Roman" panose="02020603050405020304" charset="0"/>
              </a:rPr>
              <a:t>Content of an Abstract</a:t>
            </a:r>
          </a:p>
        </p:txBody>
      </p:sp>
      <p:pic>
        <p:nvPicPr>
          <p:cNvPr id="102" name="图片 101"/>
          <p:cNvPicPr/>
          <p:nvPr>
            <p:custDataLst>
              <p:tags r:id="rId6"/>
            </p:custDataLst>
          </p:nvPr>
        </p:nvPicPr>
        <p:blipFill>
          <a:blip r:embed="rId8"/>
          <a:stretch>
            <a:fillRect/>
          </a:stretch>
        </p:blipFill>
        <p:spPr>
          <a:xfrm>
            <a:off x="1138555" y="2259330"/>
            <a:ext cx="4479925" cy="2485390"/>
          </a:xfrm>
          <a:prstGeom prst="roundRect">
            <a:avLst/>
          </a:prstGeom>
          <a:noFill/>
          <a:ln w="9525">
            <a:noFill/>
          </a:ln>
          <a:effectLst>
            <a:innerShdw blurRad="114300">
              <a:prstClr val="black"/>
            </a:innerShdw>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custDataLst>
              <p:tags r:id="rId5"/>
            </p:custDataLst>
          </p:nvPr>
        </p:nvSpPr>
        <p:spPr>
          <a:xfrm>
            <a:off x="1535430" y="1501775"/>
            <a:ext cx="9916795" cy="4222115"/>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pPr>
            <a:r>
              <a:rPr lang="en-US" altLang="zh-CN" sz="2800" b="1">
                <a:solidFill>
                  <a:schemeClr val="accent2">
                    <a:lumMod val="75000"/>
                  </a:schemeClr>
                </a:solidFill>
                <a:latin typeface="Times New Roman" panose="02020603050405020304" charset="0"/>
                <a:cs typeface="Times New Roman" panose="02020603050405020304" charset="0"/>
              </a:rPr>
              <a:t>1.1 Definition of Abstract</a:t>
            </a:r>
          </a:p>
          <a:p>
            <a:pPr indent="0" fontAlgn="auto">
              <a:lnSpc>
                <a:spcPct val="200000"/>
              </a:lnSpc>
            </a:pPr>
            <a:r>
              <a:rPr lang="en-US" altLang="zh-CN" sz="2800">
                <a:latin typeface="Times New Roman" panose="02020603050405020304" charset="0"/>
                <a:cs typeface="Times New Roman" panose="02020603050405020304" charset="0"/>
                <a:sym typeface="+mn-ea"/>
              </a:rPr>
              <a:t>An abstract is </a:t>
            </a:r>
            <a:r>
              <a:rPr lang="zh-CN" altLang="zh-CN" sz="2800">
                <a:latin typeface="Times New Roman" panose="02020603050405020304" charset="0"/>
                <a:cs typeface="Times New Roman" panose="02020603050405020304" charset="0"/>
                <a:sym typeface="+mn-ea"/>
              </a:rPr>
              <a:t>a highly condensed version of a longer piece of writing that highlights the major points covered, concisely describes the content and scope of the writing, and reviews the writing</a:t>
            </a:r>
            <a:r>
              <a:rPr lang="en-US" altLang="zh-CN" sz="2800">
                <a:latin typeface="Times New Roman" panose="02020603050405020304" charset="0"/>
                <a:cs typeface="Times New Roman" panose="02020603050405020304" charset="0"/>
                <a:sym typeface="+mn-ea"/>
              </a:rPr>
              <a:t>’</a:t>
            </a:r>
            <a:r>
              <a:rPr lang="zh-CN" altLang="zh-CN" sz="2800">
                <a:latin typeface="Times New Roman" panose="02020603050405020304" charset="0"/>
                <a:cs typeface="Times New Roman" panose="02020603050405020304" charset="0"/>
                <a:sym typeface="+mn-ea"/>
              </a:rPr>
              <a:t>s contents in abbreviated form.</a:t>
            </a:r>
            <a:endParaRPr lang="zh-CN" altLang="zh-CN" sz="2800">
              <a:latin typeface="Times New Roman" panose="02020603050405020304" charset="0"/>
              <a:cs typeface="Times New Roman" panose="02020603050405020304" charset="0"/>
            </a:endParaRPr>
          </a:p>
          <a:p>
            <a:pPr indent="0" fontAlgn="auto">
              <a:lnSpc>
                <a:spcPct val="200000"/>
              </a:lnSpc>
            </a:pPr>
            <a:r>
              <a:rPr lang="en-US" altLang="zh-CN" sz="2800">
                <a:latin typeface="Times New Roman" panose="02020603050405020304" charset="0"/>
                <a:cs typeface="Times New Roman" panose="02020603050405020304" charset="0"/>
              </a:rPr>
              <a:t> </a:t>
            </a:r>
          </a:p>
          <a:p>
            <a:pPr indent="0" fontAlgn="auto">
              <a:lnSpc>
                <a:spcPct val="200000"/>
              </a:lnSpc>
            </a:pPr>
            <a:endParaRPr lang="en-US" altLang="zh-CN" sz="280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custDataLst>
              <p:tags r:id="rId5"/>
            </p:custDataLst>
          </p:nvPr>
        </p:nvSpPr>
        <p:spPr>
          <a:xfrm>
            <a:off x="1550669" y="1809204"/>
            <a:ext cx="9916795" cy="4348480"/>
          </a:xfrm>
          <a:prstGeom prst="rect">
            <a:avLst/>
          </a:prstGeom>
        </p:spPr>
        <p:txBody>
          <a:bodyPr vert="horz" lIns="91440" tIns="45720" rIns="91440" bIns="45720" rtlCol="0" anchor="ctr">
            <a:normAutofit fontScale="5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pPr>
            <a:r>
              <a:rPr lang="en-US" altLang="zh-CN" sz="5335" b="1" dirty="0">
                <a:solidFill>
                  <a:schemeClr val="accent2">
                    <a:lumMod val="75000"/>
                  </a:schemeClr>
                </a:solidFill>
                <a:latin typeface="Times New Roman" panose="02020603050405020304" charset="0"/>
                <a:cs typeface="Times New Roman" panose="02020603050405020304" charset="0"/>
                <a:sym typeface="+mn-ea"/>
              </a:rPr>
              <a:t>1.2 Features of Abstracts</a:t>
            </a:r>
            <a:endParaRPr lang="en-US" altLang="zh-CN" sz="5335" b="1" dirty="0">
              <a:solidFill>
                <a:schemeClr val="accent2">
                  <a:lumMod val="75000"/>
                </a:schemeClr>
              </a:solidFill>
              <a:latin typeface="Times New Roman" panose="02020603050405020304" charset="0"/>
              <a:cs typeface="Times New Roman" panose="02020603050405020304" charset="0"/>
            </a:endParaRPr>
          </a:p>
          <a:p>
            <a:pPr indent="0" fontAlgn="auto">
              <a:lnSpc>
                <a:spcPct val="200000"/>
              </a:lnSpc>
              <a:buFontTx/>
              <a:buNone/>
            </a:pPr>
            <a:r>
              <a:rPr lang="zh-CN" altLang="zh-CN" sz="5335" dirty="0">
                <a:latin typeface="Times New Roman" panose="02020603050405020304" charset="0"/>
                <a:cs typeface="Times New Roman" panose="02020603050405020304" charset="0"/>
                <a:sym typeface="+mn-ea"/>
              </a:rPr>
              <a:t>--avoid repetition;</a:t>
            </a:r>
            <a:endParaRPr lang="zh-CN" altLang="zh-CN" sz="5335" dirty="0">
              <a:latin typeface="Times New Roman" panose="02020603050405020304" charset="0"/>
              <a:cs typeface="Times New Roman" panose="02020603050405020304" charset="0"/>
            </a:endParaRPr>
          </a:p>
          <a:p>
            <a:pPr indent="0" fontAlgn="auto">
              <a:lnSpc>
                <a:spcPct val="200000"/>
              </a:lnSpc>
              <a:buFontTx/>
              <a:buNone/>
            </a:pPr>
            <a:r>
              <a:rPr lang="zh-CN" altLang="zh-CN" sz="5335" dirty="0">
                <a:latin typeface="Times New Roman" panose="02020603050405020304" charset="0"/>
                <a:cs typeface="Times New Roman" panose="02020603050405020304" charset="0"/>
                <a:sym typeface="+mn-ea"/>
              </a:rPr>
              <a:t>--usually are limited to one paragraph of no more than 250 words;</a:t>
            </a:r>
            <a:endParaRPr lang="zh-CN" altLang="zh-CN" sz="5335" dirty="0">
              <a:latin typeface="Times New Roman" panose="02020603050405020304" charset="0"/>
              <a:cs typeface="Times New Roman" panose="02020603050405020304" charset="0"/>
            </a:endParaRPr>
          </a:p>
          <a:p>
            <a:pPr indent="0" fontAlgn="auto">
              <a:lnSpc>
                <a:spcPct val="200000"/>
              </a:lnSpc>
              <a:buFontTx/>
              <a:buNone/>
            </a:pPr>
            <a:r>
              <a:rPr lang="zh-CN" altLang="zh-CN" sz="5335" dirty="0">
                <a:latin typeface="Times New Roman" panose="02020603050405020304" charset="0"/>
                <a:cs typeface="Times New Roman" panose="02020603050405020304" charset="0"/>
                <a:sym typeface="+mn-ea"/>
              </a:rPr>
              <a:t>--can stand alone;</a:t>
            </a:r>
          </a:p>
          <a:p>
            <a:pPr eaLnBrk="1" hangingPunct="1">
              <a:lnSpc>
                <a:spcPct val="90000"/>
              </a:lnSpc>
              <a:buFontTx/>
              <a:buNone/>
            </a:pPr>
            <a:endParaRPr lang="zh-CN" altLang="zh-CN" sz="2800" dirty="0">
              <a:sym typeface="+mn-ea"/>
            </a:endParaRPr>
          </a:p>
          <a:p>
            <a:pPr eaLnBrk="1" hangingPunct="1">
              <a:lnSpc>
                <a:spcPct val="90000"/>
              </a:lnSpc>
              <a:buFontTx/>
              <a:buNone/>
            </a:pPr>
            <a:endParaRPr lang="zh-CN" altLang="zh-CN" sz="2800" dirty="0"/>
          </a:p>
          <a:p>
            <a:pPr indent="0" fontAlgn="auto">
              <a:lnSpc>
                <a:spcPct val="200000"/>
              </a:lnSpc>
            </a:pPr>
            <a:r>
              <a:rPr lang="en-US" altLang="zh-CN" sz="2800" dirty="0">
                <a:latin typeface="Times New Roman" panose="02020603050405020304" charset="0"/>
                <a:cs typeface="Times New Roman" panose="02020603050405020304" charset="0"/>
              </a:rPr>
              <a:t> </a:t>
            </a:r>
          </a:p>
          <a:p>
            <a:pPr indent="0" fontAlgn="auto">
              <a:lnSpc>
                <a:spcPct val="200000"/>
              </a:lnSpc>
            </a:pPr>
            <a:endParaRPr lang="en-US" altLang="zh-CN" sz="28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custDataLst>
              <p:tags r:id="rId5"/>
            </p:custDataLst>
          </p:nvPr>
        </p:nvSpPr>
        <p:spPr>
          <a:xfrm>
            <a:off x="1535430" y="1501775"/>
            <a:ext cx="9916795" cy="5544820"/>
          </a:xfrm>
          <a:prstGeom prst="rect">
            <a:avLst/>
          </a:prstGeom>
        </p:spPr>
        <p:txBody>
          <a:bodyPr vert="horz" lIns="91440" tIns="45720" rIns="91440" bIns="45720" rtlCol="0" anchor="ctr">
            <a:normAutofit fontScale="6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pPr>
            <a:r>
              <a:rPr lang="en-US" altLang="zh-CN" sz="5335" b="1">
                <a:solidFill>
                  <a:schemeClr val="accent2">
                    <a:lumMod val="75000"/>
                  </a:schemeClr>
                </a:solidFill>
                <a:latin typeface="Times New Roman" panose="02020603050405020304" charset="0"/>
                <a:cs typeface="Times New Roman" panose="02020603050405020304" charset="0"/>
                <a:sym typeface="+mn-ea"/>
              </a:rPr>
              <a:t>1.2 Features of Abstracts</a:t>
            </a:r>
            <a:endParaRPr lang="en-US" altLang="zh-CN" sz="5335" b="1">
              <a:solidFill>
                <a:schemeClr val="accent2">
                  <a:lumMod val="75000"/>
                </a:schemeClr>
              </a:solidFill>
              <a:latin typeface="Times New Roman" panose="02020603050405020304" charset="0"/>
              <a:cs typeface="Times New Roman" panose="02020603050405020304" charset="0"/>
            </a:endParaRPr>
          </a:p>
          <a:p>
            <a:pPr indent="0" fontAlgn="auto">
              <a:lnSpc>
                <a:spcPct val="200000"/>
              </a:lnSpc>
              <a:buFontTx/>
              <a:buNone/>
            </a:pPr>
            <a:r>
              <a:rPr lang="zh-CN" altLang="zh-CN" sz="5335">
                <a:latin typeface="Times New Roman" panose="02020603050405020304" charset="0"/>
                <a:cs typeface="Times New Roman" panose="02020603050405020304" charset="0"/>
                <a:sym typeface="+mn-ea"/>
              </a:rPr>
              <a:t>--use the third person;</a:t>
            </a:r>
            <a:endParaRPr lang="zh-CN" altLang="zh-CN" sz="5335">
              <a:latin typeface="Times New Roman" panose="02020603050405020304" charset="0"/>
              <a:cs typeface="Times New Roman" panose="02020603050405020304" charset="0"/>
            </a:endParaRPr>
          </a:p>
          <a:p>
            <a:pPr indent="0" fontAlgn="auto">
              <a:lnSpc>
                <a:spcPct val="200000"/>
              </a:lnSpc>
              <a:buFontTx/>
              <a:buNone/>
            </a:pPr>
            <a:r>
              <a:rPr lang="zh-CN" altLang="zh-CN" sz="5335">
                <a:latin typeface="Times New Roman" panose="02020603050405020304" charset="0"/>
                <a:cs typeface="Times New Roman" panose="02020603050405020304" charset="0"/>
                <a:sym typeface="+mn-ea"/>
              </a:rPr>
              <a:t>--use the passive voice;</a:t>
            </a:r>
            <a:endParaRPr lang="zh-CN" altLang="zh-CN" sz="5335">
              <a:latin typeface="Times New Roman" panose="02020603050405020304" charset="0"/>
              <a:cs typeface="Times New Roman" panose="02020603050405020304" charset="0"/>
            </a:endParaRPr>
          </a:p>
          <a:p>
            <a:pPr indent="0" fontAlgn="auto">
              <a:lnSpc>
                <a:spcPct val="200000"/>
              </a:lnSpc>
              <a:buFontTx/>
              <a:buNone/>
            </a:pPr>
            <a:r>
              <a:rPr lang="zh-CN" altLang="zh-CN" sz="5335">
                <a:latin typeface="Times New Roman" panose="02020603050405020304" charset="0"/>
                <a:cs typeface="Times New Roman" panose="02020603050405020304" charset="0"/>
                <a:sym typeface="+mn-ea"/>
              </a:rPr>
              <a:t>--are highly signposted</a:t>
            </a:r>
            <a:endParaRPr lang="zh-CN" altLang="zh-CN" sz="5335">
              <a:latin typeface="Times New Roman" panose="02020603050405020304" charset="0"/>
              <a:cs typeface="Times New Roman" panose="02020603050405020304" charset="0"/>
            </a:endParaRPr>
          </a:p>
          <a:p>
            <a:pPr eaLnBrk="1" hangingPunct="1">
              <a:lnSpc>
                <a:spcPct val="90000"/>
              </a:lnSpc>
              <a:buFontTx/>
              <a:buNone/>
            </a:pPr>
            <a:endParaRPr lang="zh-CN" altLang="zh-CN" sz="2800">
              <a:sym typeface="+mn-ea"/>
            </a:endParaRPr>
          </a:p>
          <a:p>
            <a:pPr eaLnBrk="1" hangingPunct="1">
              <a:lnSpc>
                <a:spcPct val="90000"/>
              </a:lnSpc>
              <a:buFontTx/>
              <a:buNone/>
            </a:pPr>
            <a:endParaRPr lang="zh-CN" altLang="zh-CN" sz="2800"/>
          </a:p>
          <a:p>
            <a:pPr indent="0" fontAlgn="auto">
              <a:lnSpc>
                <a:spcPct val="200000"/>
              </a:lnSpc>
            </a:pPr>
            <a:r>
              <a:rPr lang="en-US" altLang="zh-CN" sz="2800">
                <a:latin typeface="Times New Roman" panose="02020603050405020304" charset="0"/>
                <a:cs typeface="Times New Roman" panose="02020603050405020304" charset="0"/>
              </a:rPr>
              <a:t> </a:t>
            </a:r>
          </a:p>
          <a:p>
            <a:pPr indent="0" fontAlgn="auto">
              <a:lnSpc>
                <a:spcPct val="200000"/>
              </a:lnSpc>
            </a:pPr>
            <a:endParaRPr lang="en-US" altLang="zh-CN" sz="280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custDataLst>
              <p:tags r:id="rId5"/>
            </p:custDataLst>
          </p:nvPr>
        </p:nvSpPr>
        <p:spPr>
          <a:xfrm>
            <a:off x="1535430" y="1501775"/>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buFontTx/>
              <a:buNone/>
            </a:pPr>
            <a:r>
              <a:rPr lang="en-US" altLang="zh-CN" sz="2400" b="1">
                <a:solidFill>
                  <a:schemeClr val="accent2">
                    <a:lumMod val="75000"/>
                  </a:schemeClr>
                </a:solidFill>
                <a:latin typeface="Times New Roman" panose="02020603050405020304" charset="0"/>
                <a:cs typeface="Times New Roman" panose="02020603050405020304" charset="0"/>
                <a:sym typeface="+mn-ea"/>
              </a:rPr>
              <a:t>1.3 Content of An Abstract</a:t>
            </a:r>
            <a:endParaRPr lang="en-US" altLang="zh-CN" sz="2400" b="1">
              <a:solidFill>
                <a:schemeClr val="accent2">
                  <a:lumMod val="75000"/>
                </a:schemeClr>
              </a:solidFill>
              <a:latin typeface="Times New Roman" panose="02020603050405020304" charset="0"/>
              <a:cs typeface="Times New Roman" panose="02020603050405020304" charset="0"/>
            </a:endParaRPr>
          </a:p>
          <a:p>
            <a:pPr indent="0" fontAlgn="auto">
              <a:lnSpc>
                <a:spcPct val="200000"/>
              </a:lnSpc>
              <a:buFontTx/>
              <a:buNone/>
            </a:pPr>
            <a:r>
              <a:rPr lang="zh-CN" altLang="zh-CN" sz="2400">
                <a:latin typeface="Times New Roman" panose="02020603050405020304" charset="0"/>
                <a:cs typeface="Times New Roman" panose="02020603050405020304" charset="0"/>
                <a:sym typeface="+mn-ea"/>
              </a:rPr>
              <a:t>---a clear statement of the problem</a:t>
            </a:r>
            <a:endParaRPr lang="zh-CN" altLang="zh-CN" sz="2400">
              <a:latin typeface="Times New Roman" panose="02020603050405020304" charset="0"/>
              <a:cs typeface="Times New Roman" panose="02020603050405020304" charset="0"/>
            </a:endParaRPr>
          </a:p>
          <a:p>
            <a:pPr indent="0" fontAlgn="auto">
              <a:lnSpc>
                <a:spcPct val="200000"/>
              </a:lnSpc>
              <a:buFontTx/>
              <a:buNone/>
            </a:pPr>
            <a:r>
              <a:rPr lang="zh-CN" altLang="zh-CN" sz="2400">
                <a:latin typeface="Times New Roman" panose="02020603050405020304" charset="0"/>
                <a:cs typeface="Times New Roman" panose="02020603050405020304" charset="0"/>
                <a:sym typeface="+mn-ea"/>
              </a:rPr>
              <a:t>---the purpose of the paper</a:t>
            </a:r>
            <a:endParaRPr lang="zh-CN" altLang="zh-CN" sz="2400">
              <a:latin typeface="Times New Roman" panose="02020603050405020304" charset="0"/>
              <a:cs typeface="Times New Roman" panose="02020603050405020304" charset="0"/>
            </a:endParaRPr>
          </a:p>
          <a:p>
            <a:pPr indent="0" fontAlgn="auto">
              <a:lnSpc>
                <a:spcPct val="200000"/>
              </a:lnSpc>
              <a:buFontTx/>
              <a:buNone/>
            </a:pPr>
            <a:r>
              <a:rPr lang="zh-CN" altLang="zh-CN" sz="2400">
                <a:latin typeface="Times New Roman" panose="02020603050405020304" charset="0"/>
                <a:cs typeface="Times New Roman" panose="02020603050405020304" charset="0"/>
                <a:sym typeface="+mn-ea"/>
              </a:rPr>
              <a:t>---the methods applied in research</a:t>
            </a:r>
            <a:endParaRPr lang="zh-CN" altLang="zh-CN" sz="2400">
              <a:latin typeface="Times New Roman" panose="02020603050405020304" charset="0"/>
              <a:cs typeface="Times New Roman" panose="02020603050405020304" charset="0"/>
            </a:endParaRPr>
          </a:p>
          <a:p>
            <a:pPr indent="0" fontAlgn="auto">
              <a:lnSpc>
                <a:spcPct val="200000"/>
              </a:lnSpc>
              <a:buFontTx/>
              <a:buNone/>
            </a:pPr>
            <a:r>
              <a:rPr lang="zh-CN" altLang="zh-CN" sz="2400">
                <a:latin typeface="Times New Roman" panose="02020603050405020304" charset="0"/>
                <a:cs typeface="Times New Roman" panose="02020603050405020304" charset="0"/>
                <a:sym typeface="+mn-ea"/>
              </a:rPr>
              <a:t>---where and how you obtain your information</a:t>
            </a:r>
            <a:endParaRPr lang="zh-CN" altLang="zh-CN" sz="2400">
              <a:latin typeface="Times New Roman" panose="02020603050405020304" charset="0"/>
              <a:cs typeface="Times New Roman" panose="02020603050405020304" charset="0"/>
            </a:endParaRPr>
          </a:p>
          <a:p>
            <a:pPr indent="0" fontAlgn="auto">
              <a:lnSpc>
                <a:spcPct val="200000"/>
              </a:lnSpc>
              <a:buFontTx/>
              <a:buNone/>
            </a:pPr>
            <a:r>
              <a:rPr lang="zh-CN" altLang="zh-CN" sz="2400">
                <a:latin typeface="Times New Roman" panose="02020603050405020304" charset="0"/>
                <a:cs typeface="Times New Roman" panose="02020603050405020304" charset="0"/>
                <a:sym typeface="+mn-ea"/>
              </a:rPr>
              <a:t>---how you use the data to make your points</a:t>
            </a:r>
            <a:endParaRPr lang="zh-CN" altLang="zh-CN" sz="2400">
              <a:latin typeface="Times New Roman" panose="02020603050405020304" charset="0"/>
              <a:cs typeface="Times New Roman" panose="02020603050405020304" charset="0"/>
            </a:endParaRPr>
          </a:p>
          <a:p>
            <a:pPr indent="0" fontAlgn="auto">
              <a:lnSpc>
                <a:spcPct val="200000"/>
              </a:lnSpc>
            </a:pPr>
            <a:endParaRPr lang="zh-CN" altLang="zh-CN" sz="240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custDataLst>
              <p:tags r:id="rId5"/>
            </p:custDataLst>
          </p:nvPr>
        </p:nvSpPr>
        <p:spPr>
          <a:xfrm>
            <a:off x="1535430" y="1501775"/>
            <a:ext cx="9916795" cy="40532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buFontTx/>
              <a:buNone/>
            </a:pPr>
            <a:r>
              <a:rPr lang="en-US" altLang="zh-CN" sz="2400" b="1">
                <a:solidFill>
                  <a:schemeClr val="accent2">
                    <a:lumMod val="75000"/>
                  </a:schemeClr>
                </a:solidFill>
                <a:latin typeface="Times New Roman" panose="02020603050405020304" charset="0"/>
                <a:cs typeface="Times New Roman" panose="02020603050405020304" charset="0"/>
                <a:sym typeface="+mn-ea"/>
              </a:rPr>
              <a:t>1.3 Content of An Abstract</a:t>
            </a:r>
            <a:endParaRPr lang="en-US" altLang="zh-CN" sz="2400" b="1">
              <a:solidFill>
                <a:schemeClr val="accent2">
                  <a:lumMod val="75000"/>
                </a:schemeClr>
              </a:solidFill>
              <a:latin typeface="Times New Roman" panose="02020603050405020304" charset="0"/>
              <a:cs typeface="Times New Roman" panose="02020603050405020304" charset="0"/>
            </a:endParaRPr>
          </a:p>
          <a:p>
            <a:pPr indent="0" fontAlgn="auto">
              <a:lnSpc>
                <a:spcPct val="200000"/>
              </a:lnSpc>
              <a:buFontTx/>
              <a:buNone/>
            </a:pPr>
            <a:r>
              <a:rPr lang="zh-CN" altLang="zh-CN" sz="2400">
                <a:latin typeface="Times New Roman" panose="02020603050405020304" charset="0"/>
                <a:cs typeface="Times New Roman" panose="02020603050405020304" charset="0"/>
                <a:sym typeface="+mn-ea"/>
              </a:rPr>
              <a:t>---an outline of your system of analysis</a:t>
            </a:r>
            <a:endParaRPr lang="zh-CN" altLang="zh-CN" sz="2400">
              <a:latin typeface="Times New Roman" panose="02020603050405020304" charset="0"/>
              <a:cs typeface="Times New Roman" panose="02020603050405020304" charset="0"/>
            </a:endParaRPr>
          </a:p>
          <a:p>
            <a:pPr indent="0" fontAlgn="auto">
              <a:lnSpc>
                <a:spcPct val="200000"/>
              </a:lnSpc>
              <a:buFontTx/>
              <a:buNone/>
            </a:pPr>
            <a:r>
              <a:rPr lang="zh-CN" altLang="zh-CN" sz="2400">
                <a:latin typeface="Times New Roman" panose="02020603050405020304" charset="0"/>
                <a:cs typeface="Times New Roman" panose="02020603050405020304" charset="0"/>
                <a:sym typeface="+mn-ea"/>
              </a:rPr>
              <a:t>---statement of your result or finding</a:t>
            </a:r>
            <a:endParaRPr lang="zh-CN" altLang="zh-CN" sz="2400">
              <a:latin typeface="Times New Roman" panose="02020603050405020304" charset="0"/>
              <a:cs typeface="Times New Roman" panose="02020603050405020304" charset="0"/>
            </a:endParaRPr>
          </a:p>
          <a:p>
            <a:pPr indent="0" fontAlgn="auto">
              <a:lnSpc>
                <a:spcPct val="200000"/>
              </a:lnSpc>
              <a:buFontTx/>
              <a:buNone/>
            </a:pPr>
            <a:r>
              <a:rPr lang="zh-CN" altLang="zh-CN" sz="2400">
                <a:latin typeface="Times New Roman" panose="02020603050405020304" charset="0"/>
                <a:cs typeface="Times New Roman" panose="02020603050405020304" charset="0"/>
                <a:sym typeface="+mn-ea"/>
              </a:rPr>
              <a:t>---enlightment of your research</a:t>
            </a:r>
            <a:endParaRPr lang="zh-CN" altLang="zh-CN" sz="2400">
              <a:latin typeface="Times New Roman" panose="02020603050405020304" charset="0"/>
              <a:cs typeface="Times New Roman" panose="02020603050405020304" charset="0"/>
            </a:endParaRPr>
          </a:p>
          <a:p>
            <a:pPr eaLnBrk="1" hangingPunct="1">
              <a:lnSpc>
                <a:spcPct val="90000"/>
              </a:lnSpc>
              <a:buFontTx/>
              <a:buNone/>
            </a:pPr>
            <a:r>
              <a:rPr lang="zh-CN" altLang="zh-CN" sz="2400">
                <a:sym typeface="+mn-ea"/>
              </a:rPr>
              <a:t>   </a:t>
            </a:r>
            <a:endParaRPr lang="en-US" altLang="zh-CN" sz="240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custDataLst>
              <p:tags r:id="rId5"/>
            </p:custDataLst>
          </p:nvPr>
        </p:nvSpPr>
        <p:spPr>
          <a:xfrm>
            <a:off x="1535430" y="1501776"/>
            <a:ext cx="9916795" cy="45215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buFontTx/>
              <a:buNone/>
            </a:pPr>
            <a:r>
              <a:rPr lang="en-US" altLang="zh-CN" sz="2400" dirty="0">
                <a:latin typeface="Times New Roman" panose="02020603050405020304" charset="0"/>
                <a:cs typeface="Times New Roman" panose="02020603050405020304" charset="0"/>
                <a:sym typeface="+mn-ea"/>
              </a:rPr>
              <a:t>     Topic Specification (TS)</a:t>
            </a:r>
            <a:endParaRPr lang="en-US" altLang="zh-CN" sz="2400" dirty="0">
              <a:solidFill>
                <a:schemeClr val="tx1"/>
              </a:solidFill>
              <a:latin typeface="Times New Roman" panose="02020603050405020304" charset="0"/>
              <a:cs typeface="Times New Roman" panose="02020603050405020304" charset="0"/>
              <a:sym typeface="+mn-ea"/>
            </a:endParaRPr>
          </a:p>
          <a:p>
            <a:pPr indent="0" fontAlgn="auto">
              <a:lnSpc>
                <a:spcPct val="200000"/>
              </a:lnSpc>
              <a:buFontTx/>
              <a:buNone/>
            </a:pPr>
            <a:r>
              <a:rPr lang="en-US" altLang="zh-CN" sz="2400" dirty="0">
                <a:latin typeface="Times New Roman" panose="02020603050405020304" charset="0"/>
                <a:cs typeface="Times New Roman" panose="02020603050405020304" charset="0"/>
                <a:sym typeface="+mn-ea"/>
              </a:rPr>
              <a:t>     Background Information (BI)</a:t>
            </a:r>
            <a:endParaRPr lang="en-US" altLang="zh-CN" sz="2400" dirty="0">
              <a:solidFill>
                <a:schemeClr val="tx1"/>
              </a:solidFill>
              <a:latin typeface="Times New Roman" panose="02020603050405020304" charset="0"/>
              <a:cs typeface="Times New Roman" panose="02020603050405020304" charset="0"/>
              <a:sym typeface="+mn-ea"/>
            </a:endParaRPr>
          </a:p>
          <a:p>
            <a:pPr indent="0" fontAlgn="auto">
              <a:lnSpc>
                <a:spcPct val="200000"/>
              </a:lnSpc>
              <a:buFontTx/>
              <a:buNone/>
            </a:pPr>
            <a:r>
              <a:rPr lang="en-US" altLang="zh-CN" sz="2400" dirty="0">
                <a:latin typeface="Times New Roman" panose="02020603050405020304" charset="0"/>
                <a:cs typeface="Times New Roman" panose="02020603050405020304" charset="0"/>
                <a:sym typeface="+mn-ea"/>
              </a:rPr>
              <a:t>     Purpose Statement (PS)</a:t>
            </a:r>
            <a:endParaRPr lang="en-US" altLang="zh-CN" sz="2400" dirty="0">
              <a:solidFill>
                <a:schemeClr val="tx1"/>
              </a:solidFill>
              <a:latin typeface="Times New Roman" panose="02020603050405020304" charset="0"/>
              <a:cs typeface="Times New Roman" panose="02020603050405020304" charset="0"/>
              <a:sym typeface="+mn-ea"/>
            </a:endParaRPr>
          </a:p>
          <a:p>
            <a:pPr indent="0" fontAlgn="auto">
              <a:lnSpc>
                <a:spcPct val="200000"/>
              </a:lnSpc>
              <a:buFontTx/>
              <a:buNone/>
            </a:pPr>
            <a:r>
              <a:rPr lang="en-US" altLang="zh-CN" sz="2400" dirty="0">
                <a:latin typeface="Times New Roman" panose="02020603050405020304" charset="0"/>
                <a:cs typeface="Times New Roman" panose="02020603050405020304" charset="0"/>
                <a:sym typeface="+mn-ea"/>
              </a:rPr>
              <a:t>     Methodology and Data (MD)</a:t>
            </a:r>
            <a:endParaRPr lang="en-US" altLang="zh-CN" sz="2400" dirty="0">
              <a:solidFill>
                <a:schemeClr val="tx1"/>
              </a:solidFill>
              <a:latin typeface="Times New Roman" panose="02020603050405020304" charset="0"/>
              <a:cs typeface="Times New Roman" panose="02020603050405020304" charset="0"/>
              <a:sym typeface="+mn-ea"/>
            </a:endParaRPr>
          </a:p>
          <a:p>
            <a:pPr indent="0" fontAlgn="auto">
              <a:lnSpc>
                <a:spcPct val="200000"/>
              </a:lnSpc>
              <a:buFontTx/>
              <a:buNone/>
            </a:pPr>
            <a:r>
              <a:rPr lang="en-US" altLang="zh-CN" sz="2400" dirty="0">
                <a:latin typeface="Times New Roman" panose="02020603050405020304" charset="0"/>
                <a:cs typeface="Times New Roman" panose="02020603050405020304" charset="0"/>
                <a:sym typeface="+mn-ea"/>
              </a:rPr>
              <a:t>     Results/Findings (RF)</a:t>
            </a:r>
            <a:endParaRPr lang="en-US" altLang="zh-CN" sz="2400" dirty="0">
              <a:solidFill>
                <a:schemeClr val="tx1"/>
              </a:solidFill>
              <a:latin typeface="Times New Roman" panose="02020603050405020304" charset="0"/>
              <a:cs typeface="Times New Roman" panose="02020603050405020304" charset="0"/>
              <a:sym typeface="+mn-ea"/>
            </a:endParaRPr>
          </a:p>
          <a:p>
            <a:pPr indent="0" fontAlgn="auto">
              <a:lnSpc>
                <a:spcPct val="200000"/>
              </a:lnSpc>
              <a:buFontTx/>
              <a:buNone/>
            </a:pPr>
            <a:r>
              <a:rPr lang="en-US" altLang="zh-CN" sz="2400" dirty="0">
                <a:latin typeface="Times New Roman" panose="02020603050405020304" charset="0"/>
                <a:cs typeface="Times New Roman" panose="02020603050405020304" charset="0"/>
                <a:sym typeface="+mn-ea"/>
              </a:rPr>
              <a:t>     Implications/Conclusions (IC)</a:t>
            </a:r>
            <a:endParaRPr lang="en-US" altLang="zh-CN" sz="24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501775"/>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buFontTx/>
              <a:buNone/>
            </a:pPr>
            <a:r>
              <a:rPr lang="en-US" altLang="zh-CN" sz="2800">
                <a:solidFill>
                  <a:schemeClr val="tx1"/>
                </a:solidFill>
                <a:latin typeface="Times New Roman" panose="02020603050405020304" charset="0"/>
                <a:cs typeface="Times New Roman" panose="02020603050405020304" charset="0"/>
                <a:sym typeface="+mn-ea"/>
              </a:rPr>
              <a:t>There are usually four types of abstracts: </a:t>
            </a:r>
            <a:r>
              <a:rPr lang="en-US" altLang="zh-CN" sz="2800" u="sng">
                <a:solidFill>
                  <a:schemeClr val="tx1"/>
                </a:solidFill>
                <a:uFill>
                  <a:solidFill>
                    <a:schemeClr val="accent2">
                      <a:lumMod val="50000"/>
                    </a:schemeClr>
                  </a:solidFill>
                </a:uFill>
                <a:latin typeface="Times New Roman" panose="02020603050405020304" charset="0"/>
                <a:cs typeface="Times New Roman" panose="02020603050405020304" charset="0"/>
                <a:sym typeface="+mn-ea"/>
              </a:rPr>
              <a:t>indicative</a:t>
            </a:r>
            <a:r>
              <a:rPr lang="en-US" altLang="zh-CN" sz="2800">
                <a:solidFill>
                  <a:schemeClr val="tx1"/>
                </a:solidFill>
                <a:latin typeface="Times New Roman" panose="02020603050405020304" charset="0"/>
                <a:cs typeface="Times New Roman" panose="02020603050405020304" charset="0"/>
                <a:sym typeface="+mn-ea"/>
              </a:rPr>
              <a:t>, </a:t>
            </a:r>
            <a:r>
              <a:rPr lang="en-US" altLang="zh-CN" sz="2800" u="sng">
                <a:solidFill>
                  <a:schemeClr val="tx1"/>
                </a:solidFill>
                <a:uFill>
                  <a:solidFill>
                    <a:schemeClr val="accent2">
                      <a:lumMod val="50000"/>
                    </a:schemeClr>
                  </a:solidFill>
                </a:uFill>
                <a:latin typeface="Times New Roman" panose="02020603050405020304" charset="0"/>
                <a:cs typeface="Times New Roman" panose="02020603050405020304" charset="0"/>
                <a:sym typeface="+mn-ea"/>
              </a:rPr>
              <a:t>informative</a:t>
            </a:r>
            <a:r>
              <a:rPr lang="en-US" altLang="zh-CN" sz="2800">
                <a:solidFill>
                  <a:schemeClr val="tx1"/>
                </a:solidFill>
                <a:latin typeface="Times New Roman" panose="02020603050405020304" charset="0"/>
                <a:cs typeface="Times New Roman" panose="02020603050405020304" charset="0"/>
                <a:sym typeface="+mn-ea"/>
              </a:rPr>
              <a:t>, </a:t>
            </a:r>
            <a:r>
              <a:rPr lang="en-US" altLang="zh-CN" sz="2800" u="sng">
                <a:solidFill>
                  <a:schemeClr val="tx1"/>
                </a:solidFill>
                <a:uFill>
                  <a:solidFill>
                    <a:schemeClr val="accent2">
                      <a:lumMod val="50000"/>
                    </a:schemeClr>
                  </a:solidFill>
                </a:uFill>
                <a:latin typeface="Times New Roman" panose="02020603050405020304" charset="0"/>
                <a:cs typeface="Times New Roman" panose="02020603050405020304" charset="0"/>
                <a:sym typeface="+mn-ea"/>
              </a:rPr>
              <a:t>informative-indictive</a:t>
            </a:r>
            <a:r>
              <a:rPr lang="en-US" altLang="zh-CN" sz="2800">
                <a:solidFill>
                  <a:schemeClr val="tx1"/>
                </a:solidFill>
                <a:latin typeface="Times New Roman" panose="02020603050405020304" charset="0"/>
                <a:cs typeface="Times New Roman" panose="02020603050405020304" charset="0"/>
                <a:sym typeface="+mn-ea"/>
              </a:rPr>
              <a:t>, and </a:t>
            </a:r>
            <a:r>
              <a:rPr lang="en-US" altLang="zh-CN" sz="2800" u="sng">
                <a:solidFill>
                  <a:schemeClr val="tx1"/>
                </a:solidFill>
                <a:uFill>
                  <a:solidFill>
                    <a:schemeClr val="accent2">
                      <a:lumMod val="50000"/>
                    </a:schemeClr>
                  </a:solidFill>
                </a:uFill>
                <a:latin typeface="Times New Roman" panose="02020603050405020304" charset="0"/>
                <a:cs typeface="Times New Roman" panose="02020603050405020304" charset="0"/>
                <a:sym typeface="+mn-ea"/>
              </a:rPr>
              <a:t>structured</a:t>
            </a:r>
            <a:r>
              <a:rPr lang="en-US" altLang="zh-CN" sz="2800">
                <a:solidFill>
                  <a:schemeClr val="tx1"/>
                </a:solidFill>
                <a:latin typeface="Times New Roman" panose="02020603050405020304" charset="0"/>
                <a:cs typeface="Times New Roman" panose="02020603050405020304" charset="0"/>
                <a:sym typeface="+mn-ea"/>
              </a:rPr>
              <a:t>.</a:t>
            </a:r>
          </a:p>
          <a:p>
            <a:pPr indent="0" fontAlgn="auto">
              <a:lnSpc>
                <a:spcPct val="200000"/>
              </a:lnSpc>
              <a:buFontTx/>
              <a:buNone/>
            </a:pPr>
            <a:endParaRPr lang="en-US" altLang="zh-CN" sz="2800">
              <a:solidFill>
                <a:schemeClr val="tx1"/>
              </a:solidFill>
              <a:latin typeface="Times New Roman" panose="02020603050405020304" charset="0"/>
              <a:cs typeface="Times New Roman" panose="02020603050405020304" charset="0"/>
              <a:sym typeface="+mn-ea"/>
            </a:endParaRPr>
          </a:p>
          <a:p>
            <a:pPr indent="0" fontAlgn="auto">
              <a:lnSpc>
                <a:spcPct val="200000"/>
              </a:lnSpc>
              <a:buFontTx/>
              <a:buNone/>
            </a:pPr>
            <a:endParaRPr lang="en-US" altLang="zh-CN" sz="2800">
              <a:solidFill>
                <a:schemeClr val="tx1"/>
              </a:solidFill>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430655" y="1213485"/>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buFontTx/>
              <a:buNone/>
            </a:pPr>
            <a:r>
              <a:rPr lang="en-US" altLang="zh-CN" sz="2800" b="1">
                <a:solidFill>
                  <a:schemeClr val="accent2">
                    <a:lumMod val="75000"/>
                  </a:schemeClr>
                </a:solidFill>
                <a:latin typeface="Times New Roman" panose="02020603050405020304" charset="0"/>
                <a:cs typeface="Times New Roman" panose="02020603050405020304" charset="0"/>
                <a:sym typeface="+mn-ea"/>
              </a:rPr>
              <a:t>Indicative abstracts </a:t>
            </a:r>
            <a:r>
              <a:rPr lang="en-US" altLang="zh-CN" sz="2800" b="1">
                <a:solidFill>
                  <a:schemeClr val="tx1"/>
                </a:solidFill>
                <a:latin typeface="Times New Roman" panose="02020603050405020304" charset="0"/>
                <a:cs typeface="Times New Roman" panose="02020603050405020304" charset="0"/>
                <a:sym typeface="+mn-ea"/>
              </a:rPr>
              <a:t>(</a:t>
            </a:r>
            <a:r>
              <a:rPr lang="zh-CN" altLang="en-US" sz="2800" b="1">
                <a:solidFill>
                  <a:schemeClr val="tx1"/>
                </a:solidFill>
                <a:latin typeface="Times New Roman" panose="02020603050405020304" charset="0"/>
                <a:cs typeface="Times New Roman" panose="02020603050405020304" charset="0"/>
                <a:sym typeface="+mn-ea"/>
              </a:rPr>
              <a:t>说明性摘要</a:t>
            </a:r>
            <a:r>
              <a:rPr lang="en-US" altLang="zh-CN" sz="2800" b="1">
                <a:solidFill>
                  <a:schemeClr val="tx1"/>
                </a:solidFill>
                <a:latin typeface="Times New Roman" panose="02020603050405020304" charset="0"/>
                <a:cs typeface="Times New Roman" panose="02020603050405020304" charset="0"/>
                <a:sym typeface="+mn-ea"/>
              </a:rPr>
              <a:t>)</a:t>
            </a:r>
            <a:r>
              <a:rPr lang="en-US" altLang="zh-CN" sz="2800">
                <a:solidFill>
                  <a:schemeClr val="tx1"/>
                </a:solidFill>
                <a:latin typeface="Times New Roman" panose="02020603050405020304" charset="0"/>
                <a:cs typeface="Times New Roman" panose="02020603050405020304" charset="0"/>
                <a:sym typeface="+mn-ea"/>
              </a:rPr>
              <a:t> are often used for theoretical papers, they are short and terse. </a:t>
            </a:r>
          </a:p>
          <a:p>
            <a:pPr indent="0" fontAlgn="auto">
              <a:lnSpc>
                <a:spcPct val="200000"/>
              </a:lnSpc>
              <a:buFontTx/>
              <a:buNone/>
            </a:pPr>
            <a:r>
              <a:rPr lang="en-US" altLang="zh-CN" sz="2800" b="1">
                <a:solidFill>
                  <a:schemeClr val="accent2">
                    <a:lumMod val="75000"/>
                  </a:schemeClr>
                </a:solidFill>
                <a:latin typeface="Times New Roman" panose="02020603050405020304" charset="0"/>
                <a:cs typeface="Times New Roman" panose="02020603050405020304" charset="0"/>
                <a:sym typeface="+mn-ea"/>
              </a:rPr>
              <a:t>Informative abstracts</a:t>
            </a:r>
            <a:r>
              <a:rPr lang="en-US" altLang="zh-CN" sz="2800">
                <a:solidFill>
                  <a:schemeClr val="tx1"/>
                </a:solidFill>
                <a:latin typeface="Times New Roman" panose="02020603050405020304" charset="0"/>
                <a:cs typeface="Times New Roman" panose="02020603050405020304" charset="0"/>
                <a:sym typeface="+mn-ea"/>
              </a:rPr>
              <a:t> (</a:t>
            </a:r>
            <a:r>
              <a:rPr lang="zh-CN" altLang="en-US" sz="2800" b="1">
                <a:solidFill>
                  <a:schemeClr val="tx1"/>
                </a:solidFill>
                <a:latin typeface="Times New Roman" panose="02020603050405020304" charset="0"/>
                <a:cs typeface="Times New Roman" panose="02020603050405020304" charset="0"/>
                <a:sym typeface="+mn-ea"/>
              </a:rPr>
              <a:t>信息性摘要</a:t>
            </a:r>
            <a:r>
              <a:rPr lang="en-US" altLang="zh-CN" sz="2800" b="1">
                <a:solidFill>
                  <a:schemeClr val="tx1"/>
                </a:solidFill>
                <a:latin typeface="Times New Roman" panose="02020603050405020304" charset="0"/>
                <a:cs typeface="Times New Roman" panose="02020603050405020304" charset="0"/>
                <a:sym typeface="+mn-ea"/>
              </a:rPr>
              <a:t>)</a:t>
            </a:r>
            <a:r>
              <a:rPr lang="en-US" altLang="zh-CN" sz="2800" b="1">
                <a:solidFill>
                  <a:schemeClr val="accent2">
                    <a:lumMod val="75000"/>
                  </a:schemeClr>
                </a:solidFill>
                <a:latin typeface="Times New Roman" panose="02020603050405020304" charset="0"/>
                <a:cs typeface="Times New Roman" panose="02020603050405020304" charset="0"/>
                <a:sym typeface="+mn-ea"/>
              </a:rPr>
              <a:t> </a:t>
            </a:r>
            <a:r>
              <a:rPr lang="en-US" altLang="zh-CN" sz="2800">
                <a:solidFill>
                  <a:schemeClr val="tx1"/>
                </a:solidFill>
                <a:latin typeface="Times New Roman" panose="02020603050405020304" charset="0"/>
                <a:cs typeface="Times New Roman" panose="02020603050405020304" charset="0"/>
                <a:sym typeface="+mn-ea"/>
              </a:rPr>
              <a:t>are used mainly for experimental and technical papers.The research purpose, the methods, the key data and experimental results are reported; therefore, the contents are broader and they are relatively longer.</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501775"/>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buFontTx/>
              <a:buNone/>
            </a:pPr>
            <a:r>
              <a:rPr lang="en-US" altLang="zh-CN" sz="2800" b="1">
                <a:solidFill>
                  <a:schemeClr val="accent2">
                    <a:lumMod val="75000"/>
                  </a:schemeClr>
                </a:solidFill>
                <a:latin typeface="Times New Roman" panose="02020603050405020304" charset="0"/>
                <a:cs typeface="Times New Roman" panose="02020603050405020304" charset="0"/>
                <a:sym typeface="+mn-ea"/>
              </a:rPr>
              <a:t>Informative-indicative abstracts</a:t>
            </a:r>
            <a:r>
              <a:rPr lang="en-US" altLang="zh-CN" sz="2800">
                <a:latin typeface="Times New Roman" panose="02020603050405020304" charset="0"/>
                <a:cs typeface="Times New Roman" panose="02020603050405020304" charset="0"/>
                <a:sym typeface="+mn-ea"/>
              </a:rPr>
              <a:t> report the higher-value information of the paper as in informative abstracts, while reporting other less important information of the paper in the indicative approach. </a:t>
            </a:r>
          </a:p>
          <a:p>
            <a:pPr indent="0" fontAlgn="auto">
              <a:lnSpc>
                <a:spcPct val="200000"/>
              </a:lnSpc>
              <a:buFontTx/>
              <a:buNone/>
            </a:pPr>
            <a:r>
              <a:rPr lang="en-US" altLang="zh-CN" sz="2800" b="1">
                <a:solidFill>
                  <a:schemeClr val="accent2">
                    <a:lumMod val="75000"/>
                  </a:schemeClr>
                </a:solidFill>
                <a:latin typeface="Times New Roman" panose="02020603050405020304" charset="0"/>
                <a:cs typeface="Times New Roman" panose="02020603050405020304" charset="0"/>
                <a:sym typeface="+mn-ea"/>
              </a:rPr>
              <a:t>Structured abstracts</a:t>
            </a:r>
            <a:r>
              <a:rPr lang="en-US" altLang="zh-CN" sz="2800">
                <a:solidFill>
                  <a:schemeClr val="accent2">
                    <a:lumMod val="75000"/>
                  </a:schemeClr>
                </a:solidFill>
                <a:latin typeface="Times New Roman" panose="02020603050405020304" charset="0"/>
                <a:cs typeface="Times New Roman" panose="02020603050405020304" charset="0"/>
                <a:sym typeface="+mn-ea"/>
              </a:rPr>
              <a:t> </a:t>
            </a:r>
            <a:r>
              <a:rPr lang="en-US" altLang="zh-CN" sz="2800">
                <a:latin typeface="Times New Roman" panose="02020603050405020304" charset="0"/>
                <a:cs typeface="Times New Roman" panose="02020603050405020304" charset="0"/>
                <a:sym typeface="+mn-ea"/>
              </a:rPr>
              <a:t>are usually divided into purpose, methods, results and conclusions to facilitate reader comprehension.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501775"/>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50000"/>
              </a:lnSpc>
              <a:buFontTx/>
              <a:buNone/>
            </a:pPr>
            <a:r>
              <a:rPr lang="en-US" altLang="zh-CN" sz="2800">
                <a:solidFill>
                  <a:schemeClr val="accent2">
                    <a:lumMod val="75000"/>
                  </a:schemeClr>
                </a:solidFill>
                <a:latin typeface="Times New Roman" panose="02020603050405020304" charset="0"/>
                <a:cs typeface="Times New Roman" panose="02020603050405020304" charset="0"/>
                <a:sym typeface="+mn-ea"/>
              </a:rPr>
              <a:t>(1) Indicative Abstracts</a:t>
            </a:r>
          </a:p>
          <a:p>
            <a:pPr marL="342900" indent="-342900" fontAlgn="auto">
              <a:lnSpc>
                <a:spcPct val="150000"/>
              </a:lnSpc>
              <a:buFont typeface="Wingdings" panose="05000000000000000000" charset="0"/>
              <a:buChar char="ü"/>
            </a:pPr>
            <a:r>
              <a:rPr lang="en-US" altLang="zh-CN" sz="2800">
                <a:latin typeface="Times New Roman" panose="02020603050405020304" charset="0"/>
                <a:cs typeface="Times New Roman" panose="02020603050405020304" charset="0"/>
                <a:sym typeface="+mn-ea"/>
              </a:rPr>
              <a:t>descriptive abstracts or introductory abstracts</a:t>
            </a:r>
          </a:p>
          <a:p>
            <a:pPr marL="342900" indent="-342900" fontAlgn="auto">
              <a:lnSpc>
                <a:spcPct val="150000"/>
              </a:lnSpc>
              <a:buFont typeface="Wingdings" panose="05000000000000000000" charset="0"/>
              <a:buChar char="ü"/>
            </a:pPr>
            <a:r>
              <a:rPr lang="en-US" altLang="zh-CN" sz="2800">
                <a:latin typeface="Times New Roman" panose="02020603050405020304" charset="0"/>
                <a:cs typeface="Times New Roman" panose="02020603050405020304" charset="0"/>
                <a:sym typeface="+mn-ea"/>
              </a:rPr>
              <a:t>mainly introduce the point of view or research purposes of the paper rather than the research methods, findings and conclusions</a:t>
            </a:r>
          </a:p>
          <a:p>
            <a:pPr marL="342900" indent="-342900" fontAlgn="auto">
              <a:lnSpc>
                <a:spcPct val="150000"/>
              </a:lnSpc>
              <a:buFont typeface="Wingdings" panose="05000000000000000000" charset="0"/>
              <a:buChar char="ü"/>
            </a:pPr>
            <a:r>
              <a:rPr lang="en-US" altLang="zh-CN" sz="2800">
                <a:latin typeface="Times New Roman" panose="02020603050405020304" charset="0"/>
                <a:cs typeface="Times New Roman" panose="02020603050405020304" charset="0"/>
                <a:sym typeface="+mn-ea"/>
              </a:rPr>
              <a:t>no explanation or comment should be added</a:t>
            </a:r>
          </a:p>
          <a:p>
            <a:pPr marL="342900" indent="-342900" fontAlgn="auto">
              <a:lnSpc>
                <a:spcPct val="150000"/>
              </a:lnSpc>
              <a:buFont typeface="Wingdings" panose="05000000000000000000" charset="0"/>
              <a:buChar char="ü"/>
            </a:pPr>
            <a:r>
              <a:rPr lang="en-US" altLang="zh-CN" sz="2800">
                <a:latin typeface="Times New Roman" panose="02020603050405020304" charset="0"/>
                <a:cs typeface="Times New Roman" panose="02020603050405020304" charset="0"/>
                <a:sym typeface="+mn-ea"/>
              </a:rPr>
              <a:t>the length is only between 30 to 50 words</a:t>
            </a:r>
          </a:p>
          <a:p>
            <a:pPr marL="342900" indent="-342900" fontAlgn="auto">
              <a:lnSpc>
                <a:spcPct val="150000"/>
              </a:lnSpc>
              <a:buFont typeface="Wingdings" panose="05000000000000000000" charset="0"/>
              <a:buChar char="ü"/>
            </a:pPr>
            <a:r>
              <a:rPr lang="en-US" altLang="zh-CN" sz="2800">
                <a:latin typeface="Times New Roman" panose="02020603050405020304" charset="0"/>
                <a:cs typeface="Times New Roman" panose="02020603050405020304" charset="0"/>
                <a:sym typeface="+mn-ea"/>
              </a:rPr>
              <a:t>suitable for complex or lengthy documents such as literature review, the whole or the entire collection of monographs</a:t>
            </a:r>
          </a:p>
          <a:p>
            <a:pPr indent="0" fontAlgn="auto">
              <a:lnSpc>
                <a:spcPct val="150000"/>
              </a:lnSpc>
              <a:buFontTx/>
              <a:buNone/>
            </a:pPr>
            <a:endParaRPr lang="en-US" altLang="zh-CN" sz="2800">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501775"/>
            <a:ext cx="9916795" cy="38000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50000"/>
              </a:lnSpc>
              <a:buFont typeface="Wingdings" panose="05000000000000000000" charset="0"/>
              <a:buChar char="ü"/>
            </a:pPr>
            <a:r>
              <a:rPr lang="en-US" altLang="zh-CN" sz="2800" dirty="0">
                <a:solidFill>
                  <a:schemeClr val="tx1"/>
                </a:solidFill>
                <a:latin typeface="Times New Roman" panose="02020603050405020304" charset="0"/>
                <a:cs typeface="Times New Roman" panose="02020603050405020304" charset="0"/>
                <a:sym typeface="+mn-ea"/>
              </a:rPr>
              <a:t>tell readers what information the report, article, or paper contains</a:t>
            </a:r>
          </a:p>
          <a:p>
            <a:pPr marL="457200" indent="-457200" fontAlgn="auto">
              <a:lnSpc>
                <a:spcPct val="150000"/>
              </a:lnSpc>
              <a:buFont typeface="Wingdings" panose="05000000000000000000" charset="0"/>
              <a:buChar char="ü"/>
            </a:pPr>
            <a:r>
              <a:rPr lang="en-US" altLang="zh-CN" sz="2800" dirty="0">
                <a:solidFill>
                  <a:schemeClr val="tx1"/>
                </a:solidFill>
                <a:latin typeface="Times New Roman" panose="02020603050405020304" charset="0"/>
                <a:cs typeface="Times New Roman" panose="02020603050405020304" charset="0"/>
                <a:sym typeface="+mn-ea"/>
              </a:rPr>
              <a:t>do not provide results, conclusions, or recommendations</a:t>
            </a:r>
          </a:p>
          <a:p>
            <a:pPr marL="457200" indent="-457200" fontAlgn="auto">
              <a:lnSpc>
                <a:spcPct val="150000"/>
              </a:lnSpc>
              <a:buFont typeface="Wingdings" panose="05000000000000000000" charset="0"/>
              <a:buChar char="ü"/>
            </a:pPr>
            <a:r>
              <a:rPr lang="en-US" altLang="zh-CN" sz="2800" dirty="0">
                <a:solidFill>
                  <a:schemeClr val="tx1"/>
                </a:solidFill>
                <a:latin typeface="Times New Roman" panose="02020603050405020304" charset="0"/>
                <a:cs typeface="Times New Roman" panose="02020603050405020304" charset="0"/>
                <a:sym typeface="+mn-ea"/>
              </a:rPr>
              <a:t>introduce the subject to readers, who must then read the report, article, or paper to find out the author’s results, conclusions, or recommendations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219200" y="1501775"/>
            <a:ext cx="1023302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buFont typeface="Arial" panose="020B0604020202020204" pitchFamily="34" charset="0"/>
            </a:pPr>
            <a:r>
              <a:rPr lang="en-US" altLang="zh-CN" sz="2800" dirty="0">
                <a:solidFill>
                  <a:schemeClr val="accent2">
                    <a:lumMod val="75000"/>
                  </a:schemeClr>
                </a:solidFill>
                <a:latin typeface="Times New Roman" panose="02020603050405020304" charset="0"/>
                <a:cs typeface="Times New Roman" panose="02020603050405020304" charset="0"/>
                <a:sym typeface="+mn-ea"/>
              </a:rPr>
              <a:t>Example 1</a:t>
            </a:r>
          </a:p>
          <a:p>
            <a:pPr indent="0" algn="ctr" fontAlgn="auto">
              <a:lnSpc>
                <a:spcPct val="200000"/>
              </a:lnSpc>
              <a:buFont typeface="Arial" panose="020B0604020202020204" pitchFamily="34" charset="0"/>
            </a:pPr>
            <a:r>
              <a:rPr lang="en-US" altLang="zh-CN" sz="2800" b="1" dirty="0">
                <a:solidFill>
                  <a:schemeClr val="tx1"/>
                </a:solidFill>
                <a:latin typeface="Times New Roman" panose="02020603050405020304" charset="0"/>
                <a:cs typeface="Times New Roman" panose="02020603050405020304" charset="0"/>
                <a:sym typeface="+mn-ea"/>
              </a:rPr>
              <a:t>Small RNA Regulators of Gene Expression</a:t>
            </a:r>
          </a:p>
          <a:p>
            <a:pPr indent="0" fontAlgn="auto">
              <a:lnSpc>
                <a:spcPct val="200000"/>
              </a:lnSpc>
              <a:buFont typeface="Arial" panose="020B0604020202020204" pitchFamily="34" charset="0"/>
            </a:pPr>
            <a:r>
              <a:rPr lang="en-US" altLang="zh-CN" sz="2800" dirty="0">
                <a:solidFill>
                  <a:schemeClr val="tx1"/>
                </a:solidFill>
                <a:latin typeface="Times New Roman" panose="02020603050405020304" charset="0"/>
                <a:cs typeface="Times New Roman" panose="02020603050405020304" charset="0"/>
                <a:sym typeface="+mn-ea"/>
              </a:rPr>
              <a:t>      This year, the Lasker Foundation recognizes Victor </a:t>
            </a:r>
            <a:r>
              <a:rPr lang="en-US" altLang="zh-CN" sz="2800" dirty="0" err="1">
                <a:solidFill>
                  <a:schemeClr val="tx1"/>
                </a:solidFill>
                <a:latin typeface="Times New Roman" panose="02020603050405020304" charset="0"/>
                <a:cs typeface="Times New Roman" panose="02020603050405020304" charset="0"/>
                <a:sym typeface="+mn-ea"/>
              </a:rPr>
              <a:t>Ambros</a:t>
            </a:r>
            <a:r>
              <a:rPr lang="en-US" altLang="zh-CN" sz="2800" dirty="0">
                <a:solidFill>
                  <a:schemeClr val="tx1"/>
                </a:solidFill>
                <a:latin typeface="Times New Roman" panose="02020603050405020304" charset="0"/>
                <a:cs typeface="Times New Roman" panose="02020603050405020304" charset="0"/>
                <a:sym typeface="+mn-ea"/>
              </a:rPr>
              <a:t>, Gary </a:t>
            </a:r>
            <a:r>
              <a:rPr lang="en-US" altLang="zh-CN" sz="2800" dirty="0" err="1">
                <a:solidFill>
                  <a:schemeClr val="tx1"/>
                </a:solidFill>
                <a:latin typeface="Times New Roman" panose="02020603050405020304" charset="0"/>
                <a:cs typeface="Times New Roman" panose="02020603050405020304" charset="0"/>
                <a:sym typeface="+mn-ea"/>
              </a:rPr>
              <a:t>Ruvkun</a:t>
            </a:r>
            <a:r>
              <a:rPr lang="en-US" altLang="zh-CN" sz="2800" dirty="0">
                <a:solidFill>
                  <a:schemeClr val="tx1"/>
                </a:solidFill>
                <a:latin typeface="Times New Roman" panose="02020603050405020304" charset="0"/>
                <a:cs typeface="Times New Roman" panose="02020603050405020304" charset="0"/>
                <a:sym typeface="+mn-ea"/>
              </a:rPr>
              <a:t>, and David </a:t>
            </a:r>
            <a:r>
              <a:rPr lang="en-US" altLang="zh-CN" sz="2800" dirty="0" err="1">
                <a:solidFill>
                  <a:schemeClr val="tx1"/>
                </a:solidFill>
                <a:latin typeface="Times New Roman" panose="02020603050405020304" charset="0"/>
                <a:cs typeface="Times New Roman" panose="02020603050405020304" charset="0"/>
                <a:sym typeface="+mn-ea"/>
              </a:rPr>
              <a:t>Baulcombe</a:t>
            </a:r>
            <a:r>
              <a:rPr lang="en-US" altLang="zh-CN" sz="2800" dirty="0">
                <a:solidFill>
                  <a:schemeClr val="tx1"/>
                </a:solidFill>
                <a:latin typeface="Times New Roman" panose="02020603050405020304" charset="0"/>
                <a:cs typeface="Times New Roman" panose="02020603050405020304" charset="0"/>
                <a:sym typeface="+mn-ea"/>
              </a:rPr>
              <a:t> for their pioneering work elucidating the role of short RNA species in the posttranscriptional regulation of eukaryotic gene expression. (Neilson and Sharp, 2008: 899)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219200" y="1501775"/>
            <a:ext cx="1023302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buFont typeface="Arial" panose="020B0604020202020204" pitchFamily="34" charset="0"/>
            </a:pPr>
            <a:r>
              <a:rPr lang="en-US" altLang="zh-CN" sz="2400">
                <a:solidFill>
                  <a:schemeClr val="accent2">
                    <a:lumMod val="75000"/>
                  </a:schemeClr>
                </a:solidFill>
                <a:latin typeface="Times New Roman" panose="02020603050405020304" charset="0"/>
                <a:cs typeface="Times New Roman" panose="02020603050405020304" charset="0"/>
                <a:sym typeface="+mn-ea"/>
              </a:rPr>
              <a:t>Example 2</a:t>
            </a:r>
          </a:p>
          <a:p>
            <a:pPr indent="0" algn="ctr" fontAlgn="auto">
              <a:lnSpc>
                <a:spcPct val="200000"/>
              </a:lnSpc>
              <a:buFont typeface="Arial" panose="020B0604020202020204" pitchFamily="34" charset="0"/>
            </a:pPr>
            <a:r>
              <a:rPr lang="en-US" altLang="zh-CN" sz="2400" b="1">
                <a:solidFill>
                  <a:schemeClr val="tx1"/>
                </a:solidFill>
                <a:latin typeface="Times New Roman" panose="02020603050405020304" charset="0"/>
                <a:cs typeface="Times New Roman" panose="02020603050405020304" charset="0"/>
                <a:sym typeface="+mn-ea"/>
              </a:rPr>
              <a:t>OSCILLATIONS IN GRANULAR DYNAMICS</a:t>
            </a:r>
          </a:p>
          <a:p>
            <a:pPr indent="0" fontAlgn="auto">
              <a:lnSpc>
                <a:spcPct val="200000"/>
              </a:lnSpc>
              <a:buFont typeface="Arial" panose="020B0604020202020204" pitchFamily="34" charset="0"/>
            </a:pPr>
            <a:r>
              <a:rPr lang="en-US" altLang="zh-CN" sz="2400">
                <a:solidFill>
                  <a:schemeClr val="tx1"/>
                </a:solidFill>
                <a:latin typeface="Times New Roman" panose="02020603050405020304" charset="0"/>
                <a:cs typeface="Times New Roman" panose="02020603050405020304" charset="0"/>
                <a:sym typeface="+mn-ea"/>
              </a:rPr>
              <a:t>      A new effect of granular dynamics in a bounded domain is reported. Oscillations arise when the system evolves from a given (non-equilibrium) initial state. The oscillations obtained are of importance for vibrated granular systems since they reveal some kind of fundamental frequencies and they lead to resonant frequencies under vibration. (Loguinova and Vlasov, 2007: 287)</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219200" y="1312545"/>
            <a:ext cx="10233025" cy="53568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50000"/>
              </a:lnSpc>
              <a:buFont typeface="Arial" panose="020B0604020202020204" pitchFamily="34" charset="0"/>
            </a:pPr>
            <a:endParaRPr lang="en-US" altLang="zh-CN" sz="2400" dirty="0">
              <a:solidFill>
                <a:schemeClr val="accent2">
                  <a:lumMod val="75000"/>
                </a:schemeClr>
              </a:solidFill>
              <a:latin typeface="Times New Roman" panose="02020603050405020304" charset="0"/>
              <a:cs typeface="Times New Roman" panose="02020603050405020304" charset="0"/>
              <a:sym typeface="+mn-ea"/>
            </a:endParaRPr>
          </a:p>
          <a:p>
            <a:pPr indent="0" fontAlgn="auto">
              <a:lnSpc>
                <a:spcPct val="150000"/>
              </a:lnSpc>
              <a:buFont typeface="Arial" panose="020B0604020202020204" pitchFamily="34" charset="0"/>
            </a:pPr>
            <a:r>
              <a:rPr lang="en-US" altLang="zh-CN" sz="2400" dirty="0">
                <a:solidFill>
                  <a:schemeClr val="accent2">
                    <a:lumMod val="75000"/>
                  </a:schemeClr>
                </a:solidFill>
                <a:latin typeface="Times New Roman" panose="02020603050405020304" charset="0"/>
                <a:cs typeface="Times New Roman" panose="02020603050405020304" charset="0"/>
                <a:sym typeface="+mn-ea"/>
              </a:rPr>
              <a:t>Example 3</a:t>
            </a:r>
          </a:p>
          <a:p>
            <a:pPr indent="0" algn="ctr" fontAlgn="auto">
              <a:lnSpc>
                <a:spcPct val="150000"/>
              </a:lnSpc>
              <a:buFont typeface="Arial" panose="020B0604020202020204" pitchFamily="34" charset="0"/>
            </a:pPr>
            <a:r>
              <a:rPr lang="en-US" altLang="zh-CN" sz="2400" b="1" dirty="0">
                <a:solidFill>
                  <a:schemeClr val="tx1"/>
                </a:solidFill>
                <a:latin typeface="Times New Roman" panose="02020603050405020304" charset="0"/>
                <a:cs typeface="Times New Roman" panose="02020603050405020304" charset="0"/>
                <a:sym typeface="+mn-ea"/>
              </a:rPr>
              <a:t>Autism: Many Genes, Common Pathways?</a:t>
            </a:r>
          </a:p>
          <a:p>
            <a:pPr indent="0" fontAlgn="auto">
              <a:lnSpc>
                <a:spcPct val="200000"/>
              </a:lnSpc>
              <a:buFont typeface="Arial" panose="020B0604020202020204" pitchFamily="34" charset="0"/>
            </a:pPr>
            <a:r>
              <a:rPr lang="en-US" altLang="zh-CN" sz="2400" dirty="0">
                <a:solidFill>
                  <a:schemeClr val="tx1"/>
                </a:solidFill>
                <a:latin typeface="Times New Roman" panose="02020603050405020304" charset="0"/>
                <a:cs typeface="Times New Roman" panose="02020603050405020304" charset="0"/>
                <a:sym typeface="+mn-ea"/>
              </a:rPr>
              <a:t>     Autism is a heterogeneous neurodevelopmental syndrome with a complex genetic etiology. It is still not clear whether autism comprises a vast collection of different disorders akin to intellectual disability or a few disorders sharing common aberrant pathways. Unifying principles among cases of autism are likely to be at the </a:t>
            </a:r>
            <a:r>
              <a:rPr lang="en-US" altLang="zh-CN" sz="2400" dirty="0" err="1">
                <a:solidFill>
                  <a:schemeClr val="tx1"/>
                </a:solidFill>
                <a:latin typeface="Times New Roman" panose="02020603050405020304" charset="0"/>
                <a:cs typeface="Times New Roman" panose="02020603050405020304" charset="0"/>
                <a:sym typeface="+mn-ea"/>
              </a:rPr>
              <a:t>leavel</a:t>
            </a:r>
            <a:r>
              <a:rPr lang="en-US" altLang="zh-CN" sz="2400" dirty="0">
                <a:solidFill>
                  <a:schemeClr val="tx1"/>
                </a:solidFill>
                <a:latin typeface="Times New Roman" panose="02020603050405020304" charset="0"/>
                <a:cs typeface="Times New Roman" panose="02020603050405020304" charset="0"/>
                <a:sym typeface="+mn-ea"/>
              </a:rPr>
              <a:t> of brain circuitry in addition to molecular pathways. (</a:t>
            </a:r>
            <a:r>
              <a:rPr lang="en-US" altLang="zh-CN" sz="2400" dirty="0" err="1">
                <a:solidFill>
                  <a:schemeClr val="tx1"/>
                </a:solidFill>
                <a:latin typeface="Times New Roman" panose="02020603050405020304" charset="0"/>
                <a:cs typeface="Times New Roman" panose="02020603050405020304" charset="0"/>
                <a:sym typeface="+mn-ea"/>
              </a:rPr>
              <a:t>Geschwind</a:t>
            </a:r>
            <a:r>
              <a:rPr lang="en-US" altLang="zh-CN" sz="2400" dirty="0">
                <a:solidFill>
                  <a:schemeClr val="tx1"/>
                </a:solidFill>
                <a:latin typeface="Times New Roman" panose="02020603050405020304" charset="0"/>
                <a:cs typeface="Times New Roman" panose="02020603050405020304" charset="0"/>
                <a:sym typeface="+mn-ea"/>
              </a:rPr>
              <a:t>, 2008: 391)</a:t>
            </a:r>
          </a:p>
          <a:p>
            <a:pPr indent="0" fontAlgn="auto">
              <a:lnSpc>
                <a:spcPct val="200000"/>
              </a:lnSpc>
              <a:buFont typeface="Arial" panose="020B0604020202020204" pitchFamily="34" charset="0"/>
            </a:pPr>
            <a:endParaRPr lang="en-US" altLang="zh-CN" sz="2400" dirty="0">
              <a:solidFill>
                <a:schemeClr val="tx1"/>
              </a:solidFill>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501775"/>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50000"/>
              </a:lnSpc>
              <a:buFontTx/>
              <a:buNone/>
            </a:pPr>
            <a:r>
              <a:rPr lang="en-US" altLang="zh-CN" sz="2800">
                <a:solidFill>
                  <a:schemeClr val="accent2">
                    <a:lumMod val="75000"/>
                  </a:schemeClr>
                </a:solidFill>
                <a:latin typeface="Times New Roman" panose="02020603050405020304" charset="0"/>
                <a:cs typeface="Times New Roman" panose="02020603050405020304" charset="0"/>
                <a:sym typeface="+mn-ea"/>
              </a:rPr>
              <a:t>(2) Informative Abstracts</a:t>
            </a:r>
          </a:p>
          <a:p>
            <a:pPr indent="0" fontAlgn="auto">
              <a:lnSpc>
                <a:spcPct val="150000"/>
              </a:lnSpc>
              <a:buFont typeface="Wingdings" panose="05000000000000000000" charset="0"/>
            </a:pPr>
            <a:r>
              <a:rPr lang="en-US" altLang="zh-CN" sz="2800">
                <a:latin typeface="Times New Roman" panose="02020603050405020304" charset="0"/>
                <a:cs typeface="Times New Roman" panose="02020603050405020304" charset="0"/>
                <a:sym typeface="+mn-ea"/>
              </a:rPr>
              <a:t>Informative abstracts outline </a:t>
            </a:r>
            <a:r>
              <a:rPr lang="en-US" altLang="zh-CN" sz="2800" u="sng">
                <a:solidFill>
                  <a:srgbClr val="FF0000"/>
                </a:solidFill>
                <a:latin typeface="Times New Roman" panose="02020603050405020304" charset="0"/>
                <a:cs typeface="Times New Roman" panose="02020603050405020304" charset="0"/>
                <a:sym typeface="+mn-ea"/>
              </a:rPr>
              <a:t>the scope</a:t>
            </a:r>
            <a:r>
              <a:rPr lang="en-US" altLang="zh-CN" sz="2800">
                <a:latin typeface="Times New Roman" panose="02020603050405020304" charset="0"/>
                <a:cs typeface="Times New Roman" panose="02020603050405020304" charset="0"/>
                <a:sym typeface="+mn-ea"/>
              </a:rPr>
              <a:t> and </a:t>
            </a:r>
            <a:r>
              <a:rPr lang="en-US" altLang="zh-CN" sz="2800" u="sng">
                <a:solidFill>
                  <a:srgbClr val="FF0000"/>
                </a:solidFill>
                <a:latin typeface="Times New Roman" panose="02020603050405020304" charset="0"/>
                <a:cs typeface="Times New Roman" panose="02020603050405020304" charset="0"/>
                <a:sym typeface="+mn-ea"/>
              </a:rPr>
              <a:t>content </a:t>
            </a:r>
            <a:r>
              <a:rPr lang="en-US" altLang="zh-CN" sz="2800">
                <a:latin typeface="Times New Roman" panose="02020603050405020304" charset="0"/>
                <a:cs typeface="Times New Roman" panose="02020603050405020304" charset="0"/>
                <a:sym typeface="+mn-ea"/>
              </a:rPr>
              <a:t>of the paper, including </a:t>
            </a:r>
            <a:r>
              <a:rPr lang="en-US" altLang="zh-CN" sz="2800" u="sng">
                <a:solidFill>
                  <a:srgbClr val="FF0000"/>
                </a:solidFill>
                <a:latin typeface="Times New Roman" panose="02020603050405020304" charset="0"/>
                <a:cs typeface="Times New Roman" panose="02020603050405020304" charset="0"/>
                <a:sym typeface="+mn-ea"/>
              </a:rPr>
              <a:t>research purposes</a:t>
            </a:r>
            <a:r>
              <a:rPr lang="en-US" altLang="zh-CN" sz="2800">
                <a:latin typeface="Times New Roman" panose="02020603050405020304" charset="0"/>
                <a:cs typeface="Times New Roman" panose="02020603050405020304" charset="0"/>
                <a:sym typeface="+mn-ea"/>
              </a:rPr>
              <a:t>, </a:t>
            </a:r>
            <a:r>
              <a:rPr lang="en-US" altLang="zh-CN" sz="2800" u="sng">
                <a:solidFill>
                  <a:srgbClr val="FF0000"/>
                </a:solidFill>
                <a:latin typeface="Times New Roman" panose="02020603050405020304" charset="0"/>
                <a:cs typeface="Times New Roman" panose="02020603050405020304" charset="0"/>
                <a:sym typeface="+mn-ea"/>
              </a:rPr>
              <a:t>methods</a:t>
            </a:r>
            <a:r>
              <a:rPr lang="en-US" altLang="zh-CN" sz="2800">
                <a:latin typeface="Times New Roman" panose="02020603050405020304" charset="0"/>
                <a:cs typeface="Times New Roman" panose="02020603050405020304" charset="0"/>
                <a:sym typeface="+mn-ea"/>
              </a:rPr>
              <a:t>, </a:t>
            </a:r>
            <a:r>
              <a:rPr lang="en-US" altLang="zh-CN" sz="2800" u="sng">
                <a:solidFill>
                  <a:srgbClr val="FF0000"/>
                </a:solidFill>
                <a:latin typeface="Times New Roman" panose="02020603050405020304" charset="0"/>
                <a:cs typeface="Times New Roman" panose="02020603050405020304" charset="0"/>
                <a:sym typeface="+mn-ea"/>
              </a:rPr>
              <a:t>results</a:t>
            </a:r>
            <a:r>
              <a:rPr lang="en-US" altLang="zh-CN" sz="2800">
                <a:latin typeface="Times New Roman" panose="02020603050405020304" charset="0"/>
                <a:cs typeface="Times New Roman" panose="02020603050405020304" charset="0"/>
                <a:sym typeface="+mn-ea"/>
              </a:rPr>
              <a:t> and </a:t>
            </a:r>
            <a:r>
              <a:rPr lang="en-US" altLang="zh-CN" sz="2800" u="sng">
                <a:solidFill>
                  <a:srgbClr val="FF0000"/>
                </a:solidFill>
                <a:latin typeface="Times New Roman" panose="02020603050405020304" charset="0"/>
                <a:cs typeface="Times New Roman" panose="02020603050405020304" charset="0"/>
                <a:sym typeface="+mn-ea"/>
              </a:rPr>
              <a:t>conclusions</a:t>
            </a:r>
            <a:r>
              <a:rPr lang="en-US" altLang="zh-CN" sz="2800">
                <a:latin typeface="Times New Roman" panose="02020603050405020304" charset="0"/>
                <a:cs typeface="Times New Roman" panose="02020603050405020304" charset="0"/>
                <a:sym typeface="+mn-ea"/>
              </a:rPr>
              <a:t>. Because of its inherent characteristics, the informative abstract is particularly suitable for experimental studies. Most of academic journal articles use informative abstracts, and the word limit is in general between 100~150 words. Comparatively speaking, they are longer than indicative abstracts and informative-indicative abstracts.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501775"/>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00000"/>
              </a:lnSpc>
              <a:buFontTx/>
              <a:buNone/>
            </a:pPr>
            <a:r>
              <a:rPr lang="en-US" altLang="zh-CN" sz="2800">
                <a:solidFill>
                  <a:schemeClr val="accent2">
                    <a:lumMod val="75000"/>
                  </a:schemeClr>
                </a:solidFill>
                <a:latin typeface="Times New Roman" panose="02020603050405020304" charset="0"/>
                <a:cs typeface="Times New Roman" panose="02020603050405020304" charset="0"/>
                <a:sym typeface="+mn-ea"/>
              </a:rPr>
              <a:t>Informative abstracts usually:</a:t>
            </a:r>
          </a:p>
          <a:p>
            <a:pPr marL="457200" indent="-457200" fontAlgn="auto">
              <a:lnSpc>
                <a:spcPct val="100000"/>
              </a:lnSpc>
              <a:buFont typeface="Wingdings" panose="05000000000000000000" charset="0"/>
              <a:buChar char="ü"/>
            </a:pPr>
            <a:r>
              <a:rPr lang="en-US" altLang="zh-CN" sz="2800">
                <a:solidFill>
                  <a:schemeClr val="tx1"/>
                </a:solidFill>
                <a:latin typeface="Times New Roman" panose="02020603050405020304" charset="0"/>
                <a:cs typeface="Times New Roman" panose="02020603050405020304" charset="0"/>
                <a:sym typeface="+mn-ea"/>
              </a:rPr>
              <a:t>communicate specific information from the report, article, or paper.</a:t>
            </a:r>
          </a:p>
          <a:p>
            <a:pPr marL="457200" indent="-457200" fontAlgn="auto">
              <a:lnSpc>
                <a:spcPct val="100000"/>
              </a:lnSpc>
              <a:buFont typeface="Wingdings" panose="05000000000000000000" charset="0"/>
              <a:buChar char="ü"/>
            </a:pPr>
            <a:r>
              <a:rPr lang="en-US" altLang="zh-CN" sz="2800">
                <a:solidFill>
                  <a:schemeClr val="tx1"/>
                </a:solidFill>
                <a:latin typeface="Times New Roman" panose="02020603050405020304" charset="0"/>
                <a:cs typeface="Times New Roman" panose="02020603050405020304" charset="0"/>
                <a:sym typeface="+mn-ea"/>
              </a:rPr>
              <a:t>include the purpose, methods, and scope of the report, article, or paper.</a:t>
            </a:r>
          </a:p>
          <a:p>
            <a:pPr marL="457200" indent="-457200" fontAlgn="auto">
              <a:lnSpc>
                <a:spcPct val="100000"/>
              </a:lnSpc>
              <a:buFont typeface="Wingdings" panose="05000000000000000000" charset="0"/>
              <a:buChar char="ü"/>
            </a:pPr>
            <a:r>
              <a:rPr lang="en-US" altLang="zh-CN" sz="2800">
                <a:solidFill>
                  <a:schemeClr val="tx1"/>
                </a:solidFill>
                <a:latin typeface="Times New Roman" panose="02020603050405020304" charset="0"/>
                <a:cs typeface="Times New Roman" panose="02020603050405020304" charset="0"/>
                <a:sym typeface="+mn-ea"/>
              </a:rPr>
              <a:t>provide the results, conclusions, and recommendations.</a:t>
            </a:r>
          </a:p>
          <a:p>
            <a:pPr marL="457200" indent="-457200" fontAlgn="auto">
              <a:lnSpc>
                <a:spcPct val="100000"/>
              </a:lnSpc>
              <a:buFont typeface="Wingdings" panose="05000000000000000000" charset="0"/>
              <a:buChar char="ü"/>
            </a:pPr>
            <a:r>
              <a:rPr lang="en-US" altLang="zh-CN" sz="2800">
                <a:solidFill>
                  <a:schemeClr val="tx1"/>
                </a:solidFill>
                <a:latin typeface="Times New Roman" panose="02020603050405020304" charset="0"/>
                <a:cs typeface="Times New Roman" panose="02020603050405020304" charset="0"/>
                <a:sym typeface="+mn-ea"/>
              </a:rPr>
              <a:t>are short-from a paragraph to a page or two, depending upon the length of the original work being abstracted. Usually informative abstracts are 10% or less of the length of the original piece.</a:t>
            </a:r>
          </a:p>
          <a:p>
            <a:pPr marL="457200" indent="-457200" fontAlgn="auto">
              <a:lnSpc>
                <a:spcPct val="100000"/>
              </a:lnSpc>
              <a:buFont typeface="Wingdings" panose="05000000000000000000" charset="0"/>
              <a:buChar char="ü"/>
            </a:pPr>
            <a:r>
              <a:rPr lang="en-US" altLang="zh-CN" sz="2800">
                <a:solidFill>
                  <a:schemeClr val="tx1"/>
                </a:solidFill>
                <a:latin typeface="Times New Roman" panose="02020603050405020304" charset="0"/>
                <a:cs typeface="Times New Roman" panose="02020603050405020304" charset="0"/>
                <a:sym typeface="+mn-ea"/>
              </a:rPr>
              <a:t>allow readers to decide whether they want to read the report, article, or paper.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27635" y="1312545"/>
            <a:ext cx="12063730" cy="53568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50000"/>
              </a:lnSpc>
              <a:buFont typeface="Arial" panose="020B0604020202020204" pitchFamily="34" charset="0"/>
            </a:pPr>
            <a:r>
              <a:rPr lang="en-US" altLang="zh-CN" sz="2400">
                <a:solidFill>
                  <a:schemeClr val="accent2">
                    <a:lumMod val="75000"/>
                  </a:schemeClr>
                </a:solidFill>
                <a:latin typeface="Times New Roman" panose="02020603050405020304" charset="0"/>
                <a:cs typeface="Times New Roman" panose="02020603050405020304" charset="0"/>
                <a:sym typeface="+mn-ea"/>
              </a:rPr>
              <a:t>Example </a:t>
            </a:r>
          </a:p>
          <a:p>
            <a:pPr indent="0" fontAlgn="auto">
              <a:lnSpc>
                <a:spcPct val="150000"/>
              </a:lnSpc>
              <a:buFont typeface="Arial" panose="020B0604020202020204" pitchFamily="34" charset="0"/>
            </a:pPr>
            <a:r>
              <a:rPr lang="en-US" altLang="zh-CN" sz="2400" b="1">
                <a:solidFill>
                  <a:schemeClr val="tx1"/>
                </a:solidFill>
                <a:latin typeface="Times New Roman" panose="02020603050405020304" charset="0"/>
                <a:cs typeface="Times New Roman" panose="02020603050405020304" charset="0"/>
                <a:sym typeface="+mn-ea"/>
              </a:rPr>
              <a:t>SIZE INSTABILITIES IN THE RING AND LINEAR ARRAYS OF CHAOTIC SYSTEMS</a:t>
            </a:r>
            <a:endParaRPr lang="en-US" altLang="zh-CN" sz="2400">
              <a:solidFill>
                <a:schemeClr val="tx1"/>
              </a:solidFill>
              <a:latin typeface="Times New Roman" panose="02020603050405020304" charset="0"/>
              <a:cs typeface="Times New Roman" panose="02020603050405020304" charset="0"/>
              <a:sym typeface="+mn-ea"/>
            </a:endParaRPr>
          </a:p>
          <a:p>
            <a:pPr indent="0" fontAlgn="auto">
              <a:lnSpc>
                <a:spcPct val="150000"/>
              </a:lnSpc>
              <a:buFont typeface="Arial" panose="020B0604020202020204" pitchFamily="34" charset="0"/>
            </a:pPr>
            <a:r>
              <a:rPr lang="en-US" altLang="zh-CN" sz="2400">
                <a:solidFill>
                  <a:schemeClr val="tx1"/>
                </a:solidFill>
                <a:latin typeface="Times New Roman" panose="02020603050405020304" charset="0"/>
                <a:cs typeface="Times New Roman" panose="02020603050405020304" charset="0"/>
                <a:sym typeface="+mn-ea"/>
              </a:rPr>
              <a:t>     We investigate the dynamical stabilities of ring and linear arrays of chaotic oscillators with asymmetric nearest-neighbor and long-range couplings. It is shown that the instabilities of complete chaotic synchronization occur as the numbers of oscillators are increased beyond critical values which depend on the coupling schemes and coupling parameters of the systems. Based on the master stability function and eigenvalue analysis methods, we give the semi-analytical relations between the critical values and the coupling parameters. Results are demonstrated with numerical simulations in a set of coupled Lorenz oscillators. (Qi, Huang and Wang 2007: 301)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302385" y="1354455"/>
            <a:ext cx="10447020"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50000"/>
              </a:lnSpc>
              <a:buFontTx/>
              <a:buNone/>
            </a:pPr>
            <a:r>
              <a:rPr lang="en-US" altLang="zh-CN" sz="2800">
                <a:solidFill>
                  <a:schemeClr val="accent2">
                    <a:lumMod val="75000"/>
                  </a:schemeClr>
                </a:solidFill>
                <a:latin typeface="Times New Roman" panose="02020603050405020304" charset="0"/>
                <a:cs typeface="Times New Roman" panose="02020603050405020304" charset="0"/>
                <a:sym typeface="+mn-ea"/>
              </a:rPr>
              <a:t>(3) Informative-Indicative Abstracts</a:t>
            </a:r>
          </a:p>
          <a:p>
            <a:pPr marL="457200" indent="-457200" fontAlgn="auto">
              <a:lnSpc>
                <a:spcPct val="150000"/>
              </a:lnSpc>
              <a:buFont typeface="Arial" panose="020B0604020202020204" pitchFamily="34" charset="0"/>
              <a:buChar char="•"/>
            </a:pPr>
            <a:r>
              <a:rPr lang="en-US" altLang="zh-CN" sz="2800">
                <a:latin typeface="Times New Roman" panose="02020603050405020304" charset="0"/>
                <a:cs typeface="Times New Roman" panose="02020603050405020304" charset="0"/>
                <a:sym typeface="+mn-ea"/>
              </a:rPr>
              <a:t>have the characteristics of both informative and indicative abstracts </a:t>
            </a:r>
          </a:p>
          <a:p>
            <a:pPr marL="457200" indent="-457200" fontAlgn="auto">
              <a:lnSpc>
                <a:spcPct val="150000"/>
              </a:lnSpc>
              <a:buFont typeface="Arial" panose="020B0604020202020204" pitchFamily="34" charset="0"/>
              <a:buChar char="•"/>
            </a:pPr>
            <a:r>
              <a:rPr lang="en-US" altLang="zh-CN" sz="2800">
                <a:latin typeface="Times New Roman" panose="02020603050405020304" charset="0"/>
                <a:cs typeface="Times New Roman" panose="02020603050405020304" charset="0"/>
                <a:sym typeface="+mn-ea"/>
              </a:rPr>
              <a:t>they are restricted by the length of abstract and type and style of literature</a:t>
            </a:r>
          </a:p>
          <a:p>
            <a:pPr marL="457200" indent="-457200" fontAlgn="auto">
              <a:lnSpc>
                <a:spcPct val="150000"/>
              </a:lnSpc>
              <a:buFont typeface="Arial" panose="020B0604020202020204" pitchFamily="34" charset="0"/>
              <a:buChar char="•"/>
            </a:pPr>
            <a:r>
              <a:rPr lang="en-US" altLang="zh-CN" sz="2800">
                <a:latin typeface="Times New Roman" panose="02020603050405020304" charset="0"/>
                <a:cs typeface="Times New Roman" panose="02020603050405020304" charset="0"/>
                <a:sym typeface="+mn-ea"/>
              </a:rPr>
              <a:t>introduce the major part of the literature in an informative manner while presenting the secondary elements in an indicative manner </a:t>
            </a:r>
          </a:p>
          <a:p>
            <a:pPr marL="457200" indent="-457200" fontAlgn="auto">
              <a:lnSpc>
                <a:spcPct val="150000"/>
              </a:lnSpc>
              <a:buFont typeface="Arial" panose="020B0604020202020204" pitchFamily="34" charset="0"/>
              <a:buChar char="•"/>
            </a:pPr>
            <a:r>
              <a:rPr lang="en-US" altLang="zh-CN" sz="2800">
                <a:latin typeface="Times New Roman" panose="02020603050405020304" charset="0"/>
                <a:cs typeface="Times New Roman" panose="02020603050405020304" charset="0"/>
                <a:sym typeface="+mn-ea"/>
              </a:rPr>
              <a:t>relatively longer than indicative abstracts, but shorter than informative abstracts, generally between 50~100 words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0"/>
            <a:ext cx="10515600" cy="6644081"/>
          </a:xfrm>
        </p:spPr>
        <p:txBody>
          <a:bodyPr>
            <a:noAutofit/>
          </a:bodyPr>
          <a:lstStyle/>
          <a:p>
            <a:pPr indent="0" fontAlgn="auto">
              <a:lnSpc>
                <a:spcPct val="150000"/>
              </a:lnSpc>
              <a:buFont typeface="Arial" panose="020B0604020202020204" pitchFamily="34" charset="0"/>
              <a:buNone/>
            </a:pPr>
            <a:r>
              <a:rPr lang="en-US" altLang="zh-CN" sz="2400" dirty="0">
                <a:solidFill>
                  <a:schemeClr val="accent2">
                    <a:lumMod val="75000"/>
                  </a:schemeClr>
                </a:solidFill>
                <a:latin typeface="Times New Roman" panose="02020603050405020304" charset="0"/>
                <a:cs typeface="Times New Roman" panose="02020603050405020304" charset="0"/>
                <a:sym typeface="+mn-ea"/>
              </a:rPr>
              <a:t>Example 1 </a:t>
            </a:r>
          </a:p>
          <a:p>
            <a:pPr indent="0" algn="ctr" fontAlgn="auto">
              <a:lnSpc>
                <a:spcPct val="100000"/>
              </a:lnSpc>
              <a:buFont typeface="Arial" panose="020B0604020202020204" pitchFamily="34" charset="0"/>
              <a:buNone/>
            </a:pPr>
            <a:r>
              <a:rPr lang="en-US" altLang="zh-CN" sz="2400" b="1" dirty="0">
                <a:latin typeface="Times New Roman" panose="02020603050405020304" charset="0"/>
                <a:cs typeface="Times New Roman" panose="02020603050405020304" charset="0"/>
                <a:sym typeface="+mn-ea"/>
              </a:rPr>
              <a:t>Why Do Customers Get More Than They Need? How Organizational Culture</a:t>
            </a:r>
            <a:endParaRPr lang="en-US" altLang="zh-CN" sz="2400" b="1" dirty="0">
              <a:solidFill>
                <a:schemeClr val="tx1"/>
              </a:solidFill>
              <a:latin typeface="Times New Roman" panose="02020603050405020304" charset="0"/>
              <a:cs typeface="Times New Roman" panose="02020603050405020304" charset="0"/>
              <a:sym typeface="+mn-ea"/>
            </a:endParaRPr>
          </a:p>
          <a:p>
            <a:pPr indent="0" algn="ctr" fontAlgn="auto">
              <a:lnSpc>
                <a:spcPct val="100000"/>
              </a:lnSpc>
              <a:buFont typeface="Arial" panose="020B0604020202020204" pitchFamily="34" charset="0"/>
              <a:buNone/>
            </a:pPr>
            <a:r>
              <a:rPr lang="en-US" altLang="zh-CN" sz="2400" b="1" dirty="0">
                <a:latin typeface="Times New Roman" panose="02020603050405020304" charset="0"/>
                <a:cs typeface="Times New Roman" panose="02020603050405020304" charset="0"/>
                <a:sym typeface="+mn-ea"/>
              </a:rPr>
              <a:t>Shapes Product Capability Decisions</a:t>
            </a:r>
            <a:endParaRPr lang="en-US" altLang="zh-CN" sz="2400" b="1" dirty="0">
              <a:solidFill>
                <a:schemeClr val="tx1"/>
              </a:solidFill>
              <a:latin typeface="Times New Roman" panose="02020603050405020304" charset="0"/>
              <a:cs typeface="Times New Roman" panose="02020603050405020304" charset="0"/>
              <a:sym typeface="+mn-ea"/>
            </a:endParaRPr>
          </a:p>
          <a:p>
            <a:pPr indent="0" fontAlgn="auto">
              <a:lnSpc>
                <a:spcPct val="150000"/>
              </a:lnSpc>
              <a:buFont typeface="Arial" panose="020B0604020202020204" pitchFamily="34" charset="0"/>
              <a:buNone/>
            </a:pPr>
            <a:r>
              <a:rPr lang="en-US" altLang="zh-CN" sz="2400" dirty="0">
                <a:latin typeface="Times New Roman" panose="02020603050405020304" charset="0"/>
                <a:cs typeface="Times New Roman" panose="02020603050405020304" charset="0"/>
                <a:sym typeface="+mn-ea"/>
              </a:rPr>
              <a:t>     The capability level of a product that a firm provides to a customer is an important marketing decision. In the extant literature, the normative heuristic for this decision is one of matching-of providing product capability levels that meet customer needs. However, industry evidence suggests that supplier firms routinely make product decisions that lead to “overshot” customers, whereby customers receive products with capabilities that exceed their requirements. The authors demonstrate how a supplier firm’s organizational culture can cause overshooting scenarios and how these effects can be attenuated to the extent that the focal firm’s basic values also reflect a customer orientation. (Lukas et al. 2013: 1) </a:t>
            </a:r>
            <a:endParaRPr lang="en-US" altLang="zh-CN" sz="2400" dirty="0">
              <a:solidFill>
                <a:schemeClr val="tx1"/>
              </a:solidFill>
              <a:latin typeface="Times New Roman" panose="02020603050405020304" charset="0"/>
              <a:cs typeface="Times New Roman" panose="02020603050405020304" charset="0"/>
              <a:sym typeface="+mn-ea"/>
            </a:endParaRPr>
          </a:p>
          <a:p>
            <a:pPr marL="0" indent="0">
              <a:buNone/>
            </a:pPr>
            <a:endParaRPr lang="en-US" altLang="zh-CN" sz="1600" dirty="0">
              <a:solidFill>
                <a:schemeClr val="tx1"/>
              </a:solidFill>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377505"/>
            <a:ext cx="10515600" cy="6644081"/>
          </a:xfrm>
        </p:spPr>
        <p:txBody>
          <a:bodyPr>
            <a:noAutofit/>
          </a:bodyPr>
          <a:lstStyle/>
          <a:p>
            <a:pPr indent="0" fontAlgn="auto">
              <a:lnSpc>
                <a:spcPct val="150000"/>
              </a:lnSpc>
              <a:buFont typeface="Arial" panose="020B0604020202020204" pitchFamily="34" charset="0"/>
              <a:buNone/>
            </a:pPr>
            <a:r>
              <a:rPr lang="en-US" altLang="zh-CN" sz="2400" dirty="0">
                <a:solidFill>
                  <a:schemeClr val="accent2">
                    <a:lumMod val="75000"/>
                  </a:schemeClr>
                </a:solidFill>
                <a:latin typeface="Times New Roman" panose="02020603050405020304" charset="0"/>
                <a:cs typeface="Times New Roman" panose="02020603050405020304" charset="0"/>
                <a:sym typeface="+mn-ea"/>
              </a:rPr>
              <a:t>Example 2</a:t>
            </a:r>
          </a:p>
          <a:p>
            <a:pPr indent="0" algn="ctr">
              <a:lnSpc>
                <a:spcPct val="100000"/>
              </a:lnSpc>
              <a:buNone/>
            </a:pPr>
            <a:r>
              <a:rPr lang="en-US" altLang="zh-CN" sz="2400" b="1" dirty="0">
                <a:latin typeface="Times New Roman" panose="02020603050405020304" charset="0"/>
                <a:cs typeface="Times New Roman" panose="02020603050405020304" charset="0"/>
                <a:sym typeface="+mn-ea"/>
              </a:rPr>
              <a:t> Autism and Brain Development</a:t>
            </a:r>
          </a:p>
          <a:p>
            <a:pPr indent="0" algn="just">
              <a:lnSpc>
                <a:spcPct val="150000"/>
              </a:lnSpc>
              <a:buNone/>
            </a:pPr>
            <a:r>
              <a:rPr lang="en-US" altLang="zh-CN" sz="2400" dirty="0">
                <a:latin typeface="Times New Roman" panose="02020603050405020304" charset="0"/>
                <a:cs typeface="Times New Roman" panose="02020603050405020304" charset="0"/>
                <a:sym typeface="+mn-ea"/>
              </a:rPr>
              <a:t>    Genetic studies are refining our understanding of neurodevelopmental mechanisms in autism. Some autism-related mutations appear to disrupt genes regulated by neuronal activity, which are especially important in development of the postnatal nervous system. Gene replacement studies in mice indicate that the developmental window to ameliorate symptoms may be wider than previously anticipated. (Morrow, W., &amp; Rubenstein, 2008</a:t>
            </a:r>
            <a:r>
              <a:rPr lang="zh-CN" altLang="en-US" sz="2400" dirty="0">
                <a:latin typeface="Times New Roman" panose="02020603050405020304" charset="0"/>
                <a:cs typeface="Times New Roman" panose="02020603050405020304" charset="0"/>
                <a:sym typeface="+mn-ea"/>
              </a:rPr>
              <a:t>： </a:t>
            </a:r>
            <a:r>
              <a:rPr lang="en-US" altLang="zh-CN" sz="2400" dirty="0">
                <a:latin typeface="Times New Roman" panose="02020603050405020304" charset="0"/>
                <a:cs typeface="Times New Roman" panose="02020603050405020304" charset="0"/>
                <a:sym typeface="+mn-ea"/>
              </a:rPr>
              <a:t>396)</a:t>
            </a:r>
            <a:endParaRPr lang="en-US" altLang="zh-CN" sz="1600" dirty="0">
              <a:solidFill>
                <a:schemeClr val="tx1"/>
              </a:solidFill>
              <a:latin typeface="Times New Roman" panose="02020603050405020304" charset="0"/>
              <a:cs typeface="Times New Roman" panose="02020603050405020304" charset="0"/>
              <a:sym typeface="+mn-ea"/>
            </a:endParaRPr>
          </a:p>
        </p:txBody>
      </p:sp>
    </p:spTree>
    <p:extLst>
      <p:ext uri="{BB962C8B-B14F-4D97-AF65-F5344CB8AC3E}">
        <p14:creationId xmlns:p14="http://schemas.microsoft.com/office/powerpoint/2010/main" val="6193171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solidFill>
                  <a:schemeClr val="tx1"/>
                </a:solidFill>
                <a:latin typeface="Times New Roman" panose="02020603050405020304" charset="0"/>
                <a:cs typeface="Times New Roman" panose="02020603050405020304" charset="0"/>
                <a:sym typeface="+mn-ea"/>
              </a:rPr>
              <a:t>2. Types of Abstracts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029970"/>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50000"/>
              </a:lnSpc>
              <a:buFontTx/>
              <a:buNone/>
            </a:pPr>
            <a:r>
              <a:rPr lang="en-US" altLang="zh-CN" sz="2800">
                <a:solidFill>
                  <a:schemeClr val="accent2">
                    <a:lumMod val="75000"/>
                  </a:schemeClr>
                </a:solidFill>
                <a:latin typeface="Times New Roman" panose="02020603050405020304" charset="0"/>
                <a:cs typeface="Times New Roman" panose="02020603050405020304" charset="0"/>
                <a:sym typeface="+mn-ea"/>
              </a:rPr>
              <a:t>(4) Structured Abstracts</a:t>
            </a:r>
          </a:p>
          <a:p>
            <a:pPr indent="0" fontAlgn="auto">
              <a:lnSpc>
                <a:spcPct val="150000"/>
              </a:lnSpc>
              <a:buFont typeface="Wingdings" panose="05000000000000000000" charset="0"/>
            </a:pPr>
            <a:r>
              <a:rPr lang="en-US" altLang="zh-CN" sz="2800">
                <a:latin typeface="Times New Roman" panose="02020603050405020304" charset="0"/>
                <a:cs typeface="Times New Roman" panose="02020603050405020304" charset="0"/>
                <a:sym typeface="+mn-ea"/>
              </a:rPr>
              <a:t>Different from other traditional abstracts, structured abstracts mark the Aim, Methods, Results and Conclusion headings with eye-catching font (bold, upper case or italics) for the reader. The content of the abstract is keeping with the content of the paper, often including research purposes, research methods, findings and conclusions, mainly used in medical and health sciences.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rcRect t="-37" r="4220" b="-1"/>
          <a:stretch>
            <a:fillRect/>
          </a:stretch>
        </p:blipFill>
        <p:spPr>
          <a:xfrm>
            <a:off x="2317750" y="-66675"/>
            <a:ext cx="5803900" cy="6924675"/>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3. Qualities of a Good Abstract</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501775"/>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50000"/>
              </a:lnSpc>
              <a:buFontTx/>
              <a:buNone/>
            </a:pPr>
            <a:r>
              <a:rPr lang="en-US" altLang="zh-CN" sz="2800" dirty="0">
                <a:solidFill>
                  <a:schemeClr val="tx1"/>
                </a:solidFill>
                <a:latin typeface="Times New Roman" panose="02020603050405020304" charset="0"/>
                <a:cs typeface="Times New Roman" panose="02020603050405020304" charset="0"/>
                <a:sym typeface="+mn-ea"/>
              </a:rPr>
              <a:t>An effective abstract has the following qualities:</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able to stand alone</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uses keywords</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uses one or more well developed, unified, coherent and concise paragraphs</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uses an introduction/body/conclusion structure presenting the purpose, results, conclusions, and recommendations in that order</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follows strictly the chronology of the article, paper, or report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3. Qualities of a Good Abstract</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249680"/>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provides logical connections between the information included</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does not include unnecessary details</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adds no new information, but simply summarizes the report</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is understandable to a wide audience</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adheres closely to the length given</a:t>
            </a:r>
          </a:p>
          <a:p>
            <a:pPr marL="457200" indent="-457200" fontAlgn="auto">
              <a:lnSpc>
                <a:spcPct val="150000"/>
              </a:lnSpc>
              <a:buFont typeface="Arial" panose="020B0604020202020204" pitchFamily="34" charset="0"/>
              <a:buChar char="•"/>
            </a:pPr>
            <a:r>
              <a:rPr lang="en-US" altLang="zh-CN" sz="2800" dirty="0">
                <a:solidFill>
                  <a:schemeClr val="tx1"/>
                </a:solidFill>
                <a:latin typeface="Times New Roman" panose="02020603050405020304" charset="0"/>
                <a:cs typeface="Times New Roman" panose="02020603050405020304" charset="0"/>
                <a:sym typeface="+mn-ea"/>
              </a:rPr>
              <a:t>often uses passive verbs to downplay the author and emphasize the information.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4. Approaches to Writing an Abstract</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50669" y="988060"/>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pPr>
            <a:r>
              <a:rPr lang="zh-CN" altLang="en-US" sz="2800" dirty="0">
                <a:latin typeface="Times New Roman" panose="02020603050405020304" charset="0"/>
                <a:cs typeface="Times New Roman" panose="02020603050405020304" charset="0"/>
                <a:sym typeface="+mn-ea"/>
              </a:rPr>
              <a:t>---cut out unnecessary details of the paper</a:t>
            </a:r>
            <a:r>
              <a:rPr lang="en-US" altLang="zh-CN" sz="2800" dirty="0">
                <a:latin typeface="Times New Roman" panose="02020603050405020304" charset="0"/>
                <a:cs typeface="Times New Roman" panose="02020603050405020304" charset="0"/>
                <a:sym typeface="+mn-ea"/>
              </a:rPr>
              <a:t> </a:t>
            </a:r>
            <a:r>
              <a:rPr lang="zh-CN" altLang="en-US" sz="2800" dirty="0">
                <a:latin typeface="Times New Roman" panose="02020603050405020304" charset="0"/>
                <a:cs typeface="Times New Roman" panose="02020603050405020304" charset="0"/>
                <a:sym typeface="+mn-ea"/>
              </a:rPr>
              <a:t>and rewrite it</a:t>
            </a:r>
            <a:endParaRPr lang="zh-CN" altLang="en-US" sz="2800" dirty="0">
              <a:latin typeface="Times New Roman" panose="02020603050405020304" charset="0"/>
              <a:cs typeface="Times New Roman" panose="02020603050405020304" charset="0"/>
            </a:endParaRPr>
          </a:p>
          <a:p>
            <a:pPr indent="0" fontAlgn="auto">
              <a:lnSpc>
                <a:spcPct val="200000"/>
              </a:lnSpc>
            </a:pPr>
            <a:r>
              <a:rPr lang="zh-CN" altLang="en-US" sz="2800" dirty="0">
                <a:latin typeface="Times New Roman" panose="02020603050405020304" charset="0"/>
                <a:cs typeface="Times New Roman" panose="02020603050405020304" charset="0"/>
                <a:sym typeface="+mn-ea"/>
              </a:rPr>
              <a:t>---find dispensible elements of the thesis</a:t>
            </a:r>
            <a:r>
              <a:rPr lang="en-US" altLang="zh-CN" sz="2800" dirty="0">
                <a:latin typeface="Times New Roman" panose="02020603050405020304" charset="0"/>
                <a:cs typeface="Times New Roman" panose="02020603050405020304" charset="0"/>
                <a:sym typeface="+mn-ea"/>
              </a:rPr>
              <a:t> </a:t>
            </a:r>
            <a:r>
              <a:rPr lang="zh-CN" altLang="en-US" sz="2800" dirty="0">
                <a:latin typeface="Times New Roman" panose="02020603050405020304" charset="0"/>
                <a:cs typeface="Times New Roman" panose="02020603050405020304" charset="0"/>
                <a:sym typeface="+mn-ea"/>
              </a:rPr>
              <a:t>and put them together</a:t>
            </a:r>
            <a:endParaRPr lang="zh-CN" altLang="en-US" sz="2800" dirty="0">
              <a:latin typeface="Times New Roman" panose="02020603050405020304" charset="0"/>
              <a:cs typeface="Times New Roman" panose="02020603050405020304" charset="0"/>
            </a:endParaRPr>
          </a:p>
          <a:p>
            <a:pPr indent="0" fontAlgn="auto">
              <a:lnSpc>
                <a:spcPct val="200000"/>
              </a:lnSpc>
            </a:pPr>
            <a:r>
              <a:rPr lang="zh-CN" altLang="en-US" sz="2800" dirty="0">
                <a:latin typeface="Times New Roman" panose="02020603050405020304" charset="0"/>
                <a:cs typeface="Times New Roman" panose="02020603050405020304" charset="0"/>
                <a:sym typeface="+mn-ea"/>
              </a:rPr>
              <a:t>---find the thesis statement first and then the topic sentences of the </a:t>
            </a:r>
          </a:p>
          <a:p>
            <a:pPr indent="0" fontAlgn="auto">
              <a:lnSpc>
                <a:spcPct val="200000"/>
              </a:lnSpc>
            </a:pPr>
            <a:r>
              <a:rPr lang="zh-CN" altLang="en-US" sz="2800" dirty="0">
                <a:latin typeface="Times New Roman" panose="02020603050405020304" charset="0"/>
                <a:cs typeface="Times New Roman" panose="02020603050405020304" charset="0"/>
                <a:sym typeface="+mn-ea"/>
              </a:rPr>
              <a:t> </a:t>
            </a:r>
            <a:r>
              <a:rPr lang="en-US" altLang="zh-CN" sz="2800" dirty="0">
                <a:latin typeface="Times New Roman" panose="02020603050405020304" charset="0"/>
                <a:cs typeface="Times New Roman" panose="02020603050405020304" charset="0"/>
                <a:sym typeface="+mn-ea"/>
              </a:rPr>
              <a:t>   </a:t>
            </a:r>
            <a:r>
              <a:rPr lang="zh-CN" altLang="en-US" sz="2800" dirty="0">
                <a:latin typeface="Times New Roman" panose="02020603050405020304" charset="0"/>
                <a:cs typeface="Times New Roman" panose="02020603050405020304" charset="0"/>
                <a:sym typeface="+mn-ea"/>
              </a:rPr>
              <a:t>outline </a:t>
            </a:r>
          </a:p>
          <a:p>
            <a:pPr indent="0" fontAlgn="auto">
              <a:lnSpc>
                <a:spcPct val="200000"/>
              </a:lnSpc>
            </a:pPr>
            <a:endParaRPr lang="en-US" altLang="zh-CN" sz="2800" dirty="0">
              <a:solidFill>
                <a:schemeClr val="tx1"/>
              </a:solidFill>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Abstract--</a:t>
            </a:r>
            <a:r>
              <a:rPr lang="en-US" altLang="zh-CN" sz="2800" i="1">
                <a:latin typeface="Times New Roman" panose="02020603050405020304" charset="0"/>
                <a:cs typeface="Times New Roman" panose="02020603050405020304" charset="0"/>
                <a:sym typeface="+mn-ea"/>
              </a:rPr>
              <a:t>4. Approaches to Writing an Abstract</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4</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4 Abstract</a:t>
            </a:r>
          </a:p>
        </p:txBody>
      </p:sp>
      <p:sp>
        <p:nvSpPr>
          <p:cNvPr id="12" name="标题 1"/>
          <p:cNvSpPr>
            <a:spLocks noGrp="1"/>
          </p:cNvSpPr>
          <p:nvPr/>
        </p:nvSpPr>
        <p:spPr>
          <a:xfrm>
            <a:off x="1535430" y="1501775"/>
            <a:ext cx="9916795" cy="5170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150000"/>
              </a:lnSpc>
            </a:pPr>
            <a:r>
              <a:rPr lang="zh-CN" altLang="en-US" sz="2800">
                <a:latin typeface="Times New Roman" panose="02020603050405020304" charset="0"/>
                <a:cs typeface="Times New Roman" panose="02020603050405020304" charset="0"/>
                <a:sym typeface="+mn-ea"/>
              </a:rPr>
              <a:t>---use passive voice                                                                     </a:t>
            </a:r>
          </a:p>
          <a:p>
            <a:pPr indent="0" fontAlgn="auto">
              <a:lnSpc>
                <a:spcPct val="150000"/>
              </a:lnSpc>
            </a:pPr>
            <a:r>
              <a:rPr lang="zh-CN" altLang="en-US" sz="2800">
                <a:latin typeface="Times New Roman" panose="02020603050405020304" charset="0"/>
                <a:cs typeface="Times New Roman" panose="02020603050405020304" charset="0"/>
                <a:sym typeface="+mn-ea"/>
              </a:rPr>
              <a:t>---use third person</a:t>
            </a:r>
            <a:endParaRPr lang="zh-CN" altLang="en-US" sz="2800">
              <a:latin typeface="Times New Roman" panose="02020603050405020304" charset="0"/>
              <a:cs typeface="Times New Roman" panose="02020603050405020304" charset="0"/>
            </a:endParaRPr>
          </a:p>
          <a:p>
            <a:pPr indent="0" fontAlgn="auto">
              <a:lnSpc>
                <a:spcPct val="150000"/>
              </a:lnSpc>
            </a:pPr>
            <a:r>
              <a:rPr lang="zh-CN" altLang="en-US" sz="2800">
                <a:latin typeface="Times New Roman" panose="02020603050405020304" charset="0"/>
                <a:cs typeface="Times New Roman" panose="02020603050405020304" charset="0"/>
                <a:sym typeface="+mn-ea"/>
              </a:rPr>
              <a:t>---use complex sentences</a:t>
            </a:r>
            <a:endParaRPr lang="zh-CN" altLang="en-US" sz="2800">
              <a:latin typeface="Times New Roman" panose="02020603050405020304" charset="0"/>
              <a:cs typeface="Times New Roman" panose="02020603050405020304" charset="0"/>
            </a:endParaRPr>
          </a:p>
          <a:p>
            <a:pPr indent="0" fontAlgn="auto">
              <a:lnSpc>
                <a:spcPct val="150000"/>
              </a:lnSpc>
            </a:pPr>
            <a:r>
              <a:rPr lang="zh-CN" altLang="en-US" sz="2800">
                <a:latin typeface="Times New Roman" panose="02020603050405020304" charset="0"/>
                <a:cs typeface="Times New Roman" panose="02020603050405020304" charset="0"/>
                <a:sym typeface="+mn-ea"/>
              </a:rPr>
              <a:t>---avoid citation of references</a:t>
            </a:r>
            <a:endParaRPr lang="zh-CN" altLang="en-US" sz="2800">
              <a:latin typeface="Times New Roman" panose="02020603050405020304" charset="0"/>
              <a:cs typeface="Times New Roman" panose="02020603050405020304" charset="0"/>
            </a:endParaRPr>
          </a:p>
          <a:p>
            <a:pPr indent="0" fontAlgn="auto">
              <a:lnSpc>
                <a:spcPct val="150000"/>
              </a:lnSpc>
            </a:pPr>
            <a:r>
              <a:rPr lang="zh-CN" altLang="en-US" sz="2800">
                <a:latin typeface="Times New Roman" panose="02020603050405020304" charset="0"/>
                <a:cs typeface="Times New Roman" panose="02020603050405020304" charset="0"/>
                <a:sym typeface="+mn-ea"/>
              </a:rPr>
              <a:t>---avoid abbreviation and specialized words</a:t>
            </a:r>
            <a:endParaRPr lang="zh-CN" altLang="en-US" sz="2800">
              <a:latin typeface="Times New Roman" panose="02020603050405020304" charset="0"/>
              <a:cs typeface="Times New Roman" panose="02020603050405020304" charset="0"/>
            </a:endParaRPr>
          </a:p>
          <a:p>
            <a:pPr indent="0" fontAlgn="auto">
              <a:lnSpc>
                <a:spcPct val="150000"/>
              </a:lnSpc>
            </a:pPr>
            <a:r>
              <a:rPr lang="zh-CN" altLang="en-US" sz="2800">
                <a:latin typeface="Times New Roman" panose="02020603050405020304" charset="0"/>
                <a:cs typeface="Times New Roman" panose="02020603050405020304" charset="0"/>
                <a:sym typeface="+mn-ea"/>
              </a:rPr>
              <a:t>---avoid figures or table from the paper</a:t>
            </a:r>
          </a:p>
          <a:p>
            <a:pPr indent="0" fontAlgn="auto">
              <a:lnSpc>
                <a:spcPct val="150000"/>
              </a:lnSpc>
            </a:pPr>
            <a:endParaRPr lang="en-US" altLang="zh-CN" sz="2800">
              <a:solidFill>
                <a:schemeClr val="tx1"/>
              </a:solidFill>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25A5D5F-4E43-454F-8120-B9696602C1B1}"/>
              </a:ext>
            </a:extLst>
          </p:cNvPr>
          <p:cNvSpPr>
            <a:spLocks noGrp="1"/>
          </p:cNvSpPr>
          <p:nvPr>
            <p:ph idx="1"/>
          </p:nvPr>
        </p:nvSpPr>
        <p:spPr>
          <a:xfrm>
            <a:off x="838200" y="151002"/>
            <a:ext cx="10515600" cy="6467912"/>
          </a:xfrm>
        </p:spPr>
        <p:txBody>
          <a:bodyPr>
            <a:normAutofit fontScale="85000" lnSpcReduction="10000"/>
          </a:bodyPr>
          <a:lstStyle/>
          <a:p>
            <a:pPr marL="0" indent="0">
              <a:buNone/>
            </a:pPr>
            <a:r>
              <a:rPr lang="en-US" altLang="zh-CN" sz="2600" dirty="0">
                <a:solidFill>
                  <a:schemeClr val="accent2"/>
                </a:solidFill>
                <a:latin typeface="Times New Roman" panose="02020603050405020304" pitchFamily="18" charset="0"/>
                <a:cs typeface="Times New Roman" panose="02020603050405020304" pitchFamily="18" charset="0"/>
              </a:rPr>
              <a:t>Exercise 1 </a:t>
            </a:r>
            <a:r>
              <a:rPr lang="en-US" altLang="zh-CN" sz="2600" i="1" dirty="0">
                <a:latin typeface="Times New Roman" panose="02020603050405020304" pitchFamily="18" charset="0"/>
                <a:cs typeface="Times New Roman" panose="02020603050405020304" pitchFamily="18" charset="0"/>
              </a:rPr>
              <a:t>Analyze the abstract given below, paying special attention to such factors as the purpose, methods, results and conclusion. </a:t>
            </a:r>
          </a:p>
          <a:p>
            <a:pPr marL="0" indent="0">
              <a:lnSpc>
                <a:spcPct val="130000"/>
              </a:lnSpc>
              <a:spcBef>
                <a:spcPts val="0"/>
              </a:spcBef>
              <a:buNone/>
            </a:pPr>
            <a:r>
              <a:rPr lang="en-US" altLang="zh-CN" sz="2400" b="1" dirty="0">
                <a:latin typeface="Times New Roman" panose="02020603050405020304" pitchFamily="18" charset="0"/>
                <a:cs typeface="Times New Roman" panose="02020603050405020304" pitchFamily="18" charset="0"/>
              </a:rPr>
              <a:t>Abstract</a:t>
            </a:r>
          </a:p>
          <a:p>
            <a:pPr marL="0" indent="0" algn="just">
              <a:lnSpc>
                <a:spcPct val="130000"/>
              </a:lnSpc>
              <a:spcBef>
                <a:spcPts val="0"/>
              </a:spcBef>
              <a:buNone/>
            </a:pPr>
            <a:r>
              <a:rPr lang="en-US" altLang="zh-CN" sz="2400" dirty="0">
                <a:latin typeface="Times New Roman" panose="02020603050405020304" pitchFamily="18" charset="0"/>
                <a:cs typeface="Times New Roman" panose="02020603050405020304" pitchFamily="18" charset="0"/>
              </a:rPr>
              <a:t>      Corpus-based approaches to researching metaphor use in business English have become increasingly prevalent, but metaphor use in the genre of mission statements has received little attention. Using a self-built corpus with the help of the corpus tool </a:t>
            </a:r>
            <a:r>
              <a:rPr lang="en-US" altLang="zh-CN" sz="2400" dirty="0" err="1">
                <a:latin typeface="Times New Roman" panose="02020603050405020304" pitchFamily="18" charset="0"/>
                <a:cs typeface="Times New Roman" panose="02020603050405020304" pitchFamily="18" charset="0"/>
              </a:rPr>
              <a:t>Wmatrix</a:t>
            </a:r>
            <a:r>
              <a:rPr lang="en-US" altLang="zh-CN" sz="2400" dirty="0">
                <a:latin typeface="Times New Roman" panose="02020603050405020304" pitchFamily="18" charset="0"/>
                <a:cs typeface="Times New Roman" panose="02020603050405020304" pitchFamily="18" charset="0"/>
              </a:rPr>
              <a:t>, we compared metaphor use as a discursive and cognitive strategy in the mission statements of Chinese and US companies from a cognitive sociolinguistic perspective, focusing on three conventional conceptual metaphors in business discourse: BRANDS ARE PEOPLE, BUSINESS IS COOPERATION, and BUSINESS IS COMPETITION. The use of the source domains of these conceptual metaphors was found to differ significantly in the mission statements of Chinese and US companies, thus revealing differences in the underlying corporate identities and ideologies. Chinese corporations, which tend to describe themselves as energetic leaders and strong competitors, are more competition-oriented, whereas US corporations, which tend to project themselves as ethical and responsible community members, are more cooperation-oriented. The findings of this comparative study can shed light on how Chinese companies build their brand images and thus lead to a better understanding of changing national image of China.</a:t>
            </a:r>
          </a:p>
          <a:p>
            <a:endParaRPr lang="zh-CN" altLang="en-US" dirty="0"/>
          </a:p>
        </p:txBody>
      </p:sp>
    </p:spTree>
    <p:extLst>
      <p:ext uri="{BB962C8B-B14F-4D97-AF65-F5344CB8AC3E}">
        <p14:creationId xmlns:p14="http://schemas.microsoft.com/office/powerpoint/2010/main" val="653070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2285" y="173355"/>
            <a:ext cx="11225530" cy="847090"/>
          </a:xfrm>
        </p:spPr>
        <p:txBody>
          <a:bodyPr>
            <a:normAutofit/>
          </a:bodyPr>
          <a:lstStyle/>
          <a:p>
            <a:r>
              <a:rPr sz="2665" b="1" dirty="0" err="1">
                <a:solidFill>
                  <a:schemeClr val="accent2">
                    <a:lumMod val="75000"/>
                  </a:schemeClr>
                </a:solidFill>
                <a:latin typeface="Times New Roman" panose="02020603050405020304" charset="0"/>
                <a:cs typeface="Times New Roman" panose="02020603050405020304" charset="0"/>
                <a:sym typeface="+mn-ea"/>
              </a:rPr>
              <a:t>Exercise</a:t>
            </a:r>
            <a:r>
              <a:rPr lang="en-US" altLang="zh-CN" sz="2665" b="1" dirty="0" err="1">
                <a:solidFill>
                  <a:schemeClr val="accent2">
                    <a:lumMod val="75000"/>
                  </a:schemeClr>
                </a:solidFill>
                <a:latin typeface="Times New Roman" panose="02020603050405020304" charset="0"/>
                <a:cs typeface="Times New Roman" panose="02020603050405020304" charset="0"/>
                <a:sym typeface="+mn-ea"/>
              </a:rPr>
              <a:t>2</a:t>
            </a:r>
            <a:r>
              <a:rPr sz="2665" b="1" dirty="0">
                <a:solidFill>
                  <a:schemeClr val="accent2">
                    <a:lumMod val="75000"/>
                  </a:schemeClr>
                </a:solidFill>
                <a:latin typeface="Times New Roman" panose="02020603050405020304" charset="0"/>
                <a:cs typeface="Times New Roman" panose="02020603050405020304" charset="0"/>
                <a:sym typeface="+mn-ea"/>
              </a:rPr>
              <a:t>:</a:t>
            </a:r>
            <a:r>
              <a:rPr sz="2665" dirty="0">
                <a:latin typeface="Times New Roman" panose="02020603050405020304" charset="0"/>
                <a:cs typeface="Times New Roman" panose="02020603050405020304" charset="0"/>
                <a:sym typeface="+mn-ea"/>
              </a:rPr>
              <a:t> </a:t>
            </a:r>
            <a:r>
              <a:rPr sz="2665" i="1" dirty="0">
                <a:latin typeface="Times New Roman" panose="02020603050405020304" charset="0"/>
                <a:cs typeface="Times New Roman" panose="02020603050405020304" charset="0"/>
                <a:sym typeface="+mn-ea"/>
              </a:rPr>
              <a:t>Please analyze the following abstract written by an MA candidate on the title given.</a:t>
            </a:r>
            <a:endParaRPr lang="zh-CN" altLang="en-US" sz="2665" dirty="0"/>
          </a:p>
        </p:txBody>
      </p:sp>
      <p:sp>
        <p:nvSpPr>
          <p:cNvPr id="3" name="内容占位符 2"/>
          <p:cNvSpPr>
            <a:spLocks noGrp="1"/>
          </p:cNvSpPr>
          <p:nvPr>
            <p:ph idx="1"/>
          </p:nvPr>
        </p:nvSpPr>
        <p:spPr>
          <a:xfrm>
            <a:off x="579120" y="915670"/>
            <a:ext cx="11149330" cy="5634355"/>
          </a:xfrm>
        </p:spPr>
        <p:txBody>
          <a:bodyPr>
            <a:noAutofit/>
          </a:bodyPr>
          <a:lstStyle/>
          <a:p>
            <a:pPr marL="0" indent="0" algn="ctr" fontAlgn="auto">
              <a:lnSpc>
                <a:spcPct val="100000"/>
              </a:lnSpc>
              <a:spcBef>
                <a:spcPts val="0"/>
              </a:spcBef>
              <a:buNone/>
            </a:pPr>
            <a:r>
              <a:rPr sz="2700" b="1">
                <a:latin typeface="Times New Roman" panose="02020603050405020304" charset="0"/>
                <a:cs typeface="Times New Roman" panose="02020603050405020304" charset="0"/>
                <a:sym typeface="+mn-ea"/>
              </a:rPr>
              <a:t>An Evaluation on the Advanced English Course</a:t>
            </a:r>
          </a:p>
          <a:p>
            <a:pPr marL="0" indent="0" fontAlgn="auto">
              <a:lnSpc>
                <a:spcPct val="100000"/>
              </a:lnSpc>
              <a:spcBef>
                <a:spcPts val="0"/>
              </a:spcBef>
              <a:buNone/>
            </a:pPr>
            <a:r>
              <a:rPr sz="2700" b="1">
                <a:latin typeface="Times New Roman" panose="02020603050405020304" charset="0"/>
                <a:cs typeface="Times New Roman" panose="02020603050405020304" charset="0"/>
                <a:sym typeface="+mn-ea"/>
              </a:rPr>
              <a:t>Abstract:</a:t>
            </a:r>
            <a:r>
              <a:rPr sz="2700">
                <a:latin typeface="Times New Roman" panose="02020603050405020304" charset="0"/>
                <a:cs typeface="Times New Roman" panose="02020603050405020304" charset="0"/>
                <a:sym typeface="+mn-ea"/>
              </a:rPr>
              <a:t> Course evaluation can provide information about student, discipline, institutional priorities, and also information about what is happening, what is working, and what isn</a:t>
            </a:r>
            <a:r>
              <a:rPr lang="en-US" sz="2700">
                <a:latin typeface="Times New Roman" panose="02020603050405020304" charset="0"/>
                <a:cs typeface="Times New Roman" panose="02020603050405020304" charset="0"/>
                <a:sym typeface="+mn-ea"/>
              </a:rPr>
              <a:t>’</a:t>
            </a:r>
            <a:r>
              <a:rPr sz="2700">
                <a:latin typeface="Times New Roman" panose="02020603050405020304" charset="0"/>
                <a:cs typeface="Times New Roman" panose="02020603050405020304" charset="0"/>
                <a:sym typeface="+mn-ea"/>
              </a:rPr>
              <a:t>t. Based on this information, people could make</a:t>
            </a:r>
            <a:r>
              <a:rPr lang="en-US" sz="2700">
                <a:latin typeface="Times New Roman" panose="02020603050405020304" charset="0"/>
                <a:cs typeface="Times New Roman" panose="02020603050405020304" charset="0"/>
                <a:sym typeface="+mn-ea"/>
              </a:rPr>
              <a:t> </a:t>
            </a:r>
            <a:r>
              <a:rPr sz="2700">
                <a:latin typeface="Times New Roman" panose="02020603050405020304" charset="0"/>
                <a:cs typeface="Times New Roman" panose="02020603050405020304" charset="0"/>
                <a:sym typeface="+mn-ea"/>
              </a:rPr>
              <a:t>decisions about revisions in the program and can report the project externally to develop and improve the course. Therefore, in order to develop and improve the course of Ad</a:t>
            </a:r>
            <a:r>
              <a:rPr lang="en-US" sz="2700">
                <a:latin typeface="Times New Roman" panose="02020603050405020304" charset="0"/>
                <a:cs typeface="Times New Roman" panose="02020603050405020304" charset="0"/>
                <a:sym typeface="+mn-ea"/>
              </a:rPr>
              <a:t>v</a:t>
            </a:r>
            <a:r>
              <a:rPr sz="2700">
                <a:latin typeface="Times New Roman" panose="02020603050405020304" charset="0"/>
                <a:cs typeface="Times New Roman" panose="02020603050405020304" charset="0"/>
                <a:sym typeface="+mn-ea"/>
              </a:rPr>
              <a:t>anced English of non-English majors of Beijing International Studies University to finally promote the development of students, the writer evaluated the Advanced English </a:t>
            </a:r>
            <a:r>
              <a:rPr lang="en-US" sz="2700">
                <a:latin typeface="Times New Roman" panose="02020603050405020304" charset="0"/>
                <a:cs typeface="Times New Roman" panose="02020603050405020304" charset="0"/>
                <a:sym typeface="+mn-ea"/>
              </a:rPr>
              <a:t>C</a:t>
            </a:r>
            <a:r>
              <a:rPr sz="2700">
                <a:latin typeface="Times New Roman" panose="02020603050405020304" charset="0"/>
                <a:cs typeface="Times New Roman" panose="02020603050405020304" charset="0"/>
                <a:sym typeface="+mn-ea"/>
              </a:rPr>
              <a:t>ourse of two junior classes of non-English majors of this university to find out some problems existing in this course by questionnaire. After collecting and analyzing the data, the writer found four problems existing in Advanced English course and got implications from these problems.</a:t>
            </a:r>
          </a:p>
          <a:p>
            <a:pPr marL="0" indent="0">
              <a:buNone/>
            </a:pPr>
            <a:endParaRPr lang="zh-CN" altLang="en-US" sz="2400">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552450"/>
            <a:ext cx="9144000" cy="1113790"/>
          </a:xfrm>
        </p:spPr>
        <p:txBody>
          <a:bodyPr>
            <a:normAutofit/>
          </a:bodyPr>
          <a:lstStyle/>
          <a:p>
            <a:r>
              <a:rPr lang="en-US" altLang="zh-CN" sz="3600" b="1">
                <a:latin typeface="Times New Roman" panose="02020603050405020304" charset="0"/>
                <a:cs typeface="Times New Roman" panose="02020603050405020304" charset="0"/>
              </a:rPr>
              <a:t>The End</a:t>
            </a:r>
          </a:p>
        </p:txBody>
      </p:sp>
      <p:pic>
        <p:nvPicPr>
          <p:cNvPr id="100" name="图片 99"/>
          <p:cNvPicPr/>
          <p:nvPr>
            <p:custDataLst>
              <p:tags r:id="rId1"/>
            </p:custDataLst>
          </p:nvPr>
        </p:nvPicPr>
        <p:blipFill>
          <a:blip r:embed="rId3"/>
          <a:stretch>
            <a:fillRect/>
          </a:stretch>
        </p:blipFill>
        <p:spPr>
          <a:xfrm>
            <a:off x="694055" y="1998980"/>
            <a:ext cx="10975340" cy="3810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E1YjkyNTI0OGY5ZTY5YTFjYmVjM2U0M2U1MGM5YjQifQ=="/>
  <p:tag name="KSO_WPP_MARK_KEY" val="a4ed96ad-548a-44f5-93e5-cda7a50f31f1"/>
</p:tagLst>
</file>

<file path=ppt/tags/tag2.xml><?xml version="1.0" encoding="utf-8"?>
<p:tagLst xmlns:a="http://schemas.openxmlformats.org/drawingml/2006/main" xmlns:r="http://schemas.openxmlformats.org/officeDocument/2006/relationships" xmlns:p="http://schemas.openxmlformats.org/presentationml/2006/main">
  <p:tag name="KSO_WM_SLIDE_ID" val="diagram2021329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TAG_VERSION" val="1.0"/>
  <p:tag name="KSO_WM_BEAUTIFY_FLAG" val="#wm#"/>
  <p:tag name="KSO_WM_TEMPLATE_CATEGORY" val="diagram"/>
  <p:tag name="KSO_WM_TEMPLATE_INDEX" val="20213293"/>
  <p:tag name="KSO_WM_SLIDE_LAYOUT" val="a_d_f"/>
  <p:tag name="KSO_WM_SLIDE_LAYOUT_CNT" val="1_1_1"/>
  <p:tag name="KSO_WM_TEMPLATE_THUMBS_INDEX" val="1、4、7、12、13、14、15、16、17、18、20、24、25、28、33、36、40、43、44"/>
  <p:tag name="KSO_WM_SLIDE_LAYOUT_INFO" val="{&quot;backgroundInfo&quot;:[{&quot;bottom&quot;:0,&quot;bottomAbs&quot;:false,&quot;left&quot;:0,&quot;leftAbs&quot;:false,&quot;right&quot;:0,&quot;rightAbs&quot;:false,&quot;top&quot;:0,&quot;topAbs&quot;:false,&quot;type&quot;:&quot;general&quot;}],&quot;id&quot;:&quot;2022-12-15T22:40:38&quot;,&quot;maxSize&quot;:{&quot;size1&quot;:30},&quot;minSize&quot;:{&quot;size1&quot;:17.8},&quot;normalSize&quot;:{&quot;size1&quot;:25.33314814814815},&quot;subLayout&quot;:[{&quot;id&quot;:&quot;2022-12-15T22:40:38&quot;,&quot;margin&quot;:{&quot;bottom&quot;:0,&quot;left&quot;:1.6929999589920044,&quot;right&quot;:1.6929999589920044,&quot;top&quot;:1.6929999589920044},&quot;type&quot;:0},{&quot;id&quot;:&quot;2022-12-15T22:40:38&quot;,&quot;maxSize&quot;:{&quot;size1&quot;:66.7},&quot;minSize&quot;:{&quot;size1&quot;:38.9},&quot;normalSize&quot;:{&quot;size1&quot;:62.423426850370916},&quot;subLayout&quot;:[{&quot;id&quot;:&quot;2022-12-15T22:40:38&quot;,&quot;margin&quot;:{&quot;bottom&quot;:0.02600000612437725,&quot;left&quot;:1.6929999589920044,&quot;right&quot;:1.6929999589920044,&quot;top&quot;:0.847000002861023},&quot;type&quot;:0},{&quot;id&quot;:&quot;2022-12-15T22:40:38&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69675c553136823a5e61e7"/>
  <p:tag name="KSO_WM_CHIP_FILLPROP" val="[[{&quot;text_align&quot;:&quot;ct&quot;,&quot;text_direction&quot;:&quot;horizontal&quot;,&quot;support_big_font&quot;:false,&quot;picture_toward&quot;:0,&quot;picture_dockside&quot;:[],&quot;fill_id&quot;:&quot;42bdfa4a24a64d988a6191cecd716896&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video&quot;]},{&quot;text_align&quot;:&quot;cm&quot;,&quot;text_direction&quot;:&quot;horizontal&quot;,&quot;support_big_font&quot;:false,&quot;picture_toward&quot;:0,&quot;picture_dockside&quot;:[],&quot;fill_id&quot;:&quot;af7019ab30b54b018c2fc8ea2401cac8&quot;,&quot;fill_align&quot;:&quot;cm&quot;,&quot;chip_types&quot;:[&quot;text&quot;]}],[{&quot;text_align&quot;:&quot;cm&quot;,&quot;text_direction&quot;:&quot;horizontal&quot;,&quot;support_big_font&quot;:false,&quot;picture_toward&quot;:0,&quot;picture_dockside&quot;:[],&quot;fill_id&quot;:&quot;42bdfa4a24a64d988a6191cecd716896&quot;,&quot;fill_align&quot;:&quot;cm&quot;,&quot;chip_types&quot;:[&quot;header&quot;]},{&quot;text_align&quot;:&quot;lm&quot;,&quot;text_direction&quot;:&quot;horizontal&quot;,&quot;support_big_font&quot;:false,&quot;picture_toward&quot;:0,&quot;picture_dockside&quot;:[],&quot;fill_id&quot;:&quot;c7f405b535bb49fd9c504e13d5a436be&quot;,&quot;fill_align&quot;:&quot;cm&quot;,&quot;chip_types&quot;:[&quot;diagram&quot;,&quot;pictext&quot;,&quot;picture&quot;,&quot;chart&quot;,&quot;table&quot;]},{&quot;text_align&quot;:&quot;cm&quot;,&quot;text_direction&quot;:&quot;horizontal&quot;,&quot;support_big_font&quot;:false,&quot;picture_toward&quot;:0,&quot;picture_dockside&quot;:[],&quot;fill_id&quot;:&quot;af7019ab30b54b018c2fc8ea2401cac8&quot;,&quot;fill_align&quot;:&quot;cm&quot;,&quot;chip_types&quot;:[&quot;text&quot;,&quot;picture&quot;]}],[{&quot;text_align&quot;:&quot;lm&quot;,&quot;text_direction&quot;:&quot;horizontal&quot;,&quot;support_big_font&quot;:false,&quot;picture_toward&quot;:0,&quot;picture_dockside&quot;:[],&quot;fill_id&quot;:&quot;42bdfa4a24a64d988a6191cecd716896&quot;,&quot;fill_align&quot;:&quot;lm&quot;,&quot;chip_types&quot;:[&quot;text&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text_align&quot;:&quot;lm&quot;,&quot;text_direction&quot;:&quot;horizontal&quot;,&quot;support_big_font&quot;:false,&quot;picture_toward&quot;:0,&quot;picture_dockside&quot;:[],&quot;fill_id&quot;:&quot;af7019ab30b54b018c2fc8ea2401cac8&quot;,&quot;fill_align&quot;:&quot;lm&quot;,&quot;chip_types&quot;:[&quot;text&quot;,&quot;picture&quot;]}]]"/>
  <p:tag name="KSO_WM_SLIDE_SIZE" val="865*444"/>
  <p:tag name="KSO_WM_SLIDE_POSITION" val="47*48"/>
  <p:tag name="FIXED_XID_TMP" val="5f5ee1ca4d6848d78f644aed"/>
  <p:tag name="KSO_WM_CHIP_DECFILLPROP" val="[]"/>
  <p:tag name="KSO_WM_CHIP_GROUPID" val="5f5ee1ca4d6848d78f644aed"/>
  <p:tag name="KSO_WM_SLIDE_BK_DARK_LIGHT" val="2"/>
  <p:tag name="KSO_WM_SLIDE_BACKGROUND_TYPE" val="general"/>
  <p:tag name="KSO_WM_SLIDE_SUPPORT_FEATURE_TYPE" val="3"/>
  <p:tag name="KSO_WM_TEMPLATE_ASSEMBLE_XID" val="639b31e60c9383becdeaa802"/>
  <p:tag name="KSO_WM_TEMPLATE_ASSEMBLE_GROUPID" val="639b31e60c9383becdeaa802"/>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293_1*a*1"/>
  <p:tag name="KSO_WM_TEMPLATE_CATEGORY" val="diagram"/>
  <p:tag name="KSO_WM_TEMPLATE_INDEX" val="2021329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eac46169eb2b460bb4a610ed53a67e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12c141ff192434a81f8ec7859d8d7f3"/>
  <p:tag name="KSO_WM_UNIT_TEXT_FILL_FORE_SCHEMECOLOR_INDEX_BRIGHTNESS" val="0"/>
  <p:tag name="KSO_WM_UNIT_TEXT_FILL_FORE_SCHEMECOLOR_INDEX" val="13"/>
  <p:tag name="KSO_WM_UNIT_TEXT_FILL_TYPE" val="1"/>
  <p:tag name="KSO_WM_TEMPLATE_ASSEMBLE_XID" val="639b31e60c9383becdeaa802"/>
  <p:tag name="KSO_WM_TEMPLATE_ASSEMBLE_GROUPID" val="639b31e60c9383becdeaa802"/>
</p:tagLst>
</file>

<file path=ppt/tags/tag4.xml><?xml version="1.0" encoding="utf-8"?>
<p:tagLst xmlns:a="http://schemas.openxmlformats.org/drawingml/2006/main" xmlns:r="http://schemas.openxmlformats.org/officeDocument/2006/relationships" xmlns:p="http://schemas.openxmlformats.org/presentationml/2006/main">
  <p:tag name="KSO_WM_UNIT_VALUE" val="761*3046"/>
  <p:tag name="KSO_WM_UNIT_HIGHLIGHT" val="0"/>
  <p:tag name="KSO_WM_UNIT_COMPATIBLE" val="0"/>
  <p:tag name="KSO_WM_UNIT_DIAGRAM_ISNUMVISUAL" val="0"/>
  <p:tag name="KSO_WM_UNIT_DIAGRAM_ISREFERUNIT" val="0"/>
  <p:tag name="KSO_WM_UNIT_TYPE" val="d"/>
  <p:tag name="KSO_WM_UNIT_INDEX" val="1"/>
  <p:tag name="KSO_WM_UNIT_ID" val="diagram20213293_1*d*1"/>
  <p:tag name="KSO_WM_TEMPLATE_CATEGORY" val="diagram"/>
  <p:tag name="KSO_WM_TEMPLATE_INDEX" val="20213293"/>
  <p:tag name="KSO_WM_UNIT_LAYERLEVEL" val="1"/>
  <p:tag name="KSO_WM_TAG_VERSION" val="1.0"/>
  <p:tag name="KSO_WM_BEAUTIFY_FLAG" val="#wm#"/>
  <p:tag name="KSO_WM_CHIP_GROUPID" val="5e7310da9a230a26b9e88a19"/>
  <p:tag name="KSO_WM_CHIP_XID" val="5e7310da9a230a26b9e88a1a"/>
  <p:tag name="KSO_WM_UNIT_DEC_AREA_ID" val="d39d48b01a0a4808a05868f443a940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28373cf9a1d42b2ad4400f46103fc14"/>
  <p:tag name="KSO_WM_UNIT_SUPPORT_UNIT_TYPE" val="[&quot;l&quot;,&quot;m&quot;,&quot;n&quot;,&quot;o&quot;,&quot;p&quot;,&quot;q&quot;,&quot;r&quot;,&quot;δ&quot;,&quot;ε&quot;,&quot;ζ&quot;,&quot;η&quot;,&quot;d&quot;,&quot;α&quot;,&quot;β&quot;,&quot;θ&quot;]"/>
  <p:tag name="KSO_WM_TEMPLATE_ASSEMBLE_XID" val="639b31e60c9383becdeaa802"/>
  <p:tag name="KSO_WM_TEMPLATE_ASSEMBLE_GROUPID" val="639b31e60c9383becdeaa802"/>
  <p:tag name="KSO_WM_UNIT_PICTURE_CLIP_FLAG" val="0"/>
</p:tagLst>
</file>

<file path=ppt/tags/tag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293_1*f*1"/>
  <p:tag name="KSO_WM_TEMPLATE_CATEGORY" val="diagram"/>
  <p:tag name="KSO_WM_TEMPLATE_INDEX" val="20213293"/>
  <p:tag name="KSO_WM_UNIT_LAYERLEVEL" val="1"/>
  <p:tag name="KSO_WM_TAG_VERSION" val="1.0"/>
  <p:tag name="KSO_WM_BEAUTIFY_FLAG" val="#wm#"/>
  <p:tag name="KSO_WM_UNIT_DEFAULT_FONT" val="14;20;2"/>
  <p:tag name="KSO_WM_UNIT_BLOCK" val="0"/>
  <p:tag name="KSO_WM_UNIT_VALUE" val="172"/>
  <p:tag name="KSO_WM_UNIT_SHOW_EDIT_AREA_INDICATION" val="1"/>
  <p:tag name="KSO_WM_CHIP_GROUPID" val="5e6b05596848fb12bee65ac8"/>
  <p:tag name="KSO_WM_CHIP_XID" val="5e6b05596848fb12bee65aca"/>
  <p:tag name="KSO_WM_UNIT_DEC_AREA_ID" val="f3ba6b55ee6d4aec98d86b43aa728f7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7bdb306efbae44b9a7ac00fd1cb9e337"/>
  <p:tag name="KSO_WM_UNIT_TEXT_FILL_FORE_SCHEMECOLOR_INDEX_BRIGHTNESS" val="0.25"/>
  <p:tag name="KSO_WM_UNIT_TEXT_FILL_FORE_SCHEMECOLOR_INDEX" val="13"/>
  <p:tag name="KSO_WM_UNIT_TEXT_FILL_TYPE" val="1"/>
  <p:tag name="KSO_WM_TEMPLATE_ASSEMBLE_XID" val="639b31e60c9383becdeaa802"/>
  <p:tag name="KSO_WM_TEMPLATE_ASSEMBLE_GROUPID" val="639b31e60c9383becdeaa802"/>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2259</Words>
  <Application>Microsoft Office PowerPoint</Application>
  <PresentationFormat>宽屏</PresentationFormat>
  <Paragraphs>224</Paragraphs>
  <Slides>33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33</vt:i4>
      </vt:variant>
    </vt:vector>
  </HeadingPairs>
  <TitlesOfParts>
    <vt:vector size="38" baseType="lpstr">
      <vt:lpstr>Arial</vt:lpstr>
      <vt:lpstr>Calibri</vt:lpstr>
      <vt:lpstr>Times New Roman</vt:lpstr>
      <vt:lpstr>Wingdings</vt:lpstr>
      <vt:lpstr>Office 主题</vt:lpstr>
      <vt:lpstr>PowerPoint 演示文稿</vt:lpstr>
      <vt:lpstr>Chapter 4 Abstract</vt:lpstr>
      <vt:lpstr>Abstract</vt:lpstr>
      <vt:lpstr>Abstract</vt:lpstr>
      <vt:lpstr>Abstract--1. Introduction</vt:lpstr>
      <vt:lpstr>Abstract--1. Introduction</vt:lpstr>
      <vt:lpstr>Abstract--1. Introduction</vt:lpstr>
      <vt:lpstr>Abstract--1. Introduction</vt:lpstr>
      <vt:lpstr>Abstract--1. Introduction</vt:lpstr>
      <vt:lpstr>Abstract--1. Introduction</vt:lpstr>
      <vt:lpstr>Abstract--2. Types of Abstracts</vt:lpstr>
      <vt:lpstr>Abstract--2. Types of Abstracts</vt:lpstr>
      <vt:lpstr>Abstract--2. Types of Abstracts</vt:lpstr>
      <vt:lpstr>Abstract--2. Types of Abstracts</vt:lpstr>
      <vt:lpstr>Abstract--2. Types of Abstracts</vt:lpstr>
      <vt:lpstr>Abstract--2. Types of Abstracts</vt:lpstr>
      <vt:lpstr>Abstract--2. Types of Abstracts</vt:lpstr>
      <vt:lpstr>Abstract--2. Types of Abstracts</vt:lpstr>
      <vt:lpstr>Abstract--2. Types of Abstracts</vt:lpstr>
      <vt:lpstr>Abstract--2. Types of Abstracts</vt:lpstr>
      <vt:lpstr>Abstract--2. Types of Abstracts</vt:lpstr>
      <vt:lpstr>Abstract--2. Types of Abstracts</vt:lpstr>
      <vt:lpstr>PowerPoint 演示文稿</vt:lpstr>
      <vt:lpstr>PowerPoint 演示文稿</vt:lpstr>
      <vt:lpstr>Abstract--2. Types of Abstracts</vt:lpstr>
      <vt:lpstr>PowerPoint 演示文稿</vt:lpstr>
      <vt:lpstr>Abstract--3. Qualities of a Good Abstract</vt:lpstr>
      <vt:lpstr>Abstract--3. Qualities of a Good Abstract</vt:lpstr>
      <vt:lpstr>Abstract--4. Approaches to Writing an Abstract</vt:lpstr>
      <vt:lpstr>Abstract--4. Approaches to Writing an Abstract</vt:lpstr>
      <vt:lpstr>PowerPoint 演示文稿</vt:lpstr>
      <vt:lpstr>Exercise2: Please analyze the following abstract written by an MA candidate on the title given.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SY</dc:creator>
  <cp:lastModifiedBy>SY</cp:lastModifiedBy>
  <cp:revision>24</cp:revision>
  <dcterms:created xsi:type="dcterms:W3CDTF">2023-06-14T03:14:00Z</dcterms:created>
  <dcterms:modified xsi:type="dcterms:W3CDTF">2026-04-07T09:40:08Z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606B7AF0F93E42DBADF757E7F5B16FAD_13</vt:lpwstr>
  </property>
  <property fmtid="{D5CDD505-2E9C-101B-9397-08002B2CF9AE}" pid="3" name="KSOProductBuildVer">
    <vt:lpwstr>2052-12.1.0.20305</vt:lpwstr>
  </property>
</Properties>
</file>