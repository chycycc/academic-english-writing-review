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handoutMasterIdLst>
    <p:handoutMasterId r:id="rId62"/>
  </p:handoutMasterIdLst>
  <p:sldIdLst>
    <p:sldId id="257" r:id="rId2"/>
    <p:sldId id="256" r:id="rId3"/>
    <p:sldId id="361" r:id="rId4"/>
    <p:sldId id="360" r:id="rId5"/>
    <p:sldId id="362" r:id="rId6"/>
    <p:sldId id="259" r:id="rId7"/>
    <p:sldId id="260" r:id="rId8"/>
    <p:sldId id="263" r:id="rId9"/>
    <p:sldId id="262" r:id="rId10"/>
    <p:sldId id="363" r:id="rId11"/>
    <p:sldId id="264" r:id="rId12"/>
    <p:sldId id="364" r:id="rId13"/>
    <p:sldId id="265" r:id="rId14"/>
    <p:sldId id="365" r:id="rId15"/>
    <p:sldId id="266" r:id="rId16"/>
    <p:sldId id="324" r:id="rId17"/>
    <p:sldId id="267" r:id="rId18"/>
    <p:sldId id="268" r:id="rId19"/>
    <p:sldId id="366" r:id="rId20"/>
    <p:sldId id="331" r:id="rId21"/>
    <p:sldId id="349" r:id="rId22"/>
    <p:sldId id="350" r:id="rId23"/>
    <p:sldId id="351" r:id="rId24"/>
    <p:sldId id="352" r:id="rId25"/>
    <p:sldId id="353" r:id="rId26"/>
    <p:sldId id="354" r:id="rId27"/>
    <p:sldId id="332" r:id="rId28"/>
    <p:sldId id="335" r:id="rId29"/>
    <p:sldId id="372" r:id="rId30"/>
    <p:sldId id="336" r:id="rId31"/>
    <p:sldId id="338" r:id="rId32"/>
    <p:sldId id="339" r:id="rId33"/>
    <p:sldId id="340" r:id="rId34"/>
    <p:sldId id="341" r:id="rId35"/>
    <p:sldId id="342" r:id="rId36"/>
    <p:sldId id="343" r:id="rId37"/>
    <p:sldId id="344" r:id="rId38"/>
    <p:sldId id="345" r:id="rId39"/>
    <p:sldId id="346" r:id="rId40"/>
    <p:sldId id="347" r:id="rId41"/>
    <p:sldId id="333" r:id="rId42"/>
    <p:sldId id="334" r:id="rId43"/>
    <p:sldId id="355" r:id="rId44"/>
    <p:sldId id="356" r:id="rId45"/>
    <p:sldId id="357" r:id="rId46"/>
    <p:sldId id="359" r:id="rId47"/>
    <p:sldId id="369" r:id="rId48"/>
    <p:sldId id="373" r:id="rId49"/>
    <p:sldId id="325" r:id="rId50"/>
    <p:sldId id="326" r:id="rId51"/>
    <p:sldId id="327" r:id="rId52"/>
    <p:sldId id="328" r:id="rId53"/>
    <p:sldId id="323" r:id="rId54"/>
    <p:sldId id="287" r:id="rId55"/>
    <p:sldId id="371" r:id="rId56"/>
    <p:sldId id="370" r:id="rId57"/>
    <p:sldId id="368" r:id="rId58"/>
    <p:sldId id="367" r:id="rId59"/>
    <p:sldId id="293" r:id="rId60"/>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68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2026/4/19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5.jpeg"/><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s>
</file>

<file path=ppt/slides/_rels/slide49.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5.jpeg"/><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p:cNvSpPr txBox="1"/>
          <p:nvPr>
            <p:custDataLst>
              <p:tags r:id="rId2"/>
            </p:custDataLst>
          </p:nvPr>
        </p:nvSpPr>
        <p:spPr>
          <a:xfrm>
            <a:off x="609600" y="410845"/>
            <a:ext cx="10972800" cy="1326515"/>
          </a:xfrm>
          <a:prstGeom prst="rect">
            <a:avLst/>
          </a:prstGeom>
          <a:solidFill>
            <a:schemeClr val="bg1">
              <a:lumMod val="95000"/>
            </a:schemeClr>
          </a:solidFill>
          <a:effectLst>
            <a:innerShdw blurRad="114300">
              <a:prstClr val="black"/>
            </a:innerShdw>
            <a:softEdge rad="63500"/>
          </a:effectLst>
        </p:spPr>
        <p:txBody>
          <a:bodyPr wrap="square" lIns="63500" tIns="25400" rIns="63500" bIns="25400" rtlCol="0" anchor="t" anchorCtr="0">
            <a:normAutofit fontScale="92500" lnSpcReduction="10000"/>
          </a:bodyPr>
          <a:lstStyle/>
          <a:p>
            <a:pPr indent="0" algn="ctr" fontAlgn="auto">
              <a:lnSpc>
                <a:spcPct val="150000"/>
              </a:lnSpc>
              <a:spcBef>
                <a:spcPts val="0"/>
              </a:spcBef>
              <a:spcAft>
                <a:spcPts val="0"/>
              </a:spcAft>
              <a:buSzPct val="100000"/>
              <a:buNone/>
            </a:pPr>
            <a:r>
              <a:rPr lang="en-US" altLang="zh-CN" sz="3200" b="1">
                <a:solidFill>
                  <a:schemeClr val="accent1"/>
                </a:solidFill>
                <a:uFillTx/>
                <a:latin typeface="Times New Roman" panose="02020603050405020304" charset="0"/>
                <a:ea typeface="微软雅黑" panose="020B0503020204020204" charset="-122"/>
                <a:cs typeface="Times New Roman" panose="02020603050405020304" charset="0"/>
                <a:sym typeface="+mn-ea"/>
              </a:rPr>
              <a:t>English Academic Writing </a:t>
            </a:r>
          </a:p>
          <a:p>
            <a:pPr indent="0" algn="ctr" fontAlgn="auto">
              <a:lnSpc>
                <a:spcPct val="150000"/>
              </a:lnSpc>
              <a:spcBef>
                <a:spcPts val="0"/>
              </a:spcBef>
              <a:spcAft>
                <a:spcPts val="0"/>
              </a:spcAft>
              <a:buSzPct val="100000"/>
              <a:buNone/>
            </a:pPr>
            <a:r>
              <a:rPr lang="zh-CN"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《学术英语论文写作》</a:t>
            </a:r>
          </a:p>
        </p:txBody>
      </p:sp>
      <p:pic>
        <p:nvPicPr>
          <p:cNvPr id="7" name="图片 3"/>
          <p:cNvPicPr>
            <a:picLocks noChangeAspect="1"/>
          </p:cNvPicPr>
          <p:nvPr>
            <p:custDataLst>
              <p:tags r:id="rId3"/>
            </p:custDataLst>
          </p:nvPr>
        </p:nvPicPr>
        <p:blipFill rotWithShape="1">
          <a:blip r:embed="rId6"/>
          <a:srcRect t="26602" b="26602"/>
          <a:stretch>
            <a:fillRect/>
          </a:stretch>
        </p:blipFill>
        <p:spPr>
          <a:xfrm>
            <a:off x="609562" y="2042160"/>
            <a:ext cx="10972876" cy="2889261"/>
          </a:xfrm>
          <a:custGeom>
            <a:avLst/>
            <a:gdLst/>
            <a:ahLst/>
            <a:cxnLst>
              <a:cxn ang="3">
                <a:pos x="hc" y="t"/>
              </a:cxn>
              <a:cxn ang="cd2">
                <a:pos x="l" y="vc"/>
              </a:cxn>
              <a:cxn ang="cd4">
                <a:pos x="hc" y="b"/>
              </a:cxn>
              <a:cxn ang="0">
                <a:pos x="r" y="vc"/>
              </a:cxn>
            </a:cxnLst>
            <a:rect l="l" t="t" r="r" b="b"/>
            <a:pathLst>
              <a:path w="17280" h="4320">
                <a:moveTo>
                  <a:pt x="0" y="0"/>
                </a:moveTo>
                <a:lnTo>
                  <a:pt x="17280" y="0"/>
                </a:lnTo>
                <a:lnTo>
                  <a:pt x="17280" y="4320"/>
                </a:lnTo>
                <a:lnTo>
                  <a:pt x="0" y="4320"/>
                </a:lnTo>
                <a:lnTo>
                  <a:pt x="0" y="0"/>
                </a:lnTo>
                <a:close/>
              </a:path>
            </a:pathLst>
          </a:custGeom>
          <a:ln>
            <a:solidFill>
              <a:schemeClr val="accent2">
                <a:lumMod val="20000"/>
                <a:lumOff val="80000"/>
              </a:schemeClr>
            </a:solidFill>
          </a:ln>
          <a:effectLst>
            <a:innerShdw blurRad="114300">
              <a:prstClr val="black"/>
            </a:innerShdw>
          </a:effectLst>
        </p:spPr>
      </p:pic>
      <p:sp>
        <p:nvSpPr>
          <p:cNvPr id="11" name="Title 6"/>
          <p:cNvSpPr txBox="1"/>
          <p:nvPr>
            <p:custDataLst>
              <p:tags r:id="rId4"/>
            </p:custDataLst>
          </p:nvPr>
        </p:nvSpPr>
        <p:spPr>
          <a:xfrm>
            <a:off x="609562" y="5236196"/>
            <a:ext cx="10972800" cy="85980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100000"/>
              </a:lnSpc>
              <a:spcBef>
                <a:spcPts val="0"/>
              </a:spcBef>
              <a:spcAft>
                <a:spcPts val="800"/>
              </a:spcAft>
              <a:buSzPct val="100000"/>
              <a:buNone/>
            </a:pPr>
            <a:r>
              <a:rPr lang="en-US" altLang="zh-CN" sz="2400" kern="0" spc="0">
                <a:ln w="3175">
                  <a:noFill/>
                  <a:prstDash val="dash"/>
                </a:ln>
                <a:solidFill>
                  <a:schemeClr val="tx1">
                    <a:lumMod val="75000"/>
                    <a:lumOff val="25000"/>
                  </a:schemeClr>
                </a:solidFill>
                <a:uFillTx/>
                <a:latin typeface="Times New Roman" panose="02020603050405020304" charset="0"/>
                <a:ea typeface="宋体" panose="02010600030101010101" pitchFamily="2" charset="-122"/>
                <a:cs typeface="Times New Roman" panose="02020603050405020304" charset="0"/>
                <a:sym typeface="+mn-ea"/>
              </a:rPr>
              <a:t>Lecturer: Liu Xindan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101" name="图片 100"/>
          <p:cNvPicPr/>
          <p:nvPr/>
        </p:nvPicPr>
        <p:blipFill>
          <a:blip r:embed="rId2"/>
          <a:stretch>
            <a:fillRect/>
          </a:stretch>
        </p:blipFill>
        <p:spPr>
          <a:xfrm>
            <a:off x="-635" y="0"/>
            <a:ext cx="12192635" cy="6858000"/>
          </a:xfrm>
          <a:prstGeom prst="rect">
            <a:avLst/>
          </a:prstGeom>
          <a:noFill/>
          <a:ln w="9525">
            <a:noFill/>
          </a:ln>
        </p:spPr>
      </p:pic>
      <p:sp>
        <p:nvSpPr>
          <p:cNvPr id="4" name="圆角矩形 3"/>
          <p:cNvSpPr/>
          <p:nvPr/>
        </p:nvSpPr>
        <p:spPr>
          <a:xfrm>
            <a:off x="712470" y="2996565"/>
            <a:ext cx="7075805" cy="2358390"/>
          </a:xfrm>
          <a:prstGeom prst="roundRect">
            <a:avLst/>
          </a:prstGeom>
          <a:solidFill>
            <a:srgbClr val="1D68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a:t>Data Collection and Evaluation</a:t>
            </a:r>
          </a:p>
        </p:txBody>
      </p:sp>
      <p:sp>
        <p:nvSpPr>
          <p:cNvPr id="5" name="文本框 4"/>
          <p:cNvSpPr txBox="1"/>
          <p:nvPr/>
        </p:nvSpPr>
        <p:spPr>
          <a:xfrm>
            <a:off x="2433955" y="1712595"/>
            <a:ext cx="4707255" cy="768350"/>
          </a:xfrm>
          <a:prstGeom prst="rect">
            <a:avLst/>
          </a:prstGeom>
          <a:noFill/>
        </p:spPr>
        <p:txBody>
          <a:bodyPr wrap="square" rtlCol="0">
            <a:spAutoFit/>
          </a:bodyPr>
          <a:lstStyle/>
          <a:p>
            <a:r>
              <a:rPr lang="en-US" altLang="zh-CN" sz="4400">
                <a:solidFill>
                  <a:schemeClr val="bg1"/>
                </a:solidFill>
              </a:rPr>
              <a:t>Chapter 5</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a:bodyPr>
          <a:lstStyle/>
          <a:p>
            <a:pPr marL="0" indent="0">
              <a:lnSpc>
                <a:spcPct val="150000"/>
              </a:lnSpc>
              <a:spcBef>
                <a:spcPts val="0"/>
              </a:spcBef>
              <a:buNone/>
            </a:pPr>
            <a:r>
              <a:rPr lang="en-US" altLang="zh-CN" b="1" dirty="0">
                <a:latin typeface="Times New Roman" panose="02020603050405020304" charset="0"/>
                <a:cs typeface="Times New Roman" panose="02020603050405020304" charset="0"/>
                <a:sym typeface="+mn-ea"/>
              </a:rPr>
              <a:t>The Role of Data in Research</a:t>
            </a:r>
          </a:p>
          <a:p>
            <a:pPr marL="0" indent="0">
              <a:lnSpc>
                <a:spcPct val="150000"/>
              </a:lnSpc>
              <a:spcBef>
                <a:spcPts val="0"/>
              </a:spcBef>
              <a:buNone/>
            </a:pPr>
            <a:r>
              <a:rPr lang="en-US" altLang="zh-CN" dirty="0">
                <a:latin typeface="Times New Roman" panose="02020603050405020304" charset="0"/>
                <a:cs typeface="Times New Roman" panose="02020603050405020304" charset="0"/>
                <a:sym typeface="+mn-ea"/>
              </a:rPr>
              <a:t>Data is no longer just numbers—it is evidence, argument, and insight.</a:t>
            </a:r>
          </a:p>
          <a:p>
            <a:pPr marL="0" indent="0">
              <a:lnSpc>
                <a:spcPct val="150000"/>
              </a:lnSpc>
              <a:spcBef>
                <a:spcPts val="0"/>
              </a:spcBef>
              <a:buNone/>
            </a:pPr>
            <a:r>
              <a:rPr lang="en-US" altLang="zh-CN" dirty="0">
                <a:latin typeface="Times New Roman" panose="02020603050405020304" charset="0"/>
                <a:cs typeface="Times New Roman" panose="02020603050405020304" charset="0"/>
                <a:sym typeface="+mn-ea"/>
              </a:rPr>
              <a:t>In academic writing, data supports claims, validates reasoning, and strengthens credibility.</a:t>
            </a:r>
          </a:p>
          <a:p>
            <a:pPr marL="0" indent="0">
              <a:lnSpc>
                <a:spcPct val="150000"/>
              </a:lnSpc>
              <a:spcBef>
                <a:spcPts val="0"/>
              </a:spcBef>
              <a:buNone/>
            </a:pPr>
            <a:endParaRPr lang="en-US" altLang="zh-CN" dirty="0">
              <a:latin typeface="Times New Roman" panose="02020603050405020304" charset="0"/>
              <a:cs typeface="Times New Roman" panose="02020603050405020304" charset="0"/>
              <a:sym typeface="+mn-ea"/>
            </a:endParaRPr>
          </a:p>
          <a:p>
            <a:pPr marL="0" indent="0">
              <a:lnSpc>
                <a:spcPct val="150000"/>
              </a:lnSpc>
              <a:spcBef>
                <a:spcPts val="0"/>
              </a:spcBef>
              <a:buNone/>
            </a:pPr>
            <a:r>
              <a:rPr lang="en-US" altLang="zh-CN" i="1" dirty="0">
                <a:solidFill>
                  <a:schemeClr val="accent2"/>
                </a:solidFill>
                <a:latin typeface="Times New Roman" panose="02020603050405020304" charset="0"/>
                <a:cs typeface="Times New Roman" panose="02020603050405020304" charset="0"/>
                <a:sym typeface="+mn-ea"/>
              </a:rPr>
              <a:t>How does data help us move from opinion to evidence-based argument?</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9538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lnSpcReduction="10000"/>
          </a:bodyPr>
          <a:lstStyle/>
          <a:p>
            <a:pPr fontAlgn="auto">
              <a:lnSpc>
                <a:spcPct val="200000"/>
              </a:lnSpc>
              <a:buClr>
                <a:srgbClr val="ED7D31"/>
              </a:buClr>
              <a:buFont typeface="Wingdings" panose="05000000000000000000" charset="0"/>
              <a:buChar char="ü"/>
            </a:pPr>
            <a:r>
              <a:rPr lang="en-US" altLang="zh-CN" dirty="0">
                <a:latin typeface="Times New Roman" panose="02020603050405020304" charset="0"/>
                <a:cs typeface="Times New Roman" panose="02020603050405020304" charset="0"/>
              </a:rPr>
              <a:t>Data collection must usually follow certain principles and has its own specific methods. </a:t>
            </a:r>
          </a:p>
          <a:p>
            <a:pPr fontAlgn="auto">
              <a:lnSpc>
                <a:spcPct val="200000"/>
              </a:lnSpc>
              <a:buClr>
                <a:srgbClr val="ED7D31"/>
              </a:buClr>
              <a:buFont typeface="Wingdings" panose="05000000000000000000" charset="0"/>
              <a:buChar char="ü"/>
            </a:pPr>
            <a:r>
              <a:rPr lang="en-US" altLang="zh-CN" dirty="0">
                <a:latin typeface="Times New Roman" panose="02020603050405020304" charset="0"/>
                <a:cs typeface="Times New Roman" panose="02020603050405020304" charset="0"/>
              </a:rPr>
              <a:t>The data collected also need to be organized, identified, summarized and classified for scientific use, thus ensuring the quality of the paper.</a:t>
            </a:r>
          </a:p>
          <a:p>
            <a:pPr marL="0" indent="0">
              <a:buNone/>
            </a:pP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199" y="1825625"/>
            <a:ext cx="10822497" cy="4351338"/>
          </a:xfrm>
          <a:ln w="38100">
            <a:solidFill>
              <a:schemeClr val="accent2">
                <a:lumMod val="75000"/>
              </a:schemeClr>
            </a:solidFill>
            <a:prstDash val="sysDash"/>
          </a:ln>
        </p:spPr>
        <p:txBody>
          <a:bodyPr>
            <a:normAutofit/>
          </a:bodyPr>
          <a:lstStyle/>
          <a:p>
            <a:pPr marL="0" indent="0">
              <a:lnSpc>
                <a:spcPct val="150000"/>
              </a:lnSpc>
              <a:spcBef>
                <a:spcPts val="0"/>
              </a:spcBef>
              <a:buNone/>
            </a:pPr>
            <a:r>
              <a:rPr lang="en-US" altLang="zh-CN" b="1" dirty="0">
                <a:latin typeface="Times New Roman" panose="02020603050405020304" charset="0"/>
                <a:cs typeface="Times New Roman" panose="02020603050405020304" charset="0"/>
                <a:sym typeface="+mn-ea"/>
              </a:rPr>
              <a:t>The Three Dimensions of Data (</a:t>
            </a:r>
            <a:r>
              <a:rPr lang="en-US" altLang="zh-CN" b="1" dirty="0" err="1">
                <a:latin typeface="Times New Roman" panose="02020603050405020304" charset="0"/>
                <a:cs typeface="Times New Roman" panose="02020603050405020304" charset="0"/>
                <a:sym typeface="+mn-ea"/>
              </a:rPr>
              <a:t>3Vs</a:t>
            </a:r>
            <a:r>
              <a:rPr lang="en-US" altLang="zh-CN" b="1" dirty="0">
                <a:latin typeface="Times New Roman" panose="02020603050405020304" charset="0"/>
                <a:cs typeface="Times New Roman" panose="02020603050405020304" charset="0"/>
                <a:sym typeface="+mn-ea"/>
              </a:rPr>
              <a:t>)</a:t>
            </a:r>
          </a:p>
          <a:p>
            <a:pPr marL="0" indent="0">
              <a:lnSpc>
                <a:spcPct val="150000"/>
              </a:lnSpc>
              <a:spcBef>
                <a:spcPts val="0"/>
              </a:spcBef>
              <a:buNone/>
            </a:pPr>
            <a:r>
              <a:rPr lang="en-US" altLang="zh-CN" sz="2400" dirty="0">
                <a:latin typeface="Times New Roman" panose="02020603050405020304" charset="0"/>
                <a:cs typeface="Times New Roman" panose="02020603050405020304" charset="0"/>
                <a:sym typeface="+mn-ea"/>
              </a:rPr>
              <a:t>Volume</a:t>
            </a:r>
            <a:r>
              <a:rPr lang="zh-CN" altLang="en-US" sz="2400" dirty="0">
                <a:latin typeface="Times New Roman" panose="02020603050405020304" charset="0"/>
                <a:cs typeface="Times New Roman" panose="02020603050405020304" charset="0"/>
                <a:sym typeface="+mn-ea"/>
              </a:rPr>
              <a:t>（数据量）</a:t>
            </a:r>
            <a:r>
              <a:rPr lang="en-US" altLang="zh-CN" sz="2400" dirty="0">
                <a:latin typeface="Times New Roman" panose="02020603050405020304" charset="0"/>
                <a:cs typeface="Times New Roman" panose="02020603050405020304" charset="0"/>
                <a:sym typeface="+mn-ea"/>
              </a:rPr>
              <a:t>– How much data is needed?</a:t>
            </a:r>
          </a:p>
          <a:p>
            <a:pPr marL="0" indent="0">
              <a:lnSpc>
                <a:spcPct val="150000"/>
              </a:lnSpc>
              <a:spcBef>
                <a:spcPts val="0"/>
              </a:spcBef>
              <a:buNone/>
            </a:pPr>
            <a:r>
              <a:rPr lang="en-US" altLang="zh-CN" sz="2400" dirty="0">
                <a:latin typeface="Times New Roman" panose="02020603050405020304" charset="0"/>
                <a:cs typeface="Times New Roman" panose="02020603050405020304" charset="0"/>
                <a:sym typeface="+mn-ea"/>
              </a:rPr>
              <a:t>Variety</a:t>
            </a:r>
            <a:r>
              <a:rPr lang="zh-CN" altLang="en-US" sz="2400" dirty="0">
                <a:latin typeface="Times New Roman" panose="02020603050405020304" charset="0"/>
                <a:cs typeface="Times New Roman" panose="02020603050405020304" charset="0"/>
                <a:sym typeface="+mn-ea"/>
              </a:rPr>
              <a:t>（多样性）</a:t>
            </a:r>
            <a:r>
              <a:rPr lang="en-US" altLang="zh-CN" sz="2400" dirty="0">
                <a:latin typeface="Times New Roman" panose="02020603050405020304" charset="0"/>
                <a:cs typeface="Times New Roman" panose="02020603050405020304" charset="0"/>
                <a:sym typeface="+mn-ea"/>
              </a:rPr>
              <a:t>– What types of data (qualitative, quantitative, primary, secondary)?</a:t>
            </a:r>
          </a:p>
          <a:p>
            <a:pPr marL="0" indent="0">
              <a:lnSpc>
                <a:spcPct val="150000"/>
              </a:lnSpc>
              <a:spcBef>
                <a:spcPts val="0"/>
              </a:spcBef>
              <a:buNone/>
            </a:pPr>
            <a:r>
              <a:rPr lang="en-US" altLang="zh-CN" sz="2400" dirty="0">
                <a:latin typeface="Times New Roman" panose="02020603050405020304" charset="0"/>
                <a:cs typeface="Times New Roman" panose="02020603050405020304" charset="0"/>
                <a:sym typeface="+mn-ea"/>
              </a:rPr>
              <a:t>Velocity</a:t>
            </a:r>
            <a:r>
              <a:rPr lang="zh-CN" altLang="en-US" sz="2400" dirty="0">
                <a:latin typeface="Times New Roman" panose="02020603050405020304" charset="0"/>
                <a:cs typeface="Times New Roman" panose="02020603050405020304" charset="0"/>
                <a:sym typeface="+mn-ea"/>
              </a:rPr>
              <a:t>（时效性）</a:t>
            </a:r>
            <a:r>
              <a:rPr lang="en-US" altLang="zh-CN" sz="2400" dirty="0">
                <a:latin typeface="Times New Roman" panose="02020603050405020304" charset="0"/>
                <a:cs typeface="Times New Roman" panose="02020603050405020304" charset="0"/>
                <a:sym typeface="+mn-ea"/>
              </a:rPr>
              <a:t>– How current must the data be for your research question?</a:t>
            </a:r>
          </a:p>
          <a:p>
            <a:pPr marL="0" indent="0">
              <a:lnSpc>
                <a:spcPct val="150000"/>
              </a:lnSpc>
              <a:spcBef>
                <a:spcPts val="0"/>
              </a:spcBef>
              <a:buNone/>
            </a:pPr>
            <a:endParaRPr lang="en-US" altLang="zh-CN" i="1" dirty="0">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57984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rPr>
              <a:t>Data Collection and Evaluation</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1768475" y="2263775"/>
            <a:ext cx="2472690" cy="2330450"/>
          </a:xfrm>
          <a:prstGeom prst="ellipse">
            <a:avLst/>
          </a:prstGeom>
          <a:blipFill rotWithShape="1">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254125" y="4706620"/>
            <a:ext cx="3214370" cy="583565"/>
          </a:xfrm>
          <a:prstGeom prst="rect">
            <a:avLst/>
          </a:prstGeom>
          <a:noFill/>
        </p:spPr>
        <p:txBody>
          <a:bodyPr wrap="square" rtlCol="0">
            <a:spAutoFit/>
          </a:bodyPr>
          <a:lstStyle/>
          <a:p>
            <a:pPr algn="ctr"/>
            <a:r>
              <a:rPr lang="en-US" altLang="zh-CN" sz="3200">
                <a:solidFill>
                  <a:schemeClr val="accent2">
                    <a:lumMod val="75000"/>
                  </a:schemeClr>
                </a:solidFill>
                <a:latin typeface="Times New Roman" panose="02020603050405020304" charset="0"/>
                <a:cs typeface="Times New Roman" panose="02020603050405020304" charset="0"/>
              </a:rPr>
              <a:t>Content</a:t>
            </a:r>
          </a:p>
        </p:txBody>
      </p:sp>
      <p:sp>
        <p:nvSpPr>
          <p:cNvPr id="8" name="文本框 7"/>
          <p:cNvSpPr txBox="1"/>
          <p:nvPr/>
        </p:nvSpPr>
        <p:spPr>
          <a:xfrm>
            <a:off x="4649301" y="1907791"/>
            <a:ext cx="7123430" cy="4269887"/>
          </a:xfrm>
          <a:prstGeom prst="rect">
            <a:avLst/>
          </a:prstGeom>
          <a:noFill/>
        </p:spPr>
        <p:txBody>
          <a:bodyPr wrap="square" rtlCol="0">
            <a:spAutoFit/>
          </a:bodyPr>
          <a:lstStyle/>
          <a:p>
            <a:pPr indent="0" fontAlgn="auto">
              <a:lnSpc>
                <a:spcPct val="200000"/>
              </a:lnSpc>
            </a:pPr>
            <a:r>
              <a:rPr lang="en-US" altLang="zh-CN" sz="2800" b="1" i="1" dirty="0">
                <a:solidFill>
                  <a:schemeClr val="accent2"/>
                </a:solidFill>
                <a:latin typeface="Times New Roman" panose="02020603050405020304" charset="0"/>
                <a:cs typeface="Times New Roman" panose="02020603050405020304" charset="0"/>
              </a:rPr>
              <a:t>1.</a:t>
            </a:r>
            <a:r>
              <a:rPr lang="en-US" altLang="zh-CN" sz="2800" b="1" dirty="0">
                <a:latin typeface="Times New Roman" panose="02020603050405020304" charset="0"/>
                <a:cs typeface="Times New Roman" panose="02020603050405020304" charset="0"/>
              </a:rPr>
              <a:t> Principles of Data Collection and Selection</a:t>
            </a:r>
          </a:p>
          <a:p>
            <a:pPr indent="0" fontAlgn="auto">
              <a:lnSpc>
                <a:spcPct val="200000"/>
              </a:lnSpc>
            </a:pPr>
            <a:r>
              <a:rPr lang="en-US" altLang="zh-CN" sz="2800" b="1" i="1" dirty="0">
                <a:solidFill>
                  <a:schemeClr val="accent2"/>
                </a:solidFill>
                <a:latin typeface="Times New Roman" panose="02020603050405020304" charset="0"/>
                <a:cs typeface="Times New Roman" panose="02020603050405020304" charset="0"/>
              </a:rPr>
              <a:t>2.</a:t>
            </a:r>
            <a:r>
              <a:rPr lang="en-US" altLang="zh-CN" sz="2800" b="1" dirty="0">
                <a:latin typeface="Times New Roman" panose="02020603050405020304" charset="0"/>
                <a:cs typeface="Times New Roman" panose="02020603050405020304" charset="0"/>
              </a:rPr>
              <a:t> Evaluation</a:t>
            </a:r>
            <a:r>
              <a:rPr lang="zh-CN" altLang="en-US" sz="2800" b="1" dirty="0">
                <a:latin typeface="Times New Roman" panose="02020603050405020304" charset="0"/>
                <a:cs typeface="Times New Roman" panose="02020603050405020304" charset="0"/>
              </a:rPr>
              <a:t> </a:t>
            </a:r>
            <a:r>
              <a:rPr lang="en-US" altLang="zh-CN" sz="2800" b="1" dirty="0">
                <a:latin typeface="Times New Roman" panose="02020603050405020304" charset="0"/>
                <a:cs typeface="Times New Roman" panose="02020603050405020304" charset="0"/>
              </a:rPr>
              <a:t>of</a:t>
            </a:r>
            <a:r>
              <a:rPr lang="zh-CN" altLang="en-US" sz="2800" b="1" dirty="0">
                <a:latin typeface="Times New Roman" panose="02020603050405020304" charset="0"/>
                <a:cs typeface="Times New Roman" panose="02020603050405020304" charset="0"/>
              </a:rPr>
              <a:t> </a:t>
            </a:r>
            <a:r>
              <a:rPr lang="en-US" altLang="zh-CN" sz="2800" b="1" dirty="0">
                <a:latin typeface="Times New Roman" panose="02020603050405020304" charset="0"/>
                <a:cs typeface="Times New Roman" panose="02020603050405020304" charset="0"/>
              </a:rPr>
              <a:t>Data</a:t>
            </a:r>
          </a:p>
          <a:p>
            <a:pPr indent="0" fontAlgn="auto">
              <a:lnSpc>
                <a:spcPct val="200000"/>
              </a:lnSpc>
            </a:pPr>
            <a:r>
              <a:rPr lang="en-US" altLang="zh-CN" sz="2800" b="1" i="1" dirty="0">
                <a:solidFill>
                  <a:schemeClr val="accent2"/>
                </a:solidFill>
                <a:latin typeface="Times New Roman" panose="02020603050405020304" charset="0"/>
                <a:cs typeface="Times New Roman" panose="02020603050405020304" charset="0"/>
              </a:rPr>
              <a:t>3.</a:t>
            </a:r>
            <a:r>
              <a:rPr lang="en-US" altLang="zh-CN" sz="2800" b="1" dirty="0">
                <a:latin typeface="Times New Roman" panose="02020603050405020304" charset="0"/>
                <a:cs typeface="Times New Roman" panose="02020603050405020304" charset="0"/>
              </a:rPr>
              <a:t> Methods of Doing Research</a:t>
            </a:r>
          </a:p>
          <a:p>
            <a:pPr indent="0" fontAlgn="auto">
              <a:lnSpc>
                <a:spcPct val="200000"/>
              </a:lnSpc>
            </a:pPr>
            <a:endParaRPr lang="en-US" altLang="zh-CN" sz="2800" dirty="0">
              <a:latin typeface="Times New Roman" panose="02020603050405020304" charset="0"/>
              <a:cs typeface="Times New Roman" panose="02020603050405020304" charset="0"/>
            </a:endParaRPr>
          </a:p>
          <a:p>
            <a:pPr indent="0" fontAlgn="auto">
              <a:lnSpc>
                <a:spcPct val="200000"/>
              </a:lnSpc>
            </a:pPr>
            <a:endParaRPr lang="en-US" altLang="zh-CN" sz="28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wheel spokes="8"/>
      </p:transition>
    </mc:Choice>
    <mc:Fallback xmlns="">
      <p:transition spd="slow">
        <p:wheel spokes="8"/>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9" grpId="1" animBg="1"/>
      <p:bldP spid="10" grpId="0"/>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167765" y="2845435"/>
            <a:ext cx="3214370" cy="583565"/>
          </a:xfrm>
          <a:prstGeom prst="rect">
            <a:avLst/>
          </a:prstGeom>
          <a:noFill/>
        </p:spPr>
        <p:txBody>
          <a:bodyPr wrap="square" rtlCol="0">
            <a:spAutoFit/>
          </a:bodyPr>
          <a:lstStyle/>
          <a:p>
            <a:pPr algn="ctr"/>
            <a:r>
              <a:rPr lang="en-US" altLang="zh-CN" sz="3200">
                <a:solidFill>
                  <a:schemeClr val="accent2">
                    <a:lumMod val="75000"/>
                  </a:schemeClr>
                </a:solidFill>
                <a:latin typeface="Times New Roman" panose="02020603050405020304" charset="0"/>
                <a:cs typeface="Times New Roman" panose="02020603050405020304" charset="0"/>
              </a:rPr>
              <a:t>Content</a:t>
            </a:r>
          </a:p>
        </p:txBody>
      </p:sp>
      <p:sp>
        <p:nvSpPr>
          <p:cNvPr id="8" name="文本框 7"/>
          <p:cNvSpPr txBox="1"/>
          <p:nvPr/>
        </p:nvSpPr>
        <p:spPr>
          <a:xfrm>
            <a:off x="4437380" y="2599055"/>
            <a:ext cx="7290429" cy="1469120"/>
          </a:xfrm>
          <a:prstGeom prst="rect">
            <a:avLst/>
          </a:prstGeom>
          <a:noFill/>
        </p:spPr>
        <p:txBody>
          <a:bodyPr wrap="square" rtlCol="0">
            <a:spAutoFit/>
          </a:bodyPr>
          <a:lstStyle/>
          <a:p>
            <a:pPr indent="0" fontAlgn="auto">
              <a:lnSpc>
                <a:spcPct val="150000"/>
              </a:lnSpc>
            </a:pPr>
            <a:r>
              <a:rPr lang="en-US" altLang="zh-CN" sz="2800" b="1" i="1" dirty="0">
                <a:solidFill>
                  <a:schemeClr val="accent2">
                    <a:lumMod val="75000"/>
                  </a:schemeClr>
                </a:solidFill>
                <a:latin typeface="Times New Roman" panose="02020603050405020304" charset="0"/>
                <a:cs typeface="Times New Roman" panose="02020603050405020304" charset="0"/>
                <a:sym typeface="+mn-ea"/>
              </a:rPr>
              <a:t>1.</a:t>
            </a:r>
            <a:r>
              <a:rPr lang="en-US" altLang="zh-CN" sz="2800" b="1" dirty="0">
                <a:latin typeface="Times New Roman" panose="02020603050405020304" charset="0"/>
                <a:cs typeface="Times New Roman" panose="02020603050405020304" charset="0"/>
                <a:sym typeface="+mn-ea"/>
              </a:rPr>
              <a:t> Principles of Data Collection and Selection</a:t>
            </a:r>
            <a:endParaRPr lang="en-US" altLang="zh-CN" sz="2800" b="1" dirty="0">
              <a:latin typeface="Times New Roman" panose="02020603050405020304" charset="0"/>
              <a:cs typeface="Times New Roman" panose="02020603050405020304" charset="0"/>
            </a:endParaRPr>
          </a:p>
          <a:p>
            <a:pPr indent="0" fontAlgn="auto">
              <a:lnSpc>
                <a:spcPct val="200000"/>
              </a:lnSpc>
            </a:pPr>
            <a:endParaRPr lang="en-US" altLang="zh-CN" sz="2800" dirty="0">
              <a:latin typeface="Times New Roman" panose="02020603050405020304" charset="0"/>
              <a:cs typeface="Times New Roman" panose="02020603050405020304" charset="0"/>
            </a:endParaRPr>
          </a:p>
        </p:txBody>
      </p:sp>
      <p:sp>
        <p:nvSpPr>
          <p:cNvPr id="13" name="六边形 12"/>
          <p:cNvSpPr/>
          <p:nvPr/>
        </p:nvSpPr>
        <p:spPr>
          <a:xfrm>
            <a:off x="1858645" y="2426970"/>
            <a:ext cx="2165985" cy="1849120"/>
          </a:xfrm>
          <a:prstGeom prst="hexagon">
            <a:avLst/>
          </a:prstGeom>
          <a:blipFill rotWithShape="1">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fontScale="90000" lnSpcReduction="10000"/>
          </a:bodyPr>
          <a:lstStyle/>
          <a:p>
            <a:pPr fontAlgn="auto">
              <a:lnSpc>
                <a:spcPct val="150000"/>
              </a:lnSpc>
              <a:buNone/>
            </a:pPr>
            <a:r>
              <a:rPr lang="en-US" altLang="zh-CN" b="1" dirty="0">
                <a:sym typeface="+mn-ea"/>
              </a:rPr>
              <a:t> </a:t>
            </a:r>
            <a:r>
              <a:rPr lang="en-US" altLang="zh-CN" sz="2400" b="1" dirty="0">
                <a:latin typeface="Times New Roman" panose="02020603050405020304" charset="0"/>
                <a:cs typeface="Times New Roman" panose="02020603050405020304" charset="0"/>
                <a:sym typeface="+mn-ea"/>
              </a:rPr>
              <a:t>Principles of Data Collection and Selection</a:t>
            </a:r>
            <a:endParaRPr lang="en-US" altLang="zh-CN" sz="2400" b="1"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1. Centered around the theme--relevance</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2. True and verifiable</a:t>
            </a:r>
            <a:r>
              <a:rPr lang="zh-CN" altLang="en-US" dirty="0">
                <a:latin typeface="Times New Roman" panose="02020603050405020304" charset="0"/>
                <a:cs typeface="Times New Roman" panose="02020603050405020304" charset="0"/>
                <a:sym typeface="+mn-ea"/>
              </a:rPr>
              <a:t>（可证实的</a:t>
            </a:r>
            <a:r>
              <a:rPr lang="en-US" altLang="zh-CN" dirty="0">
                <a:latin typeface="Times New Roman" panose="02020603050405020304" charset="0"/>
                <a:cs typeface="Times New Roman" panose="02020603050405020304" charset="0"/>
                <a:sym typeface="+mn-ea"/>
              </a:rPr>
              <a:t>)</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3. Typical</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4.  Novel </a:t>
            </a:r>
            <a:endParaRPr lang="en-US" altLang="zh-CN" dirty="0">
              <a:latin typeface="Times New Roman" panose="02020603050405020304" charset="0"/>
              <a:cs typeface="Times New Roman" panose="02020603050405020304" charset="0"/>
            </a:endParaRP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61394" y="1825625"/>
            <a:ext cx="10892406" cy="4351338"/>
          </a:xfrm>
          <a:ln w="38100">
            <a:solidFill>
              <a:schemeClr val="accent2">
                <a:lumMod val="75000"/>
              </a:schemeClr>
            </a:solidFill>
            <a:prstDash val="sysDash"/>
          </a:ln>
        </p:spPr>
        <p:txBody>
          <a:bodyPr>
            <a:normAutofit/>
          </a:bodyPr>
          <a:lstStyle/>
          <a:p>
            <a:pPr fontAlgn="auto">
              <a:lnSpc>
                <a:spcPct val="150000"/>
              </a:lnSpc>
              <a:buNone/>
            </a:pPr>
            <a:endParaRPr lang="en-US" altLang="zh-CN" sz="2400" dirty="0">
              <a:latin typeface="Times New Roman" panose="02020603050405020304" charset="0"/>
              <a:cs typeface="Times New Roman" panose="02020603050405020304" charset="0"/>
              <a:sym typeface="+mn-ea"/>
            </a:endParaRPr>
          </a:p>
          <a:p>
            <a:pPr fontAlgn="auto">
              <a:lnSpc>
                <a:spcPct val="150000"/>
              </a:lnSpc>
              <a:buNone/>
            </a:pPr>
            <a:endParaRPr lang="en-US" altLang="zh-CN" sz="2400" dirty="0">
              <a:latin typeface="Times New Roman" panose="02020603050405020304" charset="0"/>
              <a:cs typeface="Times New Roman" panose="02020603050405020304" charset="0"/>
              <a:sym typeface="+mn-ea"/>
            </a:endParaRPr>
          </a:p>
          <a:p>
            <a:pPr fontAlgn="auto">
              <a:lnSpc>
                <a:spcPct val="150000"/>
              </a:lnSpc>
              <a:buNone/>
            </a:pPr>
            <a:r>
              <a:rPr lang="en-US" altLang="zh-CN" sz="2400" dirty="0">
                <a:latin typeface="Times New Roman" panose="02020603050405020304" charset="0"/>
                <a:cs typeface="Times New Roman" panose="02020603050405020304" charset="0"/>
                <a:sym typeface="+mn-ea"/>
              </a:rPr>
              <a:t>   1. Centered around the theme--relevance</a:t>
            </a:r>
            <a:endParaRPr lang="en-US" altLang="zh-CN" sz="2400" dirty="0">
              <a:latin typeface="Times New Roman" panose="02020603050405020304" charset="0"/>
              <a:cs typeface="Times New Roman" panose="02020603050405020304" charset="0"/>
            </a:endParaRP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749925" y="1928495"/>
            <a:ext cx="5492115" cy="4142740"/>
          </a:xfrm>
          <a:prstGeom prst="rect">
            <a:avLst/>
          </a:prstGeom>
          <a:solidFill>
            <a:schemeClr val="accent2"/>
          </a:solidFill>
        </p:spPr>
        <p:txBody>
          <a:bodyPr wrap="square" rtlCol="0">
            <a:noAutofit/>
          </a:bodyPr>
          <a:lstStyle/>
          <a:p>
            <a:pPr indent="0" fontAlgn="auto">
              <a:lnSpc>
                <a:spcPct val="150000"/>
              </a:lnSpc>
            </a:pPr>
            <a:r>
              <a:rPr lang="en-US" altLang="zh-CN" sz="2000" dirty="0">
                <a:latin typeface="Times New Roman" panose="02020603050405020304" charset="0"/>
                <a:cs typeface="Times New Roman" panose="02020603050405020304" charset="0"/>
              </a:rPr>
              <a:t>There should be a clear purpose for data collection, i.e. closely centered around the theme.</a:t>
            </a:r>
          </a:p>
          <a:p>
            <a:pPr indent="0" fontAlgn="auto">
              <a:lnSpc>
                <a:spcPct val="150000"/>
              </a:lnSpc>
            </a:pPr>
            <a:r>
              <a:rPr lang="en-US" altLang="zh-CN" sz="2000" dirty="0">
                <a:latin typeface="Times New Roman" panose="02020603050405020304" charset="0"/>
                <a:cs typeface="Times New Roman" panose="02020603050405020304" charset="0"/>
              </a:rPr>
              <a:t>Every piece of data must serve your research question.</a:t>
            </a:r>
          </a:p>
          <a:p>
            <a:pPr indent="0" fontAlgn="auto">
              <a:lnSpc>
                <a:spcPct val="150000"/>
              </a:lnSpc>
            </a:pPr>
            <a:r>
              <a:rPr lang="en-US" altLang="zh-CN" sz="2000" dirty="0">
                <a:latin typeface="Times New Roman" panose="02020603050405020304" charset="0"/>
                <a:cs typeface="Times New Roman" panose="02020603050405020304" charset="0"/>
              </a:rPr>
              <a:t>Learn to identify: useful, less useful, irrelevant.</a:t>
            </a:r>
          </a:p>
          <a:p>
            <a:pPr indent="0" fontAlgn="auto">
              <a:lnSpc>
                <a:spcPct val="150000"/>
              </a:lnSpc>
            </a:pPr>
            <a:r>
              <a:rPr lang="en-US" altLang="zh-CN" sz="2000" dirty="0">
                <a:latin typeface="Times New Roman" panose="02020603050405020304" charset="0"/>
                <a:cs typeface="Times New Roman" panose="02020603050405020304" charset="0"/>
              </a:rPr>
              <a:t>Tip: Write your research question at the top of every note page.</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 calcmode="lin" valueType="num">
                                      <p:cBhvr additive="base">
                                        <p:cTn id="2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fontScale="90000" lnSpcReduction="20000"/>
          </a:bodyPr>
          <a:lstStyle/>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Example Research Question:</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How does remote work affect employee well-being in the tech industry?</a:t>
            </a:r>
          </a:p>
          <a:p>
            <a:pPr fontAlgn="auto">
              <a:lnSpc>
                <a:spcPct val="150000"/>
              </a:lnSpc>
              <a:buNone/>
            </a:pPr>
            <a:r>
              <a:rPr lang="en-US" altLang="zh-CN" b="1" dirty="0">
                <a:latin typeface="Times New Roman" panose="02020603050405020304" pitchFamily="18" charset="0"/>
                <a:cs typeface="Times New Roman" panose="02020603050405020304" pitchFamily="18" charset="0"/>
                <a:sym typeface="+mn-ea"/>
              </a:rPr>
              <a:t>Relevant data: </a:t>
            </a:r>
            <a:r>
              <a:rPr lang="en-US" altLang="zh-CN" dirty="0">
                <a:latin typeface="Times New Roman" panose="02020603050405020304" pitchFamily="18" charset="0"/>
                <a:cs typeface="Times New Roman" panose="02020603050405020304" pitchFamily="18" charset="0"/>
                <a:sym typeface="+mn-ea"/>
              </a:rPr>
              <a:t>Survey responses from tech employees, company wellness  reports, interviews with HR managers.</a:t>
            </a:r>
          </a:p>
          <a:p>
            <a:pPr fontAlgn="auto">
              <a:lnSpc>
                <a:spcPct val="150000"/>
              </a:lnSpc>
              <a:buNone/>
            </a:pPr>
            <a:r>
              <a:rPr lang="en-US" altLang="zh-CN" b="1" dirty="0">
                <a:latin typeface="Times New Roman" panose="02020603050405020304" pitchFamily="18" charset="0"/>
                <a:cs typeface="Times New Roman" panose="02020603050405020304" pitchFamily="18" charset="0"/>
                <a:sym typeface="+mn-ea"/>
              </a:rPr>
              <a:t>Irrelevant data: </a:t>
            </a:r>
            <a:r>
              <a:rPr lang="en-US" altLang="zh-CN" dirty="0">
                <a:latin typeface="Times New Roman" panose="02020603050405020304" pitchFamily="18" charset="0"/>
                <a:cs typeface="Times New Roman" panose="02020603050405020304" pitchFamily="18" charset="0"/>
                <a:sym typeface="+mn-ea"/>
              </a:rPr>
              <a:t>A study on remote work in education, or general articles on employee happiness in retail.</a:t>
            </a: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12016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a:bodyPr>
          <a:lstStyle/>
          <a:p>
            <a:pPr fontAlgn="auto">
              <a:lnSpc>
                <a:spcPct val="150000"/>
              </a:lnSpc>
              <a:buNone/>
            </a:pPr>
            <a:endParaRPr lang="en-US" altLang="zh-CN" sz="2400">
              <a:latin typeface="Times New Roman" panose="02020603050405020304" charset="0"/>
              <a:cs typeface="Times New Roman" panose="02020603050405020304" charset="0"/>
              <a:sym typeface="+mn-ea"/>
            </a:endParaRPr>
          </a:p>
          <a:p>
            <a:pPr fontAlgn="auto">
              <a:lnSpc>
                <a:spcPct val="150000"/>
              </a:lnSpc>
              <a:buNone/>
            </a:pPr>
            <a:endParaRPr lang="en-US" altLang="zh-CN" sz="2400">
              <a:latin typeface="Times New Roman" panose="02020603050405020304" charset="0"/>
              <a:cs typeface="Times New Roman" panose="02020603050405020304" charset="0"/>
              <a:sym typeface="+mn-ea"/>
            </a:endParaRPr>
          </a:p>
          <a:p>
            <a:pPr fontAlgn="auto">
              <a:lnSpc>
                <a:spcPct val="150000"/>
              </a:lnSpc>
              <a:buNone/>
            </a:pPr>
            <a:r>
              <a:rPr lang="en-US" altLang="zh-CN" sz="2400">
                <a:latin typeface="Times New Roman" panose="02020603050405020304" charset="0"/>
                <a:cs typeface="Times New Roman" panose="02020603050405020304" charset="0"/>
                <a:sym typeface="+mn-ea"/>
              </a:rPr>
              <a:t>   2. True and verifiable</a:t>
            </a:r>
            <a:r>
              <a:rPr lang="zh-CN" altLang="en-US" sz="2400">
                <a:latin typeface="Times New Roman" panose="02020603050405020304" charset="0"/>
                <a:cs typeface="Times New Roman" panose="02020603050405020304" charset="0"/>
                <a:sym typeface="+mn-ea"/>
              </a:rPr>
              <a:t>（可证实的</a:t>
            </a:r>
            <a:r>
              <a:rPr lang="en-US" altLang="zh-CN" sz="2400">
                <a:latin typeface="Times New Roman" panose="02020603050405020304" charset="0"/>
                <a:cs typeface="Times New Roman" panose="02020603050405020304" charset="0"/>
                <a:sym typeface="+mn-ea"/>
              </a:rPr>
              <a:t>)</a:t>
            </a:r>
            <a:endParaRPr lang="en-US" altLang="zh-CN" sz="2400">
              <a:latin typeface="Times New Roman" panose="02020603050405020304" charset="0"/>
              <a:cs typeface="Times New Roman" panose="02020603050405020304" charset="0"/>
            </a:endParaRPr>
          </a:p>
          <a:p>
            <a:pPr fontAlgn="auto">
              <a:lnSpc>
                <a:spcPct val="150000"/>
              </a:lnSpc>
              <a:buNone/>
            </a:pPr>
            <a:endParaRPr lang="en-US" altLang="zh-CN" sz="2400">
              <a:latin typeface="Times New Roman" panose="02020603050405020304" charset="0"/>
              <a:cs typeface="Times New Roman" panose="02020603050405020304" charset="0"/>
            </a:endParaRPr>
          </a:p>
          <a:p>
            <a:pPr marL="0" indent="0" fontAlgn="auto">
              <a:lnSpc>
                <a:spcPct val="150000"/>
              </a:lnSpc>
              <a:buNone/>
            </a:pPr>
            <a:r>
              <a:rPr lang="en-US" altLang="zh-CN" sz="2400">
                <a:latin typeface="Times New Roman" panose="02020603050405020304" charset="0"/>
                <a:cs typeface="Times New Roman" panose="02020603050405020304" charset="0"/>
              </a:rPr>
              <a:t>            </a:t>
            </a:r>
            <a:r>
              <a:rPr lang="en-US" altLang="zh-CN" sz="440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511568" y="1854835"/>
            <a:ext cx="5842232" cy="4322128"/>
          </a:xfrm>
          <a:prstGeom prst="rect">
            <a:avLst/>
          </a:prstGeom>
          <a:solidFill>
            <a:srgbClr val="92D050"/>
          </a:solidFill>
        </p:spPr>
        <p:txBody>
          <a:bodyPr wrap="square" rtlCol="0">
            <a:noAutofit/>
          </a:bodyPr>
          <a:lstStyle/>
          <a:p>
            <a:pPr indent="0" fontAlgn="auto">
              <a:lnSpc>
                <a:spcPct val="150000"/>
              </a:lnSpc>
            </a:pPr>
            <a:r>
              <a:rPr lang="en-US" altLang="zh-CN" sz="2000" dirty="0">
                <a:latin typeface="Times New Roman" panose="02020603050405020304" charset="0"/>
                <a:cs typeface="Times New Roman" panose="02020603050405020304" charset="0"/>
              </a:rPr>
              <a:t>Whether the materials are true, accurate and verifiable directly affects the quality of the paper.</a:t>
            </a:r>
          </a:p>
          <a:p>
            <a:pPr indent="0" fontAlgn="auto">
              <a:lnSpc>
                <a:spcPct val="150000"/>
              </a:lnSpc>
            </a:pPr>
            <a:r>
              <a:rPr lang="en-US" altLang="zh-CN" sz="2000" dirty="0">
                <a:latin typeface="Times New Roman" panose="02020603050405020304" charset="0"/>
                <a:cs typeface="Times New Roman" panose="02020603050405020304" charset="0"/>
              </a:rPr>
              <a:t>--articles must stand the test of time--authenticity</a:t>
            </a:r>
          </a:p>
          <a:p>
            <a:pPr indent="0" fontAlgn="auto">
              <a:lnSpc>
                <a:spcPct val="150000"/>
              </a:lnSpc>
            </a:pPr>
            <a:r>
              <a:rPr lang="en-US" altLang="zh-CN" sz="2000" dirty="0">
                <a:latin typeface="Times New Roman" panose="02020603050405020304" charset="0"/>
                <a:cs typeface="Times New Roman" panose="02020603050405020304" charset="0"/>
              </a:rPr>
              <a:t>--accuracy &amp; verification &amp; reconciliation</a:t>
            </a:r>
          </a:p>
          <a:p>
            <a:pPr indent="0" fontAlgn="auto">
              <a:lnSpc>
                <a:spcPct val="150000"/>
              </a:lnSpc>
            </a:pPr>
            <a:r>
              <a:rPr lang="en-US" altLang="zh-CN" sz="2000" dirty="0">
                <a:latin typeface="Times New Roman" panose="02020603050405020304" charset="0"/>
                <a:cs typeface="Times New Roman" panose="02020603050405020304" charset="0"/>
              </a:rPr>
              <a:t>--verify all claims through cross-referencing</a:t>
            </a:r>
          </a:p>
          <a:p>
            <a:pPr indent="0" fontAlgn="auto">
              <a:lnSpc>
                <a:spcPct val="150000"/>
              </a:lnSpc>
            </a:pPr>
            <a:r>
              <a:rPr lang="en-US" altLang="zh-CN" sz="2000" dirty="0">
                <a:latin typeface="Times New Roman" panose="02020603050405020304" charset="0"/>
                <a:cs typeface="Times New Roman" panose="02020603050405020304" charset="0"/>
              </a:rPr>
              <a:t>--first-hand materials rather than second hand</a:t>
            </a:r>
          </a:p>
          <a:p>
            <a:pPr indent="0" fontAlgn="auto">
              <a:lnSpc>
                <a:spcPct val="150000"/>
              </a:lnSpc>
            </a:pPr>
            <a:r>
              <a:rPr lang="en-US" altLang="zh-CN" sz="2000" dirty="0">
                <a:latin typeface="Times New Roman" panose="02020603050405020304" charset="0"/>
                <a:cs typeface="Times New Roman" panose="02020603050405020304" charset="0"/>
              </a:rPr>
              <a:t>--references must be precise and accessible and not just take for granted</a:t>
            </a:r>
          </a:p>
          <a:p>
            <a:pPr indent="0" fontAlgn="auto">
              <a:lnSpc>
                <a:spcPct val="150000"/>
              </a:lnSpc>
            </a:pPr>
            <a:r>
              <a:rPr lang="en-US" altLang="zh-CN" i="1" dirty="0">
                <a:highlight>
                  <a:srgbClr val="FFFF00"/>
                </a:highlight>
                <a:latin typeface="Times New Roman" panose="02020603050405020304" charset="0"/>
                <a:cs typeface="Times New Roman" panose="02020603050405020304" charset="0"/>
              </a:rPr>
              <a:t>Can someone else trace the data back to its original source?</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 calcmode="lin" valueType="num">
                                      <p:cBhvr additive="base">
                                        <p:cTn id="2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 calcmode="lin" valueType="num">
                                      <p:cBhvr additive="base">
                                        <p:cTn id="3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anim calcmode="lin" valueType="num">
                                      <p:cBhvr additive="base">
                                        <p:cTn id="3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8">
                                            <p:txEl>
                                              <p:pRg st="4" end="4"/>
                                            </p:txEl>
                                          </p:spTgt>
                                        </p:tgtEl>
                                        <p:attrNameLst>
                                          <p:attrName>style.visibility</p:attrName>
                                        </p:attrNameLst>
                                      </p:cBhvr>
                                      <p:to>
                                        <p:strVal val="visible"/>
                                      </p:to>
                                    </p:set>
                                    <p:anim calcmode="lin" valueType="num">
                                      <p:cBhvr additive="base">
                                        <p:cTn id="4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8">
                                            <p:txEl>
                                              <p:pRg st="5" end="5"/>
                                            </p:txEl>
                                          </p:spTgt>
                                        </p:tgtEl>
                                        <p:attrNameLst>
                                          <p:attrName>style.visibility</p:attrName>
                                        </p:attrNameLst>
                                      </p:cBhvr>
                                      <p:to>
                                        <p:strVal val="visible"/>
                                      </p:to>
                                    </p:set>
                                    <p:anim calcmode="lin" valueType="num">
                                      <p:cBhvr additive="base">
                                        <p:cTn id="5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8">
                                            <p:txEl>
                                              <p:pRg st="6" end="6"/>
                                            </p:txEl>
                                          </p:spTgt>
                                        </p:tgtEl>
                                        <p:attrNameLst>
                                          <p:attrName>style.visibility</p:attrName>
                                        </p:attrNameLst>
                                      </p:cBhvr>
                                      <p:to>
                                        <p:strVal val="visible"/>
                                      </p:to>
                                    </p:set>
                                    <p:anim calcmode="lin" valueType="num">
                                      <p:cBhvr additive="base">
                                        <p:cTn id="5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fontScale="82500" lnSpcReduction="20000"/>
          </a:bodyPr>
          <a:lstStyle/>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Example:</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If you cite “85% of employees prefer hybrid work,” ask:</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Who conducted the survey?</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How many people were surveyed?</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Is the original report accessible?</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If not verifiable, do not use it.</a:t>
            </a: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051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a:bodyPr>
          <a:lstStyle/>
          <a:p>
            <a:pPr fontAlgn="auto">
              <a:lnSpc>
                <a:spcPct val="150000"/>
              </a:lnSpc>
              <a:buNone/>
            </a:pPr>
            <a:endParaRPr lang="en-US" altLang="zh-CN" sz="2400">
              <a:latin typeface="Times New Roman" panose="02020603050405020304" charset="0"/>
              <a:cs typeface="Times New Roman" panose="02020603050405020304" charset="0"/>
              <a:sym typeface="+mn-ea"/>
            </a:endParaRPr>
          </a:p>
          <a:p>
            <a:pPr fontAlgn="auto">
              <a:lnSpc>
                <a:spcPct val="150000"/>
              </a:lnSpc>
              <a:buNone/>
            </a:pPr>
            <a:endParaRPr lang="en-US" altLang="zh-CN" sz="2400">
              <a:latin typeface="Times New Roman" panose="02020603050405020304" charset="0"/>
              <a:cs typeface="Times New Roman" panose="02020603050405020304" charset="0"/>
              <a:sym typeface="+mn-ea"/>
            </a:endParaRPr>
          </a:p>
          <a:p>
            <a:pPr fontAlgn="auto">
              <a:lnSpc>
                <a:spcPct val="150000"/>
              </a:lnSpc>
              <a:buNone/>
            </a:pPr>
            <a:r>
              <a:rPr lang="en-US" altLang="zh-CN" sz="2400">
                <a:latin typeface="Times New Roman" panose="02020603050405020304" charset="0"/>
                <a:cs typeface="Times New Roman" panose="02020603050405020304" charset="0"/>
                <a:sym typeface="+mn-ea"/>
              </a:rPr>
              <a:t>   3. Typical</a:t>
            </a:r>
            <a:endParaRPr lang="en-US" altLang="zh-CN" sz="2400">
              <a:latin typeface="Times New Roman" panose="02020603050405020304" charset="0"/>
              <a:cs typeface="Times New Roman" panose="02020603050405020304" charset="0"/>
            </a:endParaRPr>
          </a:p>
          <a:p>
            <a:pPr fontAlgn="auto">
              <a:lnSpc>
                <a:spcPct val="150000"/>
              </a:lnSpc>
              <a:buNone/>
            </a:pPr>
            <a:r>
              <a:rPr lang="en-US" altLang="zh-CN" sz="2400">
                <a:latin typeface="Times New Roman" panose="02020603050405020304" charset="0"/>
                <a:cs typeface="Times New Roman" panose="02020603050405020304" charset="0"/>
              </a:rPr>
              <a:t>            </a:t>
            </a:r>
            <a:r>
              <a:rPr lang="en-US" altLang="zh-CN" sz="440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060273" y="1928495"/>
            <a:ext cx="7181768" cy="4142740"/>
          </a:xfrm>
          <a:prstGeom prst="rect">
            <a:avLst/>
          </a:prstGeom>
          <a:solidFill>
            <a:schemeClr val="accent4"/>
          </a:solidFill>
        </p:spPr>
        <p:txBody>
          <a:bodyPr wrap="square" rtlCol="0">
            <a:noAutofit/>
          </a:bodyPr>
          <a:lstStyle/>
          <a:p>
            <a:pPr indent="0" fontAlgn="auto">
              <a:lnSpc>
                <a:spcPct val="150000"/>
              </a:lnSpc>
            </a:pPr>
            <a:r>
              <a:rPr lang="en-US" altLang="zh-CN" sz="2400" dirty="0">
                <a:latin typeface="Times New Roman" panose="02020603050405020304" charset="0"/>
                <a:cs typeface="Times New Roman" panose="02020603050405020304" charset="0"/>
              </a:rPr>
              <a:t>Typical materials refer to those reflecting the essence and common characteristics  of things.</a:t>
            </a:r>
          </a:p>
          <a:p>
            <a:pPr indent="0" fontAlgn="auto">
              <a:lnSpc>
                <a:spcPct val="150000"/>
              </a:lnSpc>
            </a:pPr>
            <a:r>
              <a:rPr lang="en-US" altLang="zh-CN" sz="2400" dirty="0">
                <a:latin typeface="Times New Roman" panose="02020603050405020304" charset="0"/>
                <a:cs typeface="Times New Roman" panose="02020603050405020304" charset="0"/>
              </a:rPr>
              <a:t>--Typical materials include typical examples, data and people, </a:t>
            </a:r>
            <a:r>
              <a:rPr lang="en-US" altLang="zh-CN" sz="2400" dirty="0" err="1">
                <a:latin typeface="Times New Roman" panose="02020603050405020304" charset="0"/>
                <a:cs typeface="Times New Roman" panose="02020603050405020304" charset="0"/>
              </a:rPr>
              <a:t>ect</a:t>
            </a:r>
            <a:r>
              <a:rPr lang="en-US" altLang="zh-CN" sz="2400" dirty="0">
                <a:latin typeface="Times New Roman" panose="02020603050405020304" charset="0"/>
                <a:cs typeface="Times New Roman" panose="02020603050405020304" charset="0"/>
              </a:rPr>
              <a:t>.</a:t>
            </a:r>
          </a:p>
          <a:p>
            <a:pPr indent="0" fontAlgn="auto">
              <a:lnSpc>
                <a:spcPct val="150000"/>
              </a:lnSpc>
            </a:pPr>
            <a:r>
              <a:rPr lang="en-US" altLang="zh-CN" sz="2400" dirty="0">
                <a:latin typeface="Times New Roman" panose="02020603050405020304" charset="0"/>
                <a:cs typeface="Times New Roman" panose="02020603050405020304" charset="0"/>
              </a:rPr>
              <a:t>--Supports generalizability and argument strength.</a:t>
            </a:r>
          </a:p>
          <a:p>
            <a:pPr indent="0" fontAlgn="auto">
              <a:lnSpc>
                <a:spcPct val="150000"/>
              </a:lnSpc>
            </a:pPr>
            <a:r>
              <a:rPr lang="en-US" altLang="zh-CN" sz="2400" dirty="0">
                <a:latin typeface="Times New Roman" panose="02020603050405020304" charset="0"/>
                <a:cs typeface="Times New Roman" panose="02020603050405020304" charset="0"/>
              </a:rPr>
              <a:t>--They can make the article thorough, focused and forceful. </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 calcmode="lin" valueType="num">
                                      <p:cBhvr additive="base">
                                        <p:cTn id="2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 calcmode="lin" valueType="num">
                                      <p:cBhvr additive="base">
                                        <p:cTn id="3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anim calcmode="lin" valueType="num">
                                      <p:cBhvr additive="base">
                                        <p:cTn id="3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860639"/>
            <a:ext cx="10515600" cy="4351338"/>
          </a:xfrm>
          <a:ln w="38100">
            <a:solidFill>
              <a:schemeClr val="accent2">
                <a:lumMod val="75000"/>
              </a:schemeClr>
            </a:solidFill>
            <a:prstDash val="sysDash"/>
          </a:ln>
        </p:spPr>
        <p:txBody>
          <a:bodyPr>
            <a:normAutofit fontScale="97500" lnSpcReduction="10000"/>
          </a:bodyPr>
          <a:lstStyle/>
          <a:p>
            <a:pPr fontAlgn="auto">
              <a:lnSpc>
                <a:spcPct val="150000"/>
              </a:lnSpc>
              <a:buNone/>
            </a:pPr>
            <a:r>
              <a:rPr lang="en-US" altLang="zh-CN" b="1" dirty="0">
                <a:latin typeface="Times New Roman" panose="02020603050405020304" pitchFamily="18" charset="0"/>
                <a:cs typeface="Times New Roman" panose="02020603050405020304" pitchFamily="18" charset="0"/>
                <a:sym typeface="+mn-ea"/>
              </a:rPr>
              <a:t>Example:</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Studying university students’ stress levels? A sample of only medical students may not be typical of all students.</a:t>
            </a:r>
          </a:p>
          <a:p>
            <a:pPr fontAlgn="auto">
              <a:lnSpc>
                <a:spcPct val="150000"/>
              </a:lnSpc>
              <a:buNone/>
            </a:pPr>
            <a:r>
              <a:rPr lang="en-US" altLang="zh-CN" dirty="0">
                <a:latin typeface="Times New Roman" panose="02020603050405020304" pitchFamily="18" charset="0"/>
                <a:cs typeface="Times New Roman" panose="02020603050405020304" pitchFamily="18" charset="0"/>
                <a:sym typeface="+mn-ea"/>
              </a:rPr>
              <a:t>A typical sample would include students from arts, sciences, engineering, and business.</a:t>
            </a: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6218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a:bodyPr>
          <a:lstStyle/>
          <a:p>
            <a:pPr fontAlgn="auto">
              <a:lnSpc>
                <a:spcPct val="150000"/>
              </a:lnSpc>
              <a:buNone/>
            </a:pPr>
            <a:endParaRPr lang="en-US" altLang="zh-CN" sz="2400">
              <a:latin typeface="Times New Roman" panose="02020603050405020304" charset="0"/>
              <a:cs typeface="Times New Roman" panose="02020603050405020304" charset="0"/>
              <a:sym typeface="+mn-ea"/>
            </a:endParaRPr>
          </a:p>
          <a:p>
            <a:pPr fontAlgn="auto">
              <a:lnSpc>
                <a:spcPct val="150000"/>
              </a:lnSpc>
              <a:buNone/>
            </a:pPr>
            <a:endParaRPr lang="en-US" altLang="zh-CN" sz="2400">
              <a:latin typeface="Times New Roman" panose="02020603050405020304" charset="0"/>
              <a:cs typeface="Times New Roman" panose="02020603050405020304" charset="0"/>
              <a:sym typeface="+mn-ea"/>
            </a:endParaRPr>
          </a:p>
          <a:p>
            <a:pPr fontAlgn="auto">
              <a:lnSpc>
                <a:spcPct val="150000"/>
              </a:lnSpc>
              <a:buNone/>
            </a:pPr>
            <a:r>
              <a:rPr lang="en-US" altLang="zh-CN" sz="2400">
                <a:latin typeface="Times New Roman" panose="02020603050405020304" charset="0"/>
                <a:cs typeface="Times New Roman" panose="02020603050405020304" charset="0"/>
                <a:sym typeface="+mn-ea"/>
              </a:rPr>
              <a:t>    4.  Novel </a:t>
            </a:r>
            <a:endParaRPr lang="en-US" altLang="zh-CN" sz="2400">
              <a:latin typeface="Times New Roman" panose="02020603050405020304" charset="0"/>
              <a:cs typeface="Times New Roman" panose="02020603050405020304" charset="0"/>
            </a:endParaRPr>
          </a:p>
          <a:p>
            <a:pPr fontAlgn="auto">
              <a:lnSpc>
                <a:spcPct val="150000"/>
              </a:lnSpc>
              <a:buNone/>
            </a:pPr>
            <a:r>
              <a:rPr lang="en-US" altLang="zh-CN" sz="2400">
                <a:latin typeface="Times New Roman" panose="02020603050405020304" charset="0"/>
                <a:cs typeface="Times New Roman" panose="02020603050405020304" charset="0"/>
              </a:rPr>
              <a:t>            </a:t>
            </a:r>
            <a:r>
              <a:rPr lang="en-US" altLang="zh-CN" sz="440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749925" y="1928495"/>
            <a:ext cx="5492115" cy="4142740"/>
          </a:xfrm>
          <a:prstGeom prst="rect">
            <a:avLst/>
          </a:prstGeom>
          <a:solidFill>
            <a:schemeClr val="accent1">
              <a:lumMod val="60000"/>
              <a:lumOff val="40000"/>
            </a:schemeClr>
          </a:solidFill>
        </p:spPr>
        <p:txBody>
          <a:bodyPr wrap="square" rtlCol="0">
            <a:noAutofit/>
          </a:bodyPr>
          <a:lstStyle/>
          <a:p>
            <a:pPr indent="0" fontAlgn="auto">
              <a:lnSpc>
                <a:spcPct val="150000"/>
              </a:lnSpc>
            </a:pPr>
            <a:r>
              <a:rPr lang="en-US" altLang="zh-CN" sz="2400" dirty="0">
                <a:latin typeface="Times New Roman" panose="02020603050405020304" charset="0"/>
                <a:cs typeface="Times New Roman" panose="02020603050405020304" charset="0"/>
              </a:rPr>
              <a:t>Academic papers that have novel and vivid materials attract more readers and expand their influence. </a:t>
            </a:r>
          </a:p>
          <a:p>
            <a:pPr indent="0" fontAlgn="auto">
              <a:lnSpc>
                <a:spcPct val="150000"/>
              </a:lnSpc>
            </a:pPr>
            <a:r>
              <a:rPr lang="en-US" altLang="zh-CN" sz="2400" dirty="0">
                <a:latin typeface="Times New Roman" panose="02020603050405020304" charset="0"/>
                <a:cs typeface="Times New Roman" panose="02020603050405020304" charset="0"/>
              </a:rPr>
              <a:t>--unique role of old materials cannot be ignored when emphasizing new materials.</a:t>
            </a:r>
          </a:p>
          <a:p>
            <a:pPr indent="0" fontAlgn="auto">
              <a:lnSpc>
                <a:spcPct val="150000"/>
              </a:lnSpc>
            </a:pPr>
            <a:r>
              <a:rPr lang="en-US" altLang="zh-CN" sz="2400" dirty="0">
                <a:highlight>
                  <a:srgbClr val="FFFF00"/>
                </a:highlight>
                <a:latin typeface="Times New Roman" panose="02020603050405020304" charset="0"/>
                <a:cs typeface="Times New Roman" panose="02020603050405020304" charset="0"/>
              </a:rPr>
              <a:t>Balance:</a:t>
            </a:r>
            <a:r>
              <a:rPr lang="en-US" altLang="zh-CN" sz="2400" dirty="0">
                <a:latin typeface="Times New Roman" panose="02020603050405020304" charset="0"/>
                <a:cs typeface="Times New Roman" panose="02020603050405020304" charset="0"/>
              </a:rPr>
              <a:t> Use novel data to break new ground, but don’t ignore classic sources.</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 calcmode="lin" valueType="num">
                                      <p:cBhvr additive="base">
                                        <p:cTn id="2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 calcmode="lin" valueType="num">
                                      <p:cBhvr additive="base">
                                        <p:cTn id="3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rmAutofit fontScale="92500" lnSpcReduction="10000"/>
          </a:bodyPr>
          <a:lstStyle/>
          <a:p>
            <a:pPr marL="0" indent="0" fontAlgn="auto">
              <a:lnSpc>
                <a:spcPct val="150000"/>
              </a:lnSpc>
              <a:buNone/>
            </a:pPr>
            <a:endParaRPr lang="en-US" altLang="zh-CN" dirty="0">
              <a:latin typeface="Times New Roman" panose="02020603050405020304" charset="0"/>
              <a:cs typeface="Times New Roman" panose="02020603050405020304" charset="0"/>
              <a:sym typeface="+mn-ea"/>
            </a:endParaRPr>
          </a:p>
          <a:p>
            <a:pPr marL="0" indent="0" fontAlgn="auto">
              <a:lnSpc>
                <a:spcPct val="150000"/>
              </a:lnSpc>
              <a:buNone/>
            </a:pPr>
            <a:r>
              <a:rPr lang="en-US" altLang="zh-CN" dirty="0">
                <a:latin typeface="Times New Roman" panose="02020603050405020304" charset="0"/>
                <a:cs typeface="Times New Roman" panose="02020603050405020304" charset="0"/>
                <a:sym typeface="+mn-ea"/>
              </a:rPr>
              <a:t>Example:</a:t>
            </a:r>
          </a:p>
          <a:p>
            <a:pPr marL="0" indent="0" fontAlgn="auto">
              <a:lnSpc>
                <a:spcPct val="150000"/>
              </a:lnSpc>
              <a:buNone/>
            </a:pPr>
            <a:r>
              <a:rPr lang="en-US" altLang="zh-CN" dirty="0">
                <a:latin typeface="Times New Roman" panose="02020603050405020304" charset="0"/>
                <a:cs typeface="Times New Roman" panose="02020603050405020304" charset="0"/>
                <a:sym typeface="+mn-ea"/>
              </a:rPr>
              <a:t>Many studies discuss climate change policy.</a:t>
            </a:r>
          </a:p>
          <a:p>
            <a:pPr marL="0" indent="0" fontAlgn="auto">
              <a:lnSpc>
                <a:spcPct val="150000"/>
              </a:lnSpc>
              <a:buNone/>
            </a:pPr>
            <a:r>
              <a:rPr lang="en-US" altLang="zh-CN" dirty="0">
                <a:latin typeface="Times New Roman" panose="02020603050405020304" charset="0"/>
                <a:cs typeface="Times New Roman" panose="02020603050405020304" charset="0"/>
                <a:sym typeface="+mn-ea"/>
              </a:rPr>
              <a:t>A novel approach: Use 2025 survey data from small island nations to show how rising sea levels are reshaping local legal systems.</a:t>
            </a: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005070" y="2599055"/>
            <a:ext cx="5959475" cy="1684564"/>
          </a:xfrm>
          <a:prstGeom prst="rect">
            <a:avLst/>
          </a:prstGeom>
          <a:noFill/>
        </p:spPr>
        <p:txBody>
          <a:bodyPr wrap="square" rtlCol="0">
            <a:spAutoFit/>
          </a:bodyPr>
          <a:lstStyle/>
          <a:p>
            <a:pPr indent="0" algn="ctr" fontAlgn="auto">
              <a:lnSpc>
                <a:spcPct val="200000"/>
              </a:lnSpc>
            </a:pPr>
            <a:r>
              <a:rPr lang="en-US" altLang="zh-CN" sz="2800" b="1" i="1" dirty="0">
                <a:solidFill>
                  <a:schemeClr val="accent2">
                    <a:lumMod val="75000"/>
                  </a:schemeClr>
                </a:solidFill>
                <a:latin typeface="Times New Roman" panose="02020603050405020304" charset="0"/>
                <a:cs typeface="Times New Roman" panose="02020603050405020304" charset="0"/>
                <a:sym typeface="+mn-ea"/>
              </a:rPr>
              <a:t>2. </a:t>
            </a:r>
            <a:r>
              <a:rPr lang="en-US" altLang="zh-CN" sz="2800" b="1" dirty="0">
                <a:latin typeface="Times New Roman" panose="02020603050405020304" charset="0"/>
                <a:cs typeface="Times New Roman" panose="02020603050405020304" charset="0"/>
                <a:sym typeface="+mn-ea"/>
              </a:rPr>
              <a:t>Evaluation of Date</a:t>
            </a:r>
          </a:p>
          <a:p>
            <a:pPr indent="0" algn="ctr" fontAlgn="auto">
              <a:lnSpc>
                <a:spcPct val="200000"/>
              </a:lnSpc>
            </a:pPr>
            <a:endParaRPr lang="en-US" altLang="zh-CN" sz="2800" dirty="0">
              <a:latin typeface="Times New Roman" panose="02020603050405020304" charset="0"/>
              <a:cs typeface="Times New Roman" panose="02020603050405020304" charset="0"/>
            </a:endParaRPr>
          </a:p>
        </p:txBody>
      </p:sp>
      <p:pic>
        <p:nvPicPr>
          <p:cNvPr id="9" name="内容占位符 8" descr="performance-evaluation-working-quality-control-productive-analysis-results-planning-approach-job-achievment-success-business-112455630"/>
          <p:cNvPicPr>
            <a:picLocks noGrp="1" noChangeAspect="1"/>
          </p:cNvPicPr>
          <p:nvPr>
            <p:ph idx="1"/>
          </p:nvPr>
        </p:nvPicPr>
        <p:blipFill>
          <a:blip r:embed="rId5"/>
          <a:stretch>
            <a:fillRect/>
          </a:stretch>
        </p:blipFill>
        <p:spPr>
          <a:xfrm>
            <a:off x="979805" y="1889760"/>
            <a:ext cx="3962400" cy="3416935"/>
          </a:xfrm>
          <a:prstGeom prst="rect">
            <a:avLst/>
          </a:prstGeom>
        </p:spPr>
      </p:pic>
      <p:sp>
        <p:nvSpPr>
          <p:cNvPr id="11" name="矩形 10"/>
          <p:cNvSpPr/>
          <p:nvPr/>
        </p:nvSpPr>
        <p:spPr>
          <a:xfrm>
            <a:off x="1043940" y="2014855"/>
            <a:ext cx="3872230" cy="59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3"/>
            </p:custDataLst>
          </p:nvPr>
        </p:nvSpPr>
        <p:spPr>
          <a:xfrm>
            <a:off x="979805" y="4896485"/>
            <a:ext cx="3962400" cy="59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825624"/>
            <a:ext cx="10515600" cy="3950981"/>
          </a:xfrm>
          <a:ln w="38100">
            <a:solidFill>
              <a:schemeClr val="accent2">
                <a:lumMod val="75000"/>
              </a:schemeClr>
            </a:solidFill>
            <a:prstDash val="sysDash"/>
          </a:ln>
        </p:spPr>
        <p:txBody>
          <a:bodyPr>
            <a:normAutofit fontScale="82500" lnSpcReduction="20000"/>
          </a:bodyPr>
          <a:lstStyle/>
          <a:p>
            <a:pPr marL="0" indent="0" fontAlgn="auto">
              <a:lnSpc>
                <a:spcPct val="150000"/>
              </a:lnSpc>
              <a:buNone/>
            </a:pPr>
            <a:r>
              <a:rPr lang="en-US" altLang="zh-CN" sz="3110" b="1" dirty="0">
                <a:highlight>
                  <a:srgbClr val="00FF00"/>
                </a:highlight>
                <a:latin typeface="Times New Roman" panose="02020603050405020304" charset="0"/>
                <a:cs typeface="Times New Roman" panose="02020603050405020304" charset="0"/>
                <a:sym typeface="+mn-ea"/>
              </a:rPr>
              <a:t>Being Critical ≠ Being Negative</a:t>
            </a:r>
          </a:p>
          <a:p>
            <a:pPr marL="0" indent="0" fontAlgn="auto">
              <a:lnSpc>
                <a:spcPct val="150000"/>
              </a:lnSpc>
              <a:buNone/>
            </a:pPr>
            <a:r>
              <a:rPr lang="en-US" altLang="zh-CN" sz="3110" dirty="0">
                <a:latin typeface="Times New Roman" panose="02020603050405020304" charset="0"/>
                <a:cs typeface="Times New Roman" panose="02020603050405020304" charset="0"/>
                <a:sym typeface="+mn-ea"/>
              </a:rPr>
              <a:t>Being critical means:</a:t>
            </a:r>
          </a:p>
          <a:p>
            <a:pPr marL="0" indent="0" fontAlgn="auto">
              <a:lnSpc>
                <a:spcPct val="150000"/>
              </a:lnSpc>
              <a:buNone/>
            </a:pPr>
            <a:r>
              <a:rPr lang="en-US" altLang="zh-CN" sz="3110" dirty="0">
                <a:latin typeface="Times New Roman" panose="02020603050405020304" charset="0"/>
                <a:cs typeface="Times New Roman" panose="02020603050405020304" charset="0"/>
                <a:sym typeface="+mn-ea"/>
              </a:rPr>
              <a:t>Questioning assumptions</a:t>
            </a:r>
          </a:p>
          <a:p>
            <a:pPr marL="0" indent="0" fontAlgn="auto">
              <a:lnSpc>
                <a:spcPct val="150000"/>
              </a:lnSpc>
              <a:buNone/>
            </a:pPr>
            <a:r>
              <a:rPr lang="en-US" altLang="zh-CN" sz="3110" dirty="0">
                <a:latin typeface="Times New Roman" panose="02020603050405020304" charset="0"/>
                <a:cs typeface="Times New Roman" panose="02020603050405020304" charset="0"/>
                <a:sym typeface="+mn-ea"/>
              </a:rPr>
              <a:t>Identifying bias</a:t>
            </a:r>
          </a:p>
          <a:p>
            <a:pPr marL="0" indent="0" fontAlgn="auto">
              <a:lnSpc>
                <a:spcPct val="150000"/>
              </a:lnSpc>
              <a:buNone/>
            </a:pPr>
            <a:r>
              <a:rPr lang="en-US" altLang="zh-CN" sz="3110" dirty="0">
                <a:latin typeface="Times New Roman" panose="02020603050405020304" charset="0"/>
                <a:cs typeface="Times New Roman" panose="02020603050405020304" charset="0"/>
                <a:sym typeface="+mn-ea"/>
              </a:rPr>
              <a:t>Evaluating evidence</a:t>
            </a: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825625"/>
            <a:ext cx="10515600" cy="3316826"/>
          </a:xfrm>
          <a:ln w="38100">
            <a:solidFill>
              <a:schemeClr val="accent2">
                <a:lumMod val="75000"/>
              </a:schemeClr>
            </a:solidFill>
            <a:prstDash val="sysDash"/>
          </a:ln>
        </p:spPr>
        <p:txBody>
          <a:bodyPr>
            <a:normAutofit fontScale="90000" lnSpcReduction="20000"/>
          </a:bodyPr>
          <a:lstStyle/>
          <a:p>
            <a:pPr marL="0" indent="0" fontAlgn="auto">
              <a:lnSpc>
                <a:spcPct val="150000"/>
              </a:lnSpc>
              <a:buNone/>
            </a:pPr>
            <a:r>
              <a:rPr lang="en-US" altLang="zh-CN" sz="2700" b="1" dirty="0">
                <a:latin typeface="Times New Roman" panose="02020603050405020304" charset="0"/>
                <a:cs typeface="Times New Roman" panose="02020603050405020304" charset="0"/>
                <a:sym typeface="+mn-ea"/>
              </a:rPr>
              <a:t>2.1 Reading a specialized book</a:t>
            </a:r>
          </a:p>
          <a:p>
            <a:pPr marL="0" indent="0" fontAlgn="auto">
              <a:lnSpc>
                <a:spcPct val="150000"/>
              </a:lnSpc>
              <a:buNone/>
            </a:pPr>
            <a:r>
              <a:rPr lang="en-US" altLang="zh-CN" sz="2700" dirty="0">
                <a:latin typeface="Times New Roman" panose="02020603050405020304" charset="0"/>
                <a:cs typeface="Times New Roman" panose="02020603050405020304" charset="0"/>
              </a:rPr>
              <a:t>Table of contents, index, preface, appendices</a:t>
            </a:r>
          </a:p>
          <a:p>
            <a:pPr fontAlgn="auto">
              <a:lnSpc>
                <a:spcPct val="150000"/>
              </a:lnSpc>
            </a:pPr>
            <a:r>
              <a:rPr lang="en-US" altLang="zh-CN" sz="2700" dirty="0">
                <a:latin typeface="Times New Roman" panose="02020603050405020304" charset="0"/>
                <a:cs typeface="Times New Roman" panose="02020603050405020304" charset="0"/>
                <a:sym typeface="+mn-ea"/>
              </a:rPr>
              <a:t>three skims</a:t>
            </a:r>
            <a:endParaRPr lang="en-US" altLang="zh-CN" sz="2700" dirty="0">
              <a:latin typeface="Times New Roman" panose="02020603050405020304" charset="0"/>
              <a:cs typeface="Times New Roman" panose="02020603050405020304" charset="0"/>
            </a:endParaRPr>
          </a:p>
          <a:p>
            <a:pPr fontAlgn="auto">
              <a:lnSpc>
                <a:spcPct val="150000"/>
              </a:lnSpc>
              <a:buNone/>
            </a:pPr>
            <a:r>
              <a:rPr lang="en-US" altLang="zh-CN" sz="2700" dirty="0">
                <a:latin typeface="Times New Roman" panose="02020603050405020304" charset="0"/>
                <a:cs typeface="Times New Roman" panose="02020603050405020304" charset="0"/>
                <a:sym typeface="+mn-ea"/>
              </a:rPr>
              <a:t>Skim the table of contents--Skim the index--Skim the interesting texts</a:t>
            </a:r>
            <a:endParaRPr lang="en-US" altLang="zh-CN" sz="2700" dirty="0">
              <a:latin typeface="Times New Roman" panose="02020603050405020304" charset="0"/>
              <a:cs typeface="Times New Roman" panose="02020603050405020304" charset="0"/>
            </a:endParaRPr>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76526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825625"/>
            <a:ext cx="10515600" cy="3281435"/>
          </a:xfrm>
          <a:ln w="38100">
            <a:solidFill>
              <a:schemeClr val="accent2">
                <a:lumMod val="75000"/>
              </a:schemeClr>
            </a:solidFill>
            <a:prstDash val="sysDash"/>
          </a:ln>
        </p:spPr>
        <p:txBody>
          <a:bodyPr>
            <a:normAutofit fontScale="97500"/>
          </a:bodyPr>
          <a:lstStyle/>
          <a:p>
            <a:pPr marL="0" indent="0" fontAlgn="auto">
              <a:lnSpc>
                <a:spcPct val="150000"/>
              </a:lnSpc>
              <a:spcBef>
                <a:spcPts val="0"/>
              </a:spcBef>
              <a:buNone/>
            </a:pPr>
            <a:r>
              <a:rPr lang="en-US" altLang="zh-CN" sz="2700" b="1" dirty="0">
                <a:latin typeface="Times New Roman" panose="02020603050405020304" charset="0"/>
                <a:cs typeface="Times New Roman" panose="02020603050405020304" charset="0"/>
                <a:sym typeface="+mn-ea"/>
              </a:rPr>
              <a:t>2.2 Reading a research paper</a:t>
            </a:r>
            <a:endParaRPr lang="en-US" altLang="zh-CN" sz="2700" b="1" dirty="0">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sz="2700" dirty="0">
                <a:latin typeface="Times New Roman" panose="02020603050405020304" charset="0"/>
                <a:cs typeface="Times New Roman" panose="02020603050405020304" charset="0"/>
                <a:sym typeface="+mn-ea"/>
              </a:rPr>
              <a:t>Abstract → Introduction → Conclusion → Methods → Results</a:t>
            </a:r>
          </a:p>
          <a:p>
            <a:pPr marL="0" indent="0" fontAlgn="auto">
              <a:lnSpc>
                <a:spcPct val="150000"/>
              </a:lnSpc>
              <a:spcBef>
                <a:spcPts val="0"/>
              </a:spcBef>
              <a:buNone/>
            </a:pPr>
            <a:r>
              <a:rPr lang="en-US" altLang="zh-CN" sz="2700" dirty="0">
                <a:latin typeface="Times New Roman" panose="02020603050405020304" charset="0"/>
                <a:cs typeface="Times New Roman" panose="02020603050405020304" charset="0"/>
                <a:sym typeface="+mn-ea"/>
              </a:rPr>
              <a:t>SRS Method:</a:t>
            </a:r>
          </a:p>
          <a:p>
            <a:pPr marL="0" indent="0" fontAlgn="auto">
              <a:lnSpc>
                <a:spcPct val="150000"/>
              </a:lnSpc>
              <a:spcBef>
                <a:spcPts val="0"/>
              </a:spcBef>
              <a:buNone/>
            </a:pPr>
            <a:r>
              <a:rPr lang="en-US" altLang="zh-CN" sz="2700" dirty="0">
                <a:latin typeface="Times New Roman" panose="02020603050405020304" charset="0"/>
                <a:cs typeface="Times New Roman" panose="02020603050405020304" charset="0"/>
                <a:sym typeface="+mn-ea"/>
              </a:rPr>
              <a:t>Skim → Read → Study</a:t>
            </a:r>
          </a:p>
          <a:p>
            <a:pPr marL="0" indent="0" fontAlgn="auto">
              <a:lnSpc>
                <a:spcPct val="150000"/>
              </a:lnSpc>
              <a:buNone/>
            </a:pPr>
            <a:r>
              <a:rPr lang="en-US" altLang="zh-CN" sz="27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a:bodyPr>
          <a:lstStyle/>
          <a:p>
            <a:pPr marL="0" indent="0" fontAlgn="auto">
              <a:lnSpc>
                <a:spcPct val="150000"/>
              </a:lnSpc>
              <a:spcBef>
                <a:spcPts val="0"/>
              </a:spcBef>
              <a:buNone/>
            </a:pPr>
            <a:r>
              <a:rPr lang="en-US" sz="2400" b="1" dirty="0">
                <a:latin typeface="Times New Roman" panose="02020603050405020304" charset="0"/>
                <a:cs typeface="Times New Roman" panose="02020603050405020304" charset="0"/>
              </a:rPr>
              <a:t>Four lenses: Structure, Purpose, Audience, Author</a:t>
            </a:r>
          </a:p>
          <a:p>
            <a:pPr marL="0" indent="0" fontAlgn="auto">
              <a:lnSpc>
                <a:spcPct val="150000"/>
              </a:lnSpc>
              <a:spcBef>
                <a:spcPts val="0"/>
              </a:spcBef>
              <a:buNone/>
            </a:pPr>
            <a:r>
              <a:rPr lang="en-US" sz="2400" b="1" dirty="0">
                <a:latin typeface="Times New Roman" panose="02020603050405020304" charset="0"/>
                <a:cs typeface="Times New Roman" panose="02020603050405020304" charset="0"/>
              </a:rPr>
              <a:t>Structure--books </a:t>
            </a:r>
          </a:p>
          <a:p>
            <a:pPr fontAlgn="auto">
              <a:lnSpc>
                <a:spcPct val="150000"/>
              </a:lnSpc>
              <a:spcBef>
                <a:spcPts val="0"/>
              </a:spcBef>
              <a:buClr>
                <a:srgbClr val="92D050"/>
              </a:buClr>
              <a:buFont typeface="Wingdings" panose="05000000000000000000" charset="0"/>
              <a:buChar char="ü"/>
            </a:pPr>
            <a:r>
              <a:rPr lang="en-US" sz="2400" dirty="0">
                <a:latin typeface="Times New Roman" panose="02020603050405020304" charset="0"/>
                <a:cs typeface="Times New Roman" panose="02020603050405020304" charset="0"/>
              </a:rPr>
              <a:t>Look at the table of contents. </a:t>
            </a:r>
          </a:p>
          <a:p>
            <a:pPr fontAlgn="auto">
              <a:lnSpc>
                <a:spcPct val="150000"/>
              </a:lnSpc>
              <a:spcBef>
                <a:spcPts val="0"/>
              </a:spcBef>
              <a:buClr>
                <a:srgbClr val="92D050"/>
              </a:buClr>
              <a:buFont typeface="Wingdings" panose="05000000000000000000" charset="0"/>
              <a:buChar char="ü"/>
            </a:pPr>
            <a:r>
              <a:rPr lang="en-US" sz="2400" dirty="0">
                <a:latin typeface="Times New Roman" panose="02020603050405020304" charset="0"/>
                <a:cs typeface="Times New Roman" panose="02020603050405020304" charset="0"/>
              </a:rPr>
              <a:t>Skim the preface or introduction to establish context for the discussion and determine the author’s intent. </a:t>
            </a:r>
          </a:p>
          <a:p>
            <a:pPr fontAlgn="auto">
              <a:lnSpc>
                <a:spcPct val="150000"/>
              </a:lnSpc>
              <a:spcBef>
                <a:spcPts val="0"/>
              </a:spcBef>
              <a:buClr>
                <a:srgbClr val="92D050"/>
              </a:buClr>
              <a:buFont typeface="Wingdings" panose="05000000000000000000" charset="0"/>
              <a:buChar char="ü"/>
            </a:pPr>
            <a:r>
              <a:rPr lang="en-US" sz="2400" dirty="0">
                <a:latin typeface="Times New Roman" panose="02020603050405020304" charset="0"/>
                <a:cs typeface="Times New Roman" panose="02020603050405020304" charset="0"/>
              </a:rPr>
              <a:t>Glance at any appendices, diagrams, tables, or figures and see what kinds of things make it into the endnotes section if there is one.</a:t>
            </a:r>
          </a:p>
          <a:p>
            <a:pPr marL="0" indent="0" fontAlgn="auto">
              <a:lnSpc>
                <a:spcPct val="150000"/>
              </a:lnSpc>
              <a:spcBef>
                <a:spcPts val="0"/>
              </a:spcBef>
              <a:buNone/>
            </a:pPr>
            <a:endParaRPr lang="en-US" sz="2400"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a:bodyPr>
          <a:lstStyle/>
          <a:p>
            <a:pPr marL="0" indent="0" fontAlgn="auto">
              <a:lnSpc>
                <a:spcPct val="150000"/>
              </a:lnSpc>
              <a:spcBef>
                <a:spcPts val="0"/>
              </a:spcBef>
              <a:buNone/>
            </a:pPr>
            <a:r>
              <a:rPr lang="en-US" sz="2400" b="1">
                <a:latin typeface="Times New Roman" panose="02020603050405020304" charset="0"/>
                <a:cs typeface="Times New Roman" panose="02020603050405020304" charset="0"/>
              </a:rPr>
              <a:t>Structure--articles</a:t>
            </a:r>
          </a:p>
          <a:p>
            <a:pPr marL="0" indent="0" fontAlgn="auto">
              <a:lnSpc>
                <a:spcPct val="200000"/>
              </a:lnSpc>
              <a:spcBef>
                <a:spcPts val="0"/>
              </a:spcBef>
              <a:buClr>
                <a:srgbClr val="ED7D31"/>
              </a:buClr>
              <a:buFont typeface="Wingdings" panose="05000000000000000000" charset="0"/>
              <a:buChar char="ü"/>
            </a:pPr>
            <a:r>
              <a:rPr lang="en-US" sz="2400">
                <a:latin typeface="Times New Roman" panose="02020603050405020304" charset="0"/>
                <a:cs typeface="Times New Roman" panose="02020603050405020304" charset="0"/>
              </a:rPr>
              <a:t>read the “abstract” for a summary</a:t>
            </a:r>
          </a:p>
          <a:p>
            <a:pPr marL="0" indent="0" fontAlgn="auto">
              <a:lnSpc>
                <a:spcPct val="200000"/>
              </a:lnSpc>
              <a:spcBef>
                <a:spcPts val="0"/>
              </a:spcBef>
              <a:buClr>
                <a:srgbClr val="ED7D31"/>
              </a:buClr>
              <a:buFont typeface="Wingdings" panose="05000000000000000000" charset="0"/>
              <a:buChar char="ü"/>
            </a:pPr>
            <a:r>
              <a:rPr lang="en-US" sz="2400">
                <a:latin typeface="Times New Roman" panose="02020603050405020304" charset="0"/>
                <a:cs typeface="Times New Roman" panose="02020603050405020304" charset="0"/>
              </a:rPr>
              <a:t>read the background or introduction section which will normally have some kind of “literature review” or summary of what others have said</a:t>
            </a:r>
          </a:p>
          <a:p>
            <a:pPr marL="0" indent="0" fontAlgn="auto">
              <a:lnSpc>
                <a:spcPct val="200000"/>
              </a:lnSpc>
              <a:spcBef>
                <a:spcPts val="0"/>
              </a:spcBef>
              <a:buClr>
                <a:srgbClr val="ED7D31"/>
              </a:buClr>
              <a:buFont typeface="Wingdings" panose="05000000000000000000" charset="0"/>
              <a:buChar char="ü"/>
            </a:pPr>
            <a:r>
              <a:rPr lang="en-US" sz="2400">
                <a:latin typeface="Times New Roman" panose="02020603050405020304" charset="0"/>
                <a:cs typeface="Times New Roman" panose="02020603050405020304" charset="0"/>
              </a:rPr>
              <a:t>read the conclusions or discussions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lnSpcReduction="10000"/>
          </a:bodyPr>
          <a:lstStyle/>
          <a:p>
            <a:pPr marL="0" indent="0" fontAlgn="auto">
              <a:lnSpc>
                <a:spcPct val="200000"/>
              </a:lnSpc>
              <a:spcBef>
                <a:spcPts val="0"/>
              </a:spcBef>
              <a:buClr>
                <a:srgbClr val="92D050"/>
              </a:buClr>
              <a:buFont typeface="Wingdings" panose="05000000000000000000" charset="0"/>
              <a:buNone/>
            </a:pPr>
            <a:r>
              <a:rPr lang="en-US" sz="2400" b="1" dirty="0">
                <a:latin typeface="Times New Roman" panose="02020603050405020304" charset="0"/>
                <a:cs typeface="Times New Roman" panose="02020603050405020304" charset="0"/>
                <a:sym typeface="+mn-ea"/>
              </a:rPr>
              <a:t>Purpose</a:t>
            </a:r>
            <a:endParaRPr lang="en-US" sz="2400" b="1" dirty="0">
              <a:latin typeface="Times New Roman" panose="02020603050405020304" charset="0"/>
              <a:cs typeface="Times New Roman" panose="02020603050405020304" charset="0"/>
            </a:endParaRP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What is the author trying to do? </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What is his or her bias? </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Any assumptions to be challenged? </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Look at the publisher or institutional / organizational affiliation of the author. </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Does the person have a vested interest?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a:bodyPr>
          <a:lstStyle/>
          <a:p>
            <a:pPr marL="0" indent="0" fontAlgn="auto">
              <a:lnSpc>
                <a:spcPct val="200000"/>
              </a:lnSpc>
              <a:spcBef>
                <a:spcPts val="0"/>
              </a:spcBef>
              <a:buClr>
                <a:srgbClr val="92D050"/>
              </a:buClr>
              <a:buFont typeface="Wingdings" panose="05000000000000000000" charset="0"/>
              <a:buNone/>
            </a:pPr>
            <a:r>
              <a:rPr lang="en-US" sz="2400" b="1">
                <a:latin typeface="Times New Roman" panose="02020603050405020304" charset="0"/>
                <a:cs typeface="Times New Roman" panose="02020603050405020304" charset="0"/>
                <a:sym typeface="+mn-ea"/>
              </a:rPr>
              <a:t>Audience</a:t>
            </a:r>
          </a:p>
          <a:p>
            <a:pPr marL="0" indent="0" fontAlgn="auto">
              <a:lnSpc>
                <a:spcPct val="200000"/>
              </a:lnSpc>
              <a:spcBef>
                <a:spcPts val="0"/>
              </a:spcBef>
              <a:buClr>
                <a:srgbClr val="92D050"/>
              </a:buClr>
              <a:buFont typeface="Wingdings" panose="05000000000000000000" charset="0"/>
              <a:buNone/>
            </a:pPr>
            <a:r>
              <a:rPr lang="en-US" sz="2400">
                <a:latin typeface="Times New Roman" panose="02020603050405020304" charset="0"/>
                <a:cs typeface="Times New Roman" panose="02020603050405020304" charset="0"/>
              </a:rPr>
              <a:t>Who is the potential audience?</a:t>
            </a:r>
          </a:p>
          <a:p>
            <a:pPr marL="0" indent="0" fontAlgn="auto">
              <a:lnSpc>
                <a:spcPct val="200000"/>
              </a:lnSpc>
              <a:spcBef>
                <a:spcPts val="0"/>
              </a:spcBef>
              <a:buClr>
                <a:srgbClr val="92D050"/>
              </a:buClr>
              <a:buFont typeface="Wingdings" panose="05000000000000000000" charset="0"/>
              <a:buNone/>
            </a:pPr>
            <a:r>
              <a:rPr lang="en-US" sz="2400">
                <a:latin typeface="Times New Roman" panose="02020603050405020304" charset="0"/>
                <a:cs typeface="Times New Roman" panose="02020603050405020304" charset="0"/>
              </a:rPr>
              <a:t>Why would the audience be reading the text?</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lnSpcReduction="10000"/>
          </a:bodyPr>
          <a:lstStyle/>
          <a:p>
            <a:pPr marL="0" indent="0" fontAlgn="auto">
              <a:lnSpc>
                <a:spcPct val="150000"/>
              </a:lnSpc>
              <a:spcBef>
                <a:spcPts val="0"/>
              </a:spcBef>
              <a:buClr>
                <a:srgbClr val="92D050"/>
              </a:buClr>
              <a:buFont typeface="Wingdings" panose="05000000000000000000" charset="0"/>
              <a:buNone/>
            </a:pPr>
            <a:r>
              <a:rPr lang="en-US" sz="2400" b="1" dirty="0">
                <a:latin typeface="Times New Roman" panose="02020603050405020304" charset="0"/>
                <a:cs typeface="Times New Roman" panose="02020603050405020304" charset="0"/>
                <a:sym typeface="+mn-ea"/>
              </a:rPr>
              <a:t>Author</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Who is the author? </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Is it someone a professor has mentioned or one that you come across in the course of other reading? </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Has the person been mentioned in other texts or bibliographies of other texts? </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Is the person a teacher or researcher from a reputable academic institution? </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Does the person have considerable knowledge of what he or she is talking about?</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Is the author respected and well-received?</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fontScale="92500" lnSpcReduction="20000"/>
          </a:bodyPr>
          <a:lstStyle/>
          <a:p>
            <a:pPr marL="0" indent="0" fontAlgn="auto">
              <a:lnSpc>
                <a:spcPct val="200000"/>
              </a:lnSpc>
              <a:spcBef>
                <a:spcPts val="0"/>
              </a:spcBef>
              <a:buClr>
                <a:srgbClr val="92D050"/>
              </a:buClr>
              <a:buFont typeface="Wingdings" panose="05000000000000000000" charset="0"/>
              <a:buNone/>
            </a:pPr>
            <a:r>
              <a:rPr lang="en-US" sz="2400" b="1" dirty="0">
                <a:latin typeface="Times New Roman" panose="02020603050405020304" charset="0"/>
                <a:cs typeface="Times New Roman" panose="02020603050405020304" charset="0"/>
                <a:sym typeface="+mn-ea"/>
              </a:rPr>
              <a:t>Evaluating Web Sources</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Key Criteria for Web Sources:</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Authorship</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Publishing body</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Point of view / bias</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Referral to literature</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Accuracy of details</a:t>
            </a:r>
          </a:p>
          <a:p>
            <a:pPr marL="0" indent="0" fontAlgn="auto">
              <a:lnSpc>
                <a:spcPct val="15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Currency</a:t>
            </a:r>
          </a:p>
          <a:p>
            <a:pPr marL="0" indent="0" fontAlgn="auto">
              <a:lnSpc>
                <a:spcPct val="150000"/>
              </a:lnSpc>
              <a:spcBef>
                <a:spcPts val="0"/>
              </a:spcBef>
              <a:buClr>
                <a:srgbClr val="92D050"/>
              </a:buClr>
              <a:buFont typeface="Wingdings" panose="05000000000000000000" charset="0"/>
              <a:buNone/>
            </a:pPr>
            <a:r>
              <a:rPr lang="en-US" sz="2400" dirty="0">
                <a:highlight>
                  <a:srgbClr val="00FF00"/>
                </a:highlight>
                <a:latin typeface="Times New Roman" panose="02020603050405020304" charset="0"/>
                <a:cs typeface="Times New Roman" panose="02020603050405020304" charset="0"/>
              </a:rPr>
              <a:t>Not everything on the internet is a “source.”</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825625"/>
            <a:ext cx="10306050" cy="4053222"/>
          </a:xfrm>
          <a:ln w="38100">
            <a:solidFill>
              <a:schemeClr val="accent2">
                <a:lumMod val="75000"/>
              </a:schemeClr>
            </a:solidFill>
            <a:prstDash val="sysDash"/>
          </a:ln>
        </p:spPr>
        <p:txBody>
          <a:bodyPr>
            <a:normAutofit fontScale="65000" lnSpcReduction="20000"/>
          </a:bodyPr>
          <a:lstStyle/>
          <a:p>
            <a:pPr marL="0" indent="0" fontAlgn="auto">
              <a:lnSpc>
                <a:spcPct val="120000"/>
              </a:lnSpc>
              <a:buNone/>
            </a:pPr>
            <a:r>
              <a:rPr lang="en-US" altLang="zh-CN" sz="4900" b="1" dirty="0">
                <a:latin typeface="Times New Roman" panose="02020603050405020304" charset="0"/>
                <a:cs typeface="Times New Roman" panose="02020603050405020304" charset="0"/>
                <a:sym typeface="+mn-ea"/>
              </a:rPr>
              <a:t>2.3 Primary and secondary sources</a:t>
            </a:r>
            <a:endParaRPr lang="en-US" altLang="zh-CN" sz="4900" b="1" dirty="0">
              <a:latin typeface="Times New Roman" panose="02020603050405020304" charset="0"/>
              <a:cs typeface="Times New Roman" panose="02020603050405020304" charset="0"/>
            </a:endParaRPr>
          </a:p>
          <a:p>
            <a:pPr fontAlgn="auto">
              <a:lnSpc>
                <a:spcPct val="120000"/>
              </a:lnSpc>
              <a:buNone/>
            </a:pPr>
            <a:r>
              <a:rPr lang="en-US" altLang="zh-CN" sz="3700" b="1" dirty="0">
                <a:solidFill>
                  <a:schemeClr val="accent2"/>
                </a:solidFill>
                <a:latin typeface="Times New Roman" panose="02020603050405020304" charset="0"/>
                <a:cs typeface="Times New Roman" panose="02020603050405020304" charset="0"/>
                <a:sym typeface="+mn-ea"/>
              </a:rPr>
              <a:t>Primary sources</a:t>
            </a:r>
            <a:r>
              <a:rPr lang="en-US" altLang="zh-CN" sz="3700" dirty="0">
                <a:latin typeface="Times New Roman" panose="02020603050405020304" charset="0"/>
                <a:cs typeface="Times New Roman" panose="02020603050405020304" charset="0"/>
                <a:sym typeface="+mn-ea"/>
              </a:rPr>
              <a:t>: Original data, creative works, firsthand accounts  </a:t>
            </a:r>
          </a:p>
          <a:p>
            <a:pPr fontAlgn="auto">
              <a:lnSpc>
                <a:spcPct val="120000"/>
              </a:lnSpc>
              <a:buNone/>
            </a:pPr>
            <a:r>
              <a:rPr lang="en-US" altLang="zh-CN" sz="3700" b="1" dirty="0">
                <a:latin typeface="Times New Roman" panose="02020603050405020304" charset="0"/>
                <a:cs typeface="Times New Roman" panose="02020603050405020304" charset="0"/>
                <a:sym typeface="+mn-ea"/>
              </a:rPr>
              <a:t>Examples:</a:t>
            </a:r>
            <a:r>
              <a:rPr lang="en-US" altLang="zh-CN" sz="3700" dirty="0">
                <a:latin typeface="Times New Roman" panose="02020603050405020304" charset="0"/>
                <a:cs typeface="Times New Roman" panose="02020603050405020304" charset="0"/>
                <a:sym typeface="+mn-ea"/>
              </a:rPr>
              <a:t> diaries, poems, raw survey data, novel, play, letter, or other creative works</a:t>
            </a:r>
          </a:p>
          <a:p>
            <a:pPr fontAlgn="auto">
              <a:lnSpc>
                <a:spcPct val="120000"/>
              </a:lnSpc>
              <a:buNone/>
            </a:pPr>
            <a:r>
              <a:rPr lang="en-US" altLang="zh-CN" sz="3700" b="1" dirty="0">
                <a:solidFill>
                  <a:schemeClr val="accent2"/>
                </a:solidFill>
                <a:latin typeface="Times New Roman" panose="02020603050405020304" charset="0"/>
                <a:cs typeface="Times New Roman" panose="02020603050405020304" charset="0"/>
                <a:sym typeface="+mn-ea"/>
              </a:rPr>
              <a:t>Secondary sources: </a:t>
            </a:r>
            <a:r>
              <a:rPr lang="en-US" altLang="zh-CN" sz="3700" dirty="0">
                <a:latin typeface="Times New Roman" panose="02020603050405020304" charset="0"/>
                <a:cs typeface="Times New Roman" panose="02020603050405020304" charset="0"/>
                <a:sym typeface="+mn-ea"/>
              </a:rPr>
              <a:t>the second-hand information, interpretations, summaries, analyses by others</a:t>
            </a:r>
          </a:p>
          <a:p>
            <a:pPr fontAlgn="auto">
              <a:lnSpc>
                <a:spcPct val="120000"/>
              </a:lnSpc>
              <a:buNone/>
            </a:pPr>
            <a:r>
              <a:rPr lang="en-US" altLang="zh-CN" sz="3700" b="1" dirty="0">
                <a:latin typeface="Times New Roman" panose="02020603050405020304" charset="0"/>
                <a:cs typeface="Times New Roman" panose="02020603050405020304" charset="0"/>
                <a:sym typeface="+mn-ea"/>
              </a:rPr>
              <a:t>Examples: </a:t>
            </a:r>
            <a:r>
              <a:rPr lang="en-US" altLang="zh-CN" sz="3700" dirty="0">
                <a:latin typeface="Times New Roman" panose="02020603050405020304" charset="0"/>
                <a:cs typeface="Times New Roman" panose="02020603050405020304" charset="0"/>
                <a:sym typeface="+mn-ea"/>
              </a:rPr>
              <a:t>articles, textbooks, literature reviews, critiques</a:t>
            </a:r>
            <a:r>
              <a:rPr lang="en-US" altLang="zh-CN" sz="3700" dirty="0">
                <a:latin typeface="Times New Roman" panose="02020603050405020304" charset="0"/>
                <a:cs typeface="Times New Roman" panose="02020603050405020304" charset="0"/>
              </a:rPr>
              <a:t> </a:t>
            </a:r>
          </a:p>
          <a:p>
            <a:pPr fontAlgn="auto">
              <a:lnSpc>
                <a:spcPct val="120000"/>
              </a:lnSpc>
              <a:buNone/>
            </a:pPr>
            <a:r>
              <a:rPr lang="en-US" altLang="zh-CN" sz="3700" i="1" dirty="0">
                <a:highlight>
                  <a:srgbClr val="00FF00"/>
                </a:highlight>
                <a:latin typeface="Times New Roman" panose="02020603050405020304" charset="0"/>
                <a:cs typeface="Times New Roman" panose="02020603050405020304" charset="0"/>
              </a:rPr>
              <a:t>Use primary sources for evidence; use secondary sources for context.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69116" y="1825625"/>
            <a:ext cx="10984684" cy="4351338"/>
          </a:xfrm>
          <a:ln w="38100">
            <a:solidFill>
              <a:schemeClr val="accent2"/>
            </a:solidFill>
            <a:prstDash val="sysDash"/>
          </a:ln>
        </p:spPr>
        <p:txBody>
          <a:bodyPr>
            <a:normAutofit/>
          </a:bodyPr>
          <a:lstStyle/>
          <a:p>
            <a:pPr marL="0" indent="0" fontAlgn="auto">
              <a:lnSpc>
                <a:spcPct val="150000"/>
              </a:lnSpc>
              <a:spcBef>
                <a:spcPts val="0"/>
              </a:spcBef>
              <a:buNone/>
            </a:pPr>
            <a:endParaRPr lang="en-US" altLang="zh-CN" sz="2400" b="1" dirty="0">
              <a:latin typeface="Times New Roman" panose="02020603050405020304" charset="0"/>
              <a:cs typeface="Times New Roman" panose="02020603050405020304" charset="0"/>
              <a:sym typeface="+mn-ea"/>
            </a:endParaRP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sym typeface="+mn-ea"/>
              </a:rPr>
              <a:t>	</a:t>
            </a:r>
            <a:endParaRPr lang="en-US" altLang="zh-CN" sz="2400" b="1" dirty="0">
              <a:latin typeface="Times New Roman" panose="02020603050405020304" charset="0"/>
              <a:cs typeface="Times New Roman" panose="02020603050405020304" charset="0"/>
              <a:sym typeface="+mn-ea"/>
            </a:endParaRP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sym typeface="+mn-ea"/>
              </a:rPr>
              <a:t>A diary from a WWII soldier	                        A textbook chapter on WWII</a:t>
            </a: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sym typeface="+mn-ea"/>
              </a:rPr>
              <a:t>Raw data from a </a:t>
            </a:r>
            <a:r>
              <a:rPr lang="en-US" altLang="zh-CN" sz="2400" dirty="0" err="1">
                <a:latin typeface="Times New Roman" panose="02020603050405020304" charset="0"/>
                <a:cs typeface="Times New Roman" panose="02020603050405020304" charset="0"/>
                <a:sym typeface="+mn-ea"/>
              </a:rPr>
              <a:t>COVID</a:t>
            </a:r>
            <a:r>
              <a:rPr lang="en-US" altLang="zh-CN" sz="2400" dirty="0">
                <a:latin typeface="Times New Roman" panose="02020603050405020304" charset="0"/>
                <a:cs typeface="Times New Roman" panose="02020603050405020304" charset="0"/>
                <a:sym typeface="+mn-ea"/>
              </a:rPr>
              <a:t>-19 vaccine trial	A news article summarizing the trial results</a:t>
            </a: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sym typeface="+mn-ea"/>
              </a:rPr>
              <a:t>A recording of a political speech	             A biography analyzing the speech</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FAC614FC-E9FF-4F7C-B38D-ACDED929FE4B}"/>
              </a:ext>
            </a:extLst>
          </p:cNvPr>
          <p:cNvSpPr/>
          <p:nvPr/>
        </p:nvSpPr>
        <p:spPr>
          <a:xfrm>
            <a:off x="562061" y="2259710"/>
            <a:ext cx="3825379" cy="4446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Times New Roman" panose="02020603050405020304" pitchFamily="18" charset="0"/>
                <a:cs typeface="Times New Roman" panose="02020603050405020304" pitchFamily="18" charset="0"/>
              </a:rPr>
              <a:t>Primary Source Example</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6DB2A50E-CA9D-4606-AE0F-99CC8A7F4ADF}"/>
              </a:ext>
            </a:extLst>
          </p:cNvPr>
          <p:cNvSpPr/>
          <p:nvPr/>
        </p:nvSpPr>
        <p:spPr>
          <a:xfrm>
            <a:off x="5891869" y="2268099"/>
            <a:ext cx="3825380" cy="4561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Times New Roman" panose="02020603050405020304" pitchFamily="18" charset="0"/>
                <a:cs typeface="Times New Roman" panose="02020603050405020304" pitchFamily="18" charset="0"/>
              </a:rPr>
              <a:t>Secondary Source Example</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lnSpcReduction="10000"/>
          </a:bodyPr>
          <a:lstStyle/>
          <a:p>
            <a:pPr marL="0" indent="0" fontAlgn="auto">
              <a:lnSpc>
                <a:spcPct val="150000"/>
              </a:lnSpc>
              <a:spcBef>
                <a:spcPts val="0"/>
              </a:spcBef>
              <a:buNone/>
            </a:pPr>
            <a:r>
              <a:rPr lang="en-US" altLang="zh-CN" b="1" dirty="0">
                <a:latin typeface="Times New Roman" panose="02020603050405020304" charset="0"/>
                <a:cs typeface="Times New Roman" panose="02020603050405020304" charset="0"/>
                <a:sym typeface="+mn-ea"/>
              </a:rPr>
              <a:t>(1) Collecting primary sources</a:t>
            </a:r>
            <a:r>
              <a:rPr lang="en-US" altLang="zh-CN" b="1"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    </a:t>
            </a: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rPr>
              <a:t>Common Methods:</a:t>
            </a: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rPr>
              <a:t>Experiments</a:t>
            </a: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rPr>
              <a:t>Textual analysis (highlighting, annotating, margin notes)</a:t>
            </a: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rPr>
              <a:t>Interviews</a:t>
            </a:r>
          </a:p>
          <a:p>
            <a:pPr marL="0" indent="0" fontAlgn="auto">
              <a:lnSpc>
                <a:spcPct val="150000"/>
              </a:lnSpc>
              <a:spcBef>
                <a:spcPts val="0"/>
              </a:spcBef>
              <a:buNone/>
            </a:pPr>
            <a:r>
              <a:rPr lang="en-US" altLang="zh-CN" sz="2400" dirty="0">
                <a:latin typeface="Times New Roman" panose="02020603050405020304" charset="0"/>
                <a:cs typeface="Times New Roman" panose="02020603050405020304" charset="0"/>
              </a:rPr>
              <a:t>Questionnaires</a:t>
            </a:r>
          </a:p>
          <a:p>
            <a:pPr marL="0" indent="0" fontAlgn="auto">
              <a:lnSpc>
                <a:spcPct val="150000"/>
              </a:lnSpc>
              <a:spcBef>
                <a:spcPts val="0"/>
              </a:spcBef>
              <a:buNone/>
            </a:pPr>
            <a:r>
              <a:rPr lang="en-US" altLang="zh-CN" sz="2600" i="1" dirty="0">
                <a:highlight>
                  <a:srgbClr val="00FF00"/>
                </a:highlight>
                <a:latin typeface="Times New Roman" panose="02020603050405020304" charset="0"/>
                <a:cs typeface="Times New Roman" panose="02020603050405020304" charset="0"/>
              </a:rPr>
              <a:t>Tip: When reading a primary text actively, mark it up—underline, scribble, stick notes.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1277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825625"/>
            <a:ext cx="10515600" cy="4780280"/>
          </a:xfrm>
          <a:ln w="38100">
            <a:solidFill>
              <a:schemeClr val="accent2"/>
            </a:solidFill>
            <a:prstDash val="sysDash"/>
          </a:ln>
        </p:spPr>
        <p:txBody>
          <a:bodyPr>
            <a:normAutofit fontScale="95000"/>
          </a:bodyPr>
          <a:lstStyle/>
          <a:p>
            <a:pPr fontAlgn="auto">
              <a:lnSpc>
                <a:spcPct val="150000"/>
              </a:lnSpc>
              <a:spcBef>
                <a:spcPts val="0"/>
              </a:spcBef>
              <a:buNone/>
            </a:pPr>
            <a:r>
              <a:rPr lang="en-US" altLang="zh-CN" b="1" dirty="0">
                <a:latin typeface="Times New Roman" panose="02020603050405020304" charset="0"/>
                <a:cs typeface="Times New Roman" panose="02020603050405020304" charset="0"/>
                <a:sym typeface="+mn-ea"/>
              </a:rPr>
              <a:t>(2) Collecting secondary sources</a:t>
            </a:r>
          </a:p>
          <a:p>
            <a:pPr fontAlgn="auto">
              <a:lnSpc>
                <a:spcPct val="150000"/>
              </a:lnSpc>
              <a:spcBef>
                <a:spcPts val="0"/>
              </a:spcBef>
              <a:buNone/>
            </a:pPr>
            <a:r>
              <a:rPr lang="en-US" altLang="zh-CN" sz="2500" dirty="0">
                <a:latin typeface="Times New Roman" panose="02020603050405020304" charset="0"/>
                <a:cs typeface="Times New Roman" panose="02020603050405020304" charset="0"/>
                <a:sym typeface="+mn-ea"/>
              </a:rPr>
              <a:t>Library Search Strategies:</a:t>
            </a:r>
          </a:p>
          <a:p>
            <a:pPr fontAlgn="auto">
              <a:lnSpc>
                <a:spcPct val="150000"/>
              </a:lnSpc>
              <a:spcBef>
                <a:spcPts val="0"/>
              </a:spcBef>
              <a:buNone/>
            </a:pPr>
            <a:r>
              <a:rPr lang="en-US" altLang="zh-CN" sz="2500" dirty="0">
                <a:latin typeface="Times New Roman" panose="02020603050405020304" charset="0"/>
                <a:cs typeface="Times New Roman" panose="02020603050405020304" charset="0"/>
                <a:sym typeface="+mn-ea"/>
              </a:rPr>
              <a:t>By title, author, subject, keywords</a:t>
            </a:r>
          </a:p>
          <a:p>
            <a:pPr fontAlgn="auto">
              <a:lnSpc>
                <a:spcPct val="150000"/>
              </a:lnSpc>
              <a:spcBef>
                <a:spcPts val="0"/>
              </a:spcBef>
              <a:buNone/>
            </a:pPr>
            <a:r>
              <a:rPr lang="en-US" altLang="zh-CN" sz="2500" dirty="0">
                <a:latin typeface="Times New Roman" panose="02020603050405020304" charset="0"/>
                <a:cs typeface="Times New Roman" panose="02020603050405020304" charset="0"/>
                <a:sym typeface="+mn-ea"/>
              </a:rPr>
              <a:t>Use encyclopedias for background and references</a:t>
            </a:r>
          </a:p>
          <a:p>
            <a:pPr fontAlgn="auto">
              <a:lnSpc>
                <a:spcPct val="150000"/>
              </a:lnSpc>
              <a:spcBef>
                <a:spcPts val="0"/>
              </a:spcBef>
              <a:buNone/>
            </a:pPr>
            <a:r>
              <a:rPr lang="en-US" altLang="zh-CN" sz="2500" dirty="0">
                <a:latin typeface="Times New Roman" panose="02020603050405020304" charset="0"/>
                <a:cs typeface="Times New Roman" panose="02020603050405020304" charset="0"/>
                <a:sym typeface="+mn-ea"/>
              </a:rPr>
              <a:t>Explore biographical sources, yearbooks, atlases, gazettes</a:t>
            </a:r>
          </a:p>
          <a:p>
            <a:pPr fontAlgn="auto">
              <a:lnSpc>
                <a:spcPct val="150000"/>
              </a:lnSpc>
              <a:spcBef>
                <a:spcPts val="0"/>
              </a:spcBef>
              <a:buNone/>
            </a:pPr>
            <a:r>
              <a:rPr lang="en-US" altLang="zh-CN" sz="2400" dirty="0">
                <a:latin typeface="Times New Roman" panose="02020603050405020304" charset="0"/>
                <a:cs typeface="Times New Roman" panose="02020603050405020304" charset="0"/>
                <a:sym typeface="+mn-ea"/>
              </a:rPr>
              <a:t>Online Databases</a:t>
            </a:r>
            <a:endParaRPr lang="en-US" altLang="zh-CN" sz="2400" dirty="0">
              <a:latin typeface="Times New Roman" panose="02020603050405020304" charset="0"/>
              <a:cs typeface="Times New Roman" panose="02020603050405020304" charset="0"/>
            </a:endParaRPr>
          </a:p>
          <a:p>
            <a:pPr fontAlgn="auto">
              <a:lnSpc>
                <a:spcPct val="150000"/>
              </a:lnSpc>
              <a:spcBef>
                <a:spcPts val="0"/>
              </a:spcBef>
              <a:buNone/>
            </a:pPr>
            <a:endParaRPr lang="en-US" altLang="zh-CN" sz="2400"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国家统计局</a:t>
            </a:r>
            <a:r>
              <a:rPr lang="en-US" altLang="zh-CN" sz="2400" b="1" kern="1200">
                <a:latin typeface="+mj-lt"/>
                <a:ea typeface="+mj-ea"/>
                <a:cs typeface="+mj-cs"/>
              </a:rPr>
              <a:t>http://www.stats.gov.cn/</a:t>
            </a:r>
            <a:endParaRPr lang="zh-CN" altLang="en-US" sz="2400" kern="1200">
              <a:latin typeface="+mj-lt"/>
              <a:ea typeface="+mj-ea"/>
              <a:cs typeface="+mj-cs"/>
            </a:endParaRPr>
          </a:p>
        </p:txBody>
      </p:sp>
      <p:pic>
        <p:nvPicPr>
          <p:cNvPr id="16386" name="内容占位符 3" descr="640_003.jpg"/>
          <p:cNvPicPr>
            <a:picLocks noGrp="1" noChangeAspect="1"/>
          </p:cNvPicPr>
          <p:nvPr>
            <p:ph idx="1"/>
          </p:nvPr>
        </p:nvPicPr>
        <p:blipFill>
          <a:blip r:embed="rId2"/>
          <a:srcRect/>
          <a:stretch>
            <a:fillRect/>
          </a:stretch>
        </p:blipFill>
        <p:spPr>
          <a:xfrm>
            <a:off x="2514600" y="1981200"/>
            <a:ext cx="6705600" cy="4038600"/>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vert="horz" wrap="square" lIns="45720" tIns="45720" rIns="45720" bIns="45720" anchor="ctr" anchorCtr="0"/>
          <a:lstStyle/>
          <a:p>
            <a:r>
              <a:rPr lang="zh-CN" altLang="en-US" sz="2400" b="1" kern="1200">
                <a:latin typeface="+mj-lt"/>
                <a:ea typeface="+mj-ea"/>
                <a:cs typeface="+mj-cs"/>
              </a:rPr>
              <a:t>国家数据  </a:t>
            </a:r>
            <a:r>
              <a:rPr lang="en-US" altLang="zh-CN" sz="2400" b="1" kern="1200">
                <a:latin typeface="+mj-lt"/>
                <a:ea typeface="+mj-ea"/>
                <a:cs typeface="+mj-cs"/>
              </a:rPr>
              <a:t>http://data.stats.gov.cn/index.htm</a:t>
            </a:r>
            <a:endParaRPr lang="zh-CN" altLang="en-US" sz="2400" kern="1200">
              <a:latin typeface="+mj-lt"/>
              <a:ea typeface="+mj-ea"/>
              <a:cs typeface="+mj-cs"/>
            </a:endParaRPr>
          </a:p>
        </p:txBody>
      </p:sp>
      <p:pic>
        <p:nvPicPr>
          <p:cNvPr id="17410" name="内容占位符 3" descr="640.jpg"/>
          <p:cNvPicPr>
            <a:picLocks noGrp="1" noChangeAspect="1"/>
          </p:cNvPicPr>
          <p:nvPr>
            <p:ph idx="1"/>
          </p:nvPr>
        </p:nvPicPr>
        <p:blipFill>
          <a:blip r:embed="rId2"/>
          <a:srcRect/>
          <a:stretch>
            <a:fillRect/>
          </a:stretch>
        </p:blipFill>
        <p:spPr>
          <a:xfrm>
            <a:off x="2667000" y="2233613"/>
            <a:ext cx="6096000" cy="3257550"/>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万德  </a:t>
            </a:r>
            <a:r>
              <a:rPr lang="en-US" altLang="zh-CN" sz="2400" b="1" kern="1200">
                <a:latin typeface="+mj-lt"/>
                <a:ea typeface="+mj-ea"/>
                <a:cs typeface="+mj-cs"/>
              </a:rPr>
              <a:t>http://www.wind.com.cn/</a:t>
            </a:r>
            <a:endParaRPr lang="zh-CN" altLang="en-US" sz="2400" kern="1200">
              <a:latin typeface="+mj-lt"/>
              <a:ea typeface="+mj-ea"/>
              <a:cs typeface="+mj-cs"/>
            </a:endParaRPr>
          </a:p>
        </p:txBody>
      </p:sp>
      <p:pic>
        <p:nvPicPr>
          <p:cNvPr id="18434" name="内容占位符 3" descr="640_004.jpg"/>
          <p:cNvPicPr>
            <a:picLocks noGrp="1" noChangeAspect="1"/>
          </p:cNvPicPr>
          <p:nvPr>
            <p:ph idx="1"/>
          </p:nvPr>
        </p:nvPicPr>
        <p:blipFill>
          <a:blip r:embed="rId2"/>
          <a:srcRect/>
          <a:stretch>
            <a:fillRect/>
          </a:stretch>
        </p:blipFill>
        <p:spPr>
          <a:xfrm>
            <a:off x="2438400" y="1905000"/>
            <a:ext cx="6858000" cy="3581400"/>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搜数网 </a:t>
            </a:r>
            <a:r>
              <a:rPr lang="en-US" altLang="zh-CN" sz="2400" b="1" kern="1200">
                <a:latin typeface="+mj-lt"/>
                <a:ea typeface="+mj-ea"/>
                <a:cs typeface="+mj-cs"/>
              </a:rPr>
              <a:t>http://www.soshoo.com/</a:t>
            </a:r>
            <a:endParaRPr lang="zh-CN" altLang="en-US" sz="2400" kern="1200">
              <a:latin typeface="+mj-lt"/>
              <a:ea typeface="+mj-ea"/>
              <a:cs typeface="+mj-cs"/>
            </a:endParaRPr>
          </a:p>
        </p:txBody>
      </p:sp>
      <p:pic>
        <p:nvPicPr>
          <p:cNvPr id="19458" name="内容占位符 3" descr="640_003.jpg"/>
          <p:cNvPicPr>
            <a:picLocks noGrp="1" noChangeAspect="1"/>
          </p:cNvPicPr>
          <p:nvPr>
            <p:ph idx="1"/>
          </p:nvPr>
        </p:nvPicPr>
        <p:blipFill>
          <a:blip r:embed="rId2"/>
          <a:srcRect/>
          <a:stretch>
            <a:fillRect/>
          </a:stretch>
        </p:blipFill>
        <p:spPr>
          <a:xfrm>
            <a:off x="2819400" y="1676400"/>
            <a:ext cx="6781800" cy="4191000"/>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中国统计信息网    </a:t>
            </a:r>
            <a:r>
              <a:rPr lang="en-US" altLang="zh-CN" sz="2400" b="1" kern="1200">
                <a:latin typeface="+mj-lt"/>
                <a:ea typeface="+mj-ea"/>
                <a:cs typeface="+mj-cs"/>
              </a:rPr>
              <a:t>http://www.tjcn.org/</a:t>
            </a:r>
            <a:endParaRPr lang="zh-CN" altLang="en-US" sz="2400" kern="1200">
              <a:latin typeface="+mj-lt"/>
              <a:ea typeface="+mj-ea"/>
              <a:cs typeface="+mj-cs"/>
            </a:endParaRPr>
          </a:p>
        </p:txBody>
      </p:sp>
      <p:pic>
        <p:nvPicPr>
          <p:cNvPr id="20482" name="内容占位符 5" descr="640_007.jpg"/>
          <p:cNvPicPr>
            <a:picLocks noGrp="1" noChangeAspect="1"/>
          </p:cNvPicPr>
          <p:nvPr>
            <p:ph idx="1"/>
          </p:nvPr>
        </p:nvPicPr>
        <p:blipFill>
          <a:blip r:embed="rId2"/>
          <a:srcRect/>
          <a:stretch>
            <a:fillRect/>
          </a:stretch>
        </p:blipFill>
        <p:spPr>
          <a:xfrm>
            <a:off x="2667000" y="1600200"/>
            <a:ext cx="6553200" cy="3733800"/>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万方数据库</a:t>
            </a:r>
          </a:p>
        </p:txBody>
      </p:sp>
      <p:pic>
        <p:nvPicPr>
          <p:cNvPr id="21506" name="内容占位符 3" descr="640_002.jpg"/>
          <p:cNvPicPr>
            <a:picLocks noGrp="1" noChangeAspect="1"/>
          </p:cNvPicPr>
          <p:nvPr>
            <p:ph idx="1"/>
          </p:nvPr>
        </p:nvPicPr>
        <p:blipFill>
          <a:blip r:embed="rId2"/>
          <a:srcRect/>
          <a:stretch>
            <a:fillRect/>
          </a:stretch>
        </p:blipFill>
        <p:spPr>
          <a:xfrm>
            <a:off x="2667000" y="1600200"/>
            <a:ext cx="7162800" cy="3659188"/>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人大复印</a:t>
            </a:r>
          </a:p>
        </p:txBody>
      </p:sp>
      <p:pic>
        <p:nvPicPr>
          <p:cNvPr id="22530" name="内容占位符 4" descr="640_013.jpg"/>
          <p:cNvPicPr>
            <a:picLocks noGrp="1" noChangeAspect="1"/>
          </p:cNvPicPr>
          <p:nvPr>
            <p:ph idx="1"/>
          </p:nvPr>
        </p:nvPicPr>
        <p:blipFill>
          <a:blip r:embed="rId2"/>
          <a:srcRect/>
          <a:stretch>
            <a:fillRect/>
          </a:stretch>
        </p:blipFill>
        <p:spPr>
          <a:xfrm>
            <a:off x="2667000" y="1219200"/>
            <a:ext cx="7086600" cy="4138613"/>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维普</a:t>
            </a:r>
          </a:p>
        </p:txBody>
      </p:sp>
      <p:pic>
        <p:nvPicPr>
          <p:cNvPr id="23554" name="内容占位符 5" descr="640_018.jpg"/>
          <p:cNvPicPr>
            <a:picLocks noGrp="1" noChangeAspect="1"/>
          </p:cNvPicPr>
          <p:nvPr>
            <p:ph idx="1"/>
          </p:nvPr>
        </p:nvPicPr>
        <p:blipFill>
          <a:blip r:embed="rId2"/>
          <a:srcRect/>
          <a:stretch>
            <a:fillRect/>
          </a:stretch>
        </p:blipFill>
        <p:spPr>
          <a:xfrm>
            <a:off x="1981200" y="1447800"/>
            <a:ext cx="7696200" cy="4014788"/>
          </a:xfr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p:txBody>
          <a:bodyPr vert="horz" wrap="square" lIns="45720" tIns="45720" rIns="45720" bIns="45720" anchor="ctr" anchorCtr="0"/>
          <a:lstStyle/>
          <a:p>
            <a:r>
              <a:rPr lang="zh-CN" altLang="en-US" sz="2400" kern="1200">
                <a:latin typeface="+mj-lt"/>
                <a:ea typeface="+mj-ea"/>
                <a:cs typeface="+mj-cs"/>
              </a:rPr>
              <a:t>微软学术搜索</a:t>
            </a:r>
            <a:r>
              <a:rPr lang="en-US" altLang="zh-CN" sz="2400" kern="1200">
                <a:latin typeface="+mj-lt"/>
                <a:ea typeface="+mj-ea"/>
                <a:cs typeface="+mj-cs"/>
              </a:rPr>
              <a:t>http://academic.research.microsoft.com/</a:t>
            </a:r>
            <a:endParaRPr lang="zh-CN" altLang="en-US" sz="2400" kern="1200">
              <a:latin typeface="+mj-lt"/>
              <a:ea typeface="+mj-ea"/>
              <a:cs typeface="+mj-cs"/>
            </a:endParaRPr>
          </a:p>
        </p:txBody>
      </p:sp>
      <p:pic>
        <p:nvPicPr>
          <p:cNvPr id="24578" name="内容占位符 4" descr="640_017.jpg"/>
          <p:cNvPicPr>
            <a:picLocks noGrp="1" noChangeAspect="1"/>
          </p:cNvPicPr>
          <p:nvPr>
            <p:ph idx="1"/>
          </p:nvPr>
        </p:nvPicPr>
        <p:blipFill>
          <a:blip r:embed="rId2"/>
          <a:srcRect/>
          <a:stretch>
            <a:fillRect/>
          </a:stretch>
        </p:blipFill>
        <p:spPr>
          <a:xfrm>
            <a:off x="2438400" y="1447800"/>
            <a:ext cx="7315200" cy="2316163"/>
          </a:xfrm>
        </p:spPr>
      </p:pic>
      <p:pic>
        <p:nvPicPr>
          <p:cNvPr id="24579" name="图片 5" descr="640_016.jpg"/>
          <p:cNvPicPr>
            <a:picLocks noChangeAspect="1"/>
          </p:cNvPicPr>
          <p:nvPr/>
        </p:nvPicPr>
        <p:blipFill>
          <a:blip r:embed="rId3"/>
          <a:stretch>
            <a:fillRect/>
          </a:stretch>
        </p:blipFill>
        <p:spPr>
          <a:xfrm>
            <a:off x="2438400" y="3733800"/>
            <a:ext cx="7315200" cy="2609850"/>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p:txBody>
          <a:bodyPr vert="horz" wrap="square" lIns="45720" tIns="45720" rIns="45720" bIns="45720" anchor="ctr" anchorCtr="0">
            <a:normAutofit fontScale="90000"/>
          </a:bodyPr>
          <a:lstStyle/>
          <a:p>
            <a:br>
              <a:rPr lang="en-US" altLang="zh-CN" sz="2400" kern="1200">
                <a:latin typeface="+mj-lt"/>
                <a:ea typeface="+mj-ea"/>
                <a:cs typeface="+mj-cs"/>
              </a:rPr>
            </a:br>
            <a:br>
              <a:rPr lang="en-US" altLang="zh-CN" sz="2400" kern="1200">
                <a:latin typeface="+mj-lt"/>
                <a:ea typeface="+mj-ea"/>
                <a:cs typeface="+mj-cs"/>
              </a:rPr>
            </a:br>
            <a:br>
              <a:rPr lang="en-US" altLang="zh-CN" sz="2400" kern="1200">
                <a:latin typeface="+mj-lt"/>
                <a:ea typeface="+mj-ea"/>
                <a:cs typeface="+mj-cs"/>
              </a:rPr>
            </a:br>
            <a:r>
              <a:rPr lang="zh-CN" altLang="en-US" sz="2400" kern="1200">
                <a:latin typeface="+mj-lt"/>
                <a:ea typeface="+mj-ea"/>
                <a:cs typeface="+mj-cs"/>
              </a:rPr>
              <a:t>德国</a:t>
            </a:r>
            <a:r>
              <a:rPr lang="en-US" altLang="zh-CN" sz="2400" kern="1200">
                <a:latin typeface="+mj-lt"/>
                <a:ea typeface="+mj-ea"/>
                <a:cs typeface="+mj-cs"/>
              </a:rPr>
              <a:t>base</a:t>
            </a:r>
            <a:r>
              <a:rPr lang="zh-CN" altLang="en-US" sz="2400" kern="1200">
                <a:latin typeface="+mj-lt"/>
                <a:ea typeface="+mj-ea"/>
                <a:cs typeface="+mj-cs"/>
              </a:rPr>
              <a:t>学术搜索</a:t>
            </a:r>
            <a:r>
              <a:rPr lang="en-US" altLang="zh-CN" sz="2400" kern="1200">
                <a:latin typeface="+mj-lt"/>
                <a:ea typeface="+mj-ea"/>
                <a:cs typeface="+mj-cs"/>
              </a:rPr>
              <a:t>http://www.base-search.net/</a:t>
            </a:r>
            <a:br>
              <a:rPr lang="en-US" altLang="zh-CN" sz="2400" kern="1200">
                <a:latin typeface="+mj-lt"/>
                <a:ea typeface="+mj-ea"/>
                <a:cs typeface="+mj-cs"/>
              </a:rPr>
            </a:br>
            <a:br>
              <a:rPr lang="en-US" altLang="zh-CN" sz="2400" kern="1200">
                <a:latin typeface="+mj-lt"/>
                <a:ea typeface="+mj-ea"/>
                <a:cs typeface="+mj-cs"/>
              </a:rPr>
            </a:br>
            <a:br>
              <a:rPr lang="en-US" altLang="zh-CN" sz="2400" kern="1200">
                <a:latin typeface="+mj-lt"/>
                <a:ea typeface="+mj-ea"/>
                <a:cs typeface="+mj-cs"/>
              </a:rPr>
            </a:br>
            <a:endParaRPr lang="zh-CN" altLang="en-US" sz="2400" kern="1200">
              <a:latin typeface="+mj-lt"/>
              <a:ea typeface="+mj-ea"/>
              <a:cs typeface="+mj-cs"/>
            </a:endParaRPr>
          </a:p>
        </p:txBody>
      </p:sp>
      <p:pic>
        <p:nvPicPr>
          <p:cNvPr id="25602" name="内容占位符 5" descr="640_011.jpg"/>
          <p:cNvPicPr>
            <a:picLocks noGrp="1" noChangeAspect="1"/>
          </p:cNvPicPr>
          <p:nvPr>
            <p:ph idx="1"/>
          </p:nvPr>
        </p:nvPicPr>
        <p:blipFill>
          <a:blip r:embed="rId2"/>
          <a:srcRect/>
          <a:stretch>
            <a:fillRect/>
          </a:stretch>
        </p:blipFill>
        <p:spPr>
          <a:xfrm>
            <a:off x="2667000" y="1981200"/>
            <a:ext cx="6781800" cy="3505200"/>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560352"/>
            <a:ext cx="10515600" cy="4616611"/>
          </a:xfrm>
          <a:ln w="38100">
            <a:solidFill>
              <a:schemeClr val="accent2">
                <a:lumMod val="75000"/>
              </a:schemeClr>
            </a:solidFill>
            <a:prstDash val="sysDash"/>
          </a:ln>
        </p:spPr>
        <p:txBody>
          <a:bodyPr>
            <a:normAutofit fontScale="97500"/>
          </a:bodyPr>
          <a:lstStyle/>
          <a:p>
            <a:pPr marL="0" indent="0" eaLnBrk="1" hangingPunct="1">
              <a:lnSpc>
                <a:spcPct val="90000"/>
              </a:lnSpc>
              <a:buNone/>
            </a:pPr>
            <a:r>
              <a:rPr lang="en-US" altLang="zh-CN" sz="2900" b="1" dirty="0">
                <a:latin typeface="Times New Roman" panose="02020603050405020304" charset="0"/>
                <a:cs typeface="Times New Roman" panose="02020603050405020304" charset="0"/>
                <a:sym typeface="+mn-ea"/>
              </a:rPr>
              <a:t>2.3 Evaluating your references</a:t>
            </a:r>
            <a:endParaRPr lang="en-US" altLang="zh-CN" sz="2900" b="1" dirty="0">
              <a:latin typeface="Times New Roman" panose="02020603050405020304" charset="0"/>
              <a:cs typeface="Times New Roman" panose="02020603050405020304" charset="0"/>
            </a:endParaRPr>
          </a:p>
          <a:p>
            <a:pPr marL="36195" indent="457200" fontAlgn="auto">
              <a:lnSpc>
                <a:spcPct val="150000"/>
              </a:lnSpc>
              <a:buNone/>
            </a:pPr>
            <a:r>
              <a:rPr lang="en-US" altLang="zh-CN" sz="2900" dirty="0">
                <a:latin typeface="Times New Roman" panose="02020603050405020304" charset="0"/>
                <a:cs typeface="Times New Roman" panose="02020603050405020304" charset="0"/>
                <a:sym typeface="+mn-ea"/>
              </a:rPr>
              <a:t>Always use the most recent version of a source</a:t>
            </a:r>
            <a:endParaRPr lang="en-US" altLang="zh-CN" sz="2900" dirty="0">
              <a:latin typeface="Times New Roman" panose="02020603050405020304" charset="0"/>
              <a:cs typeface="Times New Roman" panose="02020603050405020304" charset="0"/>
            </a:endParaRPr>
          </a:p>
          <a:p>
            <a:pPr marL="36195" indent="457200" fontAlgn="auto">
              <a:lnSpc>
                <a:spcPct val="150000"/>
              </a:lnSpc>
              <a:buNone/>
            </a:pPr>
            <a:r>
              <a:rPr lang="en-US" altLang="zh-CN" sz="2900" dirty="0">
                <a:latin typeface="Times New Roman" panose="02020603050405020304" charset="0"/>
                <a:cs typeface="Times New Roman" panose="02020603050405020304" charset="0"/>
                <a:sym typeface="+mn-ea"/>
              </a:rPr>
              <a:t>Compare what different sources are saying</a:t>
            </a:r>
          </a:p>
          <a:p>
            <a:pPr marL="36195" indent="457200" fontAlgn="auto">
              <a:lnSpc>
                <a:spcPct val="150000"/>
              </a:lnSpc>
              <a:buNone/>
            </a:pPr>
            <a:r>
              <a:rPr lang="en-US" altLang="zh-CN" sz="2900" dirty="0">
                <a:latin typeface="Times New Roman" panose="02020603050405020304" charset="0"/>
                <a:cs typeface="Times New Roman" panose="02020603050405020304" charset="0"/>
                <a:sym typeface="+mn-ea"/>
              </a:rPr>
              <a:t>Consider where the author has acquired his information</a:t>
            </a:r>
          </a:p>
          <a:p>
            <a:pPr marL="36195" indent="457200" fontAlgn="auto">
              <a:lnSpc>
                <a:spcPct val="150000"/>
              </a:lnSpc>
              <a:buNone/>
            </a:pPr>
            <a:r>
              <a:rPr lang="en-US" altLang="zh-CN" sz="2900" dirty="0">
                <a:latin typeface="Times New Roman" panose="02020603050405020304" charset="0"/>
                <a:cs typeface="Times New Roman" panose="02020603050405020304" charset="0"/>
                <a:sym typeface="+mn-ea"/>
              </a:rPr>
              <a:t>Check the author’s biography</a:t>
            </a:r>
          </a:p>
          <a:p>
            <a:pPr marL="36195" indent="457200" fontAlgn="auto">
              <a:lnSpc>
                <a:spcPct val="150000"/>
              </a:lnSpc>
              <a:buNone/>
            </a:pPr>
            <a:r>
              <a:rPr lang="en-US" altLang="zh-CN" sz="2900" dirty="0">
                <a:latin typeface="Times New Roman" panose="02020603050405020304" charset="0"/>
                <a:cs typeface="Times New Roman" panose="02020603050405020304" charset="0"/>
                <a:sym typeface="+mn-ea"/>
              </a:rPr>
              <a:t>Check a source’s facts and figures</a:t>
            </a:r>
            <a:endParaRPr lang="en-US" altLang="zh-CN" sz="2900" dirty="0">
              <a:latin typeface="Times New Roman" panose="02020603050405020304" charset="0"/>
              <a:cs typeface="Times New Roman" panose="02020603050405020304" charset="0"/>
            </a:endParaRPr>
          </a:p>
          <a:p>
            <a:pPr marL="0" indent="0" fontAlgn="auto">
              <a:lnSpc>
                <a:spcPct val="150000"/>
              </a:lnSpc>
              <a:buNone/>
            </a:pPr>
            <a:endParaRPr lang="en-US" altLang="zh-CN" sz="4400"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lumMod val="75000"/>
              </a:schemeClr>
            </a:solidFill>
            <a:prstDash val="sysDash"/>
          </a:ln>
        </p:spPr>
        <p:txBody>
          <a:bodyPr>
            <a:noAutofit/>
          </a:bodyPr>
          <a:lstStyle/>
          <a:p>
            <a:pPr>
              <a:buNone/>
            </a:pPr>
            <a:r>
              <a:rPr lang="en-US" altLang="zh-CN" sz="2700" b="1" dirty="0">
                <a:latin typeface="Times New Roman" panose="02020603050405020304" charset="0"/>
                <a:cs typeface="Times New Roman" panose="02020603050405020304" charset="0"/>
                <a:sym typeface="+mn-ea"/>
              </a:rPr>
              <a:t>2.4 Four Methods of Data Collection</a:t>
            </a:r>
          </a:p>
          <a:p>
            <a:pPr eaLnBrk="1" hangingPunct="1">
              <a:buNone/>
            </a:pPr>
            <a:r>
              <a:rPr lang="en-US" altLang="zh-CN" sz="2700" b="1" dirty="0">
                <a:latin typeface="Times New Roman" panose="02020603050405020304" charset="0"/>
                <a:cs typeface="Times New Roman" panose="02020603050405020304" charset="0"/>
                <a:sym typeface="+mn-ea"/>
              </a:rPr>
              <a:t>Census:</a:t>
            </a:r>
            <a:r>
              <a:rPr lang="en-US" altLang="zh-CN" sz="2700" dirty="0">
                <a:latin typeface="Times New Roman" panose="02020603050405020304" charset="0"/>
                <a:cs typeface="Times New Roman" panose="02020603050405020304" charset="0"/>
                <a:sym typeface="+mn-ea"/>
              </a:rPr>
              <a:t> a study that obtains data from every member of a population.( not  </a:t>
            </a:r>
          </a:p>
          <a:p>
            <a:pPr eaLnBrk="1" hangingPunct="1">
              <a:buNone/>
            </a:pPr>
            <a:r>
              <a:rPr lang="en-US" altLang="zh-CN" sz="2700" dirty="0">
                <a:latin typeface="Times New Roman" panose="02020603050405020304" charset="0"/>
                <a:cs typeface="Times New Roman" panose="02020603050405020304" charset="0"/>
                <a:sym typeface="+mn-ea"/>
              </a:rPr>
              <a:t>    practical)</a:t>
            </a:r>
            <a:endParaRPr lang="en-US" altLang="zh-CN" sz="2700" dirty="0">
              <a:latin typeface="Times New Roman" panose="02020603050405020304" charset="0"/>
              <a:cs typeface="Times New Roman" panose="02020603050405020304" charset="0"/>
            </a:endParaRPr>
          </a:p>
          <a:p>
            <a:pPr eaLnBrk="1" hangingPunct="1">
              <a:buNone/>
            </a:pPr>
            <a:r>
              <a:rPr lang="en-US" altLang="zh-CN" sz="2700" b="1" dirty="0">
                <a:latin typeface="Times New Roman" panose="02020603050405020304" charset="0"/>
                <a:cs typeface="Times New Roman" panose="02020603050405020304" charset="0"/>
                <a:sym typeface="+mn-ea"/>
              </a:rPr>
              <a:t>Sample survey:</a:t>
            </a:r>
            <a:r>
              <a:rPr lang="en-US" altLang="zh-CN" sz="2700" dirty="0">
                <a:latin typeface="Times New Roman" panose="02020603050405020304" charset="0"/>
                <a:cs typeface="Times New Roman" panose="02020603050405020304" charset="0"/>
                <a:sym typeface="+mn-ea"/>
              </a:rPr>
              <a:t> a study that obtains data from a subset of a population.</a:t>
            </a:r>
            <a:endParaRPr lang="en-US" altLang="zh-CN" sz="2700" dirty="0">
              <a:latin typeface="Times New Roman" panose="02020603050405020304" charset="0"/>
              <a:cs typeface="Times New Roman" panose="02020603050405020304" charset="0"/>
            </a:endParaRPr>
          </a:p>
          <a:p>
            <a:pPr eaLnBrk="1" hangingPunct="1">
              <a:buNone/>
            </a:pPr>
            <a:r>
              <a:rPr lang="en-US" altLang="zh-CN" sz="2700" b="1" dirty="0">
                <a:latin typeface="Times New Roman" panose="02020603050405020304" charset="0"/>
                <a:cs typeface="Times New Roman" panose="02020603050405020304" charset="0"/>
                <a:sym typeface="+mn-ea"/>
              </a:rPr>
              <a:t>Experiment:</a:t>
            </a:r>
            <a:r>
              <a:rPr lang="en-US" altLang="zh-CN" sz="2700" dirty="0">
                <a:latin typeface="Times New Roman" panose="02020603050405020304" charset="0"/>
                <a:cs typeface="Times New Roman" panose="02020603050405020304" charset="0"/>
                <a:sym typeface="+mn-ea"/>
              </a:rPr>
              <a:t> a controlled study to understand cause-and-effect    </a:t>
            </a:r>
          </a:p>
          <a:p>
            <a:pPr eaLnBrk="1" hangingPunct="1">
              <a:buNone/>
            </a:pPr>
            <a:r>
              <a:rPr lang="en-US" altLang="zh-CN" sz="2700" dirty="0">
                <a:latin typeface="Times New Roman" panose="02020603050405020304" charset="0"/>
                <a:cs typeface="Times New Roman" panose="02020603050405020304" charset="0"/>
                <a:sym typeface="+mn-ea"/>
              </a:rPr>
              <a:t>    relationships.</a:t>
            </a:r>
            <a:endParaRPr lang="en-US" altLang="zh-CN" sz="2700" dirty="0">
              <a:latin typeface="Times New Roman" panose="02020603050405020304" charset="0"/>
              <a:cs typeface="Times New Roman" panose="02020603050405020304" charset="0"/>
            </a:endParaRPr>
          </a:p>
          <a:p>
            <a:pPr marL="36195" indent="0">
              <a:buNone/>
            </a:pPr>
            <a:r>
              <a:rPr lang="en-US" altLang="zh-CN" sz="2700" b="1" dirty="0">
                <a:latin typeface="Times New Roman" panose="02020603050405020304" charset="0"/>
                <a:cs typeface="Times New Roman" panose="02020603050405020304" charset="0"/>
                <a:sym typeface="+mn-ea"/>
              </a:rPr>
              <a:t>Observational study:</a:t>
            </a:r>
            <a:r>
              <a:rPr lang="en-US" altLang="zh-CN" sz="2700" dirty="0">
                <a:latin typeface="Times New Roman" panose="02020603050405020304" charset="0"/>
                <a:cs typeface="Times New Roman" panose="02020603050405020304" charset="0"/>
                <a:sym typeface="+mn-ea"/>
              </a:rPr>
              <a:t> to understand cause-and-effect relationships but </a:t>
            </a:r>
          </a:p>
          <a:p>
            <a:pPr marL="36195" indent="0">
              <a:buNone/>
            </a:pPr>
            <a:r>
              <a:rPr lang="en-US" altLang="zh-CN" sz="2700" dirty="0">
                <a:latin typeface="Times New Roman" panose="02020603050405020304" charset="0"/>
                <a:cs typeface="Times New Roman" panose="02020603050405020304" charset="0"/>
                <a:sym typeface="+mn-ea"/>
              </a:rPr>
              <a:t>    you can not control the experiments.</a:t>
            </a:r>
            <a:endParaRPr lang="zh-CN" altLang="en-US" sz="2700" dirty="0">
              <a:latin typeface="Times New Roman" panose="02020603050405020304" charset="0"/>
              <a:cs typeface="Times New Roman" panose="02020603050405020304" charset="0"/>
            </a:endParaRPr>
          </a:p>
          <a:p>
            <a:pPr marL="0" indent="0" fontAlgn="auto">
              <a:lnSpc>
                <a:spcPct val="150000"/>
              </a:lnSpc>
              <a:buNone/>
            </a:pPr>
            <a:r>
              <a:rPr lang="en-US" altLang="zh-CN" sz="27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a:bodyPr>
          <a:lstStyle/>
          <a:p>
            <a:pPr marL="0" indent="0" fontAlgn="auto">
              <a:lnSpc>
                <a:spcPct val="200000"/>
              </a:lnSpc>
              <a:spcBef>
                <a:spcPts val="0"/>
              </a:spcBef>
              <a:buClr>
                <a:srgbClr val="92D050"/>
              </a:buClr>
              <a:buFont typeface="Wingdings" panose="05000000000000000000" charset="0"/>
              <a:buNone/>
            </a:pPr>
            <a:r>
              <a:rPr lang="en-US" altLang="zh-CN" b="1" dirty="0">
                <a:latin typeface="Times New Roman" panose="02020603050405020304" charset="0"/>
                <a:cs typeface="Times New Roman" panose="02020603050405020304" charset="0"/>
                <a:sym typeface="+mn-ea"/>
              </a:rPr>
              <a:t>2.5 Take Notes</a:t>
            </a:r>
            <a:r>
              <a:rPr lang="en-US" altLang="zh-CN" sz="2400" b="1" dirty="0">
                <a:latin typeface="Times New Roman" panose="02020603050405020304" charset="0"/>
                <a:cs typeface="Times New Roman" panose="02020603050405020304" charset="0"/>
                <a:sym typeface="+mn-ea"/>
              </a:rPr>
              <a:t> </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sym typeface="+mn-ea"/>
              </a:rPr>
              <a:t>(1) What to write down?</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(2) Specific tips to avoid plagiarism</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a:bodyPr>
          <a:lstStyle/>
          <a:p>
            <a:pPr marL="0" indent="0" fontAlgn="auto">
              <a:lnSpc>
                <a:spcPct val="200000"/>
              </a:lnSpc>
              <a:spcBef>
                <a:spcPts val="0"/>
              </a:spcBef>
              <a:buClr>
                <a:srgbClr val="92D050"/>
              </a:buClr>
              <a:buFont typeface="Wingdings" panose="05000000000000000000" charset="0"/>
              <a:buNone/>
            </a:pPr>
            <a:r>
              <a:rPr lang="en-US" sz="2400" b="1" dirty="0">
                <a:latin typeface="Times New Roman" panose="02020603050405020304" charset="0"/>
                <a:cs typeface="Times New Roman" panose="02020603050405020304" charset="0"/>
                <a:sym typeface="+mn-ea"/>
              </a:rPr>
              <a:t>(1) What to write down?</a:t>
            </a:r>
          </a:p>
          <a:p>
            <a:pPr fontAlgn="auto">
              <a:lnSpc>
                <a:spcPct val="200000"/>
              </a:lnSpc>
              <a:spcBef>
                <a:spcPts val="0"/>
              </a:spcBef>
              <a:buClr>
                <a:srgbClr val="ED7D31"/>
              </a:buClr>
              <a:buFont typeface="Wingdings" panose="05000000000000000000" charset="0"/>
              <a:buChar char="l"/>
            </a:pPr>
            <a:r>
              <a:rPr lang="en-US" sz="2200" dirty="0">
                <a:latin typeface="Times New Roman" panose="02020603050405020304" charset="0"/>
                <a:cs typeface="Times New Roman" panose="02020603050405020304" charset="0"/>
              </a:rPr>
              <a:t>Anything and everything that will flesh out the thesis statement or research question.</a:t>
            </a:r>
          </a:p>
          <a:p>
            <a:pPr fontAlgn="auto">
              <a:lnSpc>
                <a:spcPct val="200000"/>
              </a:lnSpc>
              <a:spcBef>
                <a:spcPts val="0"/>
              </a:spcBef>
              <a:buClr>
                <a:srgbClr val="ED7D31"/>
              </a:buClr>
              <a:buFont typeface="Wingdings" panose="05000000000000000000" charset="0"/>
              <a:buChar char="l"/>
            </a:pPr>
            <a:r>
              <a:rPr lang="en-US" sz="2200" dirty="0">
                <a:latin typeface="Times New Roman" panose="02020603050405020304" charset="0"/>
                <a:cs typeface="Times New Roman" panose="02020603050405020304" charset="0"/>
              </a:rPr>
              <a:t>Duplicating facts: these may be needed later for the defense of thesis.</a:t>
            </a:r>
          </a:p>
          <a:p>
            <a:pPr fontAlgn="auto">
              <a:lnSpc>
                <a:spcPct val="200000"/>
              </a:lnSpc>
              <a:spcBef>
                <a:spcPts val="0"/>
              </a:spcBef>
              <a:buClr>
                <a:srgbClr val="ED7D31"/>
              </a:buClr>
              <a:buFont typeface="Wingdings" panose="05000000000000000000" charset="0"/>
              <a:buChar char="l"/>
            </a:pPr>
            <a:r>
              <a:rPr lang="en-US" sz="2200" dirty="0">
                <a:latin typeface="Times New Roman" panose="02020603050405020304" charset="0"/>
                <a:cs typeface="Times New Roman" panose="02020603050405020304" charset="0"/>
              </a:rPr>
              <a:t>Contradictory information: acknowledging an opposing viewpoint that is easily</a:t>
            </a:r>
          </a:p>
          <a:p>
            <a:pPr marL="0" indent="0" fontAlgn="auto">
              <a:lnSpc>
                <a:spcPct val="200000"/>
              </a:lnSpc>
              <a:spcBef>
                <a:spcPts val="0"/>
              </a:spcBef>
              <a:buClr>
                <a:srgbClr val="92D050"/>
              </a:buClr>
              <a:buFont typeface="Wingdings" panose="05000000000000000000" charset="0"/>
              <a:buNone/>
            </a:pPr>
            <a:r>
              <a:rPr lang="en-US" sz="2200" dirty="0">
                <a:latin typeface="Times New Roman" panose="02020603050405020304" charset="0"/>
                <a:cs typeface="Times New Roman" panose="02020603050405020304" charset="0"/>
              </a:rPr>
              <a:t>   disproved by its counterpoint is always a good rhetorical tool.</a:t>
            </a:r>
          </a:p>
          <a:p>
            <a:pPr fontAlgn="auto">
              <a:lnSpc>
                <a:spcPct val="200000"/>
              </a:lnSpc>
              <a:spcBef>
                <a:spcPts val="0"/>
              </a:spcBef>
              <a:buClr>
                <a:srgbClr val="ED7D31"/>
              </a:buClr>
              <a:buFont typeface="Wingdings" panose="05000000000000000000" charset="0"/>
              <a:buChar char="l"/>
            </a:pPr>
            <a:r>
              <a:rPr lang="en-US" sz="2200" dirty="0">
                <a:latin typeface="Times New Roman" panose="02020603050405020304" charset="0"/>
                <a:cs typeface="Times New Roman" panose="02020603050405020304" charset="0"/>
                <a:sym typeface="+mn-ea"/>
              </a:rPr>
              <a:t>Notes from </a:t>
            </a:r>
            <a:r>
              <a:rPr lang="en-US" sz="2200" b="1" dirty="0">
                <a:latin typeface="Times New Roman" panose="02020603050405020304" charset="0"/>
                <a:cs typeface="Times New Roman" panose="02020603050405020304" charset="0"/>
                <a:sym typeface="+mn-ea"/>
              </a:rPr>
              <a:t>more than one or two key sources</a:t>
            </a:r>
            <a:r>
              <a:rPr lang="en-US" sz="2200" dirty="0">
                <a:latin typeface="Times New Roman" panose="02020603050405020304" charset="0"/>
                <a:cs typeface="Times New Roman" panose="02020603050405020304" charset="0"/>
                <a:sym typeface="+mn-ea"/>
              </a:rPr>
              <a:t>.</a:t>
            </a:r>
            <a:endParaRPr lang="en-US" sz="2200" dirty="0">
              <a:latin typeface="Times New Roman" panose="02020603050405020304" charset="0"/>
              <a:cs typeface="Times New Roman" panose="02020603050405020304" charset="0"/>
            </a:endParaRPr>
          </a:p>
          <a:p>
            <a:pPr marL="0" indent="0" fontAlgn="auto">
              <a:lnSpc>
                <a:spcPct val="200000"/>
              </a:lnSpc>
              <a:spcBef>
                <a:spcPts val="0"/>
              </a:spcBef>
              <a:buClr>
                <a:srgbClr val="92D050"/>
              </a:buClr>
              <a:buFont typeface="Wingdings" panose="05000000000000000000" charset="0"/>
              <a:buNone/>
            </a:pPr>
            <a:endParaRPr lang="en-US" sz="2200"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a:bodyPr>
          <a:lstStyle/>
          <a:p>
            <a:pPr fontAlgn="auto">
              <a:lnSpc>
                <a:spcPct val="150000"/>
              </a:lnSpc>
              <a:spcBef>
                <a:spcPts val="0"/>
              </a:spcBef>
              <a:buClr>
                <a:srgbClr val="ED7D31"/>
              </a:buClr>
              <a:buFont typeface="Wingdings" panose="05000000000000000000" charset="0"/>
              <a:buChar char="l"/>
            </a:pPr>
            <a:r>
              <a:rPr lang="en-US" sz="2400">
                <a:latin typeface="Times New Roman" panose="02020603050405020304" charset="0"/>
                <a:cs typeface="Times New Roman" panose="02020603050405020304" charset="0"/>
              </a:rPr>
              <a:t>A working</a:t>
            </a:r>
            <a:r>
              <a:rPr lang="en-US" sz="2400" b="1">
                <a:latin typeface="Times New Roman" panose="02020603050405020304" charset="0"/>
                <a:cs typeface="Times New Roman" panose="02020603050405020304" charset="0"/>
              </a:rPr>
              <a:t> bibliography of all the sources</a:t>
            </a:r>
            <a:r>
              <a:rPr lang="en-US" sz="2400">
                <a:latin typeface="Times New Roman" panose="02020603050405020304" charset="0"/>
                <a:cs typeface="Times New Roman" panose="02020603050405020304" charset="0"/>
              </a:rPr>
              <a:t> consulted. Before even taking notes, neatly record all the pertinent bibliographical information needed for any citation format chosen, including author, title, (editor, translator, and/or edition number if there is one) publisher, city of publication, year of publication, issue number, volume, and page numbers.</a:t>
            </a:r>
          </a:p>
          <a:p>
            <a:pPr fontAlgn="auto">
              <a:lnSpc>
                <a:spcPct val="150000"/>
              </a:lnSpc>
              <a:spcBef>
                <a:spcPts val="0"/>
              </a:spcBef>
              <a:buClr>
                <a:srgbClr val="ED7D31"/>
              </a:buClr>
              <a:buFont typeface="Wingdings" panose="05000000000000000000" charset="0"/>
              <a:buChar char="l"/>
            </a:pPr>
            <a:r>
              <a:rPr lang="en-US" sz="2400">
                <a:latin typeface="Times New Roman" panose="02020603050405020304" charset="0"/>
                <a:cs typeface="Times New Roman" panose="02020603050405020304" charset="0"/>
                <a:sym typeface="+mn-ea"/>
              </a:rPr>
              <a:t>The call number of a book, the search terms entered into any database, and any URLs (website addresses) for online information for easy re-access to a resource.</a:t>
            </a:r>
            <a:endParaRPr lang="en-US" sz="2400">
              <a:latin typeface="Times New Roman" panose="02020603050405020304" charset="0"/>
              <a:cs typeface="Times New Roman" panose="02020603050405020304" charset="0"/>
            </a:endParaRPr>
          </a:p>
          <a:p>
            <a:pPr marL="0" indent="0" fontAlgn="auto">
              <a:lnSpc>
                <a:spcPct val="150000"/>
              </a:lnSpc>
              <a:spcBef>
                <a:spcPts val="0"/>
              </a:spcBef>
              <a:buClr>
                <a:srgbClr val="ED7D31"/>
              </a:buClr>
              <a:buFont typeface="Wingdings" panose="05000000000000000000" charset="0"/>
              <a:buNone/>
            </a:pPr>
            <a:endParaRPr lang="en-US" sz="2400">
              <a:latin typeface="Times New Roman" panose="02020603050405020304" charset="0"/>
              <a:cs typeface="Times New Roman" panose="02020603050405020304" charset="0"/>
            </a:endParaRPr>
          </a:p>
          <a:p>
            <a:pPr marL="0" indent="0" fontAlgn="auto">
              <a:lnSpc>
                <a:spcPct val="200000"/>
              </a:lnSpc>
              <a:spcBef>
                <a:spcPts val="0"/>
              </a:spcBef>
              <a:buClr>
                <a:srgbClr val="FFC000"/>
              </a:buClr>
              <a:buFont typeface="Wingdings" panose="05000000000000000000" charset="0"/>
              <a:buNone/>
            </a:pPr>
            <a:endParaRPr lang="en-US" sz="240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fontScale="97500"/>
          </a:bodyPr>
          <a:lstStyle/>
          <a:p>
            <a:pPr marL="0" indent="0" fontAlgn="auto">
              <a:lnSpc>
                <a:spcPct val="200000"/>
              </a:lnSpc>
              <a:spcBef>
                <a:spcPts val="0"/>
              </a:spcBef>
              <a:buClr>
                <a:srgbClr val="92D050"/>
              </a:buClr>
              <a:buFont typeface="Wingdings" panose="05000000000000000000" charset="0"/>
              <a:buNone/>
            </a:pPr>
            <a:r>
              <a:rPr lang="en-US" sz="2400" b="1" dirty="0">
                <a:latin typeface="Times New Roman" panose="02020603050405020304" charset="0"/>
                <a:cs typeface="Times New Roman" panose="02020603050405020304" charset="0"/>
                <a:sym typeface="+mn-ea"/>
              </a:rPr>
              <a:t>(2) Specific tips to avoid plagiarism</a:t>
            </a:r>
            <a:endParaRPr lang="en-US" sz="2400" b="1" dirty="0">
              <a:latin typeface="Times New Roman" panose="02020603050405020304" charset="0"/>
              <a:cs typeface="Times New Roman" panose="02020603050405020304" charset="0"/>
            </a:endParaRPr>
          </a:p>
          <a:p>
            <a:pPr>
              <a:lnSpc>
                <a:spcPct val="200000"/>
              </a:lnSpc>
              <a:spcBef>
                <a:spcPts val="0"/>
              </a:spcBef>
              <a:buClr>
                <a:schemeClr val="accent2"/>
              </a:buClr>
              <a:buFont typeface="Wingdings" panose="05000000000000000000" pitchFamily="2" charset="2"/>
              <a:buChar char="l"/>
            </a:pPr>
            <a:r>
              <a:rPr lang="en-US" sz="2400" dirty="0">
                <a:latin typeface="Times New Roman" panose="02020603050405020304" charset="0"/>
                <a:cs typeface="Times New Roman" panose="02020603050405020304" charset="0"/>
              </a:rPr>
              <a:t>Paraphrase most of the time, that is, compress and write in your own words that you understand to be the basic meaning of a sentence or a block of text.</a:t>
            </a:r>
          </a:p>
          <a:p>
            <a:pPr marL="0" indent="0" fontAlgn="auto">
              <a:lnSpc>
                <a:spcPct val="200000"/>
              </a:lnSpc>
              <a:spcBef>
                <a:spcPts val="0"/>
              </a:spcBef>
              <a:buClr>
                <a:srgbClr val="92D050"/>
              </a:buClr>
              <a:buFont typeface="Wingdings" panose="05000000000000000000" charset="0"/>
              <a:buNone/>
            </a:pPr>
            <a:endParaRPr lang="en-US" sz="2400"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521003"/>
            <a:ext cx="10515600" cy="4813846"/>
          </a:xfrm>
          <a:ln w="38100">
            <a:solidFill>
              <a:schemeClr val="accent2"/>
            </a:solidFill>
            <a:prstDash val="sysDash"/>
          </a:ln>
        </p:spPr>
        <p:txBody>
          <a:bodyPr>
            <a:normAutofit fontScale="67500" lnSpcReduction="20000"/>
          </a:bodyPr>
          <a:lstStyle/>
          <a:p>
            <a:pPr marL="0" indent="0" fontAlgn="auto">
              <a:lnSpc>
                <a:spcPct val="170000"/>
              </a:lnSpc>
              <a:spcBef>
                <a:spcPts val="0"/>
              </a:spcBef>
              <a:buClr>
                <a:srgbClr val="92D050"/>
              </a:buClr>
              <a:buFont typeface="Wingdings" panose="05000000000000000000" charset="0"/>
              <a:buNone/>
            </a:pPr>
            <a:r>
              <a:rPr lang="en-US" sz="3000" b="1" dirty="0">
                <a:latin typeface="Times New Roman" panose="02020603050405020304" charset="0"/>
                <a:cs typeface="Times New Roman" panose="02020603050405020304" charset="0"/>
                <a:sym typeface="+mn-ea"/>
              </a:rPr>
              <a:t>Original text:</a:t>
            </a:r>
          </a:p>
          <a:p>
            <a:pPr marL="0" indent="0" fontAlgn="auto">
              <a:lnSpc>
                <a:spcPct val="170000"/>
              </a:lnSpc>
              <a:spcBef>
                <a:spcPts val="0"/>
              </a:spcBef>
              <a:buClr>
                <a:srgbClr val="92D050"/>
              </a:buClr>
              <a:buFont typeface="Wingdings" panose="05000000000000000000" charset="0"/>
              <a:buNone/>
            </a:pPr>
            <a:r>
              <a:rPr lang="en-US" sz="3000" dirty="0">
                <a:latin typeface="Times New Roman" panose="02020603050405020304" charset="0"/>
                <a:cs typeface="Times New Roman" panose="02020603050405020304" charset="0"/>
                <a:sym typeface="+mn-ea"/>
              </a:rPr>
              <a:t>“Remote work can lead to increased job satisfaction, but only when employees have adequate home office setups and social support from managers.”</a:t>
            </a:r>
          </a:p>
          <a:p>
            <a:pPr marL="0" indent="0" fontAlgn="auto">
              <a:lnSpc>
                <a:spcPct val="170000"/>
              </a:lnSpc>
              <a:spcBef>
                <a:spcPts val="0"/>
              </a:spcBef>
              <a:buClr>
                <a:srgbClr val="92D050"/>
              </a:buClr>
              <a:buFont typeface="Wingdings" panose="05000000000000000000" charset="0"/>
              <a:buNone/>
            </a:pPr>
            <a:endParaRPr lang="en-US" sz="3000" dirty="0">
              <a:latin typeface="Times New Roman" panose="02020603050405020304" charset="0"/>
              <a:cs typeface="Times New Roman" panose="02020603050405020304" charset="0"/>
              <a:sym typeface="+mn-ea"/>
            </a:endParaRPr>
          </a:p>
          <a:p>
            <a:pPr marL="0" indent="0" fontAlgn="auto">
              <a:lnSpc>
                <a:spcPct val="170000"/>
              </a:lnSpc>
              <a:spcBef>
                <a:spcPts val="0"/>
              </a:spcBef>
              <a:buClr>
                <a:srgbClr val="92D050"/>
              </a:buClr>
              <a:buFont typeface="Wingdings" panose="05000000000000000000" charset="0"/>
              <a:buNone/>
            </a:pPr>
            <a:r>
              <a:rPr lang="en-US" sz="3000" b="1" dirty="0">
                <a:latin typeface="Times New Roman" panose="02020603050405020304" charset="0"/>
                <a:cs typeface="Times New Roman" panose="02020603050405020304" charset="0"/>
                <a:sym typeface="+mn-ea"/>
              </a:rPr>
              <a:t>Sentence 1</a:t>
            </a:r>
            <a:r>
              <a:rPr lang="en-US" sz="3000" dirty="0">
                <a:latin typeface="Times New Roman" panose="02020603050405020304" charset="0"/>
                <a:cs typeface="Times New Roman" panose="02020603050405020304" charset="0"/>
                <a:sym typeface="+mn-ea"/>
              </a:rPr>
              <a:t>: Working from home only boosts job satisfaction if workers have proper home offices and receive managerial support.</a:t>
            </a:r>
          </a:p>
          <a:p>
            <a:pPr marL="0" indent="0" fontAlgn="auto">
              <a:lnSpc>
                <a:spcPct val="170000"/>
              </a:lnSpc>
              <a:spcBef>
                <a:spcPts val="0"/>
              </a:spcBef>
              <a:buClr>
                <a:srgbClr val="92D050"/>
              </a:buClr>
              <a:buFont typeface="Wingdings" panose="05000000000000000000" charset="0"/>
              <a:buNone/>
            </a:pPr>
            <a:r>
              <a:rPr lang="en-US" sz="3000" b="1" dirty="0">
                <a:latin typeface="Times New Roman" panose="02020603050405020304" charset="0"/>
                <a:cs typeface="Times New Roman" panose="02020603050405020304" charset="0"/>
                <a:sym typeface="+mn-ea"/>
              </a:rPr>
              <a:t>Sentence 2</a:t>
            </a:r>
            <a:r>
              <a:rPr lang="en-US" sz="3000" dirty="0">
                <a:latin typeface="Times New Roman" panose="02020603050405020304" charset="0"/>
                <a:cs typeface="Times New Roman" panose="02020603050405020304" charset="0"/>
                <a:sym typeface="+mn-ea"/>
              </a:rPr>
              <a:t>: Working from home may enhance job satisfaction, yet this positive effect depends on employees having both appropriate home office arrangements and sufficient managerial social support.</a:t>
            </a:r>
          </a:p>
          <a:p>
            <a:pPr marL="0" indent="0" fontAlgn="auto">
              <a:lnSpc>
                <a:spcPct val="200000"/>
              </a:lnSpc>
              <a:spcBef>
                <a:spcPts val="0"/>
              </a:spcBef>
              <a:buClr>
                <a:srgbClr val="92D050"/>
              </a:buClr>
              <a:buFont typeface="Wingdings" panose="05000000000000000000" charset="0"/>
              <a:buNone/>
            </a:pPr>
            <a:endParaRPr lang="en-US" sz="2400"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7895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ln w="38100">
            <a:solidFill>
              <a:schemeClr val="accent2"/>
            </a:solidFill>
            <a:prstDash val="sysDash"/>
          </a:ln>
        </p:spPr>
        <p:txBody>
          <a:bodyPr>
            <a:normAutofit fontScale="97500"/>
          </a:bodyPr>
          <a:lstStyle/>
          <a:p>
            <a:pPr marL="0" indent="0" fontAlgn="auto">
              <a:lnSpc>
                <a:spcPct val="200000"/>
              </a:lnSpc>
              <a:spcBef>
                <a:spcPts val="0"/>
              </a:spcBef>
              <a:buClr>
                <a:srgbClr val="92D050"/>
              </a:buClr>
              <a:buFont typeface="Wingdings" panose="05000000000000000000" charset="0"/>
              <a:buNone/>
            </a:pPr>
            <a:r>
              <a:rPr lang="en-US" sz="2400" b="1" dirty="0">
                <a:latin typeface="Times New Roman" panose="02020603050405020304" charset="0"/>
                <a:cs typeface="Times New Roman" panose="02020603050405020304" charset="0"/>
                <a:sym typeface="+mn-ea"/>
              </a:rPr>
              <a:t>(2) Specific tips to avoid plagiarism</a:t>
            </a:r>
            <a:endParaRPr lang="en-US" sz="2400" b="1" dirty="0">
              <a:latin typeface="Times New Roman" panose="02020603050405020304" charset="0"/>
              <a:cs typeface="Times New Roman" panose="02020603050405020304" charset="0"/>
            </a:endParaRPr>
          </a:p>
          <a:p>
            <a:pPr fontAlgn="auto">
              <a:lnSpc>
                <a:spcPct val="200000"/>
              </a:lnSpc>
              <a:spcBef>
                <a:spcPts val="0"/>
              </a:spcBef>
              <a:buClr>
                <a:srgbClr val="ED7D31"/>
              </a:buClr>
              <a:buFont typeface="Wingdings" panose="05000000000000000000" charset="0"/>
              <a:buChar char="l"/>
            </a:pPr>
            <a:r>
              <a:rPr lang="en-US" sz="2400" dirty="0">
                <a:latin typeface="Times New Roman" panose="02020603050405020304" charset="0"/>
                <a:cs typeface="Times New Roman" panose="02020603050405020304" charset="0"/>
              </a:rPr>
              <a:t>Though it should be limited, if a direct quotation must be taken,</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    --highlight it in a different colored pen,</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    --put huge quotation marks around it, and</a:t>
            </a:r>
          </a:p>
          <a:p>
            <a:pPr marL="0" indent="0" fontAlgn="auto">
              <a:lnSpc>
                <a:spcPct val="200000"/>
              </a:lnSpc>
              <a:spcBef>
                <a:spcPts val="0"/>
              </a:spcBef>
              <a:buClr>
                <a:srgbClr val="92D050"/>
              </a:buClr>
              <a:buFont typeface="Wingdings" panose="05000000000000000000" charset="0"/>
              <a:buNone/>
            </a:pPr>
            <a:r>
              <a:rPr lang="en-US" sz="2400" dirty="0">
                <a:latin typeface="Times New Roman" panose="02020603050405020304" charset="0"/>
                <a:cs typeface="Times New Roman" panose="02020603050405020304" charset="0"/>
              </a:rPr>
              <a:t>    --include the page number and source.</a:t>
            </a:r>
          </a:p>
          <a:p>
            <a:pPr marL="0" indent="0" fontAlgn="auto">
              <a:lnSpc>
                <a:spcPct val="200000"/>
              </a:lnSpc>
              <a:spcBef>
                <a:spcPts val="0"/>
              </a:spcBef>
              <a:buClr>
                <a:srgbClr val="92D050"/>
              </a:buClr>
              <a:buFont typeface="Wingdings" panose="05000000000000000000" charset="0"/>
              <a:buNone/>
            </a:pPr>
            <a:endParaRPr lang="en-US" sz="2400"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53059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005070" y="2599055"/>
            <a:ext cx="5959475" cy="1814830"/>
          </a:xfrm>
          <a:prstGeom prst="rect">
            <a:avLst/>
          </a:prstGeom>
          <a:noFill/>
        </p:spPr>
        <p:txBody>
          <a:bodyPr wrap="square" rtlCol="0">
            <a:spAutoFit/>
          </a:bodyPr>
          <a:lstStyle/>
          <a:p>
            <a:pPr indent="0" algn="ctr" fontAlgn="auto">
              <a:lnSpc>
                <a:spcPct val="200000"/>
              </a:lnSpc>
            </a:pPr>
            <a:r>
              <a:rPr lang="en-US" altLang="zh-CN" sz="2800" b="1" i="1" dirty="0">
                <a:solidFill>
                  <a:schemeClr val="accent2">
                    <a:lumMod val="75000"/>
                  </a:schemeClr>
                </a:solidFill>
                <a:latin typeface="Times New Roman" panose="02020603050405020304" charset="0"/>
                <a:cs typeface="Times New Roman" panose="02020603050405020304" charset="0"/>
                <a:sym typeface="+mn-ea"/>
              </a:rPr>
              <a:t>3. </a:t>
            </a:r>
            <a:r>
              <a:rPr lang="en-US" altLang="zh-CN" sz="2800" dirty="0">
                <a:latin typeface="Times New Roman" panose="02020603050405020304" charset="0"/>
                <a:ea typeface="+mj-ea"/>
                <a:cs typeface="Times New Roman" panose="02020603050405020304" charset="0"/>
                <a:sym typeface="+mn-ea"/>
              </a:rPr>
              <a:t>Methods of Doing Research</a:t>
            </a:r>
            <a:endParaRPr lang="zh-CN" altLang="en-US" sz="2800" b="1" kern="1200" dirty="0">
              <a:latin typeface="+mj-lt"/>
              <a:ea typeface="+mj-ea"/>
              <a:cs typeface="+mj-cs"/>
            </a:endParaRPr>
          </a:p>
          <a:p>
            <a:pPr indent="0" algn="ctr" fontAlgn="auto">
              <a:lnSpc>
                <a:spcPct val="200000"/>
              </a:lnSpc>
            </a:pPr>
            <a:endParaRPr lang="en-US" altLang="zh-CN" sz="2800" b="1" dirty="0">
              <a:latin typeface="Times New Roman" panose="02020603050405020304" charset="0"/>
              <a:cs typeface="Times New Roman" panose="02020603050405020304" charset="0"/>
            </a:endParaRPr>
          </a:p>
        </p:txBody>
      </p:sp>
      <p:pic>
        <p:nvPicPr>
          <p:cNvPr id="9" name="内容占位符 8" descr="performance-evaluation-working-quality-control-productive-analysis-results-planning-approach-job-achievment-success-business-112455630"/>
          <p:cNvPicPr>
            <a:picLocks noGrp="1" noChangeAspect="1"/>
          </p:cNvPicPr>
          <p:nvPr>
            <p:ph idx="1"/>
          </p:nvPr>
        </p:nvPicPr>
        <p:blipFill>
          <a:blip r:embed="rId5"/>
          <a:stretch>
            <a:fillRect/>
          </a:stretch>
        </p:blipFill>
        <p:spPr>
          <a:xfrm>
            <a:off x="979805" y="1889760"/>
            <a:ext cx="3962400" cy="3416935"/>
          </a:xfrm>
          <a:prstGeom prst="rect">
            <a:avLst/>
          </a:prstGeom>
        </p:spPr>
      </p:pic>
      <p:sp>
        <p:nvSpPr>
          <p:cNvPr id="11" name="矩形 10"/>
          <p:cNvSpPr/>
          <p:nvPr/>
        </p:nvSpPr>
        <p:spPr>
          <a:xfrm>
            <a:off x="1043940" y="2014855"/>
            <a:ext cx="3872230" cy="59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3"/>
            </p:custDataLst>
          </p:nvPr>
        </p:nvSpPr>
        <p:spPr>
          <a:xfrm>
            <a:off x="979805" y="4896485"/>
            <a:ext cx="3962400" cy="59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468120"/>
            <a:ext cx="10515600" cy="5180965"/>
          </a:xfrm>
          <a:ln w="38100">
            <a:solidFill>
              <a:schemeClr val="accent2">
                <a:lumMod val="75000"/>
              </a:schemeClr>
            </a:solidFill>
            <a:prstDash val="sysDash"/>
          </a:ln>
        </p:spPr>
        <p:txBody>
          <a:bodyPr>
            <a:normAutofit fontScale="97500" lnSpcReduction="10000"/>
          </a:bodyPr>
          <a:lstStyle/>
          <a:p>
            <a:pPr marL="0" indent="0"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 </a:t>
            </a:r>
            <a:r>
              <a:rPr lang="en-US" altLang="zh-CN" b="1" dirty="0">
                <a:latin typeface="Times New Roman" panose="02020603050405020304" charset="0"/>
                <a:cs typeface="Times New Roman" panose="02020603050405020304" charset="0"/>
                <a:sym typeface="+mn-ea"/>
              </a:rPr>
              <a:t> </a:t>
            </a:r>
            <a:r>
              <a:rPr lang="en-US" altLang="zh-CN" sz="3110" b="1" dirty="0">
                <a:latin typeface="Times New Roman" panose="02020603050405020304" charset="0"/>
                <a:cs typeface="Times New Roman" panose="02020603050405020304" charset="0"/>
                <a:sym typeface="+mn-ea"/>
              </a:rPr>
              <a:t> </a:t>
            </a:r>
            <a:r>
              <a:rPr lang="en-GB" altLang="zh-CN" sz="3110" b="1" dirty="0">
                <a:latin typeface="Times New Roman" panose="02020603050405020304" charset="0"/>
                <a:cs typeface="Times New Roman" panose="02020603050405020304" charset="0"/>
                <a:sym typeface="+mn-ea"/>
              </a:rPr>
              <a:t>Quantitative research:</a:t>
            </a:r>
            <a:endParaRPr lang="en-GB" altLang="zh-CN" sz="3110" dirty="0">
              <a:latin typeface="Times New Roman" panose="02020603050405020304" charset="0"/>
              <a:cs typeface="Times New Roman" panose="02020603050405020304" charset="0"/>
            </a:endParaRPr>
          </a:p>
          <a:p>
            <a:pPr fontAlgn="auto">
              <a:lnSpc>
                <a:spcPct val="150000"/>
              </a:lnSpc>
              <a:spcBef>
                <a:spcPts val="0"/>
              </a:spcBef>
              <a:buNone/>
            </a:pPr>
            <a:r>
              <a:rPr lang="en-GB" altLang="zh-CN" sz="3110" dirty="0">
                <a:latin typeface="Times New Roman" panose="02020603050405020304" charset="0"/>
                <a:cs typeface="Times New Roman" panose="02020603050405020304" charset="0"/>
                <a:sym typeface="+mn-ea"/>
              </a:rPr>
              <a:t>   It is based on scientific method. It purports to be as objective as possible, and is often based on statistics or other measurable, empirical data. Conclusions will be drawn from the analysis of things clearly measured.</a:t>
            </a:r>
            <a:endParaRPr lang="zh-CN" altLang="en-US" sz="3110" dirty="0">
              <a:latin typeface="Times New Roman" panose="02020603050405020304" charset="0"/>
              <a:cs typeface="Times New Roman" panose="02020603050405020304" charset="0"/>
            </a:endParaRPr>
          </a:p>
          <a:p>
            <a:pPr marL="0" indent="0" fontAlgn="auto">
              <a:lnSpc>
                <a:spcPct val="150000"/>
              </a:lnSpc>
              <a:buNone/>
            </a:pPr>
            <a:endParaRPr lang="zh-CN" altLang="en-US" dirty="0"/>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468120"/>
            <a:ext cx="10515600" cy="5180965"/>
          </a:xfrm>
          <a:ln w="38100">
            <a:solidFill>
              <a:schemeClr val="accent2">
                <a:lumMod val="75000"/>
              </a:schemeClr>
            </a:solidFill>
            <a:prstDash val="sysDash"/>
          </a:ln>
        </p:spPr>
        <p:txBody>
          <a:bodyPr>
            <a:normAutofit fontScale="70000" lnSpcReduction="20000"/>
          </a:bodyPr>
          <a:lstStyle/>
          <a:p>
            <a:pPr marL="0" indent="0"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 </a:t>
            </a:r>
            <a:r>
              <a:rPr lang="en-US" altLang="zh-CN" b="1" dirty="0">
                <a:latin typeface="Times New Roman" panose="02020603050405020304" charset="0"/>
                <a:cs typeface="Times New Roman" panose="02020603050405020304" charset="0"/>
                <a:sym typeface="+mn-ea"/>
              </a:rPr>
              <a:t> </a:t>
            </a:r>
            <a:r>
              <a:rPr lang="en-US" altLang="zh-CN" sz="4000" b="1" dirty="0">
                <a:latin typeface="Times New Roman" panose="02020603050405020304" charset="0"/>
                <a:cs typeface="Times New Roman" panose="02020603050405020304" charset="0"/>
                <a:sym typeface="+mn-ea"/>
              </a:rPr>
              <a:t> </a:t>
            </a:r>
            <a:r>
              <a:rPr lang="en-GB" altLang="zh-CN" sz="4000" b="1" dirty="0">
                <a:latin typeface="Times New Roman" panose="02020603050405020304" charset="0"/>
                <a:cs typeface="Times New Roman" panose="02020603050405020304" charset="0"/>
                <a:sym typeface="+mn-ea"/>
              </a:rPr>
              <a:t>Qualitative research:</a:t>
            </a:r>
            <a:endParaRPr lang="en-GB" altLang="zh-CN" sz="3110" dirty="0">
              <a:latin typeface="Times New Roman" panose="02020603050405020304" charset="0"/>
              <a:cs typeface="Times New Roman" panose="02020603050405020304" charset="0"/>
            </a:endParaRPr>
          </a:p>
          <a:p>
            <a:pPr fontAlgn="auto">
              <a:lnSpc>
                <a:spcPct val="150000"/>
              </a:lnSpc>
              <a:spcBef>
                <a:spcPts val="0"/>
              </a:spcBef>
            </a:pPr>
            <a:r>
              <a:rPr lang="en-GB" altLang="zh-CN" sz="3335" dirty="0">
                <a:latin typeface="Times New Roman" panose="02020603050405020304" charset="0"/>
                <a:cs typeface="Times New Roman" panose="02020603050405020304" charset="0"/>
                <a:sym typeface="+mn-ea"/>
              </a:rPr>
              <a:t>It is often based on subjective data items, which cannot be given a numeric value, for </a:t>
            </a:r>
            <a:r>
              <a:rPr lang="en-US" altLang="en-GB" sz="3335" dirty="0">
                <a:latin typeface="Times New Roman" panose="02020603050405020304" charset="0"/>
                <a:cs typeface="Times New Roman" panose="02020603050405020304" charset="0"/>
                <a:sym typeface="+mn-ea"/>
              </a:rPr>
              <a:t> </a:t>
            </a:r>
          </a:p>
          <a:p>
            <a:pPr marL="0" indent="0" fontAlgn="auto">
              <a:lnSpc>
                <a:spcPct val="150000"/>
              </a:lnSpc>
              <a:spcBef>
                <a:spcPts val="0"/>
              </a:spcBef>
              <a:buNone/>
            </a:pPr>
            <a:r>
              <a:rPr lang="en-US" altLang="en-GB" sz="3335" dirty="0">
                <a:latin typeface="Times New Roman" panose="02020603050405020304" charset="0"/>
                <a:cs typeface="Times New Roman" panose="02020603050405020304" charset="0"/>
                <a:sym typeface="+mn-ea"/>
              </a:rPr>
              <a:t>    </a:t>
            </a:r>
            <a:r>
              <a:rPr lang="en-GB" altLang="zh-CN" sz="3335" dirty="0">
                <a:latin typeface="Times New Roman" panose="02020603050405020304" charset="0"/>
                <a:cs typeface="Times New Roman" panose="02020603050405020304" charset="0"/>
                <a:sym typeface="+mn-ea"/>
              </a:rPr>
              <a:t>example the attitudes and opinions of a range of individuals on an issue. </a:t>
            </a:r>
          </a:p>
          <a:p>
            <a:pPr fontAlgn="auto">
              <a:lnSpc>
                <a:spcPct val="150000"/>
              </a:lnSpc>
              <a:spcBef>
                <a:spcPts val="0"/>
              </a:spcBef>
            </a:pPr>
            <a:r>
              <a:rPr lang="en-GB" altLang="zh-CN" sz="3335" dirty="0">
                <a:latin typeface="Times New Roman" panose="02020603050405020304" charset="0"/>
                <a:cs typeface="Times New Roman" panose="02020603050405020304" charset="0"/>
                <a:sym typeface="+mn-ea"/>
              </a:rPr>
              <a:t> Anthropological study, for example, may be based on small details of people’s </a:t>
            </a:r>
          </a:p>
          <a:p>
            <a:pPr marL="0" indent="0" fontAlgn="auto">
              <a:lnSpc>
                <a:spcPct val="150000"/>
              </a:lnSpc>
              <a:spcBef>
                <a:spcPts val="0"/>
              </a:spcBef>
              <a:buNone/>
            </a:pPr>
            <a:r>
              <a:rPr lang="en-US" altLang="en-GB" sz="3335" dirty="0">
                <a:latin typeface="Times New Roman" panose="02020603050405020304" charset="0"/>
                <a:cs typeface="Times New Roman" panose="02020603050405020304" charset="0"/>
                <a:sym typeface="+mn-ea"/>
              </a:rPr>
              <a:t>    </a:t>
            </a:r>
            <a:r>
              <a:rPr lang="en-GB" altLang="zh-CN" sz="3335" dirty="0">
                <a:latin typeface="Times New Roman" panose="02020603050405020304" charset="0"/>
                <a:cs typeface="Times New Roman" panose="02020603050405020304" charset="0"/>
                <a:sym typeface="+mn-ea"/>
              </a:rPr>
              <a:t>experience, collected through observation. These will be described in words rather </a:t>
            </a:r>
            <a:r>
              <a:rPr lang="en-US" altLang="en-GB" sz="3335" dirty="0">
                <a:latin typeface="Times New Roman" panose="02020603050405020304" charset="0"/>
                <a:cs typeface="Times New Roman" panose="02020603050405020304" charset="0"/>
                <a:sym typeface="+mn-ea"/>
              </a:rPr>
              <a:t> </a:t>
            </a:r>
          </a:p>
          <a:p>
            <a:pPr marL="0" indent="0" fontAlgn="auto">
              <a:lnSpc>
                <a:spcPct val="150000"/>
              </a:lnSpc>
              <a:spcBef>
                <a:spcPts val="0"/>
              </a:spcBef>
              <a:buNone/>
            </a:pPr>
            <a:r>
              <a:rPr lang="en-US" altLang="en-GB" sz="3335" dirty="0">
                <a:latin typeface="Times New Roman" panose="02020603050405020304" charset="0"/>
                <a:cs typeface="Times New Roman" panose="02020603050405020304" charset="0"/>
                <a:sym typeface="+mn-ea"/>
              </a:rPr>
              <a:t>    </a:t>
            </a:r>
            <a:r>
              <a:rPr lang="en-GB" altLang="zh-CN" sz="3335" dirty="0">
                <a:latin typeface="Times New Roman" panose="02020603050405020304" charset="0"/>
                <a:cs typeface="Times New Roman" panose="02020603050405020304" charset="0"/>
                <a:sym typeface="+mn-ea"/>
              </a:rPr>
              <a:t>than numbers, and statistical generalisations cannot be drawn from them.</a:t>
            </a:r>
            <a:endParaRPr lang="zh-CN" altLang="en-US" sz="3335" dirty="0">
              <a:latin typeface="Times New Roman" panose="02020603050405020304" charset="0"/>
              <a:cs typeface="Times New Roman" panose="02020603050405020304" charset="0"/>
            </a:endParaRPr>
          </a:p>
          <a:p>
            <a:pPr marL="0" indent="0" fontAlgn="auto">
              <a:lnSpc>
                <a:spcPct val="150000"/>
              </a:lnSpc>
              <a:spcBef>
                <a:spcPts val="0"/>
              </a:spcBef>
              <a:buNone/>
            </a:pPr>
            <a:endParaRPr lang="zh-CN" altLang="en-US" dirty="0"/>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latin typeface="Times New Roman" panose="02020603050405020304" charset="0"/>
                <a:cs typeface="Times New Roman" panose="02020603050405020304" charset="0"/>
                <a:sym typeface="+mn-ea"/>
              </a:rPr>
              <a:t>Data Collection and Evaluation</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200" y="1468120"/>
            <a:ext cx="10515600" cy="5180965"/>
          </a:xfrm>
          <a:ln w="38100">
            <a:solidFill>
              <a:schemeClr val="accent2">
                <a:lumMod val="75000"/>
              </a:schemeClr>
            </a:solidFill>
            <a:prstDash val="sysDash"/>
          </a:ln>
        </p:spPr>
        <p:txBody>
          <a:bodyPr>
            <a:normAutofit/>
          </a:bodyPr>
          <a:lstStyle/>
          <a:p>
            <a:pPr marL="0" indent="0" fontAlgn="auto">
              <a:lnSpc>
                <a:spcPct val="150000"/>
              </a:lnSpc>
              <a:spcBef>
                <a:spcPts val="0"/>
              </a:spcBef>
              <a:buNone/>
            </a:pPr>
            <a:r>
              <a:rPr lang="en-GB" altLang="zh-CN" dirty="0">
                <a:latin typeface="Times New Roman" panose="02020603050405020304" charset="0"/>
                <a:cs typeface="Times New Roman" panose="02020603050405020304" charset="0"/>
                <a:sym typeface="+mn-ea"/>
              </a:rPr>
              <a:t>In practice, few dissertations involve only qualitative or only quantitative methods. Where will your focus lie?  The answer should depend upon the kind of enquiry you are engaged in: again, ask your supervisor for advice about this.</a:t>
            </a:r>
            <a:endParaRPr lang="zh-CN" altLang="en-US" dirty="0">
              <a:latin typeface="Times New Roman" panose="02020603050405020304" charset="0"/>
              <a:cs typeface="Times New Roman" panose="02020603050405020304" charset="0"/>
            </a:endParaRPr>
          </a:p>
          <a:p>
            <a:pPr marL="0" indent="0" fontAlgn="auto">
              <a:lnSpc>
                <a:spcPct val="150000"/>
              </a:lnSpc>
              <a:spcBef>
                <a:spcPts val="0"/>
              </a:spcBef>
              <a:buNone/>
            </a:pPr>
            <a:endParaRPr lang="zh-CN" altLang="en-US" dirty="0"/>
          </a:p>
          <a:p>
            <a:pPr marL="0" indent="0" fontAlgn="auto">
              <a:lnSpc>
                <a:spcPct val="150000"/>
              </a:lnSpc>
              <a:buNone/>
            </a:pPr>
            <a:r>
              <a:rPr lang="en-US" altLang="zh-CN" sz="2400" dirty="0">
                <a:latin typeface="Times New Roman" panose="02020603050405020304" charset="0"/>
                <a:cs typeface="Times New Roman" panose="02020603050405020304" charset="0"/>
              </a:rPr>
              <a:t>            </a:t>
            </a:r>
            <a:r>
              <a:rPr lang="en-US" altLang="zh-CN" sz="4400" dirty="0">
                <a:latin typeface="Times New Roman" panose="02020603050405020304" charset="0"/>
                <a:cs typeface="Times New Roman" panose="02020603050405020304" charset="0"/>
              </a:rPr>
              <a: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5</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94690" y="-113030"/>
            <a:ext cx="10515600" cy="1325563"/>
          </a:xfrm>
        </p:spPr>
        <p:txBody>
          <a:bodyPr>
            <a:normAutofit/>
          </a:bodyPr>
          <a:lstStyle/>
          <a:p>
            <a:r>
              <a:rPr lang="en-US" altLang="zh-CN" dirty="0">
                <a:latin typeface="Times New Roman" panose="02020603050405020304" charset="0"/>
                <a:cs typeface="Times New Roman" panose="02020603050405020304" charset="0"/>
              </a:rPr>
              <a:t>Exercise 1--Evaluating Resources</a:t>
            </a:r>
          </a:p>
        </p:txBody>
      </p:sp>
      <p:sp>
        <p:nvSpPr>
          <p:cNvPr id="3" name="内容占位符 2"/>
          <p:cNvSpPr>
            <a:spLocks noGrp="1"/>
          </p:cNvSpPr>
          <p:nvPr>
            <p:ph idx="1"/>
          </p:nvPr>
        </p:nvSpPr>
        <p:spPr>
          <a:xfrm>
            <a:off x="550545" y="1298575"/>
            <a:ext cx="10803255" cy="5376545"/>
          </a:xfrm>
          <a:solidFill>
            <a:schemeClr val="bg1"/>
          </a:solidFill>
        </p:spPr>
        <p:txBody>
          <a:bodyPr>
            <a:noAutofit/>
          </a:bodyPr>
          <a:lstStyle/>
          <a:p>
            <a:pPr marL="0" indent="0" fontAlgn="auto">
              <a:lnSpc>
                <a:spcPct val="150000"/>
              </a:lnSpc>
              <a:spcBef>
                <a:spcPts val="0"/>
              </a:spcBef>
              <a:buNone/>
            </a:pPr>
            <a:r>
              <a:rPr lang="en-US" sz="2300">
                <a:latin typeface="Times New Roman" panose="02020603050405020304" charset="0"/>
                <a:cs typeface="Times New Roman" panose="02020603050405020304" charset="0"/>
              </a:rPr>
              <a:t>When writing a paper with the following research question:</a:t>
            </a:r>
          </a:p>
          <a:p>
            <a:pPr marL="0" indent="0" fontAlgn="auto">
              <a:lnSpc>
                <a:spcPct val="150000"/>
              </a:lnSpc>
              <a:spcBef>
                <a:spcPts val="0"/>
              </a:spcBef>
              <a:buNone/>
            </a:pPr>
            <a:endParaRPr lang="en-US" sz="2300">
              <a:latin typeface="Times New Roman" panose="02020603050405020304" charset="0"/>
              <a:cs typeface="Times New Roman" panose="02020603050405020304" charset="0"/>
            </a:endParaRPr>
          </a:p>
          <a:p>
            <a:pPr marL="0" indent="0" fontAlgn="auto">
              <a:lnSpc>
                <a:spcPct val="150000"/>
              </a:lnSpc>
              <a:spcBef>
                <a:spcPts val="0"/>
              </a:spcBef>
              <a:buNone/>
            </a:pPr>
            <a:r>
              <a:rPr lang="en-US" sz="2300">
                <a:latin typeface="Times New Roman" panose="02020603050405020304" charset="0"/>
                <a:cs typeface="Times New Roman" panose="02020603050405020304" charset="0"/>
              </a:rPr>
              <a:t>Has the modern women’s movement forced the Roman Catholic Church to consider allowing women to take leadership positions with the Church?</a:t>
            </a:r>
          </a:p>
          <a:p>
            <a:pPr marL="0" indent="0" fontAlgn="auto">
              <a:lnSpc>
                <a:spcPct val="150000"/>
              </a:lnSpc>
              <a:spcBef>
                <a:spcPts val="0"/>
              </a:spcBef>
              <a:buNone/>
            </a:pPr>
            <a:endParaRPr lang="en-US" sz="2300">
              <a:latin typeface="Times New Roman" panose="02020603050405020304" charset="0"/>
              <a:cs typeface="Times New Roman" panose="02020603050405020304" charset="0"/>
            </a:endParaRPr>
          </a:p>
          <a:p>
            <a:pPr marL="0" indent="0" fontAlgn="auto">
              <a:lnSpc>
                <a:spcPct val="150000"/>
              </a:lnSpc>
              <a:spcBef>
                <a:spcPts val="0"/>
              </a:spcBef>
              <a:buNone/>
            </a:pPr>
            <a:r>
              <a:rPr lang="en-US" sz="2300">
                <a:latin typeface="Times New Roman" panose="02020603050405020304" charset="0"/>
                <a:cs typeface="Times New Roman" panose="02020603050405020304" charset="0"/>
              </a:rPr>
              <a:t>Which of the following sources would initially be evaluated as useful?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94690" y="-113030"/>
            <a:ext cx="10515600" cy="1325563"/>
          </a:xfrm>
        </p:spPr>
        <p:txBody>
          <a:bodyPr>
            <a:normAutofit/>
          </a:bodyPr>
          <a:lstStyle/>
          <a:p>
            <a:r>
              <a:rPr lang="en-US" altLang="zh-CN" dirty="0">
                <a:latin typeface="Times New Roman" panose="02020603050405020304" charset="0"/>
                <a:cs typeface="Times New Roman" panose="02020603050405020304" charset="0"/>
              </a:rPr>
              <a:t>Exercise 1--Evaluating Resources</a:t>
            </a:r>
          </a:p>
        </p:txBody>
      </p:sp>
      <p:sp>
        <p:nvSpPr>
          <p:cNvPr id="3" name="内容占位符 2"/>
          <p:cNvSpPr>
            <a:spLocks noGrp="1"/>
          </p:cNvSpPr>
          <p:nvPr>
            <p:ph idx="1"/>
          </p:nvPr>
        </p:nvSpPr>
        <p:spPr>
          <a:xfrm>
            <a:off x="550545" y="1298575"/>
            <a:ext cx="10803255" cy="5376545"/>
          </a:xfrm>
          <a:solidFill>
            <a:schemeClr val="bg1"/>
          </a:solidFill>
        </p:spPr>
        <p:txBody>
          <a:bodyPr>
            <a:noAutofit/>
          </a:bodyPr>
          <a:lstStyle/>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1. </a:t>
            </a:r>
            <a:r>
              <a:rPr lang="zh-CN" altLang="en-US" sz="2300" dirty="0">
                <a:latin typeface="Times New Roman" panose="02020603050405020304" charset="0"/>
                <a:cs typeface="Times New Roman" panose="02020603050405020304" charset="0"/>
              </a:rPr>
              <a:t>The </a:t>
            </a:r>
            <a:r>
              <a:rPr lang="zh-CN" altLang="en-US" sz="2300" i="1" dirty="0">
                <a:latin typeface="Times New Roman" panose="02020603050405020304" charset="0"/>
                <a:cs typeface="Times New Roman" panose="02020603050405020304" charset="0"/>
              </a:rPr>
              <a:t>International Encyclopedia of the Social Sciences</a:t>
            </a:r>
            <a:r>
              <a:rPr lang="zh-CN" altLang="en-US" sz="2300" dirty="0">
                <a:latin typeface="Times New Roman" panose="02020603050405020304" charset="0"/>
                <a:cs typeface="Times New Roman" panose="02020603050405020304" charset="0"/>
              </a:rPr>
              <a:t>, 1968.</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2. </a:t>
            </a:r>
            <a:r>
              <a:rPr lang="zh-CN" altLang="en-US" sz="2300" dirty="0">
                <a:latin typeface="Times New Roman" panose="02020603050405020304" charset="0"/>
                <a:cs typeface="Times New Roman" panose="02020603050405020304" charset="0"/>
              </a:rPr>
              <a:t>An article entitled </a:t>
            </a:r>
            <a:r>
              <a:rPr lang="en-US" altLang="zh-CN" sz="2300" dirty="0">
                <a:latin typeface="Times New Roman" panose="02020603050405020304" charset="0"/>
                <a:cs typeface="Times New Roman" panose="02020603050405020304" charset="0"/>
              </a:rPr>
              <a:t>“</a:t>
            </a:r>
            <a:r>
              <a:rPr lang="zh-CN" altLang="en-US" sz="2300" dirty="0">
                <a:latin typeface="Times New Roman" panose="02020603050405020304" charset="0"/>
                <a:cs typeface="Times New Roman" panose="02020603050405020304" charset="0"/>
              </a:rPr>
              <a:t>The History of Women and the Church</a:t>
            </a:r>
            <a:r>
              <a:rPr lang="en-US" altLang="zh-CN" sz="2300" dirty="0">
                <a:latin typeface="Times New Roman" panose="02020603050405020304" charset="0"/>
                <a:cs typeface="Times New Roman" panose="02020603050405020304" charset="0"/>
              </a:rPr>
              <a:t>”</a:t>
            </a:r>
            <a:r>
              <a:rPr lang="zh-CN" altLang="en-US" sz="2300" dirty="0">
                <a:latin typeface="Times New Roman" panose="02020603050405020304" charset="0"/>
                <a:cs typeface="Times New Roman" panose="02020603050405020304" charset="0"/>
              </a:rPr>
              <a:t> in a 1992 copy of th</a:t>
            </a:r>
            <a:r>
              <a:rPr lang="en-US" altLang="zh-CN" sz="2300" dirty="0">
                <a:latin typeface="Times New Roman" panose="02020603050405020304" charset="0"/>
                <a:cs typeface="Times New Roman" panose="02020603050405020304" charset="0"/>
              </a:rPr>
              <a:t>e  </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   </a:t>
            </a:r>
            <a:r>
              <a:rPr lang="zh-CN" altLang="en-US" sz="2300" dirty="0">
                <a:latin typeface="Times New Roman" panose="02020603050405020304" charset="0"/>
                <a:cs typeface="Times New Roman" panose="02020603050405020304" charset="0"/>
              </a:rPr>
              <a:t>journal </a:t>
            </a:r>
            <a:r>
              <a:rPr lang="zh-CN" altLang="en-US" sz="2300" i="1" dirty="0">
                <a:latin typeface="Times New Roman" panose="02020603050405020304" charset="0"/>
                <a:cs typeface="Times New Roman" panose="02020603050405020304" charset="0"/>
              </a:rPr>
              <a:t>C</a:t>
            </a:r>
            <a:r>
              <a:rPr lang="en-US" altLang="zh-CN" sz="2300" i="1" dirty="0">
                <a:latin typeface="Times New Roman" panose="02020603050405020304" charset="0"/>
                <a:cs typeface="Times New Roman" panose="02020603050405020304" charset="0"/>
              </a:rPr>
              <a:t>h</a:t>
            </a:r>
            <a:r>
              <a:rPr lang="zh-CN" altLang="en-US" sz="2300" i="1" dirty="0">
                <a:latin typeface="Times New Roman" panose="02020603050405020304" charset="0"/>
                <a:cs typeface="Times New Roman" panose="02020603050405020304" charset="0"/>
              </a:rPr>
              <a:t>urc</a:t>
            </a:r>
            <a:r>
              <a:rPr lang="en-US" altLang="zh-CN" sz="2300" i="1" dirty="0">
                <a:latin typeface="Times New Roman" panose="02020603050405020304" charset="0"/>
                <a:cs typeface="Times New Roman" panose="02020603050405020304" charset="0"/>
              </a:rPr>
              <a:t>h</a:t>
            </a:r>
            <a:r>
              <a:rPr lang="zh-CN" altLang="en-US" sz="2300" i="1" dirty="0">
                <a:latin typeface="Times New Roman" panose="02020603050405020304" charset="0"/>
                <a:cs typeface="Times New Roman" panose="02020603050405020304" charset="0"/>
              </a:rPr>
              <a:t> and Society</a:t>
            </a:r>
            <a:r>
              <a:rPr lang="zh-CN" altLang="en-US" sz="2300" dirty="0">
                <a:latin typeface="Times New Roman" panose="02020603050405020304" charset="0"/>
                <a:cs typeface="Times New Roman" panose="02020603050405020304" charset="0"/>
              </a:rPr>
              <a:t>.</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3. </a:t>
            </a:r>
            <a:r>
              <a:rPr lang="zh-CN" altLang="en-US" sz="2300" dirty="0">
                <a:latin typeface="Times New Roman" panose="02020603050405020304" charset="0"/>
                <a:cs typeface="Times New Roman" panose="02020603050405020304" charset="0"/>
              </a:rPr>
              <a:t>A book:</a:t>
            </a:r>
            <a:r>
              <a:rPr lang="zh-CN" altLang="en-US" sz="2300" i="1" dirty="0">
                <a:latin typeface="Times New Roman" panose="02020603050405020304" charset="0"/>
                <a:cs typeface="Times New Roman" panose="02020603050405020304" charset="0"/>
              </a:rPr>
              <a:t>Growing Up Catbolic:An Infinitely Funny Guide for the Faitbful,</a:t>
            </a:r>
            <a:r>
              <a:rPr lang="en-US" altLang="zh-CN" sz="2300" i="1" dirty="0">
                <a:latin typeface="Times New Roman" panose="02020603050405020304" charset="0"/>
                <a:cs typeface="Times New Roman" panose="02020603050405020304" charset="0"/>
              </a:rPr>
              <a:t> </a:t>
            </a:r>
            <a:r>
              <a:rPr lang="zh-CN" altLang="en-US" sz="2300" i="1" dirty="0">
                <a:latin typeface="Times New Roman" panose="02020603050405020304" charset="0"/>
                <a:cs typeface="Times New Roman" panose="02020603050405020304" charset="0"/>
              </a:rPr>
              <a:t>the</a:t>
            </a:r>
            <a:r>
              <a:rPr lang="en-US" altLang="zh-CN" sz="2300" i="1" dirty="0">
                <a:latin typeface="Times New Roman" panose="02020603050405020304" charset="0"/>
                <a:cs typeface="Times New Roman" panose="02020603050405020304" charset="0"/>
              </a:rPr>
              <a:t> </a:t>
            </a:r>
            <a:r>
              <a:rPr lang="zh-CN" altLang="en-US" sz="2300" i="1" dirty="0">
                <a:latin typeface="Times New Roman" panose="02020603050405020304" charset="0"/>
                <a:cs typeface="Times New Roman" panose="02020603050405020304" charset="0"/>
              </a:rPr>
              <a:t>Fallen, </a:t>
            </a:r>
            <a:endParaRPr lang="en-US" altLang="zh-CN" sz="2300" i="1" dirty="0">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sz="2300" i="1" dirty="0">
                <a:latin typeface="Times New Roman" panose="02020603050405020304" charset="0"/>
                <a:cs typeface="Times New Roman" panose="02020603050405020304" charset="0"/>
              </a:rPr>
              <a:t>   </a:t>
            </a:r>
            <a:r>
              <a:rPr lang="zh-CN" altLang="en-US" sz="2300" i="1" dirty="0">
                <a:latin typeface="Times New Roman" panose="02020603050405020304" charset="0"/>
                <a:cs typeface="Times New Roman" panose="02020603050405020304" charset="0"/>
              </a:rPr>
              <a:t>and Everyone In-Between.</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4. </a:t>
            </a:r>
            <a:r>
              <a:rPr lang="zh-CN" altLang="en-US" sz="2300" dirty="0">
                <a:latin typeface="Times New Roman" panose="02020603050405020304" charset="0"/>
                <a:cs typeface="Times New Roman" panose="02020603050405020304" charset="0"/>
              </a:rPr>
              <a:t>A book entitled </a:t>
            </a:r>
            <a:r>
              <a:rPr lang="zh-CN" altLang="en-US" sz="2300" i="1" dirty="0">
                <a:latin typeface="Times New Roman" panose="02020603050405020304" charset="0"/>
                <a:cs typeface="Times New Roman" panose="02020603050405020304" charset="0"/>
              </a:rPr>
              <a:t>Feminist T</a:t>
            </a:r>
            <a:r>
              <a:rPr lang="en-US" altLang="zh-CN" sz="2300" i="1" dirty="0">
                <a:latin typeface="Times New Roman" panose="02020603050405020304" charset="0"/>
                <a:cs typeface="Times New Roman" panose="02020603050405020304" charset="0"/>
              </a:rPr>
              <a:t>h</a:t>
            </a:r>
            <a:r>
              <a:rPr lang="zh-CN" altLang="en-US" sz="2300" i="1" dirty="0">
                <a:latin typeface="Times New Roman" panose="02020603050405020304" charset="0"/>
                <a:cs typeface="Times New Roman" panose="02020603050405020304" charset="0"/>
              </a:rPr>
              <a:t>eory:The Intellectual Traditions of American Feminism</a:t>
            </a:r>
            <a:r>
              <a:rPr lang="zh-CN" altLang="en-US" sz="2300" dirty="0">
                <a:latin typeface="Times New Roman" panose="02020603050405020304" charset="0"/>
                <a:cs typeface="Times New Roman" panose="02020603050405020304" charset="0"/>
              </a:rPr>
              <a:t>. </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5. </a:t>
            </a:r>
            <a:r>
              <a:rPr lang="zh-CN" altLang="en-US" sz="2300" dirty="0">
                <a:latin typeface="Times New Roman" panose="02020603050405020304" charset="0"/>
                <a:cs typeface="Times New Roman" panose="02020603050405020304" charset="0"/>
              </a:rPr>
              <a:t>An article entitled </a:t>
            </a:r>
            <a:r>
              <a:rPr lang="en-US" altLang="zh-CN" sz="2300" dirty="0">
                <a:latin typeface="Times New Roman" panose="02020603050405020304" charset="0"/>
                <a:cs typeface="Times New Roman" panose="02020603050405020304" charset="0"/>
              </a:rPr>
              <a:t>“</a:t>
            </a:r>
            <a:r>
              <a:rPr lang="zh-CN" altLang="en-US" sz="2300" dirty="0">
                <a:latin typeface="Times New Roman" panose="02020603050405020304" charset="0"/>
                <a:cs typeface="Times New Roman" panose="02020603050405020304" charset="0"/>
              </a:rPr>
              <a:t>A Symposium on the Catholic Ethic and Feminism</a:t>
            </a:r>
            <a:r>
              <a:rPr lang="en-US" altLang="zh-CN" sz="2300" dirty="0">
                <a:latin typeface="Times New Roman" panose="02020603050405020304" charset="0"/>
                <a:cs typeface="Times New Roman" panose="02020603050405020304" charset="0"/>
              </a:rPr>
              <a:t>”</a:t>
            </a:r>
            <a:r>
              <a:rPr lang="zh-CN" altLang="en-US" sz="2300" dirty="0">
                <a:latin typeface="Times New Roman" panose="02020603050405020304" charset="0"/>
                <a:cs typeface="Times New Roman" panose="02020603050405020304" charset="0"/>
              </a:rPr>
              <a:t>,</a:t>
            </a:r>
            <a:r>
              <a:rPr lang="en-US" altLang="zh-CN" sz="2300" dirty="0">
                <a:latin typeface="Times New Roman" panose="02020603050405020304" charset="0"/>
                <a:cs typeface="Times New Roman" panose="02020603050405020304" charset="0"/>
              </a:rPr>
              <a:t> </a:t>
            </a:r>
            <a:r>
              <a:rPr lang="zh-CN" altLang="en-US" sz="2300" dirty="0">
                <a:latin typeface="Times New Roman" panose="02020603050405020304" charset="0"/>
                <a:cs typeface="Times New Roman" panose="02020603050405020304" charset="0"/>
              </a:rPr>
              <a:t>in the</a:t>
            </a:r>
            <a:r>
              <a:rPr lang="en-US" altLang="zh-CN" sz="2300" dirty="0">
                <a:latin typeface="Times New Roman" panose="02020603050405020304" charset="0"/>
                <a:cs typeface="Times New Roman" panose="02020603050405020304" charset="0"/>
              </a:rPr>
              <a:t> </a:t>
            </a:r>
          </a:p>
          <a:p>
            <a:pPr marL="0" indent="0" fontAlgn="auto">
              <a:lnSpc>
                <a:spcPct val="150000"/>
              </a:lnSpc>
              <a:spcBef>
                <a:spcPts val="0"/>
              </a:spcBef>
              <a:buNone/>
            </a:pPr>
            <a:r>
              <a:rPr lang="en-US" altLang="zh-CN" sz="2300" i="1" dirty="0">
                <a:latin typeface="Times New Roman" panose="02020603050405020304" charset="0"/>
                <a:cs typeface="Times New Roman" panose="02020603050405020304" charset="0"/>
              </a:rPr>
              <a:t>   </a:t>
            </a:r>
            <a:r>
              <a:rPr lang="zh-CN" altLang="en-US" sz="2300" i="1" dirty="0">
                <a:latin typeface="Times New Roman" panose="02020603050405020304" charset="0"/>
                <a:cs typeface="Times New Roman" panose="02020603050405020304" charset="0"/>
              </a:rPr>
              <a:t>International Journal of Politics,</a:t>
            </a:r>
            <a:r>
              <a:rPr lang="en-US" altLang="zh-CN" sz="2300" i="1" dirty="0">
                <a:latin typeface="Times New Roman" panose="02020603050405020304" charset="0"/>
                <a:cs typeface="Times New Roman" panose="02020603050405020304" charset="0"/>
              </a:rPr>
              <a:t> </a:t>
            </a:r>
            <a:r>
              <a:rPr lang="zh-CN" altLang="en-US" sz="2300" i="1" dirty="0">
                <a:latin typeface="Times New Roman" panose="02020603050405020304" charset="0"/>
                <a:cs typeface="Times New Roman" panose="02020603050405020304" charset="0"/>
              </a:rPr>
              <a:t>Culture, and Society</a:t>
            </a:r>
            <a:r>
              <a:rPr lang="zh-CN" altLang="en-US" sz="2300" dirty="0">
                <a:latin typeface="Times New Roman" panose="02020603050405020304" charset="0"/>
                <a:cs typeface="Times New Roman" panose="02020603050405020304" charset="0"/>
              </a:rPr>
              <a:t> published in 1995.</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6. </a:t>
            </a:r>
            <a:r>
              <a:rPr lang="zh-CN" altLang="en-US" sz="2300" dirty="0">
                <a:latin typeface="Times New Roman" panose="02020603050405020304" charset="0"/>
                <a:cs typeface="Times New Roman" panose="02020603050405020304" charset="0"/>
              </a:rPr>
              <a:t>An article entitled </a:t>
            </a:r>
            <a:r>
              <a:rPr lang="en-US" altLang="zh-CN" sz="2300" dirty="0">
                <a:latin typeface="Times New Roman" panose="02020603050405020304" charset="0"/>
                <a:cs typeface="Times New Roman" panose="02020603050405020304" charset="0"/>
              </a:rPr>
              <a:t>“</a:t>
            </a:r>
            <a:r>
              <a:rPr lang="zh-CN" altLang="en-US" sz="2300" dirty="0">
                <a:latin typeface="Times New Roman" panose="02020603050405020304" charset="0"/>
                <a:cs typeface="Times New Roman" panose="02020603050405020304" charset="0"/>
              </a:rPr>
              <a:t>Feminism Corrupts the Church</a:t>
            </a:r>
            <a:r>
              <a:rPr lang="en-US" altLang="zh-CN" sz="2300" dirty="0">
                <a:latin typeface="Times New Roman" panose="02020603050405020304" charset="0"/>
                <a:cs typeface="Times New Roman" panose="02020603050405020304" charset="0"/>
              </a:rPr>
              <a:t>”</a:t>
            </a:r>
            <a:r>
              <a:rPr lang="zh-CN" altLang="en-US" sz="2300" dirty="0">
                <a:latin typeface="Times New Roman" panose="02020603050405020304" charset="0"/>
                <a:cs typeface="Times New Roman" panose="02020603050405020304" charset="0"/>
              </a:rPr>
              <a:t> in </a:t>
            </a:r>
            <a:r>
              <a:rPr lang="zh-CN" altLang="en-US" sz="2300" i="1" dirty="0">
                <a:latin typeface="Times New Roman" panose="02020603050405020304" charset="0"/>
                <a:cs typeface="Times New Roman" panose="02020603050405020304" charset="0"/>
              </a:rPr>
              <a:t>T</a:t>
            </a:r>
            <a:r>
              <a:rPr lang="en-US" altLang="zh-CN" sz="2300" i="1" dirty="0">
                <a:latin typeface="Times New Roman" panose="02020603050405020304" charset="0"/>
                <a:cs typeface="Times New Roman" panose="02020603050405020304" charset="0"/>
              </a:rPr>
              <a:t>h</a:t>
            </a:r>
            <a:r>
              <a:rPr lang="zh-CN" altLang="en-US" sz="2300" i="1" dirty="0">
                <a:latin typeface="Times New Roman" panose="02020603050405020304" charset="0"/>
                <a:cs typeface="Times New Roman" panose="02020603050405020304" charset="0"/>
              </a:rPr>
              <a:t>e Cat</a:t>
            </a:r>
            <a:r>
              <a:rPr lang="en-US" altLang="zh-CN" sz="2300" i="1" dirty="0">
                <a:latin typeface="Times New Roman" panose="02020603050405020304" charset="0"/>
                <a:cs typeface="Times New Roman" panose="02020603050405020304" charset="0"/>
              </a:rPr>
              <a:t>h</a:t>
            </a:r>
            <a:r>
              <a:rPr lang="zh-CN" altLang="en-US" sz="2300" i="1" dirty="0">
                <a:latin typeface="Times New Roman" panose="02020603050405020304" charset="0"/>
                <a:cs typeface="Times New Roman" panose="02020603050405020304" charset="0"/>
              </a:rPr>
              <a:t>olic Digest</a:t>
            </a:r>
            <a:r>
              <a:rPr lang="zh-CN" altLang="en-US" sz="2300" dirty="0">
                <a:latin typeface="Times New Roman" panose="02020603050405020304" charset="0"/>
                <a:cs typeface="Times New Roman" panose="02020603050405020304" charset="0"/>
              </a:rPr>
              <a:t> magazine</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   </a:t>
            </a:r>
            <a:r>
              <a:rPr lang="zh-CN" altLang="en-US" sz="2300" dirty="0">
                <a:latin typeface="Times New Roman" panose="02020603050405020304" charset="0"/>
                <a:cs typeface="Times New Roman" panose="02020603050405020304" charset="0"/>
              </a:rPr>
              <a:t>published in 1995.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94690" y="-113030"/>
            <a:ext cx="10515600" cy="1325563"/>
          </a:xfrm>
        </p:spPr>
        <p:txBody>
          <a:bodyPr>
            <a:normAutofit/>
          </a:bodyPr>
          <a:lstStyle/>
          <a:p>
            <a:r>
              <a:rPr lang="en-US" altLang="zh-CN" dirty="0">
                <a:latin typeface="Times New Roman" panose="02020603050405020304" charset="0"/>
                <a:cs typeface="Times New Roman" panose="02020603050405020304" charset="0"/>
              </a:rPr>
              <a:t>Exercise 2--Identifying Relevant Sources</a:t>
            </a:r>
          </a:p>
        </p:txBody>
      </p:sp>
      <p:sp>
        <p:nvSpPr>
          <p:cNvPr id="3" name="内容占位符 2"/>
          <p:cNvSpPr>
            <a:spLocks noGrp="1"/>
          </p:cNvSpPr>
          <p:nvPr>
            <p:ph idx="1"/>
          </p:nvPr>
        </p:nvSpPr>
        <p:spPr>
          <a:xfrm>
            <a:off x="550545" y="1298575"/>
            <a:ext cx="10803255" cy="5376545"/>
          </a:xfrm>
          <a:solidFill>
            <a:schemeClr val="bg1"/>
          </a:solidFill>
        </p:spPr>
        <p:txBody>
          <a:bodyPr>
            <a:noAutofit/>
          </a:bodyPr>
          <a:lstStyle/>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Research Question:</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Does social media use affect sleep quality among university students?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Which of the following sources would be most useful? Why?</a:t>
            </a:r>
          </a:p>
          <a:p>
            <a:pPr marL="0" indent="0" fontAlgn="auto">
              <a:lnSpc>
                <a:spcPct val="150000"/>
              </a:lnSpc>
              <a:spcBef>
                <a:spcPts val="0"/>
              </a:spcBef>
              <a:buNone/>
            </a:pPr>
            <a:endParaRPr lang="en-US" altLang="zh-CN" sz="2300" dirty="0">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1. A 2010 book: The History of Social Media Platforms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2. A 2023 journal article: “Screen Time and Insomnia in Young Adults”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3. An interview with a software engineer who designs social media apps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4. A survey of 500 university students about their nighttime social media habits and sleep  </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    duration</a:t>
            </a:r>
          </a:p>
        </p:txBody>
      </p:sp>
    </p:spTree>
    <p:extLst>
      <p:ext uri="{BB962C8B-B14F-4D97-AF65-F5344CB8AC3E}">
        <p14:creationId xmlns:p14="http://schemas.microsoft.com/office/powerpoint/2010/main" val="9387138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94690" y="-113030"/>
            <a:ext cx="10515600" cy="1325563"/>
          </a:xfrm>
        </p:spPr>
        <p:txBody>
          <a:bodyPr>
            <a:normAutofit/>
          </a:bodyPr>
          <a:lstStyle/>
          <a:p>
            <a:r>
              <a:rPr lang="en-US" altLang="zh-CN" dirty="0">
                <a:latin typeface="Times New Roman" panose="02020603050405020304" charset="0"/>
                <a:cs typeface="Times New Roman" panose="02020603050405020304" charset="0"/>
              </a:rPr>
              <a:t>Exercise 3--Evaluating a Web Source</a:t>
            </a:r>
          </a:p>
        </p:txBody>
      </p:sp>
      <p:sp>
        <p:nvSpPr>
          <p:cNvPr id="3" name="内容占位符 2"/>
          <p:cNvSpPr>
            <a:spLocks noGrp="1"/>
          </p:cNvSpPr>
          <p:nvPr>
            <p:ph idx="1"/>
          </p:nvPr>
        </p:nvSpPr>
        <p:spPr>
          <a:xfrm>
            <a:off x="550545" y="1298575"/>
            <a:ext cx="10803255" cy="5376545"/>
          </a:xfrm>
          <a:solidFill>
            <a:schemeClr val="bg1"/>
          </a:solidFill>
        </p:spPr>
        <p:txBody>
          <a:bodyPr>
            <a:noAutofit/>
          </a:bodyPr>
          <a:lstStyle/>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You find this webpage:</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Title: “Why Vaccines Are Dangerous”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Author: Anonymous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Publisher: NaturalHealthTruths.com</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Last updated: 2008</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References: None</a:t>
            </a:r>
          </a:p>
          <a:p>
            <a:pPr marL="0" indent="0" fontAlgn="auto">
              <a:lnSpc>
                <a:spcPct val="150000"/>
              </a:lnSpc>
              <a:spcBef>
                <a:spcPts val="0"/>
              </a:spcBef>
              <a:buNone/>
            </a:pPr>
            <a:endParaRPr lang="en-US" altLang="zh-CN" sz="2300" dirty="0">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Questions: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Is this source credible? Why or why not?</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What criteria from the “Evaluating Web Pages” section does it fail?</a:t>
            </a:r>
          </a:p>
        </p:txBody>
      </p:sp>
    </p:spTree>
    <p:extLst>
      <p:ext uri="{BB962C8B-B14F-4D97-AF65-F5344CB8AC3E}">
        <p14:creationId xmlns:p14="http://schemas.microsoft.com/office/powerpoint/2010/main" val="30908886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94690" y="-113030"/>
            <a:ext cx="10515600" cy="1325563"/>
          </a:xfrm>
        </p:spPr>
        <p:txBody>
          <a:bodyPr>
            <a:normAutofit/>
          </a:bodyPr>
          <a:lstStyle/>
          <a:p>
            <a:r>
              <a:rPr lang="en-US" altLang="zh-CN" sz="3600" dirty="0">
                <a:latin typeface="Times New Roman" panose="02020603050405020304" charset="0"/>
                <a:cs typeface="Times New Roman" panose="02020603050405020304" charset="0"/>
              </a:rPr>
              <a:t>Exercise 4--Primary or Secondary Resources</a:t>
            </a:r>
          </a:p>
        </p:txBody>
      </p:sp>
      <p:sp>
        <p:nvSpPr>
          <p:cNvPr id="3" name="内容占位符 2"/>
          <p:cNvSpPr>
            <a:spLocks noGrp="1"/>
          </p:cNvSpPr>
          <p:nvPr>
            <p:ph idx="1"/>
          </p:nvPr>
        </p:nvSpPr>
        <p:spPr>
          <a:xfrm>
            <a:off x="550545" y="1298575"/>
            <a:ext cx="10803255" cy="5376545"/>
          </a:xfrm>
          <a:solidFill>
            <a:schemeClr val="bg1"/>
          </a:solidFill>
        </p:spPr>
        <p:txBody>
          <a:bodyPr>
            <a:noAutofit/>
          </a:bodyPr>
          <a:lstStyle/>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Classify each as Primary (P) or Secondary (S):</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1. A diary written by a nurse during the 1918 flu pandemic</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2. A textbook chapter on pandemic history</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3. Raw data from a 2024 study on air pollution and asthma</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4. A news summary of that same study</a:t>
            </a:r>
          </a:p>
        </p:txBody>
      </p:sp>
    </p:spTree>
    <p:extLst>
      <p:ext uri="{BB962C8B-B14F-4D97-AF65-F5344CB8AC3E}">
        <p14:creationId xmlns:p14="http://schemas.microsoft.com/office/powerpoint/2010/main" val="22830791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94690" y="-113030"/>
            <a:ext cx="10515600" cy="1325563"/>
          </a:xfrm>
        </p:spPr>
        <p:txBody>
          <a:bodyPr>
            <a:normAutofit/>
          </a:bodyPr>
          <a:lstStyle/>
          <a:p>
            <a:r>
              <a:rPr lang="en-US" altLang="zh-CN" sz="3200" dirty="0">
                <a:latin typeface="Times New Roman" panose="02020603050405020304" charset="0"/>
                <a:cs typeface="Times New Roman" panose="02020603050405020304" charset="0"/>
              </a:rPr>
              <a:t>Exercise 5: Short Answer – Justify Your Method</a:t>
            </a:r>
          </a:p>
        </p:txBody>
      </p:sp>
      <p:sp>
        <p:nvSpPr>
          <p:cNvPr id="3" name="内容占位符 2"/>
          <p:cNvSpPr>
            <a:spLocks noGrp="1"/>
          </p:cNvSpPr>
          <p:nvPr>
            <p:ph idx="1"/>
          </p:nvPr>
        </p:nvSpPr>
        <p:spPr>
          <a:xfrm>
            <a:off x="550545" y="1298575"/>
            <a:ext cx="10803255" cy="5376545"/>
          </a:xfrm>
          <a:solidFill>
            <a:schemeClr val="bg1"/>
          </a:solidFill>
        </p:spPr>
        <p:txBody>
          <a:bodyPr>
            <a:noAutofit/>
          </a:bodyPr>
          <a:lstStyle/>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Scenario: You want to study how first-year graduate students experience academic stress.</a:t>
            </a:r>
          </a:p>
          <a:p>
            <a:pPr marL="0" indent="0" fontAlgn="auto">
              <a:lnSpc>
                <a:spcPct val="150000"/>
              </a:lnSpc>
              <a:spcBef>
                <a:spcPts val="0"/>
              </a:spcBef>
              <a:buNone/>
            </a:pPr>
            <a:endParaRPr lang="en-US" altLang="zh-CN" sz="2300" dirty="0">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Question:</a:t>
            </a:r>
          </a:p>
          <a:p>
            <a:pPr marL="0" indent="0" fontAlgn="auto">
              <a:lnSpc>
                <a:spcPct val="150000"/>
              </a:lnSpc>
              <a:spcBef>
                <a:spcPts val="0"/>
              </a:spcBef>
              <a:buNone/>
            </a:pPr>
            <a:r>
              <a:rPr lang="en-US" altLang="zh-CN" sz="2300" dirty="0">
                <a:latin typeface="Times New Roman" panose="02020603050405020304" charset="0"/>
                <a:cs typeface="Times New Roman" panose="02020603050405020304" charset="0"/>
              </a:rPr>
              <a:t>Would you use quantitative, qualitative, or mixed methods? Give one reason.</a:t>
            </a:r>
          </a:p>
        </p:txBody>
      </p:sp>
    </p:spTree>
    <p:extLst>
      <p:ext uri="{BB962C8B-B14F-4D97-AF65-F5344CB8AC3E}">
        <p14:creationId xmlns:p14="http://schemas.microsoft.com/office/powerpoint/2010/main" val="401129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101" name="图片 100"/>
          <p:cNvPicPr/>
          <p:nvPr/>
        </p:nvPicPr>
        <p:blipFill>
          <a:blip r:embed="rId2"/>
          <a:stretch>
            <a:fillRect/>
          </a:stretch>
        </p:blipFill>
        <p:spPr>
          <a:xfrm>
            <a:off x="-635" y="0"/>
            <a:ext cx="12192635" cy="6858000"/>
          </a:xfrm>
          <a:prstGeom prst="rect">
            <a:avLst/>
          </a:prstGeom>
          <a:noFill/>
          <a:ln w="9525">
            <a:noFill/>
          </a:ln>
        </p:spPr>
      </p:pic>
      <p:sp>
        <p:nvSpPr>
          <p:cNvPr id="4" name="圆角矩形 3"/>
          <p:cNvSpPr/>
          <p:nvPr/>
        </p:nvSpPr>
        <p:spPr>
          <a:xfrm>
            <a:off x="712470" y="2996565"/>
            <a:ext cx="7075805" cy="2358390"/>
          </a:xfrm>
          <a:prstGeom prst="roundRect">
            <a:avLst/>
          </a:prstGeom>
          <a:solidFill>
            <a:srgbClr val="1D68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a:t>Thank you!</a:t>
            </a:r>
          </a:p>
        </p:txBody>
      </p:sp>
      <p:sp>
        <p:nvSpPr>
          <p:cNvPr id="5" name="文本框 4"/>
          <p:cNvSpPr txBox="1"/>
          <p:nvPr/>
        </p:nvSpPr>
        <p:spPr>
          <a:xfrm>
            <a:off x="2433955" y="1712595"/>
            <a:ext cx="4707255" cy="768350"/>
          </a:xfrm>
          <a:prstGeom prst="rect">
            <a:avLst/>
          </a:prstGeom>
          <a:noFill/>
        </p:spPr>
        <p:txBody>
          <a:bodyPr wrap="square" rtlCol="0">
            <a:spAutoFit/>
          </a:bodyPr>
          <a:lstStyle/>
          <a:p>
            <a:endParaRPr lang="en-US" altLang="zh-CN" sz="4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E1YjkyNTI0OGY5ZTY5YTFjYmVjM2U0M2U1MGM5YjQifQ=="/>
  <p:tag name="KSO_WPP_MARK_KEY" val="74a0a1ab-7577-4213-8b2e-1332c1b8b269"/>
</p:tagLst>
</file>

<file path=ppt/tags/tag2.xml><?xml version="1.0" encoding="utf-8"?>
<p:tagLst xmlns:a="http://schemas.openxmlformats.org/drawingml/2006/main" xmlns:r="http://schemas.openxmlformats.org/officeDocument/2006/relationships" xmlns:p="http://schemas.openxmlformats.org/presentationml/2006/main">
  <p:tag name="KSO_WM_SLIDE_ID" val="diagram2021329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BEAUTIFY_FLAG" val="#wm#"/>
  <p:tag name="KSO_WM_TEMPLATE_CATEGORY" val="diagram"/>
  <p:tag name="KSO_WM_TEMPLATE_INDEX" val="20213293"/>
  <p:tag name="KSO_WM_SLIDE_LAYOUT" val="a_d_f"/>
  <p:tag name="KSO_WM_SLIDE_LAYOUT_CNT" val="1_1_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2-12-15T22:40:38&quot;,&quot;maxSize&quot;:{&quot;size1&quot;:30},&quot;minSize&quot;:{&quot;size1&quot;:17.8},&quot;normalSize&quot;:{&quot;size1&quot;:25.33314814814815},&quot;subLayout&quot;:[{&quot;id&quot;:&quot;2022-12-15T22:40:38&quot;,&quot;margin&quot;:{&quot;bottom&quot;:0,&quot;left&quot;:1.6929999589920044,&quot;right&quot;:1.6929999589920044,&quot;top&quot;:1.6929999589920044},&quot;type&quot;:0},{&quot;id&quot;:&quot;2022-12-15T22:40:38&quot;,&quot;maxSize&quot;:{&quot;size1&quot;:66.7},&quot;minSize&quot;:{&quot;size1&quot;:38.9},&quot;normalSize&quot;:{&quot;size1&quot;:62.423426850370916},&quot;subLayout&quot;:[{&quot;id&quot;:&quot;2022-12-15T22:40:38&quot;,&quot;margin&quot;:{&quot;bottom&quot;:0.02600000612437725,&quot;left&quot;:1.6929999589920044,&quot;right&quot;:1.6929999589920044,&quot;top&quot;:0.847000002861023},&quot;type&quot;:0},{&quot;id&quot;:&quot;2022-12-15T22:40:38&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9675c553136823a5e61e7"/>
  <p:tag name="KSO_WM_CHIP_FILLPROP" val="[[{&quot;text_align&quot;:&quot;ct&quot;,&quot;text_direction&quot;:&quot;horizontal&quot;,&quot;support_big_font&quot;:false,&quot;picture_toward&quot;:0,&quot;picture_dockside&quot;:[],&quot;fill_id&quot;:&quot;42bdfa4a24a64d988a6191cecd716896&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video&quot;]},{&quot;text_align&quot;:&quot;cm&quot;,&quot;text_direction&quot;:&quot;horizontal&quot;,&quot;support_big_font&quot;:false,&quot;picture_toward&quot;:0,&quot;picture_dockside&quot;:[],&quot;fill_id&quot;:&quot;af7019ab30b54b018c2fc8ea2401cac8&quot;,&quot;fill_align&quot;:&quot;cm&quot;,&quot;chip_types&quot;:[&quot;text&quot;]}],[{&quot;text_align&quot;:&quot;cm&quot;,&quot;text_direction&quot;:&quot;horizontal&quot;,&quot;support_big_font&quot;:false,&quot;picture_toward&quot;:0,&quot;picture_dockside&quot;:[],&quot;fill_id&quot;:&quot;42bdfa4a24a64d988a6191cecd716896&quot;,&quot;fill_align&quot;:&quot;cm&quot;,&quot;chip_types&quot;:[&quot;header&quot;]},{&quot;text_align&quot;:&quot;lm&quot;,&quot;text_direction&quot;:&quot;horizontal&quot;,&quot;support_big_font&quot;:false,&quot;picture_toward&quot;:0,&quot;picture_dockside&quot;:[],&quot;fill_id&quot;:&quot;c7f405b535bb49fd9c504e13d5a436be&quot;,&quot;fill_align&quot;:&quot;cm&quot;,&quot;chip_types&quot;:[&quot;diagram&quot;,&quot;pictext&quot;,&quot;picture&quot;,&quot;chart&quot;,&quot;table&quot;]},{&quot;text_align&quot;:&quot;cm&quot;,&quot;text_direction&quot;:&quot;horizontal&quot;,&quot;support_big_font&quot;:false,&quot;picture_toward&quot;:0,&quot;picture_dockside&quot;:[],&quot;fill_id&quot;:&quot;af7019ab30b54b018c2fc8ea2401cac8&quot;,&quot;fill_align&quot;:&quot;cm&quot;,&quot;chip_types&quot;:[&quot;text&quot;,&quot;picture&quot;]}],[{&quot;text_align&quot;:&quot;lm&quot;,&quot;text_direction&quot;:&quot;horizontal&quot;,&quot;support_big_font&quot;:false,&quot;picture_toward&quot;:0,&quot;picture_dockside&quot;:[],&quot;fill_id&quot;:&quot;42bdfa4a24a64d988a6191cecd716896&quot;,&quot;fill_align&quot;:&quot;lm&quot;,&quot;chip_types&quot;:[&quot;text&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text_align&quot;:&quot;lm&quot;,&quot;text_direction&quot;:&quot;horizontal&quot;,&quot;support_big_font&quot;:false,&quot;picture_toward&quot;:0,&quot;picture_dockside&quot;:[],&quot;fill_id&quot;:&quot;af7019ab30b54b018c2fc8ea2401cac8&quot;,&quot;fill_align&quot;:&quot;lm&quot;,&quot;chip_types&quot;:[&quot;text&quot;,&quot;picture&quot;]}]]"/>
  <p:tag name="KSO_WM_SLIDE_SIZE" val="865*444"/>
  <p:tag name="KSO_WM_SLIDE_POSITION" val="47*48"/>
  <p:tag name="FIXED_XID_TMP" val="5f5ee1ca4d6848d78f644aed"/>
  <p:tag name="KSO_WM_CHIP_DECFILLPROP" val="[]"/>
  <p:tag name="KSO_WM_CHIP_GROUPID" val="5f5ee1ca4d6848d78f644aed"/>
  <p:tag name="KSO_WM_SLIDE_BK_DARK_LIGHT" val="2"/>
  <p:tag name="KSO_WM_SLIDE_BACKGROUND_TYPE" val="general"/>
  <p:tag name="KSO_WM_SLIDE_SUPPORT_FEATURE_TYPE" val="3"/>
  <p:tag name="KSO_WM_TEMPLATE_ASSEMBLE_XID" val="639b31e60c9383becdeaa802"/>
  <p:tag name="KSO_WM_TEMPLATE_ASSEMBLE_GROUPID" val="639b31e60c9383becdeaa802"/>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293_1*a*1"/>
  <p:tag name="KSO_WM_TEMPLATE_CATEGORY" val="diagram"/>
  <p:tag name="KSO_WM_TEMPLATE_INDEX" val="2021329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eac46169eb2b460bb4a610ed53a67e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12c141ff192434a81f8ec7859d8d7f3"/>
  <p:tag name="KSO_WM_UNIT_TEXT_FILL_FORE_SCHEMECOLOR_INDEX_BRIGHTNESS" val="0"/>
  <p:tag name="KSO_WM_UNIT_TEXT_FILL_FORE_SCHEMECOLOR_INDEX" val="13"/>
  <p:tag name="KSO_WM_UNIT_TEXT_FILL_TYPE" val="1"/>
  <p:tag name="KSO_WM_TEMPLATE_ASSEMBLE_XID" val="639b31e60c9383becdeaa802"/>
  <p:tag name="KSO_WM_TEMPLATE_ASSEMBLE_GROUPID" val="639b31e60c9383becdeaa802"/>
</p:tagLst>
</file>

<file path=ppt/tags/tag4.xml><?xml version="1.0" encoding="utf-8"?>
<p:tagLst xmlns:a="http://schemas.openxmlformats.org/drawingml/2006/main" xmlns:r="http://schemas.openxmlformats.org/officeDocument/2006/relationships" xmlns:p="http://schemas.openxmlformats.org/presentationml/2006/main">
  <p:tag name="KSO_WM_UNIT_VALUE" val="761*3046"/>
  <p:tag name="KSO_WM_UNIT_HIGHLIGHT" val="0"/>
  <p:tag name="KSO_WM_UNIT_COMPATIBLE" val="0"/>
  <p:tag name="KSO_WM_UNIT_DIAGRAM_ISNUMVISUAL" val="0"/>
  <p:tag name="KSO_WM_UNIT_DIAGRAM_ISREFERUNIT" val="0"/>
  <p:tag name="KSO_WM_UNIT_TYPE" val="d"/>
  <p:tag name="KSO_WM_UNIT_INDEX" val="1"/>
  <p:tag name="KSO_WM_UNIT_ID" val="diagram20213293_1*d*1"/>
  <p:tag name="KSO_WM_TEMPLATE_CATEGORY" val="diagram"/>
  <p:tag name="KSO_WM_TEMPLATE_INDEX" val="20213293"/>
  <p:tag name="KSO_WM_UNIT_LAYERLEVEL" val="1"/>
  <p:tag name="KSO_WM_TAG_VERSION" val="1.0"/>
  <p:tag name="KSO_WM_BEAUTIFY_FLAG" val="#wm#"/>
  <p:tag name="KSO_WM_CHIP_GROUPID" val="5e7310da9a230a26b9e88a19"/>
  <p:tag name="KSO_WM_CHIP_XID" val="5e7310da9a230a26b9e88a1a"/>
  <p:tag name="KSO_WM_UNIT_DEC_AREA_ID" val="d39d48b01a0a4808a05868f443a940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28373cf9a1d42b2ad4400f46103fc14"/>
  <p:tag name="KSO_WM_UNIT_SUPPORT_UNIT_TYPE" val="[&quot;l&quot;,&quot;m&quot;,&quot;n&quot;,&quot;o&quot;,&quot;p&quot;,&quot;q&quot;,&quot;r&quot;,&quot;δ&quot;,&quot;ε&quot;,&quot;ζ&quot;,&quot;η&quot;,&quot;d&quot;,&quot;α&quot;,&quot;β&quot;,&quot;θ&quot;]"/>
  <p:tag name="KSO_WM_TEMPLATE_ASSEMBLE_XID" val="639b31e60c9383becdeaa802"/>
  <p:tag name="KSO_WM_TEMPLATE_ASSEMBLE_GROUPID" val="639b31e60c9383becdeaa802"/>
  <p:tag name="KSO_WM_UNIT_PICTURE_CLIP_FLAG" val="0"/>
</p:tagLst>
</file>

<file path=ppt/tags/tag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293_1*f*1"/>
  <p:tag name="KSO_WM_TEMPLATE_CATEGORY" val="diagram"/>
  <p:tag name="KSO_WM_TEMPLATE_INDEX" val="20213293"/>
  <p:tag name="KSO_WM_UNIT_LAYERLEVEL" val="1"/>
  <p:tag name="KSO_WM_TAG_VERSION" val="1.0"/>
  <p:tag name="KSO_WM_BEAUTIFY_FLAG" val="#wm#"/>
  <p:tag name="KSO_WM_UNIT_DEFAULT_FONT" val="14;20;2"/>
  <p:tag name="KSO_WM_UNIT_BLOCK" val="0"/>
  <p:tag name="KSO_WM_UNIT_VALUE" val="172"/>
  <p:tag name="KSO_WM_UNIT_SHOW_EDIT_AREA_INDICATION" val="1"/>
  <p:tag name="KSO_WM_CHIP_GROUPID" val="5e6b05596848fb12bee65ac8"/>
  <p:tag name="KSO_WM_CHIP_XID" val="5e6b05596848fb12bee65aca"/>
  <p:tag name="KSO_WM_UNIT_DEC_AREA_ID" val="f3ba6b55ee6d4aec98d86b43aa728f7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db306efbae44b9a7ac00fd1cb9e337"/>
  <p:tag name="KSO_WM_UNIT_TEXT_FILL_FORE_SCHEMECOLOR_INDEX_BRIGHTNESS" val="0.25"/>
  <p:tag name="KSO_WM_UNIT_TEXT_FILL_FORE_SCHEMECOLOR_INDEX" val="13"/>
  <p:tag name="KSO_WM_UNIT_TEXT_FILL_TYPE" val="1"/>
  <p:tag name="KSO_WM_TEMPLATE_ASSEMBLE_XID" val="639b31e60c9383becdeaa802"/>
  <p:tag name="KSO_WM_TEMPLATE_ASSEMBLE_GROUPID" val="639b31e60c9383becdeaa802"/>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TotalTime>
  <Words>2613</Words>
  <Application>Microsoft Office PowerPoint</Application>
  <PresentationFormat>宽屏</PresentationFormat>
  <Paragraphs>356</Paragraphs>
  <Slides>59</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59</vt:i4>
      </vt:variant>
    </vt:vector>
  </HeadingPairs>
  <TitlesOfParts>
    <vt:vector size="64" baseType="lpstr">
      <vt:lpstr>Arial</vt:lpstr>
      <vt:lpstr>Calibri</vt:lpstr>
      <vt:lpstr>Times New Roman</vt:lpstr>
      <vt:lpstr>Wingdings</vt:lpstr>
      <vt:lpstr>Office 主题</vt:lpstr>
      <vt:lpstr>PowerPoint 演示文稿</vt:lpstr>
      <vt:lpstr>PowerPoint 演示文稿</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国家统计局http://www.stats.gov.cn/</vt:lpstr>
      <vt:lpstr>国家数据  http://data.stats.gov.cn/index.htm</vt:lpstr>
      <vt:lpstr>万德  http://www.wind.com.cn/</vt:lpstr>
      <vt:lpstr>搜数网 http://www.soshoo.com/</vt:lpstr>
      <vt:lpstr>中国统计信息网    http://www.tjcn.org/</vt:lpstr>
      <vt:lpstr>万方数据库</vt:lpstr>
      <vt:lpstr>人大复印</vt:lpstr>
      <vt:lpstr>维普</vt:lpstr>
      <vt:lpstr>微软学术搜索http://academic.research.microsoft.com/</vt:lpstr>
      <vt:lpstr>   德国base学术搜索http://www.base-search.net/   </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Data Collection and Evaluation</vt:lpstr>
      <vt:lpstr>Exercise 1--Evaluating Resources</vt:lpstr>
      <vt:lpstr>Exercise 1--Evaluating Resources</vt:lpstr>
      <vt:lpstr>Exercise 2--Identifying Relevant Sources</vt:lpstr>
      <vt:lpstr>Exercise 3--Evaluating a Web Source</vt:lpstr>
      <vt:lpstr>Exercise 4--Primary or Secondary Resources</vt:lpstr>
      <vt:lpstr>Exercise 5: Short Answer – Justify Your Method</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dc:creator>
  <cp:lastModifiedBy>SY</cp:lastModifiedBy>
  <cp:revision>38</cp:revision>
  <dcterms:created xsi:type="dcterms:W3CDTF">2023-03-28T04:52:00Z</dcterms:created>
  <dcterms:modified xsi:type="dcterms:W3CDTF">2026-04-19T13:42:59Z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726A28146D844D60A8CCF8E3A1FE47D5_12</vt:lpwstr>
  </property>
  <property fmtid="{D5CDD505-2E9C-101B-9397-08002B2CF9AE}" pid="3" name="KSOProductBuildVer">
    <vt:lpwstr>2052-12.1.0.20784</vt:lpwstr>
  </property>
</Properties>
</file>