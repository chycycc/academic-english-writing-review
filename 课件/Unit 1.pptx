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5" r:id="rId2"/>
    <p:sldId id="306" r:id="rId3"/>
    <p:sldId id="308" r:id="rId4"/>
    <p:sldId id="311" r:id="rId5"/>
    <p:sldId id="312" r:id="rId6"/>
    <p:sldId id="313" r:id="rId7"/>
    <p:sldId id="315" r:id="rId8"/>
    <p:sldId id="314" r:id="rId9"/>
    <p:sldId id="316" r:id="rId10"/>
    <p:sldId id="317" r:id="rId11"/>
    <p:sldId id="328" r:id="rId12"/>
    <p:sldId id="319" r:id="rId13"/>
    <p:sldId id="321" r:id="rId14"/>
    <p:sldId id="331" r:id="rId15"/>
    <p:sldId id="322" r:id="rId16"/>
    <p:sldId id="323" r:id="rId17"/>
    <p:sldId id="324" r:id="rId18"/>
    <p:sldId id="325" r:id="rId19"/>
    <p:sldId id="326" r:id="rId20"/>
    <p:sldId id="327" r:id="rId21"/>
    <p:sldId id="329" r:id="rId22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/>
          <p:cNvSpPr txBox="1"/>
          <p:nvPr>
            <p:custDataLst>
              <p:tags r:id="rId2"/>
            </p:custDataLst>
          </p:nvPr>
        </p:nvSpPr>
        <p:spPr>
          <a:xfrm>
            <a:off x="609600" y="410845"/>
            <a:ext cx="10972800" cy="1326515"/>
          </a:xfrm>
          <a:prstGeom prst="rect">
            <a:avLst/>
          </a:prstGeom>
          <a:noFill/>
        </p:spPr>
        <p:txBody>
          <a:bodyPr wrap="square" lIns="63500" tIns="25400" rIns="63500" bIns="25400" rtlCol="0" anchor="t" anchorCtr="0">
            <a:normAutofit fontScale="82500" lnSpcReduction="20000"/>
          </a:bodyPr>
          <a:lstStyle/>
          <a:p>
            <a:pPr indent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zh-CN" sz="50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Writing</a:t>
            </a:r>
            <a:r>
              <a:rPr lang="zh-CN" altLang="en-US" sz="50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50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Research</a:t>
            </a:r>
            <a:r>
              <a:rPr lang="zh-CN" altLang="en-US" sz="50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50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Papers</a:t>
            </a:r>
            <a:r>
              <a:rPr lang="en-US" altLang="zh-CN" sz="5000" b="1" spc="17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</a:p>
          <a:p>
            <a:pPr indent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zh-CN" sz="3200" b="1" spc="170">
                <a:solidFill>
                  <a:schemeClr val="accent1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《学术英语论文写作》</a:t>
            </a:r>
          </a:p>
        </p:txBody>
      </p:sp>
      <p:pic>
        <p:nvPicPr>
          <p:cNvPr id="7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6"/>
          <a:srcRect t="26602" b="26602"/>
          <a:stretch>
            <a:fillRect/>
          </a:stretch>
        </p:blipFill>
        <p:spPr>
          <a:xfrm>
            <a:off x="609562" y="2042160"/>
            <a:ext cx="10972876" cy="288926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280" h="4320">
                <a:moveTo>
                  <a:pt x="0" y="0"/>
                </a:moveTo>
                <a:lnTo>
                  <a:pt x="17280" y="0"/>
                </a:lnTo>
                <a:lnTo>
                  <a:pt x="17280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accent2">
                <a:lumMod val="20000"/>
                <a:lumOff val="80000"/>
              </a:schemeClr>
            </a:solidFill>
          </a:ln>
        </p:spPr>
      </p:pic>
      <p:sp>
        <p:nvSpPr>
          <p:cNvPr id="11" name="Title 6"/>
          <p:cNvSpPr txBox="1"/>
          <p:nvPr>
            <p:custDataLst>
              <p:tags r:id="rId4"/>
            </p:custDataLst>
          </p:nvPr>
        </p:nvSpPr>
        <p:spPr>
          <a:xfrm>
            <a:off x="609562" y="5236196"/>
            <a:ext cx="10972800" cy="859804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en-US" altLang="zh-CN" sz="2400" b="1" kern="0" spc="0">
                <a:ln w="3175">
                  <a:noFill/>
                  <a:prstDash val="dash"/>
                </a:ln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Lecturer: Liu Xindan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altLang="zh-CN" sz="3600" i="1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The beginning is the most important part of work.</a:t>
            </a:r>
            <a:endParaRPr kumimoji="0" lang="en-US" altLang="zh-CN" sz="3600" b="0" i="1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ahom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altLang="zh-CN" sz="3600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                                                               ---Plato</a:t>
            </a:r>
            <a:endParaRPr lang="en-US" altLang="zh-CN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z="2800" b="1" dirty="0">
                <a:latin typeface="Times New Roman" panose="02020603050405020304" charset="0"/>
                <a:sym typeface="+mn-ea"/>
              </a:rPr>
              <a:t>Chapter </a:t>
            </a:r>
            <a:r>
              <a:rPr lang="en-US" altLang="zh-CN" sz="2800" b="1" dirty="0">
                <a:latin typeface="Times New Roman" panose="02020603050405020304" charset="0"/>
                <a:sym typeface="+mn-ea"/>
              </a:rPr>
              <a:t> </a:t>
            </a:r>
            <a:r>
              <a:rPr lang="zh-CN" altLang="zh-CN" sz="2800" b="1" dirty="0">
                <a:latin typeface="Times New Roman" panose="02020603050405020304" charset="0"/>
                <a:sym typeface="+mn-ea"/>
              </a:rPr>
              <a:t>1 </a:t>
            </a:r>
            <a:r>
              <a:rPr lang="en-US" altLang="zh-CN" sz="2800" b="1" dirty="0">
                <a:latin typeface="Times New Roman" panose="02020603050405020304" charset="0"/>
                <a:sym typeface="+mn-ea"/>
              </a:rPr>
              <a:t>   </a:t>
            </a:r>
            <a:r>
              <a:rPr lang="zh-CN" altLang="zh-CN" sz="2800" b="1" dirty="0">
                <a:latin typeface="Times New Roman" panose="02020603050405020304" charset="0"/>
                <a:sym typeface="+mn-ea"/>
              </a:rPr>
              <a:t>Introduction</a:t>
            </a:r>
            <a:br>
              <a:rPr lang="zh-CN" altLang="zh-CN" sz="2800" dirty="0">
                <a:sym typeface="+mn-ea"/>
              </a:rPr>
            </a:b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57325"/>
            <a:ext cx="10515600" cy="4351338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z="2400" b="1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1.1 Definition of Academic Writing</a:t>
            </a:r>
            <a:endParaRPr kumimoji="0" lang="en-US" altLang="zh-CN" sz="2400" b="1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ahoma" panose="020B060403050404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endParaRPr kumimoji="0" lang="en-US" altLang="zh-CN" sz="2400" b="1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ahoma" panose="020B060403050404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altLang="zh-CN" sz="2400" spc="30" noProof="0">
                <a:ln>
                  <a:noFill/>
                </a:ln>
                <a:effectLst/>
                <a:uLnTx/>
                <a:uFillTx/>
                <a:cs typeface="Tahoma" panose="020B0604030504040204" pitchFamily="34" charset="0"/>
                <a:sym typeface="+mn-ea"/>
              </a:rPr>
              <a:t>Exercise: Tell the differences</a:t>
            </a:r>
            <a:endParaRPr kumimoji="0" lang="zh-CN" altLang="en-US" sz="2400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ahoma" panose="020B060403050404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36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2843530"/>
            <a:ext cx="6080125" cy="351472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6770" y="594360"/>
            <a:ext cx="10515600" cy="5358765"/>
          </a:xfrm>
        </p:spPr>
        <p:txBody>
          <a:bodyPr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altLang="zh-CN" sz="3200" b="1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Technical writing</a:t>
            </a:r>
            <a:r>
              <a:rPr lang="en-US" altLang="zh-CN" sz="3200" b="1" spc="3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:</a:t>
            </a:r>
            <a:r>
              <a:rPr lang="zh-CN" altLang="en-US" sz="3200" b="1" spc="3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3200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always pragmatic while academic writing may or may not be. Technical writing is not breaking new ground, but consolidating and explaining established </a:t>
            </a:r>
            <a:r>
              <a:rPr lang="en-US" altLang="zh-CN" sz="3200" spc="3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non-theoretical</a:t>
            </a:r>
            <a:r>
              <a:rPr lang="en-US" altLang="zh-CN" sz="3200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information for the use of readers without extensive training or learning. Textbooks also are of this type.</a:t>
            </a:r>
            <a:endParaRPr kumimoji="0" lang="en-US" altLang="zh-CN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endParaRPr kumimoji="0" lang="zh-CN" altLang="zh-CN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altLang="zh-CN" sz="3200" b="1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Academic writing</a:t>
            </a:r>
            <a:r>
              <a:rPr lang="en-US" altLang="zh-CN" sz="3200" b="1" spc="3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lang="en-US" altLang="zh-CN" sz="3200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describes the original research a researcher has completed or is currently working on. It presents previously unknown information for the first time. </a:t>
            </a:r>
            <a:endParaRPr kumimoji="1" lang="zh-CN" altLang="en-US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indent="0" fontAlgn="auto">
              <a:lnSpc>
                <a:spcPct val="150000"/>
              </a:lnSpc>
              <a:buNone/>
            </a:pPr>
            <a:endParaRPr kumimoji="1" lang="zh-CN" altLang="en-US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6770" y="594360"/>
            <a:ext cx="10515600" cy="5358765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altLang="zh-CN" sz="3200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1. </a:t>
            </a:r>
            <a:r>
              <a:rPr lang="zh-CN" altLang="zh-CN" sz="3200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---to summarize or synthesize information and ideas gathered from research</a:t>
            </a:r>
            <a:endParaRPr kumimoji="0" lang="en-US" altLang="zh-CN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ahoma" panose="020B0604030504040204" pitchFamily="34" charset="0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AutoNum type="arabicPeriod"/>
              <a:defRPr/>
            </a:pPr>
            <a:endParaRPr kumimoji="0" lang="zh-CN" altLang="zh-CN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ahoma" panose="020B060403050404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en-US" altLang="zh-CN" sz="3200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2.</a:t>
            </a:r>
            <a:r>
              <a:rPr lang="zh-CN" altLang="en-US" sz="3200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 </a:t>
            </a:r>
            <a:r>
              <a:rPr lang="zh-CN" altLang="zh-CN" sz="3200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--- to explain, compare and contrast, evaluate, or analyze concepts, events, and phenomenon</a:t>
            </a:r>
            <a:endParaRPr kumimoji="0" lang="en-US" altLang="zh-CN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ahoma" panose="020B060403050404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endParaRPr kumimoji="0" lang="zh-CN" altLang="zh-CN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ahoma" panose="020B060403050404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en-US" altLang="zh-CN" sz="3200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3.</a:t>
            </a:r>
            <a:r>
              <a:rPr lang="zh-CN" altLang="en-US" sz="3200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 </a:t>
            </a:r>
            <a:r>
              <a:rPr lang="zh-CN" altLang="zh-CN" sz="3200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--- to argue for or against a position in an ongoing debate</a:t>
            </a:r>
            <a:endParaRPr kumimoji="0" lang="zh-CN" altLang="zh-CN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ahom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Char char="•"/>
              <a:defRPr/>
            </a:pPr>
            <a:endParaRPr kumimoji="1" lang="zh-CN" altLang="en-US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ahoma" panose="020B060403050404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endParaRPr kumimoji="1" lang="zh-CN" altLang="en-US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indent="0" fontAlgn="auto">
              <a:lnSpc>
                <a:spcPct val="150000"/>
              </a:lnSpc>
              <a:buNone/>
            </a:pPr>
            <a:endParaRPr kumimoji="1" lang="zh-CN" altLang="en-US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6770" y="594360"/>
            <a:ext cx="10515600" cy="5358765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1.2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Features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of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Research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Articles</a:t>
            </a:r>
            <a:endParaRPr kumimoji="1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scholars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need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to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publish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peer-reviewed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articles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in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academic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journals.</a:t>
            </a:r>
            <a:endParaRPr kumimoji="1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Chinese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Scholars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need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to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learn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to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write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beautifully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in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English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as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well.</a:t>
            </a:r>
            <a:endParaRPr kumimoji="1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All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academic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disciplines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are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represented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by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multiple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journals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that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publish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research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findings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or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outcomes</a:t>
            </a:r>
            <a:endParaRPr kumimoji="1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Articles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are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typically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anonymous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and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peer-reviewed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by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other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researchers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within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topic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area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before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they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are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published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to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ensure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the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quality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and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credibility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of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the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research.</a:t>
            </a:r>
            <a:endParaRPr kumimoji="1" lang="zh-CN" altLang="en-US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endParaRPr kumimoji="1" lang="zh-CN" altLang="en-US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indent="0" fontAlgn="auto">
              <a:lnSpc>
                <a:spcPct val="150000"/>
              </a:lnSpc>
              <a:buNone/>
            </a:pPr>
            <a:endParaRPr kumimoji="1" lang="zh-CN" altLang="en-US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3"/>
          </p:nvPr>
        </p:nvSpPr>
        <p:spPr>
          <a:xfrm>
            <a:off x="491490" y="457200"/>
            <a:ext cx="11315065" cy="6781800"/>
          </a:xfrm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The fatalism in </a:t>
            </a:r>
            <a:r>
              <a:rPr kumimoji="0" lang="en-US" altLang="zh-CN" sz="1800" b="0" i="1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Tess of </a:t>
            </a:r>
            <a:r>
              <a:rPr kumimoji="0" lang="en-US" altLang="zh-CN" sz="1800" b="0" i="1" u="none" strike="noStrike" kern="1200" cap="none" spc="3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D’irbervilles</a:t>
            </a:r>
            <a:r>
              <a:rPr kumimoji="0" lang="en-US" altLang="zh-CN" sz="1800" b="0" i="1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 </a:t>
            </a: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and Confucius’ view of “Tian Ming”《</a:t>
            </a:r>
            <a:r>
              <a:rPr kumimoji="0" lang="zh-CN" altLang="en-US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德伯家的苔丝</a:t>
            </a: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》</a:t>
            </a:r>
            <a:r>
              <a:rPr kumimoji="0" lang="zh-CN" altLang="en-US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中的宿命论与孔子的天命思想</a:t>
            </a: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"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Comparison of Hero Image in The Count of Monte and Nirvana in Fire《</a:t>
            </a:r>
            <a:r>
              <a:rPr kumimoji="0" lang="zh-CN" altLang="en-US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基督山伯爵</a:t>
            </a: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》</a:t>
            </a:r>
            <a:r>
              <a:rPr kumimoji="0" lang="zh-CN" altLang="en-US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与</a:t>
            </a: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《</a:t>
            </a:r>
            <a:r>
              <a:rPr kumimoji="0" lang="zh-CN" altLang="en-US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琅琊榜</a:t>
            </a: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》</a:t>
            </a:r>
            <a:r>
              <a:rPr kumimoji="0" lang="zh-CN" altLang="en-US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中男主人公英雄形象对比研究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"The Educational Philosophy in Les </a:t>
            </a:r>
            <a:r>
              <a:rPr kumimoji="0" lang="en-US" altLang="zh-CN" sz="1800" b="0" i="0" u="none" strike="noStrike" kern="1200" cap="none" spc="3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Choristes</a:t>
            </a: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 and Its Enlightenment on the New Curriculum Reform in Chinese Education《</a:t>
            </a:r>
            <a:r>
              <a:rPr kumimoji="0" lang="zh-CN" altLang="en-US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放牛班的春天</a:t>
            </a: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》</a:t>
            </a:r>
            <a:r>
              <a:rPr kumimoji="0" lang="zh-CN" altLang="en-US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的教育理念对中国教育新课程改革的启发</a:t>
            </a: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"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"An Analysis of Cultural Elements Interpretation of 2015 President Xi’s Speeches—from the Perspective of </a:t>
            </a:r>
            <a:r>
              <a:rPr kumimoji="0" lang="en-US" altLang="zh-CN" sz="1800" b="0" i="0" u="none" strike="noStrike" kern="1200" cap="none" spc="3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Skopos</a:t>
            </a: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 Theory</a:t>
            </a:r>
            <a:r>
              <a:rPr kumimoji="0" lang="zh-CN" altLang="en-US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从目的论角度分析习近平主席</a:t>
            </a: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2015</a:t>
            </a:r>
            <a:r>
              <a:rPr kumimoji="0" lang="zh-CN" altLang="en-US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年讲话中文化因素的口译</a:t>
            </a: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"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"A Contrastive Analysis of American Dream and Chinese Dream Reflected in The Great Gatsby and The Ordinary World</a:t>
            </a:r>
            <a:r>
              <a:rPr kumimoji="0" lang="zh-CN" altLang="en-US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分析</a:t>
            </a: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《</a:t>
            </a:r>
            <a:r>
              <a:rPr kumimoji="0" lang="zh-CN" altLang="en-US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了不起的盖茨比</a:t>
            </a: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》</a:t>
            </a:r>
            <a:r>
              <a:rPr kumimoji="0" lang="zh-CN" altLang="en-US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和</a:t>
            </a: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《</a:t>
            </a:r>
            <a:r>
              <a:rPr kumimoji="0" lang="zh-CN" altLang="en-US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平凡的世界</a:t>
            </a: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》</a:t>
            </a:r>
            <a:r>
              <a:rPr kumimoji="0" lang="zh-CN" altLang="en-US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中主人公美国梦与中国梦的不同</a:t>
            </a: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"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"An Analysis of Social Reasons for the Popularity of “Doomsday” Theme in Western Movies — A Case Study of 2012</a:t>
            </a:r>
            <a:r>
              <a:rPr kumimoji="0" lang="zh-CN" altLang="en-US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西方电影中“末日”主题流行的社会原因分析</a:t>
            </a: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——</a:t>
            </a:r>
            <a:r>
              <a:rPr kumimoji="0" lang="zh-CN" altLang="en-US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以电影</a:t>
            </a: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《2012》</a:t>
            </a:r>
            <a:r>
              <a:rPr kumimoji="0" lang="zh-CN" altLang="en-US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为例</a:t>
            </a: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"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Curbing China’s Haze Pollution by Learning from America</a:t>
            </a:r>
            <a:r>
              <a:rPr kumimoji="0" lang="zh-CN" altLang="en-US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从美国治污看中国雾霾治理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"The Analysis of Differences Between Chinese And American Family Relationship From The Values of Intercultural communication Perspective</a:t>
            </a:r>
            <a:r>
              <a:rPr kumimoji="0" lang="zh-CN" altLang="en-US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从跨文化角度分析中美家庭关系的差异</a:t>
            </a:r>
            <a:r>
              <a:rPr kumimoji="0" lang="en-US" altLang="zh-CN" sz="1800" b="0" i="0" u="none" strike="noStrike" kern="1200" cap="none" spc="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"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6770" y="594360"/>
            <a:ext cx="10515600" cy="5358765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PS: You are expected to do more than summarize what you read, you need to demonstrate your own ideas and draw conclusions from it.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endParaRPr kumimoji="0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Eg. </a:t>
            </a:r>
            <a:r>
              <a:rPr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“A Contrastive Analysis of American Dream and Chinese Dream Reflected in </a:t>
            </a:r>
            <a:r>
              <a:rPr lang="en-US" altLang="zh-CN" i="1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Great Gatsby </a:t>
            </a:r>
            <a:r>
              <a:rPr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and </a:t>
            </a:r>
            <a:r>
              <a:rPr lang="en-US" altLang="zh-CN" i="1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Ordinary World</a:t>
            </a:r>
            <a:r>
              <a:rPr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” </a:t>
            </a:r>
            <a:r>
              <a:rPr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分析</a:t>
            </a:r>
            <a:r>
              <a:rPr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《</a:t>
            </a:r>
            <a:r>
              <a:rPr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了不起的盖茨比</a:t>
            </a:r>
            <a:r>
              <a:rPr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》</a:t>
            </a:r>
            <a:r>
              <a:rPr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和</a:t>
            </a:r>
            <a:r>
              <a:rPr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《</a:t>
            </a:r>
            <a:r>
              <a:rPr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平凡的世界</a:t>
            </a:r>
            <a:r>
              <a:rPr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》</a:t>
            </a:r>
            <a:r>
              <a:rPr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中主人公美国梦与中国梦的不同</a:t>
            </a:r>
            <a:endParaRPr kumimoji="1" lang="zh-CN" altLang="en-US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indent="0" fontAlgn="auto">
              <a:lnSpc>
                <a:spcPct val="150000"/>
              </a:lnSpc>
              <a:buNone/>
            </a:pPr>
            <a:endParaRPr kumimoji="1" lang="zh-CN" altLang="en-US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6770" y="594360"/>
            <a:ext cx="10515600" cy="5358765"/>
          </a:xfrm>
        </p:spPr>
        <p:txBody>
          <a:bodyPr>
            <a:no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Categories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of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research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articles:</a:t>
            </a:r>
            <a:endParaRPr kumimoji="1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Char char="•"/>
              <a:defRPr/>
            </a:pPr>
            <a:endParaRPr kumimoji="1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1.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Empirical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articles(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实证性的文章）</a:t>
            </a:r>
            <a:endParaRPr kumimoji="1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2.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Conceptual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articles(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思辨性的文章）</a:t>
            </a:r>
            <a:endParaRPr kumimoji="1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3.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Propositional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articles(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论述性的文章）</a:t>
            </a:r>
            <a:endParaRPr kumimoji="1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4.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Response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articles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（回应性文章）</a:t>
            </a:r>
            <a:endParaRPr kumimoji="1" lang="zh-CN" altLang="en-US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indent="0" fontAlgn="auto">
              <a:lnSpc>
                <a:spcPct val="150000"/>
              </a:lnSpc>
              <a:buNone/>
            </a:pPr>
            <a:endParaRPr kumimoji="1" lang="zh-CN" altLang="en-US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6770" y="594360"/>
            <a:ext cx="10515600" cy="5358765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1.2.</a:t>
            </a:r>
            <a:r>
              <a:rPr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Translation-based</a:t>
            </a:r>
            <a:r>
              <a:rPr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English</a:t>
            </a:r>
            <a:r>
              <a:rPr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(TBE)</a:t>
            </a:r>
            <a:r>
              <a:rPr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article</a:t>
            </a:r>
            <a:endParaRPr kumimoji="0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endParaRPr kumimoji="0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a. Each sentence may look fine, but look odd when put together</a:t>
            </a:r>
            <a:endParaRPr kumimoji="0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b. do not have lexical cohesiveness and semantic precision</a:t>
            </a:r>
            <a:endParaRPr kumimoji="0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c. do not follow the formula expectations of a standard academic   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journal </a:t>
            </a:r>
            <a:endParaRPr kumimoji="0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endParaRPr kumimoji="0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</a:t>
            </a:r>
            <a:r>
              <a:rPr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you may not be aware of the TBE</a:t>
            </a:r>
            <a:r>
              <a:rPr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indent="0" fontAlgn="auto">
              <a:lnSpc>
                <a:spcPct val="150000"/>
              </a:lnSpc>
              <a:buNone/>
            </a:pPr>
            <a:endParaRPr kumimoji="1" lang="zh-CN" altLang="en-US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6770" y="594360"/>
            <a:ext cx="10515600" cy="5358765"/>
          </a:xfrm>
        </p:spPr>
        <p:txBody>
          <a:bodyPr>
            <a:no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Problems of TBE</a:t>
            </a:r>
            <a:endParaRPr kumimoji="1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a. There is a lack of coherent structure </a:t>
            </a:r>
            <a:endParaRPr kumimoji="1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b. There is a lack of cohesive style</a:t>
            </a:r>
            <a:endParaRPr kumimoji="1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C. There is a lack of sentence precision</a:t>
            </a:r>
            <a:endParaRPr kumimoji="1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d. There is a lack of research gap in identification</a:t>
            </a:r>
            <a:endParaRPr kumimoji="1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e. There is a lack of formulaic writing awareness</a:t>
            </a:r>
            <a:endParaRPr kumimoji="1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f. There is a lack of word precision </a:t>
            </a:r>
            <a:endParaRPr kumimoji="1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g. There is a lack of citation precision</a:t>
            </a:r>
            <a:endParaRPr kumimoji="1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h. There is a lack of academic voice </a:t>
            </a:r>
            <a:endParaRPr kumimoji="1" lang="en-US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     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Read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exemplary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articles</a:t>
            </a:r>
            <a:r>
              <a:rPr kumimoji="1" lang="zh-CN" altLang="en-US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kumimoji="1"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!</a:t>
            </a:r>
            <a:endParaRPr kumimoji="1" lang="zh-CN" altLang="en-US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indent="0" fontAlgn="auto">
              <a:lnSpc>
                <a:spcPct val="150000"/>
              </a:lnSpc>
              <a:buNone/>
            </a:pPr>
            <a:endParaRPr kumimoji="1" lang="zh-CN" altLang="en-US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6770" y="594360"/>
            <a:ext cx="10515600" cy="5358765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b="1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1.2 Characteristics of Good Academic Writing</a:t>
            </a:r>
            <a:endParaRPr kumimoji="0" lang="zh-CN" altLang="zh-CN" b="1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ahoma" panose="020B060403050404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For all writings:</a:t>
            </a:r>
            <a:endParaRPr kumimoji="0" lang="en-US" altLang="zh-CN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ahoma" panose="020B060403050404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en-US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1.</a:t>
            </a:r>
            <a:endParaRPr kumimoji="0" lang="zh-CN" altLang="zh-CN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ahoma" panose="020B060403050404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--- Unity</a:t>
            </a:r>
            <a:r>
              <a:rPr lang="en-US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: </a:t>
            </a: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a harmonious whole</a:t>
            </a:r>
            <a:endParaRPr kumimoji="0" lang="zh-CN" altLang="zh-CN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ahoma" panose="020B060403050404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--- Coherence: well connected, logical</a:t>
            </a:r>
            <a:r>
              <a:rPr lang="en-US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 </a:t>
            </a: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relations</a:t>
            </a:r>
            <a:endParaRPr kumimoji="0" lang="zh-CN" altLang="zh-CN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ahoma" panose="020B060403050404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--- Emphasis: stress important ideas</a:t>
            </a:r>
            <a:endParaRPr kumimoji="0" lang="zh-CN" altLang="zh-CN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ahoma" panose="020B060403050404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--- Development: elaboration and expansion</a:t>
            </a:r>
            <a:endParaRPr kumimoji="0" lang="zh-CN" altLang="zh-CN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ahoma" panose="020B060403050404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--- Clarity: precise, concise, lucid</a:t>
            </a:r>
            <a:endParaRPr kumimoji="1" lang="zh-CN" altLang="en-US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6770" y="594360"/>
            <a:ext cx="10515600" cy="5358765"/>
          </a:xfrm>
        </p:spPr>
        <p:txBody>
          <a:bodyPr>
            <a:noAutofit/>
          </a:bodyPr>
          <a:lstStyle/>
          <a:p>
            <a:pPr marL="0" marR="0" lvl="0" indent="0" algn="just" defTabSz="914400" rtl="0" fontAlgn="base">
              <a:lnSpc>
                <a:spcPct val="15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en-US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2. </a:t>
            </a: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---The author</a:t>
            </a:r>
            <a:r>
              <a:rPr lang="en-US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’</a:t>
            </a: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s voice tends to be</a:t>
            </a:r>
            <a:r>
              <a:rPr lang="en-US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 </a:t>
            </a: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objective</a:t>
            </a:r>
            <a:r>
              <a:rPr lang="en-US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, </a:t>
            </a: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neutral</a:t>
            </a:r>
            <a:r>
              <a:rPr lang="zh-CN" altLang="en-US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 </a:t>
            </a: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and</a:t>
            </a:r>
            <a:r>
              <a:rPr lang="zh-CN" altLang="en-US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 </a:t>
            </a: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unemotional</a:t>
            </a:r>
            <a:endParaRPr kumimoji="0" lang="zh-CN" altLang="zh-CN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ahoma" panose="020B0604030504040204" pitchFamily="34" charset="0"/>
            </a:endParaRPr>
          </a:p>
          <a:p>
            <a:pPr marL="0" marR="0" lvl="0" indent="0" algn="just" defTabSz="914400" rtl="0" fontAlgn="base">
              <a:lnSpc>
                <a:spcPct val="15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en-US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3. </a:t>
            </a: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--- The style tends to be formal.</a:t>
            </a:r>
            <a:endParaRPr kumimoji="0" lang="zh-CN" altLang="zh-CN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ahoma" panose="020B0604030504040204" pitchFamily="34" charset="0"/>
            </a:endParaRPr>
          </a:p>
          <a:p>
            <a:pPr marL="0" marR="0" lvl="0" indent="0" algn="just" defTabSz="914400" rtl="0" fontAlgn="base">
              <a:lnSpc>
                <a:spcPct val="15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  academic periodicals, accurate information</a:t>
            </a:r>
            <a:endParaRPr kumimoji="0" lang="zh-CN" altLang="zh-CN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ahoma" panose="020B0604030504040204" pitchFamily="34" charset="0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en-US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4. </a:t>
            </a: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--- Appropriate diction.</a:t>
            </a:r>
            <a:endParaRPr kumimoji="0" lang="zh-CN" altLang="zh-CN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ahoma" panose="020B0604030504040204" pitchFamily="34" charset="0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   colloquialisms and slang expressions be avoided,</a:t>
            </a:r>
            <a:r>
              <a:rPr lang="en-US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 </a:t>
            </a: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technical terms, abbreviation</a:t>
            </a:r>
            <a:endParaRPr kumimoji="1" lang="zh-CN" altLang="en-US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6770" y="594360"/>
            <a:ext cx="10515600" cy="5358765"/>
          </a:xfrm>
        </p:spPr>
        <p:txBody>
          <a:bodyPr>
            <a:noAutofit/>
          </a:bodyPr>
          <a:lstStyle/>
          <a:p>
            <a:pPr marL="0" marR="0" lvl="0" indent="0" algn="l" defTabSz="914400" rtl="0" fontAlgn="base">
              <a:lnSpc>
                <a:spcPct val="15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altLang="zh-CN" spc="3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5. </a:t>
            </a:r>
            <a:r>
              <a:rPr lang="zh-CN" altLang="zh-CN" spc="3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--- Syntactic level.</a:t>
            </a:r>
            <a:endParaRPr kumimoji="0" lang="zh-CN" altLang="zh-CN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ahoma" panose="020B0604030504040204" pitchFamily="34" charset="0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lang="zh-CN" altLang="zh-CN" spc="3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long complex sentence, simple-present tense, passive voice, non-finite verbs</a:t>
            </a:r>
            <a:r>
              <a:rPr lang="en-US" altLang="zh-CN" spc="3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 </a:t>
            </a:r>
            <a:r>
              <a:rPr lang="zh-CN" altLang="zh-CN" spc="3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(participles, infinitives, gerunds)</a:t>
            </a:r>
            <a:endParaRPr kumimoji="0" lang="zh-CN" altLang="zh-CN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ahoma" panose="020B0604030504040204" pitchFamily="34" charset="0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endParaRPr kumimoji="0" lang="en-US" altLang="zh-CN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ahoma" panose="020B0604030504040204" pitchFamily="34" charset="0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altLang="zh-CN" spc="3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6. </a:t>
            </a:r>
            <a:r>
              <a:rPr lang="zh-CN" altLang="zh-CN" spc="3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cs typeface="Tahoma" panose="020B0604030504040204" pitchFamily="34" charset="0"/>
                <a:sym typeface="+mn-ea"/>
              </a:rPr>
              <a:t>--- Neat appearance and format.</a:t>
            </a:r>
            <a:endParaRPr kumimoji="0" lang="en-US" altLang="zh-CN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ahoma" panose="020B0604030504040204" pitchFamily="34" charset="0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endParaRPr kumimoji="1" lang="en-US" altLang="zh-CN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ahoma" panose="020B0604030504040204" pitchFamily="34" charset="0"/>
              <a:sym typeface="+mn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6770" y="594360"/>
            <a:ext cx="10515600" cy="5358765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b="1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1.3 Differences between the papers published inside and outside China</a:t>
            </a:r>
            <a:endParaRPr kumimoji="0" lang="zh-CN" altLang="zh-CN" b="1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Papers published in China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lvl="0" indent="0" fontAlgn="base"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Chinese titles,</a:t>
            </a:r>
            <a:r>
              <a:rPr lang="en-US" altLang="zh-CN" spc="3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abstract, keywords</a:t>
            </a:r>
            <a:endParaRPr lang="en-US" altLang="zh-CN" spc="30" noProof="0" dirty="0">
              <a:ln>
                <a:noFill/>
              </a:ln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0" indent="0" fontAlgn="base"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None/>
              <a:defRPr/>
            </a:pPr>
            <a:r>
              <a:rPr lang="en-US" altLang="zh-CN" spc="3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English titles, </a:t>
            </a: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abstract,</a:t>
            </a:r>
            <a:r>
              <a:rPr lang="en-US" altLang="zh-CN" spc="3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keywords,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body,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References,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20800" y="594360"/>
            <a:ext cx="9119870" cy="5358765"/>
          </a:xfrm>
        </p:spPr>
        <p:txBody>
          <a:bodyPr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b="1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Papers published outside China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Title,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Abstract,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Introduction,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body,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Conclusions and recommendations,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Acknowledgement</a:t>
            </a:r>
            <a:r>
              <a:rPr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,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indent="0" fontAlgn="base"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None/>
              <a:defRPr/>
            </a:pPr>
            <a:r>
              <a:rPr lang="en-US" altLang="zh-CN" spc="3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Information about the author</a:t>
            </a:r>
          </a:p>
          <a:p>
            <a:pPr marL="0" indent="0" fontAlgn="base"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None/>
              <a:defRPr/>
            </a:pPr>
            <a:r>
              <a:rPr lang="en-US" altLang="zh-CN" spc="3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References,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endParaRPr kumimoji="1" lang="en-US" altLang="zh-CN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  <a:sym typeface="+mn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6770" y="594360"/>
            <a:ext cx="10515600" cy="5358765"/>
          </a:xfrm>
        </p:spPr>
        <p:txBody>
          <a:bodyPr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b="1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order </a:t>
            </a:r>
            <a:r>
              <a:rPr lang="en-US" altLang="zh-CN" sz="3200" b="1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to </a:t>
            </a:r>
            <a:r>
              <a:rPr lang="zh-CN" altLang="en-US" sz="3200" b="1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read a thesis</a:t>
            </a:r>
            <a:endParaRPr kumimoji="0" lang="zh-CN" altLang="en-US" sz="3200" b="1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</a:t>
            </a:r>
            <a:r>
              <a:rPr lang="zh-CN" altLang="en-US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itle</a:t>
            </a:r>
            <a:endParaRPr kumimoji="0" lang="zh-CN" altLang="en-US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lang="zh-CN" altLang="en-US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bstract</a:t>
            </a:r>
            <a:endParaRPr kumimoji="0" lang="zh-CN" altLang="en-US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D</a:t>
            </a:r>
            <a:r>
              <a:rPr lang="zh-CN" altLang="en-US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iscussions (conclusion)</a:t>
            </a:r>
            <a:endParaRPr kumimoji="0" lang="zh-CN" altLang="en-US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lang="zh-CN" altLang="en-US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ntroduction</a:t>
            </a:r>
            <a:endParaRPr kumimoji="0" lang="zh-CN" altLang="en-US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R</a:t>
            </a:r>
            <a:r>
              <a:rPr lang="zh-CN" altLang="en-US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esults</a:t>
            </a:r>
            <a:endParaRPr kumimoji="0" lang="zh-CN" altLang="en-US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M</a:t>
            </a:r>
            <a:r>
              <a:rPr lang="zh-CN" altLang="en-US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ethods and materials</a:t>
            </a:r>
            <a:endParaRPr kumimoji="0" lang="zh-CN" altLang="en-US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endParaRPr kumimoji="1" lang="en-US" altLang="zh-CN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  <a:sym typeface="+mn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6770" y="594360"/>
            <a:ext cx="10515600" cy="5358765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r>
              <a:rPr lang="zh-CN" altLang="zh-CN" b="1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1.4 Procedures of Academic Writing</a:t>
            </a:r>
            <a:endParaRPr kumimoji="0" lang="zh-CN" altLang="zh-CN" b="1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b="1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Step 1: Choice of Topic</a:t>
            </a:r>
            <a:endParaRPr kumimoji="0" lang="zh-CN" altLang="zh-CN" b="1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Choose a general topic</a:t>
            </a:r>
            <a:endParaRPr lang="en-US" altLang="zh-CN" spc="30" noProof="0" dirty="0">
              <a:ln>
                <a:noFill/>
              </a:ln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0" indent="0" fontAlgn="base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None/>
              <a:defRPr/>
            </a:pPr>
            <a:r>
              <a:rPr lang="en-US" altLang="zh-CN" spc="30" dirty="0">
                <a:latin typeface="Times New Roman" panose="02020603050405020304" charset="0"/>
                <a:cs typeface="Times New Roman" panose="02020603050405020304" charset="0"/>
              </a:rPr>
              <a:t>             Narrow it down to a plausible one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Write a proposal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b="1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Step 2: Collection and Evaluation of Data</a:t>
            </a:r>
            <a:endParaRPr kumimoji="0" lang="zh-CN" altLang="zh-CN" b="1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Collect books, journals and research</a:t>
            </a:r>
            <a:r>
              <a:rPr lang="en-US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articles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Evaluate data collected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Photocopy data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Prepare note and bibliography cards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endParaRPr kumimoji="1" lang="en-US" altLang="zh-CN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  <a:sym typeface="+mn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6770" y="594360"/>
            <a:ext cx="10515600" cy="5358765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b="1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Step 3: Development of Outline</a:t>
            </a:r>
            <a:endParaRPr kumimoji="0" lang="zh-CN" altLang="zh-CN" b="1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Decide on organization of paper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Arrange notes by subheadings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Develop paper outline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b="1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Step 4: Writing</a:t>
            </a:r>
            <a:endParaRPr kumimoji="0" lang="zh-CN" altLang="zh-CN" b="1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Study and follow outline for first draft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Make adjustments as needed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b="1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Step 5: Revision, Editing and References</a:t>
            </a:r>
            <a:endParaRPr kumimoji="0" lang="zh-CN" altLang="zh-CN" b="1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Revise content and organization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Adjust style and tone</a:t>
            </a: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endParaRPr kumimoji="0" lang="zh-CN" altLang="zh-CN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endParaRPr kumimoji="1" lang="en-US" altLang="zh-CN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  <a:sym typeface="+mn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6770" y="594360"/>
            <a:ext cx="10515600" cy="5358765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en-US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</a:t>
            </a: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Correct diction, spelling, grammar,</a:t>
            </a:r>
            <a:r>
              <a:rPr lang="en-US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punctuation as necessary</a:t>
            </a:r>
            <a:endParaRPr kumimoji="0" lang="zh-CN" altLang="zh-CN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Document all the sources quoted</a:t>
            </a:r>
            <a:endParaRPr kumimoji="0" lang="zh-CN" altLang="zh-CN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b="1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Step 6: Preparation of Abstract</a:t>
            </a:r>
            <a:endParaRPr kumimoji="0" lang="zh-CN" altLang="zh-CN" b="1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</a:t>
            </a:r>
            <a:r>
              <a:rPr lang="en-US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Observe abstract word limit</a:t>
            </a:r>
            <a:endParaRPr kumimoji="0" lang="zh-CN" altLang="zh-CN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</a:t>
            </a:r>
            <a:r>
              <a:rPr lang="en-US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Ensure accuracy, brevity and clarity</a:t>
            </a:r>
            <a:endParaRPr kumimoji="0" lang="zh-CN" altLang="zh-CN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b="1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Step 7: Preparation of Final Details</a:t>
            </a:r>
            <a:endParaRPr kumimoji="0" lang="zh-CN" altLang="zh-CN" b="1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</a:t>
            </a:r>
            <a:r>
              <a:rPr lang="en-US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Assemble all parts</a:t>
            </a:r>
            <a:endParaRPr kumimoji="0" lang="zh-CN" altLang="zh-CN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Make final revision</a:t>
            </a:r>
            <a:endParaRPr kumimoji="0" lang="zh-CN" altLang="zh-CN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Prepare References section</a:t>
            </a:r>
            <a:endParaRPr kumimoji="0" lang="zh-CN" altLang="zh-CN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r>
              <a:rPr lang="zh-CN" altLang="zh-CN" spc="3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Write acknowledgements</a:t>
            </a:r>
            <a:endParaRPr kumimoji="0" lang="zh-CN" altLang="zh-CN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endParaRPr kumimoji="0" lang="zh-CN" altLang="zh-CN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endParaRPr kumimoji="0" lang="zh-CN" altLang="zh-CN" b="0" i="0" u="none" strike="noStrike" kern="1200" cap="none" spc="3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 typeface="Arial" panose="020B0604020202020204" pitchFamily="34" charset="0"/>
              <a:buNone/>
              <a:defRPr/>
            </a:pPr>
            <a:endParaRPr kumimoji="1" lang="en-US" altLang="zh-CN" sz="3200" b="0" i="0" u="none" strike="noStrike" kern="1200" cap="none" spc="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  <a:sym typeface="+mn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/>
          <a:srcRect t="26602" b="26602"/>
          <a:stretch>
            <a:fillRect/>
          </a:stretch>
        </p:blipFill>
        <p:spPr>
          <a:xfrm>
            <a:off x="609562" y="2042160"/>
            <a:ext cx="10972876" cy="288926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280" h="4320">
                <a:moveTo>
                  <a:pt x="0" y="0"/>
                </a:moveTo>
                <a:lnTo>
                  <a:pt x="17280" y="0"/>
                </a:lnTo>
                <a:lnTo>
                  <a:pt x="17280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accent2">
                <a:lumMod val="20000"/>
                <a:lumOff val="80000"/>
              </a:schemeClr>
            </a:solidFill>
          </a:ln>
        </p:spPr>
      </p:pic>
      <p:sp>
        <p:nvSpPr>
          <p:cNvPr id="11" name="Title 6"/>
          <p:cNvSpPr txBox="1"/>
          <p:nvPr>
            <p:custDataLst>
              <p:tags r:id="rId3"/>
            </p:custDataLst>
          </p:nvPr>
        </p:nvSpPr>
        <p:spPr>
          <a:xfrm>
            <a:off x="609562" y="5236196"/>
            <a:ext cx="10972800" cy="859804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en-US" altLang="zh-CN" sz="2400" b="1" kern="0" spc="0">
                <a:ln w="3175">
                  <a:noFill/>
                  <a:prstDash val="dash"/>
                </a:ln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The end</a:t>
            </a:r>
            <a:endParaRPr lang="zh-CN" altLang="en-US" sz="2400" b="1" kern="0" spc="0">
              <a:ln w="3175">
                <a:noFill/>
                <a:prstDash val="dash"/>
              </a:ln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WE1YjkyNTI0OGY5ZTY5YTFjYmVjM2U0M2U1MGM5YjQifQ=="/>
  <p:tag name="KSO_WPP_MARK_KEY" val="aa1c42a7-16f3-4fe5-94d8-6b9b3beed60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3293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3293"/>
  <p:tag name="KSO_WM_SLIDE_LAYOUT" val="a_d_f"/>
  <p:tag name="KSO_WM_SLIDE_LAYOUT_CNT" val="1_1_1"/>
  <p:tag name="KSO_WM_TEMPLATE_THUMBS_INDEX" val="1、4、7、12、13、14、15、16、17、18、20、24、25、28、33、36、40、43、44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12-15T22:40:38&quot;,&quot;maxSize&quot;:{&quot;size1&quot;:30},&quot;minSize&quot;:{&quot;size1&quot;:17.8},&quot;normalSize&quot;:{&quot;size1&quot;:25.33314814814815},&quot;subLayout&quot;:[{&quot;id&quot;:&quot;2022-12-15T22:40:38&quot;,&quot;margin&quot;:{&quot;bottom&quot;:0,&quot;left&quot;:1.6929999589920044,&quot;right&quot;:1.6929999589920044,&quot;top&quot;:1.6929999589920044},&quot;type&quot;:0},{&quot;id&quot;:&quot;2022-12-15T22:40:38&quot;,&quot;maxSize&quot;:{&quot;size1&quot;:66.7},&quot;minSize&quot;:{&quot;size1&quot;:38.9},&quot;normalSize&quot;:{&quot;size1&quot;:62.423426850370916},&quot;subLayout&quot;:[{&quot;id&quot;:&quot;2022-12-15T22:40:38&quot;,&quot;margin&quot;:{&quot;bottom&quot;:0.02600000612437725,&quot;left&quot;:1.6929999589920044,&quot;right&quot;:1.6929999589920044,&quot;top&quot;:0.847000002861023},&quot;type&quot;:0},{&quot;id&quot;:&quot;2022-12-15T22:40:38&quot;,&quot;margin&quot;:{&quot;bottom&quot;:1.6929999589920044,&quot;left&quot;:1.6929999589920044,&quot;right&quot;:1.6929999589920044,&quot;top&quot;:0.8199999928474426},&quot;type&quot;:0}]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9675c553136823a5e61e7"/>
  <p:tag name="KSO_WM_CHIP_FILLPROP" val="[[{&quot;text_align&quot;:&quot;ct&quot;,&quot;text_direction&quot;:&quot;horizontal&quot;,&quot;support_big_font&quot;:false,&quot;picture_toward&quot;:0,&quot;picture_dockside&quot;:[],&quot;fill_id&quot;:&quot;42bdfa4a24a64d988a6191cecd716896&quot;,&quot;fill_align&quot;:&quot;ct&quot;,&quot;chip_types&quot;:[&quot;header&quot;]},{&quot;text_align&quot;:&quot;lm&quot;,&quot;text_direction&quot;:&quot;horizontal&quot;,&quot;support_features&quot;:[&quot;collage&quot;,&quot;carousel&quot;],&quot;support_big_font&quot;:false,&quot;picture_toward&quot;:0,&quot;picture_dockside&quot;:[],&quot;fill_id&quot;:&quot;c7f405b535bb49fd9c504e13d5a436be&quot;,&quot;fill_align&quot;:&quot;cm&quot;,&quot;chip_types&quot;:[&quot;diagram&quot;,&quot;pictext&quot;,&quot;picture&quot;,&quot;chart&quot;,&quot;table&quot;,&quot;video&quot;]},{&quot;text_align&quot;:&quot;cm&quot;,&quot;text_direction&quot;:&quot;horizontal&quot;,&quot;support_big_font&quot;:false,&quot;picture_toward&quot;:0,&quot;picture_dockside&quot;:[],&quot;fill_id&quot;:&quot;af7019ab30b54b018c2fc8ea2401cac8&quot;,&quot;fill_align&quot;:&quot;cm&quot;,&quot;chip_types&quot;:[&quot;text&quot;]}],[{&quot;text_align&quot;:&quot;cm&quot;,&quot;text_direction&quot;:&quot;horizontal&quot;,&quot;support_big_font&quot;:false,&quot;picture_toward&quot;:0,&quot;picture_dockside&quot;:[],&quot;fill_id&quot;:&quot;42bdfa4a24a64d988a6191cecd716896&quot;,&quot;fill_align&quot;:&quot;cm&quot;,&quot;chip_types&quot;:[&quot;header&quot;]},{&quot;text_align&quot;:&quot;lm&quot;,&quot;text_direction&quot;:&quot;horizontal&quot;,&quot;support_big_font&quot;:false,&quot;picture_toward&quot;:0,&quot;picture_dockside&quot;:[],&quot;fill_id&quot;:&quot;c7f405b535bb49fd9c504e13d5a436be&quot;,&quot;fill_align&quot;:&quot;cm&quot;,&quot;chip_types&quot;:[&quot;diagram&quot;,&quot;pictext&quot;,&quot;picture&quot;,&quot;chart&quot;,&quot;table&quot;]},{&quot;text_align&quot;:&quot;cm&quot;,&quot;text_direction&quot;:&quot;horizontal&quot;,&quot;support_big_font&quot;:false,&quot;picture_toward&quot;:0,&quot;picture_dockside&quot;:[],&quot;fill_id&quot;:&quot;af7019ab30b54b018c2fc8ea2401cac8&quot;,&quot;fill_align&quot;:&quot;cm&quot;,&quot;chip_types&quot;:[&quot;text&quot;,&quot;picture&quot;]}],[{&quot;text_align&quot;:&quot;lm&quot;,&quot;text_direction&quot;:&quot;horizontal&quot;,&quot;support_big_font&quot;:false,&quot;picture_toward&quot;:0,&quot;picture_dockside&quot;:[],&quot;fill_id&quot;:&quot;42bdfa4a24a64d988a6191cecd716896&quot;,&quot;fill_align&quot;:&quot;lm&quot;,&quot;chip_types&quot;:[&quot;text&quot;,&quot;header&quot;]},{&quot;text_align&quot;:&quot;lm&quot;,&quot;text_direction&quot;:&quot;horizontal&quot;,&quot;support_features&quot;:[&quot;collage&quot;,&quot;carousel&quot;],&quot;support_big_font&quot;:false,&quot;picture_toward&quot;:0,&quot;picture_dockside&quot;:[],&quot;fill_id&quot;:&quot;c7f405b535bb49fd9c504e13d5a436be&quot;,&quot;fill_align&quot;:&quot;cm&quot;,&quot;chip_types&quot;:[&quot;diagram&quot;,&quot;pictext&quot;,&quot;picture&quot;,&quot;chart&quot;,&quot;table&quot;]},{&quot;text_align&quot;:&quot;lm&quot;,&quot;text_direction&quot;:&quot;horizontal&quot;,&quot;support_big_font&quot;:false,&quot;picture_toward&quot;:0,&quot;picture_dockside&quot;:[],&quot;fill_id&quot;:&quot;af7019ab30b54b018c2fc8ea2401cac8&quot;,&quot;fill_align&quot;:&quot;lm&quot;,&quot;chip_types&quot;:[&quot;text&quot;,&quot;picture&quot;]}]]"/>
  <p:tag name="KSO_WM_SLIDE_SIZE" val="865*444"/>
  <p:tag name="KSO_WM_SLIDE_POSITION" val="47*48"/>
  <p:tag name="FIXED_XID_TMP" val="5f5ee1ca4d6848d78f644aed"/>
  <p:tag name="KSO_WM_CHIP_DECFILLPROP" val="[]"/>
  <p:tag name="KSO_WM_CHIP_GROUPID" val="5f5ee1ca4d6848d78f644aed"/>
  <p:tag name="KSO_WM_SLIDE_BK_DARK_LIGHT" val="2"/>
  <p:tag name="KSO_WM_SLIDE_BACKGROUND_TYPE" val="general"/>
  <p:tag name="KSO_WM_SLIDE_SUPPORT_FEATURE_TYPE" val="3"/>
  <p:tag name="KSO_WM_TEMPLATE_ASSEMBLE_XID" val="639b31e60c9383becdeaa802"/>
  <p:tag name="KSO_WM_TEMPLATE_ASSEMBLE_GROUPID" val="639b31e60c9383becdeaa80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293_1*a*1"/>
  <p:tag name="KSO_WM_TEMPLATE_CATEGORY" val="diagram"/>
  <p:tag name="KSO_WM_TEMPLATE_INDEX" val="20213293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eac46169eb2b460bb4a610ed53a67e2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t&quot;,&quot;fill_mode&quot;:&quot;full&quot;,&quot;sacle_strategy&quot;:&quot;smart&quot;}"/>
  <p:tag name="KSO_WM_ASSEMBLE_CHIP_INDEX" val="c12c141ff192434a81f8ec7859d8d7f3"/>
  <p:tag name="KSO_WM_UNIT_TEXT_FILL_FORE_SCHEMECOLOR_INDEX_BRIGHTNESS" val="0"/>
  <p:tag name="KSO_WM_UNIT_TEXT_FILL_FORE_SCHEMECOLOR_INDEX" val="13"/>
  <p:tag name="KSO_WM_UNIT_TEXT_FILL_TYPE" val="1"/>
  <p:tag name="KSO_WM_TEMPLATE_ASSEMBLE_XID" val="639b31e60c9383becdeaa802"/>
  <p:tag name="KSO_WM_TEMPLATE_ASSEMBLE_GROUPID" val="639b31e60c9383becdeaa80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761*3046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diagram20213293_1*d*1"/>
  <p:tag name="KSO_WM_TEMPLATE_CATEGORY" val="diagram"/>
  <p:tag name="KSO_WM_TEMPLATE_INDEX" val="20213293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d39d48b01a0a4808a05868f443a9408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128373cf9a1d42b2ad4400f46103fc1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TEMPLATE_ASSEMBLE_XID" val="639b31e60c9383becdeaa802"/>
  <p:tag name="KSO_WM_TEMPLATE_ASSEMBLE_GROUPID" val="639b31e60c9383becdeaa802"/>
  <p:tag name="KSO_WM_UNIT_PICTURE_CLIP_FLAG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，但信息却千丝万缕、错综复杂，需要用更多的文字来表述；但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3293_1*f*1"/>
  <p:tag name="KSO_WM_TEMPLATE_CATEGORY" val="diagram"/>
  <p:tag name="KSO_WM_TEMPLATE_INDEX" val="2021329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72"/>
  <p:tag name="KSO_WM_UNIT_SHOW_EDIT_AREA_INDICATION" val="1"/>
  <p:tag name="KSO_WM_CHIP_GROUPID" val="5e6b05596848fb12bee65ac8"/>
  <p:tag name="KSO_WM_CHIP_XID" val="5e6b05596848fb12bee65aca"/>
  <p:tag name="KSO_WM_UNIT_DEC_AREA_ID" val="f3ba6b55ee6d4aec98d86b43aa728f7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7bdb306efbae44b9a7ac00fd1cb9e337"/>
  <p:tag name="KSO_WM_UNIT_TEXT_FILL_FORE_SCHEMECOLOR_INDEX_BRIGHTNESS" val="0.25"/>
  <p:tag name="KSO_WM_UNIT_TEXT_FILL_FORE_SCHEMECOLOR_INDEX" val="13"/>
  <p:tag name="KSO_WM_UNIT_TEXT_FILL_TYPE" val="1"/>
  <p:tag name="KSO_WM_TEMPLATE_ASSEMBLE_XID" val="639b31e60c9383becdeaa802"/>
  <p:tag name="KSO_WM_TEMPLATE_ASSEMBLE_GROUPID" val="639b31e60c9383becdeaa80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02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02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02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02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02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02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02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02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02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02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02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026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026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026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026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026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02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026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026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3293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3293"/>
  <p:tag name="KSO_WM_SLIDE_LAYOUT" val="a_d_f"/>
  <p:tag name="KSO_WM_SLIDE_LAYOUT_CNT" val="1_1_1"/>
  <p:tag name="KSO_WM_TEMPLATE_THUMBS_INDEX" val="1、4、7、12、13、14、15、16、17、18、20、24、25、28、33、36、40、43、44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12-15T22:40:38&quot;,&quot;maxSize&quot;:{&quot;size1&quot;:30},&quot;minSize&quot;:{&quot;size1&quot;:17.8},&quot;normalSize&quot;:{&quot;size1&quot;:25.33314814814815},&quot;subLayout&quot;:[{&quot;id&quot;:&quot;2022-12-15T22:40:38&quot;,&quot;margin&quot;:{&quot;bottom&quot;:0,&quot;left&quot;:1.6929999589920044,&quot;right&quot;:1.6929999589920044,&quot;top&quot;:1.6929999589920044},&quot;type&quot;:0},{&quot;id&quot;:&quot;2022-12-15T22:40:38&quot;,&quot;maxSize&quot;:{&quot;size1&quot;:66.7},&quot;minSize&quot;:{&quot;size1&quot;:38.9},&quot;normalSize&quot;:{&quot;size1&quot;:62.423426850370916},&quot;subLayout&quot;:[{&quot;id&quot;:&quot;2022-12-15T22:40:38&quot;,&quot;margin&quot;:{&quot;bottom&quot;:0.02600000612437725,&quot;left&quot;:1.6929999589920044,&quot;right&quot;:1.6929999589920044,&quot;top&quot;:0.847000002861023},&quot;type&quot;:0},{&quot;id&quot;:&quot;2022-12-15T22:40:38&quot;,&quot;margin&quot;:{&quot;bottom&quot;:1.6929999589920044,&quot;left&quot;:1.6929999589920044,&quot;right&quot;:1.6929999589920044,&quot;top&quot;:0.8199999928474426},&quot;type&quot;:0}]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9675c553136823a5e61e7"/>
  <p:tag name="KSO_WM_CHIP_FILLPROP" val="[[{&quot;text_align&quot;:&quot;ct&quot;,&quot;text_direction&quot;:&quot;horizontal&quot;,&quot;support_big_font&quot;:false,&quot;picture_toward&quot;:0,&quot;picture_dockside&quot;:[],&quot;fill_id&quot;:&quot;42bdfa4a24a64d988a6191cecd716896&quot;,&quot;fill_align&quot;:&quot;ct&quot;,&quot;chip_types&quot;:[&quot;header&quot;]},{&quot;text_align&quot;:&quot;lm&quot;,&quot;text_direction&quot;:&quot;horizontal&quot;,&quot;support_features&quot;:[&quot;collage&quot;,&quot;carousel&quot;],&quot;support_big_font&quot;:false,&quot;picture_toward&quot;:0,&quot;picture_dockside&quot;:[],&quot;fill_id&quot;:&quot;c7f405b535bb49fd9c504e13d5a436be&quot;,&quot;fill_align&quot;:&quot;cm&quot;,&quot;chip_types&quot;:[&quot;diagram&quot;,&quot;pictext&quot;,&quot;picture&quot;,&quot;chart&quot;,&quot;table&quot;,&quot;video&quot;]},{&quot;text_align&quot;:&quot;cm&quot;,&quot;text_direction&quot;:&quot;horizontal&quot;,&quot;support_big_font&quot;:false,&quot;picture_toward&quot;:0,&quot;picture_dockside&quot;:[],&quot;fill_id&quot;:&quot;af7019ab30b54b018c2fc8ea2401cac8&quot;,&quot;fill_align&quot;:&quot;cm&quot;,&quot;chip_types&quot;:[&quot;text&quot;]}],[{&quot;text_align&quot;:&quot;cm&quot;,&quot;text_direction&quot;:&quot;horizontal&quot;,&quot;support_big_font&quot;:false,&quot;picture_toward&quot;:0,&quot;picture_dockside&quot;:[],&quot;fill_id&quot;:&quot;42bdfa4a24a64d988a6191cecd716896&quot;,&quot;fill_align&quot;:&quot;cm&quot;,&quot;chip_types&quot;:[&quot;header&quot;]},{&quot;text_align&quot;:&quot;lm&quot;,&quot;text_direction&quot;:&quot;horizontal&quot;,&quot;support_big_font&quot;:false,&quot;picture_toward&quot;:0,&quot;picture_dockside&quot;:[],&quot;fill_id&quot;:&quot;c7f405b535bb49fd9c504e13d5a436be&quot;,&quot;fill_align&quot;:&quot;cm&quot;,&quot;chip_types&quot;:[&quot;diagram&quot;,&quot;pictext&quot;,&quot;picture&quot;,&quot;chart&quot;,&quot;table&quot;]},{&quot;text_align&quot;:&quot;cm&quot;,&quot;text_direction&quot;:&quot;horizontal&quot;,&quot;support_big_font&quot;:false,&quot;picture_toward&quot;:0,&quot;picture_dockside&quot;:[],&quot;fill_id&quot;:&quot;af7019ab30b54b018c2fc8ea2401cac8&quot;,&quot;fill_align&quot;:&quot;cm&quot;,&quot;chip_types&quot;:[&quot;text&quot;,&quot;picture&quot;]}],[{&quot;text_align&quot;:&quot;lm&quot;,&quot;text_direction&quot;:&quot;horizontal&quot;,&quot;support_big_font&quot;:false,&quot;picture_toward&quot;:0,&quot;picture_dockside&quot;:[],&quot;fill_id&quot;:&quot;42bdfa4a24a64d988a6191cecd716896&quot;,&quot;fill_align&quot;:&quot;lm&quot;,&quot;chip_types&quot;:[&quot;text&quot;,&quot;header&quot;]},{&quot;text_align&quot;:&quot;lm&quot;,&quot;text_direction&quot;:&quot;horizontal&quot;,&quot;support_features&quot;:[&quot;collage&quot;,&quot;carousel&quot;],&quot;support_big_font&quot;:false,&quot;picture_toward&quot;:0,&quot;picture_dockside&quot;:[],&quot;fill_id&quot;:&quot;c7f405b535bb49fd9c504e13d5a436be&quot;,&quot;fill_align&quot;:&quot;cm&quot;,&quot;chip_types&quot;:[&quot;diagram&quot;,&quot;pictext&quot;,&quot;picture&quot;,&quot;chart&quot;,&quot;table&quot;]},{&quot;text_align&quot;:&quot;lm&quot;,&quot;text_direction&quot;:&quot;horizontal&quot;,&quot;support_big_font&quot;:false,&quot;picture_toward&quot;:0,&quot;picture_dockside&quot;:[],&quot;fill_id&quot;:&quot;af7019ab30b54b018c2fc8ea2401cac8&quot;,&quot;fill_align&quot;:&quot;lm&quot;,&quot;chip_types&quot;:[&quot;text&quot;,&quot;picture&quot;]}]]"/>
  <p:tag name="KSO_WM_SLIDE_SIZE" val="865*444"/>
  <p:tag name="KSO_WM_SLIDE_POSITION" val="47*48"/>
  <p:tag name="FIXED_XID_TMP" val="5f5ee1ca4d6848d78f644aed"/>
  <p:tag name="KSO_WM_CHIP_DECFILLPROP" val="[]"/>
  <p:tag name="KSO_WM_CHIP_GROUPID" val="5f5ee1ca4d6848d78f644aed"/>
  <p:tag name="KSO_WM_SLIDE_BK_DARK_LIGHT" val="2"/>
  <p:tag name="KSO_WM_SLIDE_BACKGROUND_TYPE" val="general"/>
  <p:tag name="KSO_WM_SLIDE_SUPPORT_FEATURE_TYPE" val="3"/>
  <p:tag name="KSO_WM_TEMPLATE_ASSEMBLE_XID" val="639b31e60c9383becdeaa802"/>
  <p:tag name="KSO_WM_TEMPLATE_ASSEMBLE_GROUPID" val="639b31e60c9383becdeaa80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761*3046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diagram20213293_1*d*1"/>
  <p:tag name="KSO_WM_TEMPLATE_CATEGORY" val="diagram"/>
  <p:tag name="KSO_WM_TEMPLATE_INDEX" val="20213293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d39d48b01a0a4808a05868f443a9408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128373cf9a1d42b2ad4400f46103fc1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TEMPLATE_ASSEMBLE_XID" val="639b31e60c9383becdeaa802"/>
  <p:tag name="KSO_WM_TEMPLATE_ASSEMBLE_GROUPID" val="639b31e60c9383becdeaa802"/>
  <p:tag name="KSO_WM_UNIT_PICTURE_CLIP_FLAG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，但信息却千丝万缕、错综复杂，需要用更多的文字来表述；但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3293_1*f*1"/>
  <p:tag name="KSO_WM_TEMPLATE_CATEGORY" val="diagram"/>
  <p:tag name="KSO_WM_TEMPLATE_INDEX" val="2021329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72"/>
  <p:tag name="KSO_WM_UNIT_SHOW_EDIT_AREA_INDICATION" val="1"/>
  <p:tag name="KSO_WM_CHIP_GROUPID" val="5e6b05596848fb12bee65ac8"/>
  <p:tag name="KSO_WM_CHIP_XID" val="5e6b05596848fb12bee65aca"/>
  <p:tag name="KSO_WM_UNIT_DEC_AREA_ID" val="f3ba6b55ee6d4aec98d86b43aa728f7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7bdb306efbae44b9a7ac00fd1cb9e337"/>
  <p:tag name="KSO_WM_UNIT_TEXT_FILL_FORE_SCHEMECOLOR_INDEX_BRIGHTNESS" val="0.25"/>
  <p:tag name="KSO_WM_UNIT_TEXT_FILL_FORE_SCHEMECOLOR_INDEX" val="13"/>
  <p:tag name="KSO_WM_UNIT_TEXT_FILL_TYPE" val="1"/>
  <p:tag name="KSO_WM_TEMPLATE_ASSEMBLE_XID" val="639b31e60c9383becdeaa802"/>
  <p:tag name="KSO_WM_TEMPLATE_ASSEMBLE_GROUPID" val="639b31e60c9383becdeaa80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1131</Words>
  <Application>Microsoft Office PowerPoint</Application>
  <PresentationFormat>宽屏</PresentationFormat>
  <Paragraphs>130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主题</vt:lpstr>
      <vt:lpstr>PowerPoint 演示文稿</vt:lpstr>
      <vt:lpstr>PowerPoint 演示文稿</vt:lpstr>
      <vt:lpstr>Chapter  1    Introduction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SY</dc:creator>
  <cp:lastModifiedBy>SY</cp:lastModifiedBy>
  <cp:revision>32</cp:revision>
  <dcterms:created xsi:type="dcterms:W3CDTF">2023-03-07T10:17:00Z</dcterms:created>
  <dcterms:modified xsi:type="dcterms:W3CDTF">2026-03-15T04:03:40Z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51DEC0EDF56B42C3AA353556614CC6F7</vt:lpwstr>
  </property>
  <property fmtid="{D5CDD505-2E9C-101B-9397-08002B2CF9AE}" pid="3" name="KSOProductBuildVer">
    <vt:lpwstr>2052-12.1.0.21171</vt:lpwstr>
  </property>
</Properties>
</file>