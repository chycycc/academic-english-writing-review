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9" r:id="rId3"/>
    <p:sldId id="257" r:id="rId4"/>
    <p:sldId id="260" r:id="rId5"/>
    <p:sldId id="261" r:id="rId6"/>
    <p:sldId id="263" r:id="rId7"/>
    <p:sldId id="264" r:id="rId8"/>
    <p:sldId id="266" r:id="rId9"/>
    <p:sldId id="265" r:id="rId10"/>
    <p:sldId id="267" r:id="rId11"/>
    <p:sldId id="269" r:id="rId12"/>
    <p:sldId id="270" r:id="rId13"/>
    <p:sldId id="271" r:id="rId14"/>
    <p:sldId id="287" r:id="rId15"/>
    <p:sldId id="288" r:id="rId16"/>
    <p:sldId id="272" r:id="rId17"/>
    <p:sldId id="283" r:id="rId18"/>
    <p:sldId id="284" r:id="rId19"/>
    <p:sldId id="285" r:id="rId20"/>
    <p:sldId id="286" r:id="rId21"/>
    <p:sldId id="282" r:id="rId22"/>
    <p:sldId id="274" r:id="rId23"/>
    <p:sldId id="273" r:id="rId24"/>
    <p:sldId id="277" r:id="rId25"/>
    <p:sldId id="279" r:id="rId26"/>
    <p:sldId id="278" r:id="rId27"/>
    <p:sldId id="281" r:id="rId28"/>
    <p:sldId id="280"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14" d="100"/>
          <a:sy n="114" d="100"/>
        </p:scale>
        <p:origin x="540" y="96"/>
      </p:cViewPr>
      <p:guideLst>
        <p:guide orient="horz" pos="219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2026/6/18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2026/6/18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2026/6/18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2026/6/18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2026/6/18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2026/6/18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6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Layout" Target="../slideLayouts/slideLayout2.xml"/><Relationship Id="rId4" Type="http://schemas.openxmlformats.org/officeDocument/2006/relationships/tags" Target="../tags/tag70.xml"/></Relationships>
</file>

<file path=ppt/slides/_rels/slide4.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slideLayout" Target="../slideLayouts/slideLayout2.xml"/><Relationship Id="rId4" Type="http://schemas.openxmlformats.org/officeDocument/2006/relationships/tags" Target="../tags/tag74.xml"/></Relationships>
</file>

<file path=ppt/slides/_rels/slide5.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slideLayout" Target="../slideLayouts/slideLayout2.xml"/><Relationship Id="rId4" Type="http://schemas.openxmlformats.org/officeDocument/2006/relationships/tags" Target="../tags/tag78.xml"/></Relationships>
</file>

<file path=ppt/slides/_rels/slide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slideLayout" Target="../slideLayouts/slideLayout2.xml"/><Relationship Id="rId4" Type="http://schemas.openxmlformats.org/officeDocument/2006/relationships/tags" Target="../tags/tag82.xml"/></Relationships>
</file>

<file path=ppt/slides/_rels/slide7.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slideLayout" Target="../slideLayouts/slideLayout2.xml"/><Relationship Id="rId4" Type="http://schemas.openxmlformats.org/officeDocument/2006/relationships/tags" Target="../tags/tag86.xml"/></Relationships>
</file>

<file path=ppt/slides/_rels/slide8.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slideLayout" Target="../slideLayouts/slideLayout2.xml"/><Relationship Id="rId4" Type="http://schemas.openxmlformats.org/officeDocument/2006/relationships/tags" Target="../tags/tag90.xml"/></Relationships>
</file>

<file path=ppt/slides/_rels/slide9.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3.png"/><Relationship Id="rId5" Type="http://schemas.openxmlformats.org/officeDocument/2006/relationships/slideLayout" Target="../slideLayouts/slideLayout2.xml"/><Relationship Id="rId4" Type="http://schemas.openxmlformats.org/officeDocument/2006/relationships/tags" Target="../tags/tag94.xml"/></Relationships>
</file>

<file path=ppt/slides/_rels/slide10.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9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13.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5" Type="http://schemas.openxmlformats.org/officeDocument/2006/relationships/slideLayout" Target="../slideLayouts/slideLayout2.xml"/><Relationship Id="rId4" Type="http://schemas.openxmlformats.org/officeDocument/2006/relationships/tags" Target="../tags/tag104.xml"/></Relationships>
</file>

<file path=ppt/slides/_rels/slide14.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slideLayout" Target="../slideLayouts/slideLayout2.xml"/><Relationship Id="rId4" Type="http://schemas.openxmlformats.org/officeDocument/2006/relationships/tags" Target="../tags/tag108.xml"/></Relationships>
</file>

<file path=ppt/slides/_rels/slide15.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Layout" Target="../slideLayouts/slideLayout2.xml"/><Relationship Id="rId4" Type="http://schemas.openxmlformats.org/officeDocument/2006/relationships/tags" Target="../tags/tag112.xml"/></Relationships>
</file>

<file path=ppt/slides/_rels/slide16.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slideLayout" Target="../slideLayouts/slideLayout2.xml"/><Relationship Id="rId4" Type="http://schemas.openxmlformats.org/officeDocument/2006/relationships/tags" Target="../tags/tag116.xml"/></Relationships>
</file>

<file path=ppt/slides/_rels/slide17.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slideLayout" Target="../slideLayouts/slideLayout2.xml"/><Relationship Id="rId4" Type="http://schemas.openxmlformats.org/officeDocument/2006/relationships/tags" Target="../tags/tag120.xml"/></Relationships>
</file>

<file path=ppt/slides/_rels/slide18.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slideLayout" Target="../slideLayouts/slideLayout2.xml"/><Relationship Id="rId4" Type="http://schemas.openxmlformats.org/officeDocument/2006/relationships/tags" Target="../tags/tag124.xml"/></Relationships>
</file>

<file path=ppt/slides/_rels/slide19.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20.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Layout" Target="../slideLayouts/slideLayout2.xml"/><Relationship Id="rId4" Type="http://schemas.openxmlformats.org/officeDocument/2006/relationships/tags" Target="../tags/tag132.xml"/></Relationships>
</file>

<file path=ppt/slides/_rels/slide21.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slideLayout" Target="../slideLayouts/slideLayout2.xml"/><Relationship Id="rId4" Type="http://schemas.openxmlformats.org/officeDocument/2006/relationships/tags" Target="../tags/tag136.xml"/></Relationships>
</file>

<file path=ppt/slides/_rels/slide22.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slideLayout" Target="../slideLayouts/slideLayout2.xml"/><Relationship Id="rId4" Type="http://schemas.openxmlformats.org/officeDocument/2006/relationships/tags" Target="../tags/tag140.xml"/></Relationships>
</file>

<file path=ppt/slides/_rels/slide23.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slideLayout" Target="../slideLayouts/slideLayout2.xml"/><Relationship Id="rId4" Type="http://schemas.openxmlformats.org/officeDocument/2006/relationships/tags" Target="../tags/tag144.xml"/></Relationships>
</file>

<file path=ppt/slides/_rels/slide24.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5" Type="http://schemas.openxmlformats.org/officeDocument/2006/relationships/slideLayout" Target="../slideLayouts/slideLayout2.xml"/><Relationship Id="rId4" Type="http://schemas.openxmlformats.org/officeDocument/2006/relationships/tags" Target="../tags/tag148.xml"/></Relationships>
</file>

<file path=ppt/slides/_rels/slide25.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slideLayout" Target="../slideLayouts/slideLayout2.xml"/><Relationship Id="rId4" Type="http://schemas.openxmlformats.org/officeDocument/2006/relationships/tags" Target="../tags/tag152.xml"/></Relationships>
</file>

<file path=ppt/slides/_rels/slide26.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slideLayout" Target="../slideLayouts/slideLayout2.xml"/><Relationship Id="rId4" Type="http://schemas.openxmlformats.org/officeDocument/2006/relationships/tags" Target="../tags/tag156.xml"/></Relationships>
</file>

<file path=ppt/slides/_rels/slide27.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5" Type="http://schemas.openxmlformats.org/officeDocument/2006/relationships/slideLayout" Target="../slideLayouts/slideLayout2.xml"/><Relationship Id="rId4" Type="http://schemas.openxmlformats.org/officeDocument/2006/relationships/tags" Target="../tags/tag160.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noFill/>
        </p:spPr>
        <p:txBody>
          <a:bodyPr wrap="square" lIns="63500" tIns="25400" rIns="63500" bIns="25400" rtlCol="0" anchor="t" anchorCtr="0">
            <a:normAutofit fontScale="92500" lnSpcReduction="1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 Writing English Papers</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a:xfrm>
            <a:off x="1219200" y="5028565"/>
            <a:ext cx="9752965" cy="1655445"/>
          </a:xfrm>
        </p:spPr>
        <p:txBody>
          <a:bodyPr/>
          <a:lstStyle/>
          <a:p>
            <a:r>
              <a:rPr lang="en-US" altLang="zh-CN" sz="3600" b="1">
                <a:solidFill>
                  <a:schemeClr val="tx1"/>
                </a:solidFill>
                <a:latin typeface="Times New Roman" panose="02020603050405020304" charset="0"/>
                <a:cs typeface="Times New Roman" panose="02020603050405020304" charset="0"/>
              </a:rPr>
              <a:t>Chapter 2 Choosing a Topic</a:t>
            </a:r>
          </a:p>
        </p:txBody>
      </p:sp>
      <p:pic>
        <p:nvPicPr>
          <p:cNvPr id="100" name="图片 99"/>
          <p:cNvPicPr/>
          <p:nvPr/>
        </p:nvPicPr>
        <p:blipFill>
          <a:blip r:embed="rId2"/>
          <a:stretch>
            <a:fillRect/>
          </a:stretch>
        </p:blipFill>
        <p:spPr>
          <a:xfrm>
            <a:off x="1219200" y="219075"/>
            <a:ext cx="9753600" cy="474345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8410" y="594360"/>
            <a:ext cx="10093960" cy="5358765"/>
          </a:xfrm>
        </p:spPr>
        <p:txBody>
          <a:bodyPr>
            <a:noAutofit/>
          </a:bodyPr>
          <a:lstStyle/>
          <a:p>
            <a:pPr marL="36195" indent="0" eaLnBrk="1" hangingPunct="1">
              <a:buNone/>
            </a:pPr>
            <a:r>
              <a:rPr lang="en-US" altLang="zh-CN" sz="3200" b="1" kern="0" spc="0">
                <a:solidFill>
                  <a:schemeClr val="tx1"/>
                </a:solidFill>
                <a:uFillTx/>
                <a:latin typeface="Times New Roman" panose="02020603050405020304" charset="0"/>
                <a:cs typeface="Times New Roman" panose="02020603050405020304" charset="0"/>
                <a:sym typeface="+mn-ea"/>
              </a:rPr>
              <a:t>2.1 Principles of Title Selection</a:t>
            </a:r>
            <a:endParaRPr lang="en-US" altLang="zh-CN" sz="3200" b="1" kern="0" spc="0">
              <a:solidFill>
                <a:schemeClr val="tx1"/>
              </a:solidFill>
              <a:uFillTx/>
              <a:latin typeface="Times New Roman" panose="02020603050405020304" charset="0"/>
              <a:cs typeface="Times New Roman" panose="02020603050405020304" charset="0"/>
            </a:endParaRPr>
          </a:p>
          <a:p>
            <a:pPr eaLnBrk="1" hangingPunct="1"/>
            <a:r>
              <a:rPr lang="en-US" altLang="zh-CN" sz="3200" kern="0" spc="0">
                <a:solidFill>
                  <a:schemeClr val="tx1"/>
                </a:solidFill>
                <a:uFillTx/>
                <a:latin typeface="Times New Roman" panose="02020603050405020304" charset="0"/>
                <a:cs typeface="Times New Roman" panose="02020603050405020304" charset="0"/>
                <a:sym typeface="+mn-ea"/>
              </a:rPr>
              <a:t>Your interest</a:t>
            </a:r>
            <a:endParaRPr lang="en-US" altLang="zh-CN" sz="3200" kern="0" spc="0">
              <a:solidFill>
                <a:schemeClr val="tx1"/>
              </a:solidFill>
              <a:uFillTx/>
              <a:latin typeface="Times New Roman" panose="02020603050405020304" charset="0"/>
              <a:cs typeface="Times New Roman" panose="02020603050405020304" charset="0"/>
            </a:endParaRPr>
          </a:p>
          <a:p>
            <a:pPr eaLnBrk="1" hangingPunct="1"/>
            <a:r>
              <a:rPr lang="en-US" altLang="zh-CN" sz="3200" kern="0" spc="0">
                <a:solidFill>
                  <a:schemeClr val="tx1"/>
                </a:solidFill>
                <a:uFillTx/>
                <a:latin typeface="Times New Roman" panose="02020603050405020304" charset="0"/>
                <a:cs typeface="Times New Roman" panose="02020603050405020304" charset="0"/>
                <a:sym typeface="+mn-ea"/>
              </a:rPr>
              <a:t>Subject area</a:t>
            </a:r>
            <a:endParaRPr lang="en-US" altLang="zh-CN" sz="3200" kern="0" spc="0">
              <a:solidFill>
                <a:schemeClr val="tx1"/>
              </a:solidFill>
              <a:uFillTx/>
              <a:latin typeface="Times New Roman" panose="02020603050405020304" charset="0"/>
              <a:cs typeface="Times New Roman" panose="02020603050405020304" charset="0"/>
            </a:endParaRPr>
          </a:p>
          <a:p>
            <a:pPr eaLnBrk="1" hangingPunct="1"/>
            <a:r>
              <a:rPr lang="en-US" altLang="zh-CN" sz="3200" kern="0" spc="0">
                <a:solidFill>
                  <a:schemeClr val="tx1"/>
                </a:solidFill>
                <a:uFillTx/>
                <a:latin typeface="Times New Roman" panose="02020603050405020304" charset="0"/>
                <a:cs typeface="Times New Roman" panose="02020603050405020304" charset="0"/>
                <a:sym typeface="+mn-ea"/>
              </a:rPr>
              <a:t>Availability of Resources</a:t>
            </a:r>
            <a:endParaRPr lang="en-US" altLang="zh-CN" sz="3200" kern="0" spc="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1"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8410" y="1832610"/>
            <a:ext cx="10093960" cy="4120515"/>
          </a:xfrm>
        </p:spPr>
        <p:txBody>
          <a:bodyPr>
            <a:noAutofit/>
          </a:bodyPr>
          <a:lstStyle/>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1.</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that</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are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too</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big</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2.</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based</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on</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single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source</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3.</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that</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are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too</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abstract</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4.</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that</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are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trivial</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5.</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that</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are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overused</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en-US" altLang="zh-CN" sz="3200" kern="0" spc="0" dirty="0">
                <a:solidFill>
                  <a:schemeClr val="tx1"/>
                </a:solidFill>
                <a:uFillTx/>
                <a:latin typeface="Times New Roman" panose="02020603050405020304" charset="0"/>
                <a:cs typeface="Times New Roman" panose="02020603050405020304" charset="0"/>
                <a:sym typeface="+mn-ea"/>
              </a:rPr>
              <a:t>6.</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topics</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that</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are</a:t>
            </a:r>
            <a:r>
              <a:rPr lang="zh-CN" altLang="en-US"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a:solidFill>
                  <a:schemeClr val="tx1"/>
                </a:solidFill>
                <a:uFillTx/>
                <a:latin typeface="Times New Roman" panose="02020603050405020304" charset="0"/>
                <a:cs typeface="Times New Roman" panose="02020603050405020304" charset="0"/>
                <a:sym typeface="+mn-ea"/>
              </a:rPr>
              <a:t>contemporary</a:t>
            </a:r>
            <a:endParaRPr lang="zh-CN" altLang="en-US"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1" lang="zh-CN" altLang="en-US"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734060"/>
            <a:ext cx="6740525" cy="874395"/>
          </a:xfrm>
          <a:prstGeom prst="rect">
            <a:avLst/>
          </a:prstGeom>
        </p:spPr>
        <p:txBody>
          <a:bodyPr wrap="square">
            <a:noAutofit/>
            <a:extLst>
              <a:ext uri="{4A0BC546-FE56-4ADE-93B0-CB8AF2F6F144}">
                <wpsdc:textFrameExt xmlns:wpsdc="http://www.wps.cn/officeDocument/2022/drawingmlCustomData" xmlns="" type="text"/>
              </a:ext>
            </a:extLst>
          </a:bodyPr>
          <a:lstStyle/>
          <a:p>
            <a:pPr algn="l"/>
            <a:r>
              <a:rPr lang="en-US" altLang="zh-CN" sz="3200" b="1">
                <a:latin typeface="Times New Roman" panose="02020603050405020304" charset="0"/>
                <a:ea typeface="+mj-ea"/>
                <a:cs typeface="Times New Roman" panose="02020603050405020304" charset="0"/>
                <a:sym typeface="+mn-ea"/>
              </a:rPr>
              <a:t>Topics</a:t>
            </a:r>
            <a:r>
              <a:rPr lang="zh-CN" altLang="en-US" sz="3200" b="1">
                <a:latin typeface="Times New Roman" panose="02020603050405020304" charset="0"/>
                <a:ea typeface="+mj-ea"/>
                <a:cs typeface="Times New Roman" panose="02020603050405020304" charset="0"/>
                <a:sym typeface="+mn-ea"/>
              </a:rPr>
              <a:t> </a:t>
            </a:r>
            <a:r>
              <a:rPr lang="en-US" altLang="zh-CN" sz="3200" b="1">
                <a:latin typeface="Times New Roman" panose="02020603050405020304" charset="0"/>
                <a:ea typeface="+mj-ea"/>
                <a:cs typeface="Times New Roman" panose="02020603050405020304" charset="0"/>
                <a:sym typeface="+mn-ea"/>
              </a:rPr>
              <a:t>to</a:t>
            </a:r>
            <a:r>
              <a:rPr lang="zh-CN" altLang="en-US" sz="3200" b="1">
                <a:latin typeface="Times New Roman" panose="02020603050405020304" charset="0"/>
                <a:ea typeface="+mj-ea"/>
                <a:cs typeface="Times New Roman" panose="02020603050405020304" charset="0"/>
                <a:sym typeface="+mn-ea"/>
              </a:rPr>
              <a:t> </a:t>
            </a:r>
            <a:r>
              <a:rPr lang="en-US" altLang="zh-CN" sz="3200" b="1">
                <a:latin typeface="Times New Roman" panose="02020603050405020304" charset="0"/>
                <a:ea typeface="+mj-ea"/>
                <a:cs typeface="Times New Roman" panose="02020603050405020304" charset="0"/>
                <a:sym typeface="+mn-ea"/>
              </a:rPr>
              <a:t>avoid</a:t>
            </a:r>
            <a:endParaRPr lang="zh-CN" altLang="en-US" sz="3200" b="1" kern="1200">
              <a:latin typeface="Times New Roman" panose="02020603050405020304" charset="0"/>
              <a:ea typeface="+mj-ea"/>
              <a:cs typeface="Times New Roman" panose="02020603050405020304" charset="0"/>
            </a:endParaRPr>
          </a:p>
          <a:p>
            <a:pPr algn="l"/>
            <a:endParaRPr lang="zh-CN" altLang="en-US" sz="3200" b="1">
              <a:latin typeface="Times New Roman" panose="02020603050405020304" charset="0"/>
              <a:ea typeface="微软雅黑" panose="020B0503020204020204" charset="-122"/>
              <a:cs typeface="Times New Roman" panose="0202060305040502030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81298" y="1368742"/>
            <a:ext cx="10508615" cy="4120515"/>
          </a:xfrm>
        </p:spPr>
        <p:txBody>
          <a:bodyPr>
            <a:noAutofit/>
          </a:bodyPr>
          <a:lstStyle/>
          <a:p>
            <a:pPr>
              <a:lnSpc>
                <a:spcPct val="150000"/>
              </a:lnSpc>
              <a:buFontTx/>
              <a:buNone/>
            </a:pPr>
            <a:r>
              <a:rPr lang="en-US" altLang="zh-CN" sz="2800" kern="0" spc="0" dirty="0">
                <a:solidFill>
                  <a:schemeClr val="tx1"/>
                </a:solidFill>
                <a:latin typeface="Times New Roman" panose="02020603050405020304" charset="0"/>
                <a:cs typeface="Times New Roman" panose="02020603050405020304" charset="0"/>
                <a:sym typeface="+mn-ea"/>
              </a:rPr>
              <a:t>---Do literature review</a:t>
            </a:r>
          </a:p>
          <a:p>
            <a:pPr>
              <a:lnSpc>
                <a:spcPct val="150000"/>
              </a:lnSpc>
              <a:buFontTx/>
              <a:buNone/>
            </a:pPr>
            <a:r>
              <a:rPr lang="en-US" altLang="zh-CN" sz="2800" kern="0" spc="0" dirty="0">
                <a:solidFill>
                  <a:schemeClr val="tx1"/>
                </a:solidFill>
                <a:latin typeface="Times New Roman" panose="02020603050405020304" charset="0"/>
                <a:cs typeface="Times New Roman" panose="02020603050405020304" charset="0"/>
                <a:sym typeface="+mn-ea"/>
              </a:rPr>
              <a:t>--- Select from puzzling problems</a:t>
            </a:r>
          </a:p>
          <a:p>
            <a:pPr>
              <a:lnSpc>
                <a:spcPct val="150000"/>
              </a:lnSpc>
              <a:buFontTx/>
              <a:buNone/>
            </a:pPr>
            <a:r>
              <a:rPr lang="en-US" altLang="zh-CN" sz="2800" kern="0" spc="0" dirty="0">
                <a:solidFill>
                  <a:schemeClr val="tx1"/>
                </a:solidFill>
                <a:latin typeface="Times New Roman" panose="02020603050405020304" charset="0"/>
                <a:cs typeface="Times New Roman" panose="02020603050405020304" charset="0"/>
                <a:sym typeface="+mn-ea"/>
              </a:rPr>
              <a:t>---Choose from your own interest</a:t>
            </a:r>
            <a:endParaRPr lang="en-US" altLang="zh-CN" sz="2800" kern="0" spc="0" dirty="0">
              <a:solidFill>
                <a:schemeClr val="tx1"/>
              </a:solidFill>
              <a:uFillTx/>
              <a:latin typeface="Times New Roman" panose="02020603050405020304" charset="0"/>
              <a:cs typeface="Times New Roman" panose="02020603050405020304" charset="0"/>
              <a:sym typeface="+mn-ea"/>
            </a:endParaRPr>
          </a:p>
          <a:p>
            <a:pPr>
              <a:lnSpc>
                <a:spcPct val="150000"/>
              </a:lnSpc>
              <a:buFontTx/>
              <a:buNone/>
            </a:pPr>
            <a:r>
              <a:rPr lang="en-US" altLang="zh-CN" sz="2800" kern="0" spc="0" dirty="0">
                <a:solidFill>
                  <a:schemeClr val="tx1"/>
                </a:solidFill>
                <a:uFillTx/>
                <a:latin typeface="Times New Roman" panose="02020603050405020304" charset="0"/>
                <a:cs typeface="Times New Roman" panose="02020603050405020304" charset="0"/>
                <a:sym typeface="+mn-ea"/>
              </a:rPr>
              <a:t>--- Consult your professor or an expert</a:t>
            </a:r>
            <a:endParaRPr lang="en-US" altLang="zh-CN" sz="2800" kern="0" spc="0" dirty="0">
              <a:solidFill>
                <a:schemeClr val="tx1"/>
              </a:solidFill>
              <a:uFillTx/>
              <a:latin typeface="Times New Roman" panose="02020603050405020304" charset="0"/>
              <a:cs typeface="Times New Roman" panose="02020603050405020304" charset="0"/>
            </a:endParaRPr>
          </a:p>
          <a:p>
            <a:pPr>
              <a:lnSpc>
                <a:spcPct val="150000"/>
              </a:lnSpc>
              <a:buFontTx/>
              <a:buNone/>
            </a:pPr>
            <a:r>
              <a:rPr lang="en-US" altLang="zh-CN" sz="2800" kern="0" spc="0" dirty="0">
                <a:solidFill>
                  <a:schemeClr val="tx1"/>
                </a:solidFill>
                <a:uFillTx/>
                <a:latin typeface="Times New Roman" panose="02020603050405020304" charset="0"/>
                <a:cs typeface="Times New Roman" panose="02020603050405020304" charset="0"/>
                <a:sym typeface="+mn-ea"/>
              </a:rPr>
              <a:t>--- Participate in academic conferences and academic lectures</a:t>
            </a:r>
            <a:endParaRPr lang="en-US" altLang="zh-CN" sz="2800" kern="0" spc="0" dirty="0">
              <a:solidFill>
                <a:schemeClr val="tx1"/>
              </a:solidFill>
              <a:uFillTx/>
              <a:latin typeface="Times New Roman" panose="02020603050405020304" charset="0"/>
              <a:cs typeface="Times New Roman" panose="02020603050405020304" charset="0"/>
            </a:endParaRPr>
          </a:p>
          <a:p>
            <a:pPr>
              <a:lnSpc>
                <a:spcPct val="150000"/>
              </a:lnSpc>
              <a:buFontTx/>
              <a:buNone/>
            </a:pPr>
            <a:r>
              <a:rPr lang="en-US" altLang="zh-CN" sz="2800" kern="0" spc="0" dirty="0">
                <a:solidFill>
                  <a:schemeClr val="tx1"/>
                </a:solidFill>
                <a:uFillTx/>
                <a:latin typeface="Times New Roman" panose="02020603050405020304" charset="0"/>
                <a:cs typeface="Times New Roman" panose="02020603050405020304" charset="0"/>
                <a:sym typeface="+mn-ea"/>
              </a:rPr>
              <a:t>--- Read books and references</a:t>
            </a:r>
          </a:p>
          <a:p>
            <a:pPr>
              <a:lnSpc>
                <a:spcPct val="150000"/>
              </a:lnSpc>
              <a:buFontTx/>
              <a:buNone/>
            </a:pP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1"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734060"/>
            <a:ext cx="9689465" cy="874395"/>
          </a:xfrm>
          <a:prstGeom prst="rect">
            <a:avLst/>
          </a:prstGeom>
        </p:spPr>
        <p:txBody>
          <a:bodyPr wrap="square">
            <a:noAutofit/>
            <a:extLst>
              <a:ext uri="{4A0BC546-FE56-4ADE-93B0-CB8AF2F6F144}">
                <wpsdc:textFrameExt xmlns:wpsdc="http://www.wps.cn/officeDocument/2022/drawingmlCustomData" xmlns="" type="text"/>
              </a:ext>
            </a:extLst>
          </a:bodyPr>
          <a:lstStyle/>
          <a:p>
            <a:pPr algn="l"/>
            <a:r>
              <a:rPr lang="en-US" altLang="zh-CN" sz="3200" b="1">
                <a:latin typeface="Times New Roman" panose="02020603050405020304" charset="0"/>
                <a:cs typeface="Times New Roman" panose="02020603050405020304" charset="0"/>
                <a:sym typeface="+mn-ea"/>
              </a:rPr>
              <a:t>2.2 Methods for Choosing a Title</a:t>
            </a:r>
            <a:endParaRPr lang="en-US" altLang="zh-CN" sz="3200" b="1"/>
          </a:p>
          <a:p>
            <a:pPr algn="l"/>
            <a:endParaRPr lang="zh-CN" altLang="en-US" sz="3200" b="1">
              <a:latin typeface="Times New Roman" panose="02020603050405020304" charset="0"/>
              <a:ea typeface="微软雅黑" panose="020B0503020204020204" charset="-122"/>
              <a:cs typeface="Times New Roman" panose="0202060305040502030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8410" y="1832610"/>
            <a:ext cx="10508615" cy="4120515"/>
          </a:xfrm>
        </p:spPr>
        <p:txBody>
          <a:bodyPr>
            <a:noAutofit/>
          </a:bodyPr>
          <a:lstStyle/>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uFillTx/>
                <a:latin typeface="Times New Roman" panose="02020603050405020304" charset="0"/>
                <a:cs typeface="Times New Roman" panose="02020603050405020304" charset="0"/>
                <a:sym typeface="+mn-ea"/>
              </a:rPr>
              <a:t>Avoid a topic which is too broad (enough references)</a:t>
            </a:r>
            <a:endParaRPr kumimoji="0" lang="en-US" altLang="zh-CN" sz="3200" i="0" spc="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uFillTx/>
                <a:latin typeface="Times New Roman" panose="02020603050405020304" charset="0"/>
                <a:cs typeface="Times New Roman" panose="02020603050405020304" charset="0"/>
                <a:sym typeface="+mn-ea"/>
              </a:rPr>
              <a:t>Avoid a topic which is too narrow (in available time and space)</a:t>
            </a:r>
            <a:endParaRPr kumimoji="0" lang="en-US" altLang="zh-CN" sz="3200" i="0" spc="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uFillTx/>
                <a:latin typeface="Times New Roman" panose="02020603050405020304" charset="0"/>
                <a:cs typeface="Times New Roman" panose="02020603050405020304" charset="0"/>
                <a:sym typeface="+mn-ea"/>
              </a:rPr>
              <a:t>Avoid a topic which is grammatically incorrect</a:t>
            </a:r>
            <a:endParaRPr kumimoji="0" lang="en-US" altLang="zh-CN" sz="3200" i="0" spc="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eaLnBrk="1" fontAlgn="base" latinLnBrk="0" hangingPunct="1">
              <a:lnSpc>
                <a:spcPct val="150000"/>
              </a:lnSpc>
              <a:spcBef>
                <a:spcPts val="1200"/>
              </a:spcBef>
              <a:spcAft>
                <a:spcPts val="0"/>
              </a:spcAft>
              <a:buClr>
                <a:schemeClr val="accent1"/>
              </a:buClr>
              <a:buSzPct val="80000"/>
              <a:buFont typeface="Wingdings" panose="05000000000000000000"/>
              <a:buChar char=""/>
              <a:defRPr/>
            </a:pPr>
            <a:endParaRPr kumimoji="0" lang="en-US" altLang="zh-CN" sz="320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734060"/>
            <a:ext cx="9689465" cy="874395"/>
          </a:xfrm>
          <a:prstGeom prst="rect">
            <a:avLst/>
          </a:prstGeom>
        </p:spPr>
        <p:txBody>
          <a:bodyPr wrap="square">
            <a:noAutofit/>
            <a:extLst>
              <a:ext uri="{4A0BC546-FE56-4ADE-93B0-CB8AF2F6F144}">
                <wpsdc:textFrameExt xmlns:wpsdc="http://www.wps.cn/officeDocument/2022/drawingmlCustomData" xmlns="" type="text"/>
              </a:ext>
            </a:extLst>
          </a:bodyPr>
          <a:lstStyle/>
          <a:p>
            <a:pPr algn="l"/>
            <a:r>
              <a:rPr lang="en-US" altLang="zh-CN" sz="3200" b="1" noProof="0" dirty="0">
                <a:ln>
                  <a:noFill/>
                </a:ln>
                <a:effectLst/>
                <a:uLnTx/>
                <a:uFillTx/>
                <a:latin typeface="Times New Roman" panose="02020603050405020304" charset="0"/>
                <a:cs typeface="Times New Roman" panose="02020603050405020304" charset="0"/>
                <a:sym typeface="+mn-ea"/>
              </a:rPr>
              <a:t>2.3 Principles of making a topic</a:t>
            </a:r>
            <a:endParaRPr lang="en-US" altLang="zh-CN" sz="3200" b="1" dirty="0">
              <a:solidFill>
                <a:schemeClr val="tx1"/>
              </a:solidFill>
              <a:latin typeface="Times New Roman" panose="02020603050405020304" charset="0"/>
              <a:ea typeface="微软雅黑" panose="020B0503020204020204" charset="-122"/>
              <a:cs typeface="Times New Roman" panose="0202060305040502030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Use noun phrases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no infinitive verb phrase</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no prepositional phrase (except “on”)</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 typeface="Wingdings" panose="05000000000000000000"/>
              <a:buChar char=""/>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no sentences or phrases which are too long/</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a:lnSpc>
                <a:spcPct val="150000"/>
              </a:lnSpc>
              <a:spcAft>
                <a:spcPts val="0"/>
              </a:spcAft>
              <a:buClr>
                <a:schemeClr val="accent1"/>
              </a:buClr>
              <a:buSzPct val="80000"/>
              <a:buFontTx/>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a:t>
            </a:r>
            <a:r>
              <a:rPr lang="en-US" altLang="zh-CN" sz="3200" spc="0" noProof="0" dirty="0" err="1">
                <a:ln>
                  <a:noFill/>
                </a:ln>
                <a:solidFill>
                  <a:schemeClr val="tx1"/>
                </a:solidFill>
                <a:effectLst/>
                <a:uLnTx/>
                <a:latin typeface="Times New Roman" panose="02020603050405020304" charset="0"/>
                <a:cs typeface="Times New Roman" panose="02020603050405020304" charset="0"/>
                <a:sym typeface="+mn-ea"/>
              </a:rPr>
              <a:t>Eg</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Planned and Unplanned Discourse</a:t>
            </a:r>
            <a:r>
              <a:rPr lang="zh-CN" altLang="en-US" sz="3200" spc="0" noProof="0" dirty="0">
                <a:ln>
                  <a:noFill/>
                </a:ln>
                <a:solidFill>
                  <a:schemeClr val="tx1"/>
                </a:solidFill>
                <a:effectLst/>
                <a:uLnTx/>
                <a:latin typeface="Times New Roman" panose="02020603050405020304" charset="0"/>
                <a:cs typeface="Times New Roman" panose="02020603050405020304" charset="0"/>
                <a:sym typeface="+mn-ea"/>
              </a:rPr>
              <a:t> </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Controlling Cultural Variations in the Preparations of TESOL materials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384175" algn="l" defTabSz="914400" rtl="0" eaLnBrk="1" fontAlgn="base" latinLnBrk="0" hangingPunct="1">
              <a:lnSpc>
                <a:spcPct val="150000"/>
              </a:lnSpc>
              <a:spcBef>
                <a:spcPts val="1200"/>
              </a:spcBef>
              <a:spcAft>
                <a:spcPts val="0"/>
              </a:spcAft>
              <a:buClr>
                <a:schemeClr val="accent1"/>
              </a:buClr>
              <a:buSzPct val="80000"/>
              <a:buFontTx/>
              <a:buNone/>
              <a:defRPr/>
            </a:pP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eaLnBrk="1" hangingPunct="1"/>
            <a:r>
              <a:rPr lang="en-US" altLang="zh-CN" sz="3200" kern="0" spc="0" dirty="0">
                <a:solidFill>
                  <a:schemeClr val="tx1"/>
                </a:solidFill>
                <a:uFillTx/>
                <a:latin typeface="Times New Roman" panose="02020603050405020304" charset="0"/>
                <a:cs typeface="Times New Roman" panose="02020603050405020304" charset="0"/>
                <a:sym typeface="+mn-ea"/>
              </a:rPr>
              <a:t>Key words should be included</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err="1">
                <a:solidFill>
                  <a:schemeClr val="tx1"/>
                </a:solidFill>
                <a:uFillTx/>
                <a:latin typeface="Times New Roman" panose="02020603050405020304" charset="0"/>
                <a:cs typeface="Times New Roman" panose="02020603050405020304" charset="0"/>
                <a:sym typeface="+mn-ea"/>
              </a:rPr>
              <a:t>eg.</a:t>
            </a:r>
            <a:r>
              <a:rPr lang="en-US" altLang="zh-CN" sz="3200" kern="0" spc="0" dirty="0">
                <a:solidFill>
                  <a:schemeClr val="tx1"/>
                </a:solidFill>
                <a:uFillTx/>
                <a:latin typeface="Times New Roman" panose="02020603050405020304" charset="0"/>
                <a:cs typeface="Times New Roman" panose="02020603050405020304" charset="0"/>
                <a:sym typeface="+mn-ea"/>
              </a:rPr>
              <a:t> The hedging strategy in Chinese and English academic writing: A contrastive rhetoric perspective</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r>
              <a:rPr lang="en-US" altLang="zh-CN" sz="3200" kern="0" spc="0" dirty="0">
                <a:solidFill>
                  <a:schemeClr val="tx1"/>
                </a:solidFill>
                <a:uFillTx/>
                <a:latin typeface="Times New Roman" panose="02020603050405020304" charset="0"/>
                <a:cs typeface="Times New Roman" panose="02020603050405020304" charset="0"/>
                <a:sym typeface="+mn-ea"/>
              </a:rPr>
              <a:t>Avoid “ A Study of “ pattern</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a:t>
            </a:r>
            <a:r>
              <a:rPr lang="en-US" altLang="zh-CN" sz="3200" kern="0" spc="0" dirty="0" err="1">
                <a:solidFill>
                  <a:schemeClr val="tx1"/>
                </a:solidFill>
                <a:uFillTx/>
                <a:latin typeface="Times New Roman" panose="02020603050405020304" charset="0"/>
                <a:cs typeface="Times New Roman" panose="02020603050405020304" charset="0"/>
                <a:sym typeface="+mn-ea"/>
              </a:rPr>
              <a:t>eg.</a:t>
            </a:r>
            <a:r>
              <a:rPr lang="en-US" altLang="zh-CN" sz="3200" kern="0" spc="0" dirty="0">
                <a:solidFill>
                  <a:schemeClr val="tx1"/>
                </a:solidFill>
                <a:uFillTx/>
                <a:latin typeface="Times New Roman" panose="02020603050405020304" charset="0"/>
                <a:cs typeface="Times New Roman" panose="02020603050405020304" charset="0"/>
                <a:sym typeface="+mn-ea"/>
              </a:rPr>
              <a:t> A study of text types</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Text types: A systematic functional perspective</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189865"/>
            <a:ext cx="9689465" cy="1549400"/>
          </a:xfrm>
          <a:prstGeom prst="rect">
            <a:avLst/>
          </a:prstGeom>
        </p:spPr>
        <p:txBody>
          <a:bodyPr wrap="square">
            <a:noAutofit/>
            <a:extLst>
              <a:ext uri="{4A0BC546-FE56-4ADE-93B0-CB8AF2F6F144}">
                <wpsdc:textFrameExt xmlns:wpsdc="http://www.wps.cn/officeDocument/2022/drawingmlCustomData" xmlns="" type="text"/>
              </a:ext>
            </a:extLst>
          </a:bodyPr>
          <a:lstStyle/>
          <a:p>
            <a:pPr algn="l"/>
            <a:r>
              <a:rPr lang="en-US" altLang="zh-CN" sz="3200">
                <a:sym typeface="+mn-ea"/>
              </a:rPr>
              <a:t>Tips for choosing a topic</a:t>
            </a:r>
            <a:endParaRPr lang="en-US" altLang="zh-CN" sz="3200"/>
          </a:p>
          <a:p>
            <a:pPr>
              <a:buNone/>
            </a:pPr>
            <a:r>
              <a:rPr lang="en-US" altLang="zh-CN" sz="3200">
                <a:sym typeface="+mn-ea"/>
              </a:rPr>
              <a:t>    1. </a:t>
            </a:r>
            <a:r>
              <a:rPr lang="zh-CN" altLang="en-US" sz="3200">
                <a:sym typeface="+mn-ea"/>
              </a:rPr>
              <a:t>新题快做</a:t>
            </a:r>
            <a:r>
              <a:rPr lang="en-US" altLang="zh-CN" sz="3200">
                <a:sym typeface="+mn-ea"/>
              </a:rPr>
              <a:t>---</a:t>
            </a:r>
            <a:r>
              <a:rPr lang="zh-CN" altLang="en-US" sz="3200">
                <a:sym typeface="+mn-ea"/>
              </a:rPr>
              <a:t>新质生产力</a:t>
            </a:r>
            <a:r>
              <a:rPr lang="en-US" altLang="zh-CN" sz="3200">
                <a:sym typeface="+mn-ea"/>
              </a:rPr>
              <a:t> </a:t>
            </a:r>
            <a:endParaRPr lang="en-US" altLang="zh-CN" sz="3200" b="1">
              <a:solidFill>
                <a:schemeClr val="tx1"/>
              </a:solidFill>
              <a:latin typeface="Times New Roman" panose="02020603050405020304" charset="0"/>
              <a:ea typeface="微软雅黑" panose="020B0503020204020204" charset="-122"/>
              <a:cs typeface="Times New Roman" panose="02020603050405020304" charset="0"/>
            </a:endParaRPr>
          </a:p>
        </p:txBody>
      </p:sp>
      <p:sp>
        <p:nvSpPr>
          <p:cNvPr id="4" name="内容占位符 3"/>
          <p:cNvSpPr>
            <a:spLocks noGrp="1"/>
          </p:cNvSpPr>
          <p:nvPr>
            <p:ph idx="1"/>
          </p:nvPr>
        </p:nvSpPr>
        <p:spPr/>
        <p:txBody>
          <a:bodyPr/>
          <a:lstStyle/>
          <a:p>
            <a:endParaRPr lang="zh-CN" altLang="en-US"/>
          </a:p>
        </p:txBody>
      </p:sp>
      <p:pic>
        <p:nvPicPr>
          <p:cNvPr id="5" name="图片 4"/>
          <p:cNvPicPr>
            <a:picLocks noChangeAspect="1"/>
          </p:cNvPicPr>
          <p:nvPr/>
        </p:nvPicPr>
        <p:blipFill>
          <a:blip r:embed="rId6"/>
          <a:srcRect t="17474" r="5645"/>
          <a:stretch>
            <a:fillRect/>
          </a:stretch>
        </p:blipFill>
        <p:spPr>
          <a:xfrm>
            <a:off x="152400" y="1406525"/>
            <a:ext cx="10881360" cy="4893310"/>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189865"/>
            <a:ext cx="9689465" cy="1549400"/>
          </a:xfrm>
          <a:prstGeom prst="rect">
            <a:avLst/>
          </a:prstGeom>
        </p:spPr>
        <p:txBody>
          <a:bodyPr wrap="square">
            <a:noAutofit/>
            <a:extLst>
              <a:ext uri="{4A0BC546-FE56-4ADE-93B0-CB8AF2F6F144}">
                <wpsdc:textFrameExt xmlns:wpsdc="http://www.wps.cn/officeDocument/2022/drawingmlCustomData" xmlns="" type="text"/>
              </a:ext>
            </a:extLst>
          </a:bodyPr>
          <a:lstStyle/>
          <a:p>
            <a:pPr algn="l"/>
            <a:r>
              <a:rPr lang="en-US" altLang="zh-CN" sz="3200">
                <a:sym typeface="+mn-ea"/>
              </a:rPr>
              <a:t>Tips for choosing a topic</a:t>
            </a:r>
            <a:endParaRPr lang="en-US" altLang="zh-CN" sz="3200"/>
          </a:p>
          <a:p>
            <a:pPr>
              <a:buNone/>
            </a:pPr>
            <a:r>
              <a:rPr lang="en-US" altLang="zh-CN" sz="3200">
                <a:sym typeface="+mn-ea"/>
              </a:rPr>
              <a:t>    1. </a:t>
            </a:r>
            <a:r>
              <a:rPr lang="zh-CN" altLang="en-US" sz="3200">
                <a:sym typeface="+mn-ea"/>
              </a:rPr>
              <a:t>新题快做</a:t>
            </a:r>
            <a:r>
              <a:rPr lang="en-US" altLang="zh-CN" sz="3200">
                <a:sym typeface="+mn-ea"/>
              </a:rPr>
              <a:t>---</a:t>
            </a:r>
            <a:r>
              <a:rPr lang="en-US" sz="3200">
                <a:sym typeface="+mn-ea"/>
              </a:rPr>
              <a:t>DeepSeek</a:t>
            </a:r>
            <a:endParaRPr lang="en-US" sz="3200" b="1">
              <a:solidFill>
                <a:schemeClr val="tx1"/>
              </a:solidFill>
              <a:latin typeface="Times New Roman" panose="02020603050405020304" charset="0"/>
              <a:ea typeface="微软雅黑" panose="020B0503020204020204" charset="-122"/>
              <a:cs typeface="Times New Roman" panose="02020603050405020304" charset="0"/>
            </a:endParaRPr>
          </a:p>
        </p:txBody>
      </p:sp>
      <p:sp>
        <p:nvSpPr>
          <p:cNvPr id="4" name="内容占位符 3"/>
          <p:cNvSpPr>
            <a:spLocks noGrp="1"/>
          </p:cNvSpPr>
          <p:nvPr>
            <p:ph idx="1"/>
          </p:nvPr>
        </p:nvSpPr>
        <p:spPr/>
        <p:txBody>
          <a:bodyPr/>
          <a:lstStyle/>
          <a:p>
            <a:endParaRPr lang="zh-CN" altLang="en-US"/>
          </a:p>
        </p:txBody>
      </p:sp>
      <p:pic>
        <p:nvPicPr>
          <p:cNvPr id="3" name="图片 2"/>
          <p:cNvPicPr>
            <a:picLocks noChangeAspect="1"/>
          </p:cNvPicPr>
          <p:nvPr/>
        </p:nvPicPr>
        <p:blipFill>
          <a:blip r:embed="rId6"/>
          <a:stretch>
            <a:fillRect/>
          </a:stretch>
        </p:blipFill>
        <p:spPr>
          <a:xfrm>
            <a:off x="228600" y="1264920"/>
            <a:ext cx="11547475" cy="5593080"/>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330" y="194310"/>
            <a:ext cx="10968990" cy="1119505"/>
          </a:xfrm>
        </p:spPr>
        <p:txBody>
          <a:bodyPr>
            <a:normAutofit fontScale="90000"/>
          </a:bodyPr>
          <a:lstStyle/>
          <a:p>
            <a:r>
              <a:rPr lang="en-US" altLang="zh-CN">
                <a:sym typeface="+mn-ea"/>
              </a:rPr>
              <a:t>2. </a:t>
            </a:r>
            <a:r>
              <a:rPr lang="zh-CN" altLang="en-US">
                <a:sym typeface="+mn-ea"/>
              </a:rPr>
              <a:t>旧题新做</a:t>
            </a:r>
            <a:br>
              <a:rPr lang="en-US" altLang="zh-CN"/>
            </a:br>
            <a:r>
              <a:rPr lang="en-US" altLang="zh-CN">
                <a:sym typeface="+mn-ea"/>
              </a:rPr>
              <a:t>    </a:t>
            </a:r>
            <a:r>
              <a:rPr lang="zh-CN" altLang="en-US">
                <a:sym typeface="+mn-ea"/>
              </a:rPr>
              <a:t>特点：研究时间长，但不过时。</a:t>
            </a:r>
            <a:br>
              <a:rPr lang="en-US" altLang="zh-CN"/>
            </a:br>
            <a:r>
              <a:rPr lang="en-US" altLang="zh-CN">
                <a:sym typeface="+mn-ea"/>
              </a:rPr>
              <a:t>     </a:t>
            </a:r>
            <a:r>
              <a:rPr lang="zh-CN" altLang="en-US">
                <a:sym typeface="+mn-ea"/>
              </a:rPr>
              <a:t>新思想、新视角、新方法</a:t>
            </a:r>
            <a:endParaRPr lang="zh-CN" altLang="en-US"/>
          </a:p>
        </p:txBody>
      </p:sp>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3"/>
          <a:stretch>
            <a:fillRect/>
          </a:stretch>
        </p:blipFill>
        <p:spPr>
          <a:xfrm>
            <a:off x="152400" y="1410970"/>
            <a:ext cx="11624945" cy="544703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sym typeface="+mn-ea"/>
              </a:rPr>
              <a:t>3. </a:t>
            </a:r>
            <a:r>
              <a:rPr lang="zh-CN" altLang="en-US">
                <a:sym typeface="+mn-ea"/>
              </a:rPr>
              <a:t>大题小做，小题大做</a:t>
            </a:r>
            <a:br>
              <a:rPr lang="en-US" altLang="zh-CN"/>
            </a:br>
            <a:r>
              <a:rPr lang="en-US" altLang="zh-CN">
                <a:sym typeface="+mn-ea"/>
              </a:rPr>
              <a:t>        </a:t>
            </a:r>
            <a:r>
              <a:rPr lang="zh-CN" altLang="en-US">
                <a:sym typeface="+mn-ea"/>
              </a:rPr>
              <a:t>做全、做精、做细</a:t>
            </a:r>
            <a:endParaRPr lang="zh-CN" altLang="en-US"/>
          </a:p>
        </p:txBody>
      </p:sp>
      <p:sp>
        <p:nvSpPr>
          <p:cNvPr id="3" name="内容占位符 2"/>
          <p:cNvSpPr>
            <a:spLocks noGrp="1"/>
          </p:cNvSpPr>
          <p:nvPr>
            <p:ph idx="1"/>
          </p:nvPr>
        </p:nvSpPr>
        <p:spPr/>
        <p:txBody>
          <a:bodyPr/>
          <a:lstStyle/>
          <a:p>
            <a:endParaRPr lang="zh-CN" altLang="en-US"/>
          </a:p>
        </p:txBody>
      </p:sp>
      <p:pic>
        <p:nvPicPr>
          <p:cNvPr id="25602" name="Picture 2"/>
          <p:cNvPicPr>
            <a:picLocks noChangeAspect="1"/>
          </p:cNvPicPr>
          <p:nvPr/>
        </p:nvPicPr>
        <p:blipFill>
          <a:blip r:embed="rId3"/>
          <a:stretch>
            <a:fillRect/>
          </a:stretch>
        </p:blipFill>
        <p:spPr>
          <a:xfrm>
            <a:off x="152400" y="1388110"/>
            <a:ext cx="11849100" cy="5361940"/>
          </a:xfrm>
          <a:prstGeom prst="rect">
            <a:avLst/>
          </a:prstGeom>
          <a:noFill/>
          <a:ln w="9525">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0" marR="0" lvl="0" indent="0" algn="l" defTabSz="914400" rtl="0" eaLnBrk="1" fontAlgn="base" latinLnBrk="0" hangingPunct="1">
              <a:lnSpc>
                <a:spcPct val="100000"/>
              </a:lnSpc>
              <a:spcBef>
                <a:spcPts val="1200"/>
              </a:spcBef>
              <a:spcAft>
                <a:spcPct val="0"/>
              </a:spcAft>
              <a:buClr>
                <a:srgbClr val="838995"/>
              </a:buClr>
              <a:buSzTx/>
              <a:buFontTx/>
              <a:buNone/>
              <a:defRPr/>
            </a:pPr>
            <a:r>
              <a:rPr lang="zh-CN" altLang="en-US" sz="3200">
                <a:solidFill>
                  <a:schemeClr val="tx1"/>
                </a:solidFill>
                <a:sym typeface="+mn-ea"/>
              </a:rPr>
              <a:t>建议：</a:t>
            </a:r>
            <a:endParaRPr lang="en-US" altLang="zh-CN" sz="3200">
              <a:solidFill>
                <a:schemeClr val="tx1"/>
              </a:solidFill>
            </a:endParaRPr>
          </a:p>
          <a:p>
            <a:pPr>
              <a:buNone/>
            </a:pPr>
            <a:r>
              <a:rPr lang="en-US" altLang="zh-CN" sz="3200">
                <a:solidFill>
                  <a:schemeClr val="tx1"/>
                </a:solidFill>
                <a:sym typeface="+mn-ea"/>
              </a:rPr>
              <a:t>   1.</a:t>
            </a:r>
            <a:r>
              <a:rPr lang="zh-CN" altLang="en-US" sz="3200">
                <a:solidFill>
                  <a:schemeClr val="tx1"/>
                </a:solidFill>
                <a:sym typeface="+mn-ea"/>
              </a:rPr>
              <a:t> 看前看后 ：前人的研究成果，未来的发展方向</a:t>
            </a:r>
            <a:endParaRPr lang="en-US" altLang="zh-CN" sz="3200">
              <a:solidFill>
                <a:schemeClr val="tx1"/>
              </a:solidFill>
            </a:endParaRPr>
          </a:p>
          <a:p>
            <a:pPr>
              <a:buNone/>
            </a:pPr>
            <a:r>
              <a:rPr lang="en-US" altLang="zh-CN" sz="3200">
                <a:solidFill>
                  <a:schemeClr val="tx1"/>
                </a:solidFill>
                <a:sym typeface="+mn-ea"/>
              </a:rPr>
              <a:t>    2. </a:t>
            </a:r>
            <a:r>
              <a:rPr lang="zh-CN" altLang="en-US" sz="3200">
                <a:solidFill>
                  <a:schemeClr val="tx1"/>
                </a:solidFill>
                <a:sym typeface="+mn-ea"/>
              </a:rPr>
              <a:t>看内看外：不要局限于国内的研究，要多参考国外的研究成果</a:t>
            </a:r>
            <a:endParaRPr lang="en-US" altLang="zh-CN" sz="3200">
              <a:solidFill>
                <a:schemeClr val="tx1"/>
              </a:solidFill>
            </a:endParaRPr>
          </a:p>
          <a:p>
            <a:pPr>
              <a:buNone/>
            </a:pPr>
            <a:r>
              <a:rPr lang="en-US" altLang="zh-CN" sz="3200">
                <a:solidFill>
                  <a:schemeClr val="tx1"/>
                </a:solidFill>
                <a:sym typeface="+mn-ea"/>
              </a:rPr>
              <a:t>    3. </a:t>
            </a:r>
            <a:r>
              <a:rPr lang="zh-CN" altLang="en-US" sz="3200">
                <a:solidFill>
                  <a:schemeClr val="tx1"/>
                </a:solidFill>
                <a:sym typeface="+mn-ea"/>
              </a:rPr>
              <a:t>看左看右：近几年论文选题动向</a:t>
            </a:r>
            <a:endParaRPr lang="zh-CN" altLang="en-US" sz="3200">
              <a:solidFill>
                <a:schemeClr val="tx1"/>
              </a:solidFill>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zh-CN" altLang="en-US"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918439"/>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Ways to Narrow down Titles</a:t>
            </a:r>
            <a:endParaRPr lang="en-US" altLang="zh-CN" sz="3200" b="1" kern="0" spc="0" dirty="0">
              <a:solidFill>
                <a:schemeClr val="tx1"/>
              </a:solidFill>
              <a:uFillTx/>
              <a:latin typeface="Times New Roman" panose="02020603050405020304" charset="0"/>
              <a:cs typeface="Times New Roman" panose="02020603050405020304" charset="0"/>
            </a:endParaRPr>
          </a:p>
          <a:p>
            <a:pPr>
              <a:lnSpc>
                <a:spcPct val="100000"/>
              </a:lnSpc>
              <a:buNone/>
            </a:pPr>
            <a:r>
              <a:rPr lang="en-US" altLang="zh-CN" sz="2800" b="1" kern="0" spc="0" dirty="0">
                <a:solidFill>
                  <a:schemeClr val="tx1"/>
                </a:solidFill>
                <a:latin typeface="Times New Roman" panose="02020603050405020304" charset="0"/>
                <a:cs typeface="Times New Roman" panose="02020603050405020304" charset="0"/>
                <a:sym typeface="+mn-ea"/>
              </a:rPr>
              <a:t>Broad</a:t>
            </a:r>
            <a:r>
              <a:rPr lang="en-US" altLang="zh-CN" sz="2800" kern="0" spc="0" dirty="0">
                <a:solidFill>
                  <a:schemeClr val="tx1"/>
                </a:solidFill>
                <a:latin typeface="Times New Roman" panose="02020603050405020304" charset="0"/>
                <a:cs typeface="Times New Roman" panose="02020603050405020304" charset="0"/>
                <a:sym typeface="+mn-ea"/>
              </a:rPr>
              <a:t>: Climate Change</a:t>
            </a:r>
          </a:p>
          <a:p>
            <a:pPr marL="0">
              <a:lnSpc>
                <a:spcPct val="150000"/>
              </a:lnSpc>
              <a:buNone/>
            </a:pPr>
            <a:r>
              <a:rPr lang="en-US" altLang="zh-CN" sz="2800" b="1" kern="0" spc="0" dirty="0">
                <a:solidFill>
                  <a:schemeClr val="tx1"/>
                </a:solidFill>
                <a:latin typeface="Times New Roman" panose="02020603050405020304" charset="0"/>
                <a:cs typeface="Times New Roman" panose="02020603050405020304" charset="0"/>
                <a:sym typeface="+mn-ea"/>
              </a:rPr>
              <a:t>Narrowed</a:t>
            </a:r>
            <a:r>
              <a:rPr lang="en-US" altLang="zh-CN" sz="2800" kern="0" spc="0" dirty="0">
                <a:solidFill>
                  <a:schemeClr val="tx1"/>
                </a:solidFill>
                <a:latin typeface="Times New Roman" panose="02020603050405020304" charset="0"/>
                <a:cs typeface="Times New Roman" panose="02020603050405020304" charset="0"/>
                <a:sym typeface="+mn-ea"/>
              </a:rPr>
              <a:t>: The Impact of Rising Sea Levels on Property Values in South Florida (2010-2020) </a:t>
            </a:r>
          </a:p>
          <a:p>
            <a:pPr>
              <a:lnSpc>
                <a:spcPct val="100000"/>
              </a:lnSpc>
              <a:buNone/>
            </a:pPr>
            <a:r>
              <a:rPr lang="en-US" altLang="zh-CN" sz="2800" b="1" kern="0" spc="0" dirty="0">
                <a:solidFill>
                  <a:schemeClr val="tx1"/>
                </a:solidFill>
                <a:latin typeface="Times New Roman" panose="02020603050405020304" charset="0"/>
                <a:cs typeface="Times New Roman" panose="02020603050405020304" charset="0"/>
                <a:sym typeface="+mn-ea"/>
              </a:rPr>
              <a:t>Broad</a:t>
            </a:r>
            <a:r>
              <a:rPr lang="en-US" altLang="zh-CN" sz="2800" kern="0" spc="0" dirty="0">
                <a:solidFill>
                  <a:schemeClr val="tx1"/>
                </a:solidFill>
                <a:latin typeface="Times New Roman" panose="02020603050405020304" charset="0"/>
                <a:cs typeface="Times New Roman" panose="02020603050405020304" charset="0"/>
                <a:sym typeface="+mn-ea"/>
              </a:rPr>
              <a:t>: Social Media Effects</a:t>
            </a:r>
          </a:p>
          <a:p>
            <a:pPr marL="0">
              <a:lnSpc>
                <a:spcPct val="150000"/>
              </a:lnSpc>
              <a:buNone/>
            </a:pPr>
            <a:r>
              <a:rPr lang="en-US" altLang="zh-CN" sz="2800" b="1" kern="0" spc="0" dirty="0">
                <a:solidFill>
                  <a:schemeClr val="tx1"/>
                </a:solidFill>
                <a:latin typeface="Times New Roman" panose="02020603050405020304" charset="0"/>
                <a:cs typeface="Times New Roman" panose="02020603050405020304" charset="0"/>
                <a:sym typeface="+mn-ea"/>
              </a:rPr>
              <a:t>Narrowed</a:t>
            </a:r>
            <a:r>
              <a:rPr lang="en-US" altLang="zh-CN" sz="2800" kern="0" spc="0" dirty="0">
                <a:solidFill>
                  <a:schemeClr val="tx1"/>
                </a:solidFill>
                <a:latin typeface="Times New Roman" panose="02020603050405020304" charset="0"/>
                <a:cs typeface="Times New Roman" panose="02020603050405020304" charset="0"/>
                <a:sym typeface="+mn-ea"/>
              </a:rPr>
              <a:t>: The Relationship Between Instagram Use and Body Image Dissatisfaction in Adolescent Girls</a:t>
            </a: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964640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5690222"/>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Ways to Narrow down Titles</a:t>
            </a:r>
            <a:endParaRPr lang="en-US" altLang="zh-CN" sz="3200" b="1" kern="0" spc="0" dirty="0">
              <a:solidFill>
                <a:schemeClr val="tx1"/>
              </a:solidFill>
              <a:uFillTx/>
              <a:latin typeface="Times New Roman" panose="02020603050405020304" charset="0"/>
              <a:cs typeface="Times New Roman" panose="02020603050405020304" charset="0"/>
            </a:endParaRP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1</a:t>
            </a:r>
            <a:r>
              <a:rPr lang="zh-CN" altLang="en-US" sz="2400" kern="0" spc="0" dirty="0">
                <a:solidFill>
                  <a:schemeClr val="tx1"/>
                </a:solidFill>
                <a:latin typeface="Times New Roman" panose="02020603050405020304" charset="0"/>
                <a:cs typeface="Times New Roman" panose="02020603050405020304" charset="0"/>
                <a:sym typeface="+mn-ea"/>
              </a:rPr>
              <a:t>）</a:t>
            </a:r>
            <a:r>
              <a:rPr lang="en-US" altLang="zh-CN" sz="2400" kern="0" spc="0" dirty="0">
                <a:solidFill>
                  <a:schemeClr val="tx1"/>
                </a:solidFill>
                <a:latin typeface="Times New Roman" panose="02020603050405020304" charset="0"/>
                <a:cs typeface="Times New Roman" panose="02020603050405020304" charset="0"/>
                <a:sym typeface="+mn-ea"/>
              </a:rPr>
              <a:t>Chemistry</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Chemical Processes</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Improving Chemical Processes</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Oxygen in Improving Chemical Processes</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Role of Oxygen in Improving Chemical Processes</a:t>
            </a:r>
          </a:p>
          <a:p>
            <a:pPr>
              <a:lnSpc>
                <a:spcPct val="100000"/>
              </a:lnSpc>
              <a:buNone/>
            </a:pPr>
            <a:endParaRPr lang="en-US" altLang="zh-CN" sz="2400" kern="0" spc="0" dirty="0">
              <a:solidFill>
                <a:schemeClr val="tx1"/>
              </a:solidFill>
              <a:latin typeface="Times New Roman" panose="02020603050405020304" charset="0"/>
              <a:cs typeface="Times New Roman" panose="02020603050405020304" charset="0"/>
              <a:sym typeface="+mn-ea"/>
            </a:endParaRP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2</a:t>
            </a:r>
            <a:r>
              <a:rPr lang="zh-CN" altLang="en-US" sz="2400" kern="0" spc="0" dirty="0">
                <a:solidFill>
                  <a:schemeClr val="tx1"/>
                </a:solidFill>
                <a:latin typeface="Times New Roman" panose="02020603050405020304" charset="0"/>
                <a:cs typeface="Times New Roman" panose="02020603050405020304" charset="0"/>
                <a:sym typeface="+mn-ea"/>
              </a:rPr>
              <a:t>）</a:t>
            </a:r>
            <a:r>
              <a:rPr lang="en-US" altLang="zh-CN" sz="2400" kern="0" spc="0" dirty="0">
                <a:solidFill>
                  <a:schemeClr val="tx1"/>
                </a:solidFill>
                <a:latin typeface="Times New Roman" panose="02020603050405020304" charset="0"/>
                <a:cs typeface="Times New Roman" panose="02020603050405020304" charset="0"/>
                <a:sym typeface="+mn-ea"/>
              </a:rPr>
              <a:t>Translation</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Factors in Translation</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Cultural Factors in Translation</a:t>
            </a:r>
          </a:p>
          <a:p>
            <a:pPr>
              <a:lnSpc>
                <a:spcPct val="100000"/>
              </a:lnSpc>
              <a:buNone/>
            </a:pPr>
            <a:r>
              <a:rPr lang="en-US" altLang="zh-CN" sz="2400" kern="0" spc="0" dirty="0">
                <a:solidFill>
                  <a:schemeClr val="tx1"/>
                </a:solidFill>
                <a:latin typeface="Times New Roman" panose="02020603050405020304" charset="0"/>
                <a:cs typeface="Times New Roman" panose="02020603050405020304" charset="0"/>
                <a:sym typeface="+mn-ea"/>
              </a:rPr>
              <a:t>      Cultural Factors in Translation and Their Transfer</a:t>
            </a: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816104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2.4 Standard</a:t>
            </a:r>
            <a:r>
              <a:rPr lang="en-US" altLang="zh-CN" sz="3200" b="1" kern="0" spc="0" dirty="0">
                <a:solidFill>
                  <a:schemeClr val="tx1"/>
                </a:solidFill>
                <a:latin typeface="Times New Roman" panose="02020603050405020304" charset="0"/>
                <a:cs typeface="Times New Roman" panose="02020603050405020304" charset="0"/>
                <a:sym typeface="+mn-ea"/>
              </a:rPr>
              <a:t>s for Good Titles</a:t>
            </a:r>
            <a:endParaRPr lang="en-US" altLang="zh-CN" sz="3200" b="1"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---Accuracy</a:t>
            </a:r>
          </a:p>
          <a:p>
            <a:pPr eaLnBrk="1" hangingPunct="1">
              <a:buFontTx/>
              <a:buNone/>
            </a:pPr>
            <a:r>
              <a:rPr lang="en-US" altLang="zh-CN" sz="3200" kern="0" spc="0" dirty="0">
                <a:solidFill>
                  <a:schemeClr val="tx1"/>
                </a:solidFill>
                <a:latin typeface="Times New Roman" panose="02020603050405020304" charset="0"/>
                <a:cs typeface="Times New Roman" panose="02020603050405020304" charset="0"/>
                <a:sym typeface="+mn-ea"/>
              </a:rPr>
              <a:t> ---Brevity</a:t>
            </a: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---Clarity</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5010716"/>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2.4 Standard</a:t>
            </a:r>
            <a:r>
              <a:rPr lang="en-US" altLang="zh-CN" sz="3200" b="1" kern="0" spc="0" dirty="0">
                <a:solidFill>
                  <a:schemeClr val="tx1"/>
                </a:solidFill>
                <a:latin typeface="Times New Roman" panose="02020603050405020304" charset="0"/>
                <a:cs typeface="Times New Roman" panose="02020603050405020304" charset="0"/>
                <a:sym typeface="+mn-ea"/>
              </a:rPr>
              <a:t>s for Good Titles</a:t>
            </a:r>
            <a:endParaRPr lang="en-US" altLang="zh-CN" sz="3200" b="1"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2800" b="1" kern="0" spc="0" dirty="0">
                <a:solidFill>
                  <a:schemeClr val="accent2"/>
                </a:solidFill>
                <a:uFillTx/>
                <a:latin typeface="Times New Roman" panose="02020603050405020304" charset="0"/>
                <a:cs typeface="Times New Roman" panose="02020603050405020304" charset="0"/>
                <a:sym typeface="+mn-ea"/>
              </a:rPr>
              <a:t>Accuracy</a:t>
            </a:r>
          </a:p>
          <a:p>
            <a:pPr eaLnBrk="1" hangingPunct="1">
              <a:lnSpc>
                <a:spcPct val="120000"/>
              </a:lnSpc>
              <a:buFontTx/>
              <a:buNone/>
            </a:pPr>
            <a:r>
              <a:rPr lang="en-US" altLang="zh-CN" sz="2400" kern="0" spc="0" dirty="0">
                <a:solidFill>
                  <a:schemeClr val="tx1"/>
                </a:solidFill>
                <a:uFillTx/>
                <a:latin typeface="Times New Roman" panose="02020603050405020304" charset="0"/>
                <a:cs typeface="Times New Roman" panose="02020603050405020304" charset="0"/>
                <a:sym typeface="+mn-ea"/>
              </a:rPr>
              <a:t>Words choices should be accurate and reflect the actua</a:t>
            </a:r>
            <a:r>
              <a:rPr lang="en-US" altLang="zh-CN" sz="2400" kern="0" spc="0" dirty="0">
                <a:solidFill>
                  <a:schemeClr val="tx1"/>
                </a:solidFill>
                <a:latin typeface="Times New Roman" panose="02020603050405020304" charset="0"/>
                <a:cs typeface="Times New Roman" panose="02020603050405020304" charset="0"/>
                <a:sym typeface="+mn-ea"/>
              </a:rPr>
              <a:t>l situation.</a:t>
            </a:r>
            <a:endParaRPr lang="en-US" altLang="zh-CN" sz="2400" kern="0" spc="0" dirty="0">
              <a:solidFill>
                <a:schemeClr val="tx1"/>
              </a:solidFill>
              <a:uFillTx/>
              <a:latin typeface="Times New Roman" panose="02020603050405020304" charset="0"/>
              <a:cs typeface="Times New Roman" panose="02020603050405020304" charset="0"/>
              <a:sym typeface="+mn-ea"/>
            </a:endParaRP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lang="en-US" altLang="zh-CN" sz="2400" b="1" kern="0" spc="0" dirty="0">
                <a:solidFill>
                  <a:schemeClr val="tx1"/>
                </a:solidFill>
                <a:latin typeface="Times New Roman" panose="02020603050405020304" charset="0"/>
                <a:cs typeface="Times New Roman" panose="02020603050405020304" charset="0"/>
              </a:rPr>
              <a:t>Original title:</a:t>
            </a: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kumimoji="0" lang="en-US" altLang="zh-CN" sz="2400" b="0" i="0" kern="0" spc="0" baseline="0" noProof="0" dirty="0">
                <a:ln>
                  <a:noFill/>
                </a:ln>
                <a:solidFill>
                  <a:schemeClr val="tx1"/>
                </a:solidFill>
                <a:effectLst/>
                <a:uLnTx/>
                <a:uFillTx/>
                <a:latin typeface="Times New Roman" panose="02020603050405020304" charset="0"/>
                <a:ea typeface="+mn-ea"/>
                <a:cs typeface="Times New Roman" panose="02020603050405020304" charset="0"/>
              </a:rPr>
              <a:t>Development</a:t>
            </a:r>
            <a:r>
              <a:rPr lang="en-US" altLang="zh-CN" sz="2400" kern="0" spc="0" dirty="0">
                <a:solidFill>
                  <a:schemeClr val="tx1"/>
                </a:solidFill>
                <a:latin typeface="Times New Roman" panose="02020603050405020304" charset="0"/>
                <a:cs typeface="Times New Roman" panose="02020603050405020304" charset="0"/>
              </a:rPr>
              <a:t> and Exploration on the Utilization of New Resources for the Countryside</a:t>
            </a: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lang="en-US" altLang="zh-CN" sz="2400" b="1" kern="0" spc="0" dirty="0">
                <a:solidFill>
                  <a:schemeClr val="tx1"/>
                </a:solidFill>
                <a:latin typeface="Times New Roman" panose="02020603050405020304" charset="0"/>
                <a:cs typeface="Times New Roman" panose="02020603050405020304" charset="0"/>
              </a:rPr>
              <a:t>Revised title:</a:t>
            </a: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lang="en-US" altLang="zh-CN" sz="2400" kern="0" spc="0" dirty="0">
                <a:solidFill>
                  <a:schemeClr val="tx1"/>
                </a:solidFill>
                <a:latin typeface="Times New Roman" panose="02020603050405020304" charset="0"/>
                <a:cs typeface="Times New Roman" panose="02020603050405020304" charset="0"/>
              </a:rPr>
              <a:t>Utilization of Marsh Gas for the Countryside</a:t>
            </a: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89416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79"/>
            <a:ext cx="10508615" cy="5445113"/>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2.4 Standard</a:t>
            </a:r>
            <a:r>
              <a:rPr lang="en-US" altLang="zh-CN" sz="3200" b="1" kern="0" spc="0" dirty="0">
                <a:solidFill>
                  <a:schemeClr val="tx1"/>
                </a:solidFill>
                <a:latin typeface="Times New Roman" panose="02020603050405020304" charset="0"/>
                <a:cs typeface="Times New Roman" panose="02020603050405020304" charset="0"/>
                <a:sym typeface="+mn-ea"/>
              </a:rPr>
              <a:t>s for Good Titles</a:t>
            </a:r>
            <a:endParaRPr lang="en-US" altLang="zh-CN" sz="3200" b="1"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2800" b="1" kern="0" spc="0" dirty="0">
                <a:solidFill>
                  <a:schemeClr val="accent2"/>
                </a:solidFill>
                <a:uFillTx/>
                <a:latin typeface="Times New Roman" panose="02020603050405020304" charset="0"/>
                <a:cs typeface="Times New Roman" panose="02020603050405020304" charset="0"/>
                <a:sym typeface="+mn-ea"/>
              </a:rPr>
              <a:t>Brevity</a:t>
            </a:r>
          </a:p>
          <a:p>
            <a:pPr eaLnBrk="1" hangingPunct="1">
              <a:lnSpc>
                <a:spcPct val="120000"/>
              </a:lnSpc>
              <a:buFontTx/>
              <a:buNone/>
            </a:pPr>
            <a:r>
              <a:rPr lang="en-US" altLang="zh-CN" sz="2400" kern="0" spc="0" dirty="0">
                <a:solidFill>
                  <a:schemeClr val="tx1"/>
                </a:solidFill>
                <a:uFillTx/>
                <a:latin typeface="Times New Roman" panose="02020603050405020304" charset="0"/>
                <a:cs typeface="Times New Roman" panose="02020603050405020304" charset="0"/>
                <a:sym typeface="+mn-ea"/>
              </a:rPr>
              <a:t>Using the most succinct text possible to summarize the contents.</a:t>
            </a: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lang="en-US" altLang="zh-CN" sz="2400" b="1" kern="0" spc="0" dirty="0">
                <a:solidFill>
                  <a:schemeClr val="tx1"/>
                </a:solidFill>
                <a:latin typeface="Times New Roman" panose="02020603050405020304" charset="0"/>
                <a:cs typeface="Times New Roman" panose="02020603050405020304" charset="0"/>
              </a:rPr>
              <a:t>Original title:</a:t>
            </a:r>
          </a:p>
          <a:p>
            <a:pPr marL="0" lvl="0" indent="0" fontAlgn="base">
              <a:lnSpc>
                <a:spcPct val="120000"/>
              </a:lnSpc>
              <a:spcBef>
                <a:spcPts val="1200"/>
              </a:spcBef>
              <a:spcAft>
                <a:spcPct val="0"/>
              </a:spcAft>
              <a:buClr>
                <a:srgbClr val="838995"/>
              </a:buClr>
              <a:buNone/>
              <a:defRPr/>
            </a:pPr>
            <a:r>
              <a:rPr lang="en-US" altLang="zh-CN" sz="2400" kern="0" spc="0" dirty="0">
                <a:solidFill>
                  <a:schemeClr val="tx1"/>
                </a:solidFill>
                <a:latin typeface="Times New Roman" panose="02020603050405020304" charset="0"/>
                <a:cs typeface="Times New Roman" panose="02020603050405020304" charset="0"/>
              </a:rPr>
              <a:t>On the Addition to the Method of Microscopic Research by a New Way of Producing </a:t>
            </a:r>
            <a:r>
              <a:rPr lang="en-US" altLang="zh-CN" sz="2400" kern="0" spc="0" dirty="0" err="1">
                <a:solidFill>
                  <a:schemeClr val="tx1"/>
                </a:solidFill>
                <a:latin typeface="Times New Roman" panose="02020603050405020304" charset="0"/>
                <a:cs typeface="Times New Roman" panose="02020603050405020304" charset="0"/>
              </a:rPr>
              <a:t>Colour</a:t>
            </a:r>
            <a:r>
              <a:rPr lang="en-US" altLang="zh-CN" sz="2400" kern="0" spc="0" dirty="0">
                <a:solidFill>
                  <a:schemeClr val="tx1"/>
                </a:solidFill>
                <a:latin typeface="Times New Roman" panose="02020603050405020304" charset="0"/>
                <a:cs typeface="Times New Roman" panose="02020603050405020304" charset="0"/>
              </a:rPr>
              <a:t>-Contrast Between an Object and Its Background or Between Definite Parts of the Object Itself</a:t>
            </a:r>
          </a:p>
          <a:p>
            <a:pPr marL="0" lvl="0" indent="0" fontAlgn="base">
              <a:lnSpc>
                <a:spcPct val="120000"/>
              </a:lnSpc>
              <a:spcBef>
                <a:spcPts val="1200"/>
              </a:spcBef>
              <a:spcAft>
                <a:spcPct val="0"/>
              </a:spcAft>
              <a:buClr>
                <a:srgbClr val="838995"/>
              </a:buClr>
              <a:buNone/>
              <a:defRPr/>
            </a:pPr>
            <a:r>
              <a:rPr lang="en-US" altLang="zh-CN" sz="2400" b="1" kern="0" spc="0" dirty="0">
                <a:solidFill>
                  <a:schemeClr val="tx1"/>
                </a:solidFill>
                <a:latin typeface="Times New Roman" panose="02020603050405020304" charset="0"/>
                <a:cs typeface="Times New Roman" panose="02020603050405020304" charset="0"/>
              </a:rPr>
              <a:t>Revised title:</a:t>
            </a:r>
          </a:p>
          <a:p>
            <a:pPr marL="0" lvl="0" indent="0" fontAlgn="base">
              <a:lnSpc>
                <a:spcPct val="120000"/>
              </a:lnSpc>
              <a:spcBef>
                <a:spcPts val="1200"/>
              </a:spcBef>
              <a:spcAft>
                <a:spcPct val="0"/>
              </a:spcAft>
              <a:buClr>
                <a:srgbClr val="838995"/>
              </a:buClr>
              <a:buNone/>
              <a:defRPr/>
            </a:pPr>
            <a:r>
              <a:rPr lang="en-US" altLang="zh-CN" sz="2400" kern="0" spc="0" dirty="0">
                <a:solidFill>
                  <a:schemeClr val="tx1"/>
                </a:solidFill>
                <a:latin typeface="Times New Roman" panose="02020603050405020304" charset="0"/>
                <a:cs typeface="Times New Roman" panose="02020603050405020304" charset="0"/>
              </a:rPr>
              <a:t>A New Way of Producing </a:t>
            </a:r>
            <a:r>
              <a:rPr lang="en-US" altLang="zh-CN" sz="2400" kern="0" spc="0" dirty="0" err="1">
                <a:solidFill>
                  <a:schemeClr val="tx1"/>
                </a:solidFill>
                <a:latin typeface="Times New Roman" panose="02020603050405020304" charset="0"/>
                <a:cs typeface="Times New Roman" panose="02020603050405020304" charset="0"/>
              </a:rPr>
              <a:t>Colour</a:t>
            </a:r>
            <a:r>
              <a:rPr lang="en-US" altLang="zh-CN" sz="2400" kern="0" spc="0" dirty="0">
                <a:solidFill>
                  <a:schemeClr val="tx1"/>
                </a:solidFill>
                <a:latin typeface="Times New Roman" panose="02020603050405020304" charset="0"/>
                <a:cs typeface="Times New Roman" panose="02020603050405020304" charset="0"/>
              </a:rPr>
              <a:t>-Contrast in Microscopic Examination</a:t>
            </a: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417947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79"/>
            <a:ext cx="10508615" cy="5445113"/>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2.4 Standard</a:t>
            </a:r>
            <a:r>
              <a:rPr lang="en-US" altLang="zh-CN" sz="3200" b="1" kern="0" spc="0" dirty="0">
                <a:solidFill>
                  <a:schemeClr val="tx1"/>
                </a:solidFill>
                <a:latin typeface="Times New Roman" panose="02020603050405020304" charset="0"/>
                <a:cs typeface="Times New Roman" panose="02020603050405020304" charset="0"/>
                <a:sym typeface="+mn-ea"/>
              </a:rPr>
              <a:t>s for Good Titles</a:t>
            </a:r>
            <a:endParaRPr lang="en-US" altLang="zh-CN" sz="3200" b="1" kern="0" spc="0" dirty="0">
              <a:solidFill>
                <a:schemeClr val="tx1"/>
              </a:solidFill>
              <a:uFillTx/>
              <a:latin typeface="Times New Roman" panose="02020603050405020304" charset="0"/>
              <a:cs typeface="Times New Roman" panose="02020603050405020304" charset="0"/>
            </a:endParaRPr>
          </a:p>
          <a:p>
            <a:pPr eaLnBrk="1" hangingPunct="1">
              <a:lnSpc>
                <a:spcPct val="120000"/>
              </a:lnSpc>
              <a:buFontTx/>
              <a:buNone/>
            </a:pPr>
            <a:r>
              <a:rPr lang="en-US" altLang="zh-CN" sz="2400" b="1" kern="0" spc="0" dirty="0">
                <a:solidFill>
                  <a:schemeClr val="accent2"/>
                </a:solidFill>
                <a:uFillTx/>
                <a:latin typeface="Times New Roman" panose="02020603050405020304" charset="0"/>
                <a:cs typeface="Times New Roman" panose="02020603050405020304" charset="0"/>
                <a:sym typeface="+mn-ea"/>
              </a:rPr>
              <a:t>Clarity</a:t>
            </a:r>
          </a:p>
          <a:p>
            <a:pPr eaLnBrk="1" hangingPunct="1">
              <a:lnSpc>
                <a:spcPct val="120000"/>
              </a:lnSpc>
              <a:buFontTx/>
              <a:buNone/>
            </a:pPr>
            <a:r>
              <a:rPr lang="en-US" altLang="zh-CN" sz="2400" kern="0" spc="0" dirty="0">
                <a:solidFill>
                  <a:schemeClr val="tx1"/>
                </a:solidFill>
                <a:uFillTx/>
                <a:latin typeface="Times New Roman" panose="02020603050405020304" charset="0"/>
                <a:cs typeface="Times New Roman" panose="02020603050405020304" charset="0"/>
                <a:sym typeface="+mn-ea"/>
              </a:rPr>
              <a:t>The title should clearly reflect the subject of the paper.</a:t>
            </a: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lang="en-US" altLang="zh-CN" sz="2400" b="1" kern="0" spc="0" dirty="0" err="1">
                <a:solidFill>
                  <a:schemeClr val="tx1"/>
                </a:solidFill>
                <a:latin typeface="Times New Roman" panose="02020603050405020304" charset="0"/>
                <a:cs typeface="Times New Roman" panose="02020603050405020304" charset="0"/>
              </a:rPr>
              <a:t>Eg.</a:t>
            </a:r>
            <a:endParaRPr lang="en-US" altLang="zh-CN" sz="2400" b="1" kern="0" spc="0" dirty="0">
              <a:solidFill>
                <a:schemeClr val="tx1"/>
              </a:solidFill>
              <a:latin typeface="Times New Roman" panose="02020603050405020304" charset="0"/>
              <a:cs typeface="Times New Roman" panose="02020603050405020304" charset="0"/>
            </a:endParaRPr>
          </a:p>
          <a:p>
            <a:pPr marL="0" marR="0" lvl="0" indent="0" algn="l" defTabSz="914400" rtl="0" eaLnBrk="1" fontAlgn="base" latinLnBrk="0" hangingPunct="1">
              <a:lnSpc>
                <a:spcPct val="120000"/>
              </a:lnSpc>
              <a:spcBef>
                <a:spcPts val="1200"/>
              </a:spcBef>
              <a:spcAft>
                <a:spcPct val="0"/>
              </a:spcAft>
              <a:buClr>
                <a:srgbClr val="838995"/>
              </a:buClr>
              <a:buSzTx/>
              <a:buFontTx/>
              <a:buNone/>
              <a:defRPr/>
            </a:pPr>
            <a:r>
              <a:rPr kumimoji="0" lang="en-US" altLang="zh-CN" sz="2400" i="0" kern="0" spc="0" baseline="0" noProof="0" dirty="0">
                <a:ln>
                  <a:noFill/>
                </a:ln>
                <a:solidFill>
                  <a:schemeClr val="tx1"/>
                </a:solidFill>
                <a:effectLst/>
                <a:uLnTx/>
                <a:uFillTx/>
                <a:latin typeface="Times New Roman" panose="02020603050405020304" charset="0"/>
                <a:ea typeface="+mn-ea"/>
                <a:cs typeface="Times New Roman" panose="02020603050405020304" charset="0"/>
              </a:rPr>
              <a:t>Incorpor</a:t>
            </a:r>
            <a:r>
              <a:rPr lang="en-US" altLang="zh-CN" sz="2400" kern="0" spc="0" dirty="0" err="1">
                <a:solidFill>
                  <a:schemeClr val="tx1"/>
                </a:solidFill>
                <a:latin typeface="Times New Roman" panose="02020603050405020304" charset="0"/>
                <a:cs typeface="Times New Roman" panose="02020603050405020304" charset="0"/>
              </a:rPr>
              <a:t>ation</a:t>
            </a:r>
            <a:r>
              <a:rPr lang="en-US" altLang="zh-CN" sz="2400" kern="0" spc="0" dirty="0">
                <a:solidFill>
                  <a:schemeClr val="tx1"/>
                </a:solidFill>
                <a:latin typeface="Times New Roman" panose="02020603050405020304" charset="0"/>
                <a:cs typeface="Times New Roman" panose="02020603050405020304" charset="0"/>
              </a:rPr>
              <a:t> of a Non-Human Glycan Mediates Human Susceptibility to a Bacterial Toxin</a:t>
            </a:r>
            <a:endParaRPr kumimoji="0" lang="en-US" altLang="zh-CN" sz="320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951280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847070" cy="5119772"/>
          </a:xfrm>
        </p:spPr>
        <p:txBody>
          <a:bodyPr>
            <a:noAutofit/>
          </a:bodyPr>
          <a:lstStyle/>
          <a:p>
            <a:pPr marL="36195" marR="0" lvl="0"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lang="en-US" altLang="zh-CN" sz="3200" b="1" i="1" spc="0" noProof="0" dirty="0">
                <a:ln>
                  <a:noFill/>
                </a:ln>
                <a:solidFill>
                  <a:schemeClr val="accent2"/>
                </a:solidFill>
                <a:effectLst/>
                <a:uLnTx/>
                <a:latin typeface="Times New Roman" panose="02020603050405020304" charset="0"/>
                <a:cs typeface="Times New Roman" panose="02020603050405020304" charset="0"/>
                <a:sym typeface="+mn-ea"/>
              </a:rPr>
              <a:t>Exercise </a:t>
            </a:r>
            <a:r>
              <a:rPr lang="en-US" altLang="zh-CN" sz="2400" i="1" spc="0" noProof="0" dirty="0">
                <a:ln>
                  <a:noFill/>
                </a:ln>
                <a:solidFill>
                  <a:schemeClr val="tx1"/>
                </a:solidFill>
                <a:effectLst/>
                <a:uLnTx/>
                <a:latin typeface="Times New Roman" panose="02020603050405020304" charset="0"/>
                <a:cs typeface="Times New Roman" panose="02020603050405020304" charset="0"/>
                <a:sym typeface="+mn-ea"/>
              </a:rPr>
              <a:t>Evaluate the following titles against the criteria for a good title</a:t>
            </a:r>
            <a:endParaRPr kumimoji="0" lang="en-US" altLang="zh-CN" sz="2400" b="0" i="1"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2800" spc="0" noProof="0" dirty="0">
                <a:ln>
                  <a:noFill/>
                </a:ln>
                <a:solidFill>
                  <a:schemeClr val="tx1"/>
                </a:solidFill>
                <a:effectLst/>
                <a:uLnTx/>
                <a:latin typeface="Times New Roman" panose="02020603050405020304" charset="0"/>
                <a:cs typeface="Times New Roman" panose="02020603050405020304" charset="0"/>
                <a:sym typeface="+mn-ea"/>
              </a:rPr>
              <a:t>1. The Acquisition of English</a:t>
            </a: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kumimoji="0" lang="en-US" altLang="zh-CN"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2. AI and</a:t>
            </a:r>
            <a:r>
              <a:rPr kumimoji="0" lang="zh-CN" altLang="en-US"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 </a:t>
            </a:r>
            <a:r>
              <a:rPr kumimoji="0" lang="en-US" altLang="zh-CN"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the</a:t>
            </a:r>
            <a:r>
              <a:rPr kumimoji="0" lang="zh-CN" altLang="en-US"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 </a:t>
            </a:r>
            <a:r>
              <a:rPr kumimoji="0" lang="en-US" altLang="zh-CN"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Computer</a:t>
            </a:r>
            <a:r>
              <a:rPr kumimoji="0" lang="zh-CN" altLang="en-US"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 </a:t>
            </a:r>
            <a:r>
              <a:rPr kumimoji="0" lang="en-US" altLang="zh-CN" sz="2800" b="0" i="0" u="none" strike="noStrike" kern="1200" cap="none" spc="0" normalizeH="0" baseline="0" dirty="0">
                <a:solidFill>
                  <a:schemeClr val="tx1"/>
                </a:solidFill>
                <a:uFillTx/>
                <a:latin typeface="Times New Roman" panose="02020603050405020304" charset="0"/>
                <a:ea typeface="+mn-ea"/>
                <a:cs typeface="Times New Roman" panose="02020603050405020304" charset="0"/>
                <a:sym typeface="+mn-ea"/>
              </a:rPr>
              <a:t>Science</a:t>
            </a:r>
          </a:p>
          <a:p>
            <a:pPr marL="36195" lvl="0" indent="0">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3. A Study on the Effects of Climate Change on Agricultural  Productivity</a:t>
            </a:r>
          </a:p>
          <a:p>
            <a:pPr marL="36195" lvl="0" indent="0">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4. The Color Blue: A Comprehensive Analysis of Its Psychological and  </a:t>
            </a:r>
          </a:p>
          <a:p>
            <a:pPr marL="36195" lvl="0" indent="0">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    Emotional Impact on Human Moods and Feelings</a:t>
            </a: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5</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sym typeface="+mn-ea"/>
              </a:rPr>
              <a:t>. The Effects of Light and Temperature on the Growth of  </a:t>
            </a: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     </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sym typeface="+mn-ea"/>
              </a:rPr>
              <a:t>Populations of the Bacterium</a:t>
            </a: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6. A Comparison of News Reports on the 2012 London Olympics </a:t>
            </a: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2800" spc="0" dirty="0">
                <a:solidFill>
                  <a:schemeClr val="tx1"/>
                </a:solidFill>
                <a:latin typeface="Times New Roman" panose="02020603050405020304" charset="0"/>
                <a:cs typeface="Times New Roman" panose="02020603050405020304" charset="0"/>
                <a:sym typeface="+mn-ea"/>
              </a:rPr>
              <a:t>    between Domestic and Foreign Media</a:t>
            </a:r>
            <a:endParaRPr kumimoji="0" lang="en-US" altLang="zh-CN" sz="28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68580" marR="0" lvl="0" indent="0" algn="l" defTabSz="914400" rtl="0" eaLnBrk="1" fontAlgn="auto" latinLnBrk="0" hangingPunct="1">
              <a:lnSpc>
                <a:spcPct val="100000"/>
              </a:lnSpc>
              <a:spcBef>
                <a:spcPct val="20000"/>
              </a:spcBef>
              <a:spcAft>
                <a:spcPts val="0"/>
              </a:spcAft>
              <a:buClr>
                <a:schemeClr val="accent1"/>
              </a:buClr>
              <a:buSzPct val="80000"/>
              <a:buFont typeface="Wingdings" panose="05000000000000000000" pitchFamily="2" charset="2"/>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a:t>
            </a:r>
            <a:endParaRPr kumimoji="0" lang="zh-CN"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696899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eaLnBrk="1" hangingPunct="1">
              <a:buFontTx/>
              <a:buNone/>
            </a:pPr>
            <a:r>
              <a:rPr lang="en-US" altLang="zh-CN" sz="3200" b="1" kern="0" spc="0" dirty="0">
                <a:solidFill>
                  <a:schemeClr val="tx1"/>
                </a:solidFill>
                <a:uFillTx/>
                <a:latin typeface="Times New Roman" panose="02020603050405020304" charset="0"/>
                <a:cs typeface="Times New Roman" panose="02020603050405020304" charset="0"/>
                <a:sym typeface="+mn-ea"/>
              </a:rPr>
              <a:t>2.5 Formats for Title</a:t>
            </a:r>
            <a:endParaRPr lang="en-US" altLang="zh-CN" sz="3200" b="1"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 </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Examples:</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i="1" kern="0" spc="0" dirty="0">
                <a:solidFill>
                  <a:schemeClr val="tx1"/>
                </a:solidFill>
                <a:uFillTx/>
                <a:latin typeface="Times New Roman" panose="02020603050405020304" charset="0"/>
                <a:cs typeface="Times New Roman" panose="02020603050405020304" charset="0"/>
                <a:sym typeface="+mn-ea"/>
              </a:rPr>
              <a:t>1) </a:t>
            </a:r>
            <a:r>
              <a:rPr lang="en-US" altLang="zh-CN" sz="3200" kern="0" spc="0" dirty="0">
                <a:solidFill>
                  <a:schemeClr val="tx1"/>
                </a:solidFill>
                <a:uFillTx/>
                <a:latin typeface="Times New Roman" panose="02020603050405020304" charset="0"/>
                <a:cs typeface="Times New Roman" panose="02020603050405020304" charset="0"/>
                <a:sym typeface="+mn-ea"/>
              </a:rPr>
              <a:t>OSCILLATIONS IN GRANULAR DYNAMICS</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i="1" kern="0" spc="0" dirty="0">
                <a:solidFill>
                  <a:schemeClr val="tx1"/>
                </a:solidFill>
                <a:uFillTx/>
                <a:latin typeface="Times New Roman" panose="02020603050405020304" charset="0"/>
                <a:cs typeface="Times New Roman" panose="02020603050405020304" charset="0"/>
                <a:sym typeface="+mn-ea"/>
              </a:rPr>
              <a:t>2) </a:t>
            </a:r>
            <a:r>
              <a:rPr lang="en-US" altLang="zh-CN" sz="3200" kern="0" spc="0" dirty="0">
                <a:solidFill>
                  <a:schemeClr val="tx1"/>
                </a:solidFill>
                <a:uFillTx/>
                <a:latin typeface="Times New Roman" panose="02020603050405020304" charset="0"/>
                <a:cs typeface="Times New Roman" panose="02020603050405020304" charset="0"/>
                <a:sym typeface="+mn-ea"/>
              </a:rPr>
              <a:t>Structural Analyses Based on a Point Charge Model</a:t>
            </a:r>
            <a:endParaRPr lang="en-US" altLang="zh-CN" sz="3200" kern="0" spc="0" dirty="0">
              <a:solidFill>
                <a:schemeClr val="tx1"/>
              </a:solidFill>
              <a:uFillTx/>
              <a:latin typeface="Times New Roman" panose="02020603050405020304" charset="0"/>
              <a:cs typeface="Times New Roman" panose="02020603050405020304" charset="0"/>
            </a:endParaRPr>
          </a:p>
          <a:p>
            <a:pPr eaLnBrk="1" hangingPunct="1">
              <a:buFontTx/>
              <a:buNone/>
            </a:pPr>
            <a:r>
              <a:rPr lang="en-US" altLang="zh-CN" sz="3200" kern="0" spc="0" dirty="0">
                <a:solidFill>
                  <a:schemeClr val="tx1"/>
                </a:solidFill>
                <a:uFillTx/>
                <a:latin typeface="Times New Roman" panose="02020603050405020304" charset="0"/>
                <a:cs typeface="Times New Roman" panose="02020603050405020304" charset="0"/>
                <a:sym typeface="+mn-ea"/>
              </a:rPr>
              <a:t>3) Coronary artery disease: diet and patient health</a:t>
            </a:r>
            <a:endParaRPr lang="en-US" altLang="zh-CN" sz="3200" kern="0" spc="0" dirty="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en-US"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7772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8410" y="1832610"/>
            <a:ext cx="10508615" cy="4120515"/>
          </a:xfrm>
        </p:spPr>
        <p:txBody>
          <a:bodyPr>
            <a:noAutofit/>
          </a:bodyPr>
          <a:lstStyle/>
          <a:p>
            <a:pPr marL="0" indent="0" eaLnBrk="1" hangingPunct="1">
              <a:lnSpc>
                <a:spcPct val="150000"/>
              </a:lnSpc>
              <a:buNone/>
            </a:pPr>
            <a:r>
              <a:rPr lang="en-US" altLang="zh-CN" sz="2800" dirty="0">
                <a:solidFill>
                  <a:schemeClr val="tx1"/>
                </a:solidFill>
                <a:latin typeface="Times New Roman" panose="02020603050405020304" charset="0"/>
                <a:cs typeface="Times New Roman" panose="02020603050405020304" charset="0"/>
                <a:sym typeface="+mn-ea"/>
              </a:rPr>
              <a:t>1.</a:t>
            </a:r>
            <a:r>
              <a:rPr lang="zh-CN" altLang="en-US" sz="2800" dirty="0">
                <a:solidFill>
                  <a:schemeClr val="tx1"/>
                </a:solidFill>
                <a:latin typeface="Times New Roman" panose="02020603050405020304" charset="0"/>
                <a:cs typeface="Times New Roman" panose="02020603050405020304" charset="0"/>
                <a:sym typeface="+mn-ea"/>
              </a:rPr>
              <a:t>题目的第一个单词首字母，最后一个单词首字母要大写；</a:t>
            </a:r>
            <a:endParaRPr lang="en-US" altLang="zh-CN" sz="2800" dirty="0">
              <a:solidFill>
                <a:schemeClr val="tx1"/>
              </a:solidFill>
              <a:latin typeface="Times New Roman" panose="02020603050405020304" charset="0"/>
              <a:cs typeface="Times New Roman" panose="02020603050405020304" charset="0"/>
            </a:endParaRPr>
          </a:p>
          <a:p>
            <a:pPr marL="0" indent="0" eaLnBrk="1" hangingPunct="1">
              <a:lnSpc>
                <a:spcPct val="150000"/>
              </a:lnSpc>
              <a:buFont typeface="Wingdings" panose="05000000000000000000" charset="0"/>
              <a:buNone/>
            </a:pPr>
            <a:r>
              <a:rPr lang="en-US" altLang="zh-CN" sz="2800" dirty="0">
                <a:solidFill>
                  <a:schemeClr val="tx1"/>
                </a:solidFill>
                <a:latin typeface="Times New Roman" panose="02020603050405020304" charset="0"/>
                <a:cs typeface="Times New Roman" panose="02020603050405020304" charset="0"/>
                <a:sym typeface="+mn-ea"/>
              </a:rPr>
              <a:t>2.</a:t>
            </a:r>
            <a:r>
              <a:rPr lang="zh-CN" altLang="en-US" sz="2800" dirty="0">
                <a:solidFill>
                  <a:schemeClr val="tx1"/>
                </a:solidFill>
                <a:latin typeface="Times New Roman" panose="02020603050405020304" charset="0"/>
                <a:cs typeface="Times New Roman" panose="02020603050405020304" charset="0"/>
                <a:sym typeface="+mn-ea"/>
              </a:rPr>
              <a:t>冠词都不需要大写；</a:t>
            </a:r>
            <a:endParaRPr lang="en-US" altLang="zh-CN" sz="2800" dirty="0">
              <a:solidFill>
                <a:schemeClr val="tx1"/>
              </a:solidFill>
              <a:latin typeface="Times New Roman" panose="02020603050405020304" charset="0"/>
              <a:cs typeface="Times New Roman" panose="02020603050405020304" charset="0"/>
            </a:endParaRPr>
          </a:p>
          <a:p>
            <a:pPr marL="0" indent="0" eaLnBrk="1" hangingPunct="1">
              <a:lnSpc>
                <a:spcPct val="150000"/>
              </a:lnSpc>
              <a:buNone/>
            </a:pPr>
            <a:r>
              <a:rPr lang="en-US" altLang="zh-CN" sz="2800" dirty="0">
                <a:solidFill>
                  <a:schemeClr val="tx1"/>
                </a:solidFill>
                <a:latin typeface="Times New Roman" panose="02020603050405020304" charset="0"/>
                <a:cs typeface="Times New Roman" panose="02020603050405020304" charset="0"/>
                <a:sym typeface="+mn-ea"/>
              </a:rPr>
              <a:t>3. </a:t>
            </a:r>
            <a:r>
              <a:rPr lang="zh-CN" altLang="en-US" sz="2800" dirty="0">
                <a:solidFill>
                  <a:schemeClr val="tx1"/>
                </a:solidFill>
                <a:latin typeface="Times New Roman" panose="02020603050405020304" charset="0"/>
                <a:cs typeface="Times New Roman" panose="02020603050405020304" charset="0"/>
                <a:sym typeface="+mn-ea"/>
              </a:rPr>
              <a:t>一般实词（名词、动词、代词、形容词、副词）首字母大写，虚词（介词、冠词、连词）和不定式中的 </a:t>
            </a:r>
            <a:r>
              <a:rPr lang="en-US" altLang="zh-CN" sz="2800" dirty="0">
                <a:solidFill>
                  <a:schemeClr val="tx1"/>
                </a:solidFill>
                <a:latin typeface="Times New Roman" panose="02020603050405020304" charset="0"/>
                <a:cs typeface="Times New Roman" panose="02020603050405020304" charset="0"/>
                <a:sym typeface="+mn-ea"/>
              </a:rPr>
              <a:t>to</a:t>
            </a:r>
            <a:r>
              <a:rPr lang="zh-CN" altLang="en-US" sz="2800" dirty="0">
                <a:solidFill>
                  <a:schemeClr val="tx1"/>
                </a:solidFill>
                <a:latin typeface="Times New Roman" panose="02020603050405020304" charset="0"/>
                <a:cs typeface="Times New Roman" panose="02020603050405020304" charset="0"/>
                <a:sym typeface="+mn-ea"/>
              </a:rPr>
              <a:t>首字母小写。</a:t>
            </a:r>
            <a:endParaRPr lang="en-US" altLang="zh-CN" sz="2800" dirty="0">
              <a:solidFill>
                <a:schemeClr val="tx1"/>
              </a:solidFill>
              <a:latin typeface="Times New Roman" panose="02020603050405020304" charset="0"/>
              <a:cs typeface="Times New Roman" panose="02020603050405020304" charset="0"/>
            </a:endParaRPr>
          </a:p>
          <a:p>
            <a:pPr marL="0" indent="0" eaLnBrk="1" hangingPunct="1">
              <a:lnSpc>
                <a:spcPct val="150000"/>
              </a:lnSpc>
              <a:buNone/>
            </a:pPr>
            <a:r>
              <a:rPr lang="en-US" altLang="zh-CN" sz="2800" dirty="0" err="1">
                <a:solidFill>
                  <a:schemeClr val="tx1"/>
                </a:solidFill>
                <a:latin typeface="Times New Roman" panose="02020603050405020304" charset="0"/>
                <a:cs typeface="Times New Roman" panose="02020603050405020304" charset="0"/>
                <a:sym typeface="+mn-ea"/>
              </a:rPr>
              <a:t>Eg.</a:t>
            </a:r>
            <a:r>
              <a:rPr lang="en-US" altLang="zh-CN" sz="2800" dirty="0">
                <a:solidFill>
                  <a:schemeClr val="tx1"/>
                </a:solidFill>
                <a:latin typeface="Times New Roman" panose="02020603050405020304" charset="0"/>
                <a:cs typeface="Times New Roman" panose="02020603050405020304" charset="0"/>
                <a:sym typeface="+mn-ea"/>
              </a:rPr>
              <a:t> On American’s Negative Attitude Towards Chinese Culture in Mass Media</a:t>
            </a:r>
            <a:r>
              <a:rPr lang="zh-CN" altLang="en-US" sz="2800" dirty="0">
                <a:solidFill>
                  <a:schemeClr val="tx1"/>
                </a:solidFill>
                <a:latin typeface="Times New Roman" panose="02020603050405020304" charset="0"/>
                <a:cs typeface="Times New Roman" panose="02020603050405020304" charset="0"/>
                <a:sym typeface="+mn-ea"/>
              </a:rPr>
              <a:t> </a:t>
            </a:r>
            <a:endParaRPr lang="zh-CN" altLang="en-US" sz="2800" dirty="0">
              <a:solidFill>
                <a:schemeClr val="tx1"/>
              </a:solidFill>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zh-CN" altLang="en-US" sz="28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7795" y="734060"/>
            <a:ext cx="9689465" cy="874395"/>
          </a:xfrm>
          <a:prstGeom prst="rect">
            <a:avLst/>
          </a:prstGeom>
        </p:spPr>
        <p:txBody>
          <a:bodyPr wrap="square">
            <a:noAutofit/>
            <a:extLst>
              <a:ext uri="{4A0BC546-FE56-4ADE-93B0-CB8AF2F6F144}">
                <wpsdc:textFrameExt xmlns:wpsdc="http://www.wps.cn/officeDocument/2022/drawingmlCustomData" xmlns="" type="text"/>
              </a:ext>
            </a:extLs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altLang="zh-CN" sz="3200" b="1" noProof="0" dirty="0">
                <a:ln>
                  <a:noFill/>
                </a:ln>
                <a:solidFill>
                  <a:schemeClr val="tx1"/>
                </a:solidFill>
                <a:effectLst/>
                <a:uLnTx/>
                <a:uFillTx/>
                <a:latin typeface="Times New Roman" panose="02020603050405020304" charset="0"/>
                <a:ea typeface="+mj-ea"/>
                <a:cs typeface="Times New Roman" panose="02020603050405020304" charset="0"/>
                <a:sym typeface="+mn-ea"/>
              </a:rPr>
              <a:t>Upper Case and Lower Case in Titles</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0" indent="0" eaLnBrk="1" hangingPunct="1">
              <a:buNone/>
            </a:pPr>
            <a:r>
              <a:rPr lang="en-US" altLang="zh-CN" sz="3200" kern="0" spc="0">
                <a:solidFill>
                  <a:schemeClr val="tx1"/>
                </a:solidFill>
                <a:uFillTx/>
                <a:latin typeface="Times New Roman" panose="02020603050405020304" charset="0"/>
                <a:cs typeface="Times New Roman" panose="02020603050405020304" charset="0"/>
                <a:sym typeface="+mn-ea"/>
              </a:rPr>
              <a:t>4. </a:t>
            </a:r>
            <a:r>
              <a:rPr lang="zh-CN" altLang="en-US" sz="3200" kern="0" spc="0">
                <a:solidFill>
                  <a:schemeClr val="tx1"/>
                </a:solidFill>
                <a:uFillTx/>
                <a:latin typeface="Times New Roman" panose="02020603050405020304" charset="0"/>
                <a:cs typeface="Times New Roman" panose="02020603050405020304" charset="0"/>
                <a:sym typeface="+mn-ea"/>
              </a:rPr>
              <a:t>字母多于四个</a:t>
            </a:r>
            <a:r>
              <a:rPr lang="en-US" altLang="zh-CN" sz="3200" kern="0" spc="0">
                <a:solidFill>
                  <a:schemeClr val="tx1"/>
                </a:solidFill>
                <a:uFillTx/>
                <a:latin typeface="Times New Roman" panose="02020603050405020304" charset="0"/>
                <a:cs typeface="Times New Roman" panose="02020603050405020304" charset="0"/>
                <a:sym typeface="+mn-ea"/>
              </a:rPr>
              <a:t>(</a:t>
            </a:r>
            <a:r>
              <a:rPr lang="zh-CN" altLang="en-US" sz="3200" kern="0" spc="0">
                <a:solidFill>
                  <a:schemeClr val="tx1"/>
                </a:solidFill>
                <a:uFillTx/>
                <a:latin typeface="Times New Roman" panose="02020603050405020304" charset="0"/>
                <a:cs typeface="Times New Roman" panose="02020603050405020304" charset="0"/>
                <a:sym typeface="+mn-ea"/>
              </a:rPr>
              <a:t>不含四个</a:t>
            </a:r>
            <a:r>
              <a:rPr lang="en-US" altLang="zh-CN" sz="3200" kern="0" spc="0">
                <a:solidFill>
                  <a:schemeClr val="tx1"/>
                </a:solidFill>
                <a:uFillTx/>
                <a:latin typeface="Times New Roman" panose="02020603050405020304" charset="0"/>
                <a:cs typeface="Times New Roman" panose="02020603050405020304" charset="0"/>
                <a:sym typeface="+mn-ea"/>
              </a:rPr>
              <a:t>)</a:t>
            </a:r>
            <a:r>
              <a:rPr lang="zh-CN" altLang="en-US" sz="3200" kern="0" spc="0">
                <a:solidFill>
                  <a:schemeClr val="tx1"/>
                </a:solidFill>
                <a:uFillTx/>
                <a:latin typeface="Times New Roman" panose="02020603050405020304" charset="0"/>
                <a:cs typeface="Times New Roman" panose="02020603050405020304" charset="0"/>
                <a:sym typeface="+mn-ea"/>
              </a:rPr>
              <a:t>的介词、连词首字母要大写，如</a:t>
            </a:r>
            <a:r>
              <a:rPr lang="en-US" altLang="zh-CN" sz="3200" kern="0" spc="0">
                <a:solidFill>
                  <a:schemeClr val="tx1"/>
                </a:solidFill>
                <a:uFillTx/>
                <a:latin typeface="Times New Roman" panose="02020603050405020304" charset="0"/>
                <a:cs typeface="Times New Roman" panose="02020603050405020304" charset="0"/>
                <a:sym typeface="+mn-ea"/>
              </a:rPr>
              <a:t>between</a:t>
            </a:r>
            <a:r>
              <a:rPr lang="zh-CN" altLang="en-US" sz="3200" kern="0" spc="0">
                <a:solidFill>
                  <a:schemeClr val="tx1"/>
                </a:solidFill>
                <a:uFillTx/>
                <a:latin typeface="Times New Roman" panose="02020603050405020304" charset="0"/>
                <a:cs typeface="Times New Roman" panose="02020603050405020304" charset="0"/>
                <a:sym typeface="+mn-ea"/>
              </a:rPr>
              <a:t>、</a:t>
            </a:r>
            <a:r>
              <a:rPr lang="en-US" altLang="zh-CN" sz="3200" kern="0" spc="0">
                <a:solidFill>
                  <a:schemeClr val="tx1"/>
                </a:solidFill>
                <a:uFillTx/>
                <a:latin typeface="Times New Roman" panose="02020603050405020304" charset="0"/>
                <a:cs typeface="Times New Roman" panose="02020603050405020304" charset="0"/>
                <a:sym typeface="+mn-ea"/>
              </a:rPr>
              <a:t>without</a:t>
            </a:r>
            <a:r>
              <a:rPr lang="zh-CN" altLang="en-US" sz="3200" kern="0" spc="0">
                <a:solidFill>
                  <a:schemeClr val="tx1"/>
                </a:solidFill>
                <a:uFillTx/>
                <a:latin typeface="Times New Roman" panose="02020603050405020304" charset="0"/>
                <a:cs typeface="Times New Roman" panose="02020603050405020304" charset="0"/>
                <a:sym typeface="+mn-ea"/>
              </a:rPr>
              <a:t>、</a:t>
            </a:r>
            <a:r>
              <a:rPr lang="en-US" altLang="zh-CN" sz="3200" kern="0" spc="0">
                <a:solidFill>
                  <a:schemeClr val="tx1"/>
                </a:solidFill>
                <a:uFillTx/>
                <a:latin typeface="Times New Roman" panose="02020603050405020304" charset="0"/>
                <a:cs typeface="Times New Roman" panose="02020603050405020304" charset="0"/>
                <a:sym typeface="+mn-ea"/>
              </a:rPr>
              <a:t>alongside</a:t>
            </a:r>
            <a:r>
              <a:rPr lang="zh-CN" altLang="en-US" sz="3200" kern="0" spc="0">
                <a:solidFill>
                  <a:schemeClr val="tx1"/>
                </a:solidFill>
                <a:uFillTx/>
                <a:latin typeface="Times New Roman" panose="02020603050405020304" charset="0"/>
                <a:cs typeface="Times New Roman" panose="02020603050405020304" charset="0"/>
                <a:sym typeface="+mn-ea"/>
              </a:rPr>
              <a:t>、</a:t>
            </a:r>
            <a:r>
              <a:rPr lang="en-US" altLang="zh-CN" sz="3200" kern="0" spc="0">
                <a:solidFill>
                  <a:schemeClr val="tx1"/>
                </a:solidFill>
                <a:uFillTx/>
                <a:latin typeface="Times New Roman" panose="02020603050405020304" charset="0"/>
                <a:cs typeface="Times New Roman" panose="02020603050405020304" charset="0"/>
                <a:sym typeface="+mn-ea"/>
              </a:rPr>
              <a:t>underneath</a:t>
            </a:r>
            <a:r>
              <a:rPr lang="zh-CN" altLang="en-US" sz="3200" kern="0" spc="0">
                <a:solidFill>
                  <a:schemeClr val="tx1"/>
                </a:solidFill>
                <a:uFillTx/>
                <a:latin typeface="Times New Roman" panose="02020603050405020304" charset="0"/>
                <a:cs typeface="Times New Roman" panose="02020603050405020304" charset="0"/>
                <a:sym typeface="+mn-ea"/>
              </a:rPr>
              <a:t>等；                                             </a:t>
            </a:r>
            <a:r>
              <a:rPr lang="en-US" altLang="zh-CN" sz="3200" kern="0" spc="0">
                <a:solidFill>
                  <a:schemeClr val="tx1"/>
                </a:solidFill>
                <a:uFillTx/>
                <a:latin typeface="Times New Roman" panose="02020603050405020304" charset="0"/>
                <a:cs typeface="Times New Roman" panose="02020603050405020304" charset="0"/>
                <a:sym typeface="+mn-ea"/>
              </a:rPr>
              <a:t>Eg. An Analysis on the Differences of Tourism Talents Training Between China and United States</a:t>
            </a:r>
            <a:endParaRPr lang="en-US" altLang="zh-CN" sz="3200" kern="0" spc="0">
              <a:solidFill>
                <a:schemeClr val="tx1"/>
              </a:solidFill>
              <a:uFillTx/>
              <a:latin typeface="Times New Roman" panose="02020603050405020304" charset="0"/>
              <a:cs typeface="Times New Roman" panose="02020603050405020304" charset="0"/>
            </a:endParaRPr>
          </a:p>
          <a:p>
            <a:pPr marL="0" indent="0" eaLnBrk="1" hangingPunct="1">
              <a:buNone/>
            </a:pPr>
            <a:r>
              <a:rPr lang="en-US" altLang="zh-CN" sz="3200" kern="0" spc="0">
                <a:solidFill>
                  <a:schemeClr val="tx1"/>
                </a:solidFill>
                <a:uFillTx/>
                <a:latin typeface="Times New Roman" panose="02020603050405020304" charset="0"/>
                <a:cs typeface="Times New Roman" panose="02020603050405020304" charset="0"/>
                <a:sym typeface="+mn-ea"/>
              </a:rPr>
              <a:t>5. </a:t>
            </a:r>
            <a:r>
              <a:rPr lang="zh-CN" altLang="en-US" sz="3200" kern="0" spc="0">
                <a:solidFill>
                  <a:schemeClr val="tx1"/>
                </a:solidFill>
                <a:uFillTx/>
                <a:latin typeface="Times New Roman" panose="02020603050405020304" charset="0"/>
                <a:cs typeface="Times New Roman" panose="02020603050405020304" charset="0"/>
                <a:sym typeface="+mn-ea"/>
              </a:rPr>
              <a:t>大写所有英语中要求大写的单词。如月份、人名、地名等等。                                         </a:t>
            </a:r>
            <a:r>
              <a:rPr lang="zh-CN" altLang="en-US" sz="2400" kern="0" spc="0">
                <a:solidFill>
                  <a:schemeClr val="tx1"/>
                </a:solidFill>
                <a:uFillTx/>
                <a:latin typeface="Times New Roman" panose="02020603050405020304" charset="0"/>
                <a:cs typeface="Times New Roman" panose="02020603050405020304" charset="0"/>
                <a:sym typeface="+mn-ea"/>
              </a:rPr>
              <a:t> </a:t>
            </a:r>
          </a:p>
          <a:p>
            <a:pPr marL="0" indent="0" eaLnBrk="1" hangingPunct="1">
              <a:buNone/>
            </a:pPr>
            <a:r>
              <a:rPr lang="en-US" altLang="zh-CN" sz="2400" kern="0" spc="0">
                <a:solidFill>
                  <a:schemeClr val="tx1"/>
                </a:solidFill>
                <a:uFillTx/>
                <a:latin typeface="Times New Roman" panose="02020603050405020304" charset="0"/>
                <a:cs typeface="Times New Roman" panose="02020603050405020304" charset="0"/>
                <a:sym typeface="+mn-ea"/>
              </a:rPr>
              <a:t>Eg. The Differences of Mulan’s Image Between China and America from the Perspective of Cultural Values</a:t>
            </a:r>
            <a:endParaRPr lang="en-US" altLang="zh-CN" sz="2400" kern="0" spc="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en-US" altLang="zh-CN" sz="24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0" indent="0" eaLnBrk="1" hangingPunct="1">
              <a:lnSpc>
                <a:spcPct val="90000"/>
              </a:lnSpc>
              <a:buNone/>
            </a:pPr>
            <a:r>
              <a:rPr lang="en-US" altLang="zh-CN" sz="3200" kern="0" spc="0">
                <a:solidFill>
                  <a:schemeClr val="tx1"/>
                </a:solidFill>
                <a:uFillTx/>
                <a:latin typeface="Times New Roman" panose="02020603050405020304" charset="0"/>
                <a:cs typeface="Times New Roman" panose="02020603050405020304" charset="0"/>
                <a:sym typeface="+mn-ea"/>
              </a:rPr>
              <a:t>6. </a:t>
            </a:r>
            <a:r>
              <a:rPr lang="zh-CN" altLang="en-US" sz="3200" kern="0" spc="0">
                <a:solidFill>
                  <a:schemeClr val="tx1"/>
                </a:solidFill>
                <a:uFillTx/>
                <a:latin typeface="Times New Roman" panose="02020603050405020304" charset="0"/>
                <a:cs typeface="Times New Roman" panose="02020603050405020304" charset="0"/>
                <a:sym typeface="+mn-ea"/>
              </a:rPr>
              <a:t>复合词，如：</a:t>
            </a:r>
            <a:r>
              <a:rPr lang="en-US" altLang="zh-CN" sz="3200" kern="0" spc="0">
                <a:solidFill>
                  <a:schemeClr val="tx1"/>
                </a:solidFill>
                <a:uFillTx/>
                <a:latin typeface="Times New Roman" panose="02020603050405020304" charset="0"/>
                <a:cs typeface="Times New Roman" panose="02020603050405020304" charset="0"/>
                <a:sym typeface="+mn-ea"/>
              </a:rPr>
              <a:t>well-known</a:t>
            </a:r>
            <a:r>
              <a:rPr lang="zh-CN" altLang="en-US" sz="3200" kern="0" spc="0">
                <a:solidFill>
                  <a:schemeClr val="tx1"/>
                </a:solidFill>
                <a:uFillTx/>
                <a:latin typeface="Times New Roman" panose="02020603050405020304" charset="0"/>
                <a:cs typeface="Times New Roman" panose="02020603050405020304" charset="0"/>
                <a:sym typeface="+mn-ea"/>
              </a:rPr>
              <a:t>的大写形式应为</a:t>
            </a:r>
            <a:r>
              <a:rPr lang="en-US" altLang="zh-CN" sz="3200" kern="0" spc="0">
                <a:solidFill>
                  <a:schemeClr val="tx1"/>
                </a:solidFill>
                <a:uFillTx/>
                <a:latin typeface="Times New Roman" panose="02020603050405020304" charset="0"/>
                <a:cs typeface="Times New Roman" panose="02020603050405020304" charset="0"/>
                <a:sym typeface="+mn-ea"/>
              </a:rPr>
              <a:t>Well-Known. </a:t>
            </a:r>
            <a:endParaRPr lang="en-US" altLang="zh-CN" sz="3200" kern="0" spc="0">
              <a:solidFill>
                <a:schemeClr val="tx1"/>
              </a:solidFill>
              <a:uFillTx/>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None/>
            </a:pPr>
            <a:r>
              <a:rPr lang="en-US" altLang="zh-CN" sz="3200" kern="0" spc="0">
                <a:solidFill>
                  <a:schemeClr val="tx1"/>
                </a:solidFill>
                <a:uFillTx/>
                <a:latin typeface="Times New Roman" panose="02020603050405020304" charset="0"/>
                <a:cs typeface="Times New Roman" panose="02020603050405020304" charset="0"/>
                <a:sym typeface="+mn-ea"/>
              </a:rPr>
              <a:t>7. </a:t>
            </a:r>
            <a:r>
              <a:rPr lang="zh-CN" altLang="en-US" sz="3200" kern="0" spc="0">
                <a:solidFill>
                  <a:schemeClr val="tx1"/>
                </a:solidFill>
                <a:uFillTx/>
                <a:latin typeface="Times New Roman" panose="02020603050405020304" charset="0"/>
                <a:cs typeface="Times New Roman" panose="02020603050405020304" charset="0"/>
                <a:sym typeface="+mn-ea"/>
              </a:rPr>
              <a:t>标题末一般不加标点符号，但如果标题是直接问句，需要加问号。 </a:t>
            </a:r>
            <a:endParaRPr lang="zh-CN" altLang="en-US" sz="3200" kern="0" spc="0">
              <a:solidFill>
                <a:schemeClr val="tx1"/>
              </a:solidFill>
              <a:uFillTx/>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None/>
            </a:pPr>
            <a:r>
              <a:rPr lang="en-US" altLang="zh-CN" sz="3200" kern="0" spc="0">
                <a:solidFill>
                  <a:schemeClr val="tx1"/>
                </a:solidFill>
                <a:uFillTx/>
                <a:latin typeface="Times New Roman" panose="02020603050405020304" charset="0"/>
                <a:cs typeface="Times New Roman" panose="02020603050405020304" charset="0"/>
                <a:sym typeface="+mn-ea"/>
              </a:rPr>
              <a:t>8. </a:t>
            </a:r>
            <a:r>
              <a:rPr lang="zh-CN" altLang="en-US" sz="3200" kern="0" spc="0">
                <a:solidFill>
                  <a:schemeClr val="tx1"/>
                </a:solidFill>
                <a:uFillTx/>
                <a:latin typeface="Times New Roman" panose="02020603050405020304" charset="0"/>
                <a:cs typeface="Times New Roman" panose="02020603050405020304" charset="0"/>
                <a:sym typeface="+mn-ea"/>
              </a:rPr>
              <a:t>文章中引用书刊标题时应用斜体，引用文章标题应加引号。   </a:t>
            </a:r>
            <a:endParaRPr lang="en-US" altLang="zh-CN" sz="3200" kern="0" spc="0">
              <a:solidFill>
                <a:schemeClr val="tx1"/>
              </a:solidFill>
              <a:uFillTx/>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None/>
            </a:pPr>
            <a:r>
              <a:rPr lang="en-US" altLang="zh-CN" sz="3200" kern="0" spc="0">
                <a:solidFill>
                  <a:schemeClr val="tx1"/>
                </a:solidFill>
                <a:uFillTx/>
                <a:latin typeface="Times New Roman" panose="02020603050405020304" charset="0"/>
                <a:cs typeface="Times New Roman" panose="02020603050405020304" charset="0"/>
                <a:sym typeface="+mn-ea"/>
              </a:rPr>
              <a:t>  </a:t>
            </a:r>
            <a:r>
              <a:rPr lang="zh-CN" altLang="en-US" sz="3200" kern="0" spc="0">
                <a:solidFill>
                  <a:schemeClr val="tx1"/>
                </a:solidFill>
                <a:uFillTx/>
                <a:latin typeface="Times New Roman" panose="02020603050405020304" charset="0"/>
                <a:cs typeface="Times New Roman" panose="02020603050405020304" charset="0"/>
                <a:sym typeface="+mn-ea"/>
              </a:rPr>
              <a:t>这几条原则的优先性是递减的，也就是说，如果几条原则之间出现了矛盾的情况，应优先实用前面的原则。如：如果题目的第一个单词是冠词或不多于三个字母的介词时也应该大写。</a:t>
            </a:r>
            <a:endParaRPr lang="en-US" altLang="zh-CN" sz="3200" kern="0" spc="0">
              <a:solidFill>
                <a:schemeClr val="tx1"/>
              </a:solidFill>
              <a:uFillTx/>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None/>
            </a:pPr>
            <a:r>
              <a:rPr lang="en-US" altLang="zh-CN" sz="3200" kern="0" spc="0">
                <a:solidFill>
                  <a:schemeClr val="tx1"/>
                </a:solidFill>
                <a:uFillTx/>
                <a:latin typeface="Times New Roman" panose="02020603050405020304" charset="0"/>
                <a:cs typeface="Times New Roman" panose="02020603050405020304" charset="0"/>
                <a:sym typeface="+mn-ea"/>
              </a:rPr>
              <a:t>Eg. Julien’s Love Tragedy in </a:t>
            </a:r>
            <a:r>
              <a:rPr lang="en-US" altLang="zh-CN" sz="3200" i="1" kern="0" spc="0">
                <a:solidFill>
                  <a:schemeClr val="tx1"/>
                </a:solidFill>
                <a:uFillTx/>
                <a:latin typeface="Times New Roman" panose="02020603050405020304" charset="0"/>
                <a:cs typeface="Times New Roman" panose="02020603050405020304" charset="0"/>
                <a:sym typeface="+mn-ea"/>
              </a:rPr>
              <a:t>the Red and the Black</a:t>
            </a:r>
            <a:r>
              <a:rPr lang="en-US" altLang="zh-CN" sz="3200" kern="0" spc="0">
                <a:solidFill>
                  <a:schemeClr val="tx1"/>
                </a:solidFill>
                <a:uFillTx/>
                <a:latin typeface="Times New Roman" panose="02020603050405020304" charset="0"/>
                <a:cs typeface="Times New Roman" panose="02020603050405020304" charset="0"/>
                <a:sym typeface="+mn-ea"/>
              </a:rPr>
              <a:t>: A Social Class Perspective </a:t>
            </a:r>
            <a:endParaRPr lang="zh-CN" altLang="zh-CN" sz="3200" kern="0" spc="0">
              <a:solidFill>
                <a:schemeClr val="tx1"/>
              </a:solidFill>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zh-CN"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a:lnSpc>
                <a:spcPct val="150000"/>
              </a:lnSpc>
            </a:pPr>
            <a:r>
              <a:rPr lang="en-US" altLang="zh-CN" sz="2800" dirty="0">
                <a:solidFill>
                  <a:schemeClr val="tx1"/>
                </a:solidFill>
                <a:sym typeface="+mn-ea"/>
              </a:rPr>
              <a:t>9.</a:t>
            </a:r>
            <a:r>
              <a:rPr lang="zh-CN" altLang="en-US" sz="2800" dirty="0">
                <a:solidFill>
                  <a:schemeClr val="tx1"/>
                </a:solidFill>
                <a:sym typeface="+mn-ea"/>
              </a:rPr>
              <a:t> 作者的姓名                                                                国外作者： 名</a:t>
            </a:r>
            <a:r>
              <a:rPr lang="en-US" altLang="zh-CN" sz="2800" dirty="0">
                <a:solidFill>
                  <a:schemeClr val="tx1"/>
                </a:solidFill>
                <a:sym typeface="+mn-ea"/>
              </a:rPr>
              <a:t>+</a:t>
            </a:r>
            <a:r>
              <a:rPr lang="zh-CN" altLang="en-US" sz="2800" dirty="0">
                <a:solidFill>
                  <a:schemeClr val="tx1"/>
                </a:solidFill>
                <a:sym typeface="+mn-ea"/>
              </a:rPr>
              <a:t>中间名</a:t>
            </a:r>
            <a:r>
              <a:rPr lang="en-US" altLang="zh-CN" sz="2800" dirty="0">
                <a:solidFill>
                  <a:schemeClr val="tx1"/>
                </a:solidFill>
                <a:sym typeface="+mn-ea"/>
              </a:rPr>
              <a:t>+</a:t>
            </a:r>
            <a:r>
              <a:rPr lang="zh-CN" altLang="en-US" sz="2800" dirty="0">
                <a:solidFill>
                  <a:schemeClr val="tx1"/>
                </a:solidFill>
                <a:sym typeface="+mn-ea"/>
              </a:rPr>
              <a:t>姓                                            中国作者：姓名分开写 如，</a:t>
            </a:r>
            <a:r>
              <a:rPr lang="en-US" altLang="zh-CN" sz="2800" dirty="0">
                <a:solidFill>
                  <a:schemeClr val="tx1"/>
                </a:solidFill>
                <a:sym typeface="+mn-ea"/>
              </a:rPr>
              <a:t>Li</a:t>
            </a:r>
            <a:r>
              <a:rPr lang="zh-CN" altLang="en-US" sz="2800" dirty="0">
                <a:solidFill>
                  <a:schemeClr val="tx1"/>
                </a:solidFill>
                <a:sym typeface="+mn-ea"/>
              </a:rPr>
              <a:t> </a:t>
            </a:r>
            <a:r>
              <a:rPr lang="en-US" altLang="zh-CN" sz="2800" dirty="0" err="1">
                <a:solidFill>
                  <a:schemeClr val="tx1"/>
                </a:solidFill>
                <a:sym typeface="+mn-ea"/>
              </a:rPr>
              <a:t>Xiaomin</a:t>
            </a:r>
            <a:r>
              <a:rPr lang="zh-CN" altLang="en-US" sz="2800" dirty="0">
                <a:solidFill>
                  <a:schemeClr val="tx1"/>
                </a:solidFill>
                <a:sym typeface="+mn-ea"/>
              </a:rPr>
              <a:t>  或， </a:t>
            </a:r>
            <a:r>
              <a:rPr lang="en-US" altLang="zh-CN" sz="2800" dirty="0">
                <a:solidFill>
                  <a:schemeClr val="tx1"/>
                </a:solidFill>
                <a:sym typeface="+mn-ea"/>
              </a:rPr>
              <a:t>LI</a:t>
            </a:r>
            <a:r>
              <a:rPr lang="zh-CN" altLang="en-US" sz="2800" dirty="0">
                <a:solidFill>
                  <a:schemeClr val="tx1"/>
                </a:solidFill>
                <a:sym typeface="+mn-ea"/>
              </a:rPr>
              <a:t> </a:t>
            </a:r>
            <a:r>
              <a:rPr lang="en-US" altLang="zh-CN" sz="2800" dirty="0" err="1">
                <a:solidFill>
                  <a:schemeClr val="tx1"/>
                </a:solidFill>
                <a:sym typeface="+mn-ea"/>
              </a:rPr>
              <a:t>Xiaoming</a:t>
            </a:r>
            <a:r>
              <a:rPr lang="zh-CN" altLang="en-US" sz="2800" dirty="0">
                <a:solidFill>
                  <a:schemeClr val="tx1"/>
                </a:solidFill>
                <a:sym typeface="+mn-ea"/>
              </a:rPr>
              <a:t>                                                                    有些著名杂志还要加上会员名称                                       如，</a:t>
            </a:r>
            <a:r>
              <a:rPr lang="en-US" altLang="zh-CN" sz="2800" dirty="0">
                <a:solidFill>
                  <a:schemeClr val="tx1"/>
                </a:solidFill>
                <a:sym typeface="+mn-ea"/>
              </a:rPr>
              <a:t>IEEE</a:t>
            </a:r>
            <a:r>
              <a:rPr lang="zh-CN" altLang="en-US" sz="2800" dirty="0">
                <a:solidFill>
                  <a:schemeClr val="tx1"/>
                </a:solidFill>
                <a:sym typeface="+mn-ea"/>
              </a:rPr>
              <a:t> 电气电子工程学会                                            </a:t>
            </a:r>
            <a:r>
              <a:rPr lang="en-US" altLang="zh-CN" sz="2800" dirty="0">
                <a:solidFill>
                  <a:schemeClr val="tx1"/>
                </a:solidFill>
                <a:sym typeface="+mn-ea"/>
              </a:rPr>
              <a:t>IRE</a:t>
            </a:r>
            <a:r>
              <a:rPr lang="zh-CN" altLang="en-US" sz="2800" dirty="0">
                <a:solidFill>
                  <a:schemeClr val="tx1"/>
                </a:solidFill>
                <a:sym typeface="+mn-ea"/>
              </a:rPr>
              <a:t> 无线电工程师协会                                 </a:t>
            </a:r>
          </a:p>
          <a:p>
            <a:pPr marL="0" indent="0">
              <a:lnSpc>
                <a:spcPct val="150000"/>
              </a:lnSpc>
              <a:buNone/>
            </a:pPr>
            <a:r>
              <a:rPr lang="en-US" altLang="zh-CN" sz="2800" dirty="0" err="1">
                <a:solidFill>
                  <a:schemeClr val="tx1"/>
                </a:solidFill>
                <a:sym typeface="+mn-ea"/>
              </a:rPr>
              <a:t>J.C.HELMER</a:t>
            </a:r>
            <a:r>
              <a:rPr lang="en-US" altLang="zh-CN" sz="2800" dirty="0">
                <a:solidFill>
                  <a:schemeClr val="tx1"/>
                </a:solidFill>
                <a:sym typeface="+mn-ea"/>
              </a:rPr>
              <a:t>,</a:t>
            </a:r>
            <a:r>
              <a:rPr lang="zh-CN" altLang="en-US" sz="2800" dirty="0">
                <a:solidFill>
                  <a:schemeClr val="tx1"/>
                </a:solidFill>
                <a:sym typeface="+mn-ea"/>
              </a:rPr>
              <a:t> </a:t>
            </a:r>
            <a:r>
              <a:rPr lang="en-US" altLang="zh-CN" sz="2800" dirty="0">
                <a:solidFill>
                  <a:schemeClr val="tx1"/>
                </a:solidFill>
                <a:sym typeface="+mn-ea"/>
              </a:rPr>
              <a:t>STUDENT</a:t>
            </a:r>
            <a:r>
              <a:rPr lang="zh-CN" altLang="en-US" sz="2800" dirty="0">
                <a:solidFill>
                  <a:schemeClr val="tx1"/>
                </a:solidFill>
                <a:sym typeface="+mn-ea"/>
              </a:rPr>
              <a:t> </a:t>
            </a:r>
            <a:r>
              <a:rPr lang="en-US" altLang="zh-CN" sz="2800" dirty="0">
                <a:solidFill>
                  <a:schemeClr val="tx1"/>
                </a:solidFill>
                <a:sym typeface="+mn-ea"/>
              </a:rPr>
              <a:t>MEMBER,</a:t>
            </a:r>
            <a:r>
              <a:rPr lang="zh-CN" altLang="en-US" sz="2800" dirty="0">
                <a:solidFill>
                  <a:schemeClr val="tx1"/>
                </a:solidFill>
                <a:sym typeface="+mn-ea"/>
              </a:rPr>
              <a:t> </a:t>
            </a:r>
            <a:r>
              <a:rPr lang="en-US" altLang="zh-CN" sz="2800" dirty="0">
                <a:solidFill>
                  <a:schemeClr val="tx1"/>
                </a:solidFill>
                <a:sym typeface="+mn-ea"/>
              </a:rPr>
              <a:t>IEEE</a:t>
            </a:r>
            <a:r>
              <a:rPr lang="zh-CN" altLang="en-US" sz="2800" dirty="0">
                <a:solidFill>
                  <a:schemeClr val="tx1"/>
                </a:solidFill>
                <a:sym typeface="+mn-ea"/>
              </a:rPr>
              <a:t> </a:t>
            </a:r>
            <a:r>
              <a:rPr lang="en-US" altLang="zh-CN" sz="2800" dirty="0">
                <a:solidFill>
                  <a:schemeClr val="tx1"/>
                </a:solidFill>
                <a:sym typeface="+mn-ea"/>
              </a:rPr>
              <a:t>AARON</a:t>
            </a:r>
            <a:r>
              <a:rPr lang="zh-CN" altLang="en-US" sz="2800" dirty="0">
                <a:solidFill>
                  <a:schemeClr val="tx1"/>
                </a:solidFill>
                <a:sym typeface="+mn-ea"/>
              </a:rPr>
              <a:t> </a:t>
            </a:r>
            <a:r>
              <a:rPr lang="en-US" altLang="zh-CN" sz="2800" dirty="0">
                <a:solidFill>
                  <a:schemeClr val="tx1"/>
                </a:solidFill>
                <a:sym typeface="+mn-ea"/>
              </a:rPr>
              <a:t>A.</a:t>
            </a:r>
            <a:r>
              <a:rPr lang="zh-CN" altLang="en-US" sz="2800" dirty="0">
                <a:solidFill>
                  <a:schemeClr val="tx1"/>
                </a:solidFill>
                <a:sym typeface="+mn-ea"/>
              </a:rPr>
              <a:t> </a:t>
            </a:r>
            <a:r>
              <a:rPr lang="en-US" altLang="zh-CN" sz="2800" dirty="0">
                <a:solidFill>
                  <a:schemeClr val="tx1"/>
                </a:solidFill>
                <a:sym typeface="+mn-ea"/>
              </a:rPr>
              <a:t>GALVIN,</a:t>
            </a:r>
            <a:r>
              <a:rPr lang="zh-CN" altLang="en-US" sz="2800" dirty="0">
                <a:solidFill>
                  <a:schemeClr val="tx1"/>
                </a:solidFill>
                <a:sym typeface="+mn-ea"/>
              </a:rPr>
              <a:t> </a:t>
            </a:r>
            <a:r>
              <a:rPr lang="en-US" altLang="zh-CN" sz="2800" dirty="0">
                <a:solidFill>
                  <a:schemeClr val="tx1"/>
                </a:solidFill>
                <a:sym typeface="+mn-ea"/>
              </a:rPr>
              <a:t>MEMBER,</a:t>
            </a:r>
            <a:r>
              <a:rPr lang="zh-CN" altLang="en-US" sz="2800" dirty="0">
                <a:solidFill>
                  <a:schemeClr val="tx1"/>
                </a:solidFill>
                <a:sym typeface="+mn-ea"/>
              </a:rPr>
              <a:t> </a:t>
            </a:r>
            <a:r>
              <a:rPr lang="en-US" altLang="zh-CN" sz="2800" dirty="0">
                <a:solidFill>
                  <a:schemeClr val="tx1"/>
                </a:solidFill>
                <a:sym typeface="+mn-ea"/>
              </a:rPr>
              <a:t>IRE</a:t>
            </a:r>
            <a:endParaRPr kumimoji="0" lang="en-US" altLang="zh-CN" sz="2800" b="0" i="0" kern="0" spc="0" baseline="0" noProof="0" dirty="0">
              <a:ln>
                <a:noFill/>
              </a:ln>
              <a:solidFill>
                <a:schemeClr val="tx1"/>
              </a:solidFill>
              <a:effectLst/>
              <a:uLnTx/>
              <a:uFillTx/>
              <a:latin typeface="Times New Roman" panose="02020603050405020304" charset="0"/>
              <a:ea typeface="+mn-ea"/>
              <a:cs typeface="Times New Roman" panose="02020603050405020304" charset="0"/>
              <a:sym typeface="+mn-ea"/>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36195" marR="0" lvl="0"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Exercise: Correct the mistakes of format in the following topics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1. Language Policy of France and Its Insight Into the Protection of Chinese Dialects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cs typeface="Times New Roman" panose="02020603050405020304" charset="0"/>
            </a:endParaRPr>
          </a:p>
          <a:p>
            <a:pPr marL="68580" marR="0" lvl="0" indent="0" algn="l" defTabSz="914400" rtl="0" eaLnBrk="1" fontAlgn="auto" latinLnBrk="0" hangingPunct="1">
              <a:lnSpc>
                <a:spcPct val="100000"/>
              </a:lnSpc>
              <a:spcBef>
                <a:spcPct val="20000"/>
              </a:spcBef>
              <a:spcAft>
                <a:spcPts val="0"/>
              </a:spcAft>
              <a:buClr>
                <a:schemeClr val="accent1"/>
              </a:buClr>
              <a:buSzPct val="80000"/>
              <a:buFont typeface="Wingdings" panose="05000000000000000000" pitchFamily="2" charset="2"/>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2. An Analysis on Yang </a:t>
            </a:r>
            <a:r>
              <a:rPr lang="en-US" altLang="zh-CN" sz="3200" spc="0" noProof="0" dirty="0" err="1">
                <a:ln>
                  <a:noFill/>
                </a:ln>
                <a:solidFill>
                  <a:schemeClr val="tx1"/>
                </a:solidFill>
                <a:effectLst/>
                <a:uLnTx/>
                <a:latin typeface="Times New Roman" panose="02020603050405020304" charset="0"/>
                <a:cs typeface="Times New Roman" panose="02020603050405020304" charset="0"/>
                <a:sym typeface="+mn-ea"/>
              </a:rPr>
              <a:t>Xianyi</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and David Hawks’ Translation of Registered Poems in “A Dream in Red Mansions” from The Perspective of Functional Equivalence</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cs typeface="Times New Roman" panose="02020603050405020304" charset="0"/>
            </a:endParaRPr>
          </a:p>
          <a:p>
            <a:pPr marL="68580" marR="0" lvl="0" indent="0" algn="l" defTabSz="914400" rtl="0" eaLnBrk="1" fontAlgn="auto" latinLnBrk="0" hangingPunct="1">
              <a:lnSpc>
                <a:spcPct val="100000"/>
              </a:lnSpc>
              <a:spcBef>
                <a:spcPct val="20000"/>
              </a:spcBef>
              <a:spcAft>
                <a:spcPts val="0"/>
              </a:spcAft>
              <a:buClr>
                <a:schemeClr val="accent1"/>
              </a:buClr>
              <a:buSzPct val="80000"/>
              <a:buFont typeface="Wingdings" panose="05000000000000000000" pitchFamily="2" charset="2"/>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3. Analysis on the Application of Chinese-style Teaching in British </a:t>
            </a:r>
            <a:r>
              <a:rPr lang="en-US" altLang="zh-CN" sz="3200" spc="0" noProof="0" dirty="0" err="1">
                <a:ln>
                  <a:noFill/>
                </a:ln>
                <a:solidFill>
                  <a:schemeClr val="tx1"/>
                </a:solidFill>
                <a:effectLst/>
                <a:uLnTx/>
                <a:latin typeface="Times New Roman" panose="02020603050405020304" charset="0"/>
                <a:cs typeface="Times New Roman" panose="02020603050405020304" charset="0"/>
                <a:sym typeface="+mn-ea"/>
              </a:rPr>
              <a:t>Bohunt</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Middle School From the Documentary Are Our Kids Tough Enough</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zh-CN"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21080" y="551180"/>
            <a:ext cx="10508615" cy="4120515"/>
          </a:xfrm>
        </p:spPr>
        <p:txBody>
          <a:bodyPr>
            <a:noAutofit/>
          </a:bodyPr>
          <a:lstStyle/>
          <a:p>
            <a:pPr marL="36195" marR="0" lvl="0"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lang="en-US" altLang="zh-CN" sz="3200" b="1" i="1" spc="0" noProof="0" dirty="0">
                <a:ln>
                  <a:noFill/>
                </a:ln>
                <a:solidFill>
                  <a:schemeClr val="accent2"/>
                </a:solidFill>
                <a:effectLst/>
                <a:uLnTx/>
                <a:latin typeface="Times New Roman" panose="02020603050405020304" charset="0"/>
                <a:cs typeface="Times New Roman" panose="02020603050405020304" charset="0"/>
                <a:sym typeface="+mn-ea"/>
              </a:rPr>
              <a:t>Exercise </a:t>
            </a:r>
            <a:r>
              <a:rPr lang="en-US" altLang="zh-CN" sz="2800" i="1" spc="0" noProof="0" dirty="0">
                <a:ln>
                  <a:noFill/>
                </a:ln>
                <a:solidFill>
                  <a:schemeClr val="tx1"/>
                </a:solidFill>
                <a:effectLst/>
                <a:uLnTx/>
                <a:latin typeface="Times New Roman" panose="02020603050405020304" charset="0"/>
                <a:cs typeface="Times New Roman" panose="02020603050405020304" charset="0"/>
                <a:sym typeface="+mn-ea"/>
              </a:rPr>
              <a:t>Correct the mistakes of format in the following topics</a:t>
            </a:r>
            <a:endParaRPr kumimoji="0" lang="en-US" altLang="zh-CN" sz="2800" b="0" i="1"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914400" rtl="0" eaLnBrk="1" fontAlgn="auto" latinLnBrk="0" hangingPunct="1">
              <a:lnSpc>
                <a:spcPct val="100000"/>
              </a:lnSpc>
              <a:spcBef>
                <a:spcPct val="20000"/>
              </a:spcBef>
              <a:spcAft>
                <a:spcPts val="0"/>
              </a:spcAft>
              <a:buClr>
                <a:schemeClr val="accent1"/>
              </a:buClr>
              <a:buSzPct val="80000"/>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1. Language Policy of France and Its Insight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Into</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the Protection of Chinese Dialects</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68580" marR="0" lvl="0" indent="0" algn="l" defTabSz="914400" rtl="0" eaLnBrk="1" fontAlgn="auto" latinLnBrk="0" hangingPunct="1">
              <a:lnSpc>
                <a:spcPct val="100000"/>
              </a:lnSpc>
              <a:spcBef>
                <a:spcPct val="20000"/>
              </a:spcBef>
              <a:spcAft>
                <a:spcPts val="0"/>
              </a:spcAft>
              <a:buClr>
                <a:schemeClr val="accent1"/>
              </a:buClr>
              <a:buSzPct val="80000"/>
              <a:buFont typeface="Wingdings" panose="05000000000000000000" pitchFamily="2" charset="2"/>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2. An Analysis on Yang </a:t>
            </a:r>
            <a:r>
              <a:rPr lang="en-US" altLang="zh-CN" sz="3200" spc="0" noProof="0" dirty="0" err="1">
                <a:ln>
                  <a:noFill/>
                </a:ln>
                <a:solidFill>
                  <a:schemeClr val="tx1"/>
                </a:solidFill>
                <a:effectLst/>
                <a:uLnTx/>
                <a:latin typeface="Times New Roman" panose="02020603050405020304" charset="0"/>
                <a:cs typeface="Times New Roman" panose="02020603050405020304" charset="0"/>
                <a:sym typeface="+mn-ea"/>
              </a:rPr>
              <a:t>Xianyi</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and David Hawks’ Translation of Registered Poems in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A Dream in Red Mansions”</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from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The</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Perspective of Functional Equivalence</a:t>
            </a:r>
          </a:p>
          <a:p>
            <a:pPr marL="68580" marR="0" lvl="0" indent="0" algn="l" defTabSz="914400" rtl="0" eaLnBrk="1" fontAlgn="auto" latinLnBrk="0" hangingPunct="1">
              <a:lnSpc>
                <a:spcPct val="100000"/>
              </a:lnSpc>
              <a:spcBef>
                <a:spcPct val="20000"/>
              </a:spcBef>
              <a:spcAft>
                <a:spcPts val="0"/>
              </a:spcAft>
              <a:buClr>
                <a:schemeClr val="accent1"/>
              </a:buClr>
              <a:buSzPct val="80000"/>
              <a:buFont typeface="Wingdings" panose="05000000000000000000" pitchFamily="2" charset="2"/>
              <a:buNone/>
              <a:defRPr/>
            </a:pP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3. Analysis on the Application of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Chinese-style</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Teaching in British </a:t>
            </a:r>
            <a:r>
              <a:rPr lang="en-US" altLang="zh-CN" sz="3200" spc="0" noProof="0" dirty="0" err="1">
                <a:ln>
                  <a:noFill/>
                </a:ln>
                <a:solidFill>
                  <a:schemeClr val="tx1"/>
                </a:solidFill>
                <a:effectLst/>
                <a:uLnTx/>
                <a:latin typeface="Times New Roman" panose="02020603050405020304" charset="0"/>
                <a:cs typeface="Times New Roman" panose="02020603050405020304" charset="0"/>
                <a:sym typeface="+mn-ea"/>
              </a:rPr>
              <a:t>Bohunt</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Middle School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From</a:t>
            </a:r>
            <a:r>
              <a:rPr lang="en-US" altLang="zh-CN" sz="3200" spc="0" noProof="0" dirty="0">
                <a:ln>
                  <a:noFill/>
                </a:ln>
                <a:solidFill>
                  <a:schemeClr val="tx1"/>
                </a:solidFill>
                <a:effectLst/>
                <a:uLnTx/>
                <a:latin typeface="Times New Roman" panose="02020603050405020304" charset="0"/>
                <a:cs typeface="Times New Roman" panose="02020603050405020304" charset="0"/>
                <a:sym typeface="+mn-ea"/>
              </a:rPr>
              <a:t> the Documentary </a:t>
            </a:r>
            <a:r>
              <a:rPr lang="en-US" altLang="zh-CN" sz="3200" spc="0" noProof="0" dirty="0">
                <a:ln>
                  <a:noFill/>
                </a:ln>
                <a:solidFill>
                  <a:srgbClr val="FF0000"/>
                </a:solidFill>
                <a:effectLst/>
                <a:uLnTx/>
                <a:latin typeface="Times New Roman" panose="02020603050405020304" charset="0"/>
                <a:cs typeface="Times New Roman" panose="02020603050405020304" charset="0"/>
                <a:sym typeface="+mn-ea"/>
              </a:rPr>
              <a:t>Are Our Kids Tough Enough</a:t>
            </a:r>
            <a:endParaRPr kumimoji="0" lang="en-US" altLang="zh-CN" sz="3200" b="0" i="0" u="none" strike="noStrike" kern="1200" cap="none" spc="0" normalizeH="0" baseline="0" noProof="0" dirty="0">
              <a:ln>
                <a:noFill/>
              </a:ln>
              <a:solidFill>
                <a:srgbClr val="FF0000"/>
              </a:solidFill>
              <a:effectLst/>
              <a:uLnTx/>
              <a:uFillTx/>
              <a:latin typeface="Times New Roman" panose="02020603050405020304" charset="0"/>
              <a:ea typeface="+mn-ea"/>
              <a:cs typeface="Times New Roman" panose="02020603050405020304" charset="0"/>
            </a:endParaRPr>
          </a:p>
          <a:p>
            <a:pPr marL="0" marR="0" lvl="0" indent="0" algn="l" defTabSz="914400" rtl="0" eaLnBrk="1" fontAlgn="base" latinLnBrk="0" hangingPunct="1">
              <a:lnSpc>
                <a:spcPct val="100000"/>
              </a:lnSpc>
              <a:spcBef>
                <a:spcPts val="1200"/>
              </a:spcBef>
              <a:spcAft>
                <a:spcPct val="0"/>
              </a:spcAft>
              <a:buClr>
                <a:srgbClr val="838995"/>
              </a:buClr>
              <a:buSzTx/>
              <a:buFontTx/>
              <a:buNone/>
              <a:defRPr/>
            </a:pPr>
            <a:endParaRPr kumimoji="0" lang="zh-CN" altLang="zh-CN" sz="3200" b="0" i="0" kern="0" spc="0" baseline="0" noProof="0" dirty="0">
              <a:ln>
                <a:noFill/>
              </a:ln>
              <a:solidFill>
                <a:schemeClr val="tx1"/>
              </a:solidFill>
              <a:effectLst/>
              <a:uLnTx/>
              <a:uFillTx/>
              <a:latin typeface="Times New Roman" panose="02020603050405020304" charset="0"/>
              <a:ea typeface="+mn-ea"/>
              <a:cs typeface="Times New Roman" panose="02020603050405020304" charset="0"/>
            </a:endParaRPr>
          </a:p>
        </p:txBody>
      </p:sp>
      <p:cxnSp>
        <p:nvCxnSpPr>
          <p:cNvPr id="7" name="直接连接符 6"/>
          <p:cNvCxnSpPr/>
          <p:nvPr/>
        </p:nvCxnSpPr>
        <p:spPr>
          <a:xfrm>
            <a:off x="855345" y="35179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26770" y="37084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64845" y="189865"/>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custDataLst>
              <p:tags r:id="rId2"/>
            </p:custDataLst>
          </p:nvPr>
        </p:nvCxnSpPr>
        <p:spPr>
          <a:xfrm>
            <a:off x="10184130" y="6177280"/>
            <a:ext cx="116967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flipH="1">
            <a:off x="11353800" y="5283200"/>
            <a:ext cx="9525" cy="89408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4"/>
            </p:custDataLst>
          </p:nvPr>
        </p:nvSpPr>
        <p:spPr>
          <a:xfrm>
            <a:off x="11186795" y="5996940"/>
            <a:ext cx="342900" cy="36131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655852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a:xfrm>
            <a:off x="1219200" y="5028565"/>
            <a:ext cx="9752965" cy="1655445"/>
          </a:xfrm>
        </p:spPr>
        <p:txBody>
          <a:bodyPr/>
          <a:lstStyle/>
          <a:p>
            <a:r>
              <a:rPr lang="en-US" altLang="zh-CN" sz="3600">
                <a:solidFill>
                  <a:schemeClr val="tx1"/>
                </a:solidFill>
                <a:latin typeface="Times New Roman" panose="02020603050405020304" charset="0"/>
                <a:cs typeface="Times New Roman" panose="02020603050405020304" charset="0"/>
              </a:rPr>
              <a:t>The End</a:t>
            </a:r>
          </a:p>
        </p:txBody>
      </p:sp>
      <p:pic>
        <p:nvPicPr>
          <p:cNvPr id="100" name="图片 99"/>
          <p:cNvPicPr/>
          <p:nvPr/>
        </p:nvPicPr>
        <p:blipFill>
          <a:blip r:embed="rId2"/>
          <a:stretch>
            <a:fillRect/>
          </a:stretch>
        </p:blipFill>
        <p:spPr>
          <a:xfrm>
            <a:off x="1219200" y="219075"/>
            <a:ext cx="9753600" cy="4743450"/>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65.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6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2026"/>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1237</Words>
  <Application>Microsoft Office PowerPoint</Application>
  <PresentationFormat>宽屏</PresentationFormat>
  <Paragraphs>127</Paragraphs>
  <Slides>28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Arial</vt:lpstr>
      <vt:lpstr>Times New Roman</vt:lpstr>
      <vt:lpstr>Wingdings</vt:lpstr>
      <vt:lpstr>Wingdings 2</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旧题新做     特点：研究时间长，但不过时。      新思想、新视角、新方法</vt:lpstr>
      <vt:lpstr>3. 大题小做，小题大做         做全、做精、做细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SY</dc:creator>
  <cp:lastModifiedBy>SY</cp:lastModifiedBy>
  <cp:revision>180</cp:revision>
  <dcterms:created xsi:type="dcterms:W3CDTF">2019-06-19T02:08:00Z</dcterms:created>
  <dcterms:modified xsi:type="dcterms:W3CDTF">2026-06-18T13:08:30Z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ADE11A2D3F6C48A496C66CB65C41C353_11</vt:lpwstr>
  </property>
</Properties>
</file>