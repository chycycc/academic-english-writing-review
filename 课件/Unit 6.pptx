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0"/>
  </p:notesMasterIdLst>
  <p:handoutMasterIdLst>
    <p:handoutMasterId r:id="rId51"/>
  </p:handoutMasterIdLst>
  <p:sldIdLst>
    <p:sldId id="257" r:id="rId2"/>
    <p:sldId id="256" r:id="rId3"/>
    <p:sldId id="259" r:id="rId4"/>
    <p:sldId id="260" r:id="rId5"/>
    <p:sldId id="261" r:id="rId6"/>
    <p:sldId id="262" r:id="rId7"/>
    <p:sldId id="263" r:id="rId8"/>
    <p:sldId id="258" r:id="rId9"/>
    <p:sldId id="278" r:id="rId10"/>
    <p:sldId id="265" r:id="rId11"/>
    <p:sldId id="266" r:id="rId12"/>
    <p:sldId id="267" r:id="rId13"/>
    <p:sldId id="268" r:id="rId14"/>
    <p:sldId id="269" r:id="rId15"/>
    <p:sldId id="270" r:id="rId16"/>
    <p:sldId id="271" r:id="rId17"/>
    <p:sldId id="272" r:id="rId18"/>
    <p:sldId id="276" r:id="rId19"/>
    <p:sldId id="275" r:id="rId20"/>
    <p:sldId id="317" r:id="rId21"/>
    <p:sldId id="319" r:id="rId22"/>
    <p:sldId id="320" r:id="rId23"/>
    <p:sldId id="321"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300" r:id="rId37"/>
    <p:sldId id="301" r:id="rId38"/>
    <p:sldId id="292" r:id="rId39"/>
    <p:sldId id="293" r:id="rId40"/>
    <p:sldId id="297" r:id="rId41"/>
    <p:sldId id="302" r:id="rId42"/>
    <p:sldId id="303" r:id="rId43"/>
    <p:sldId id="304" r:id="rId44"/>
    <p:sldId id="305" r:id="rId45"/>
    <p:sldId id="296" r:id="rId46"/>
    <p:sldId id="298" r:id="rId47"/>
    <p:sldId id="322" r:id="rId48"/>
    <p:sldId id="299" r:id="rId49"/>
  </p:sldIdLst>
  <p:sldSz cx="12192000" cy="6858000"/>
  <p:notesSz cx="6858000" cy="9144000"/>
  <p:custDataLst>
    <p:tags r:id="rId5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0" clrIdx="1"/>
  <p:cmAuthor id="3" name="SY" initials="S" lastIdx="1" clrIdx="2">
    <p:extLst>
      <p:ext uri="{19B8F6BF-5375-455C-9EA6-DF929625EA0E}">
        <p15:presenceInfo xmlns:p15="http://schemas.microsoft.com/office/powerpoint/2012/main" userId="SY"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4" d="100"/>
          <a:sy n="114" d="100"/>
        </p:scale>
        <p:origin x="41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handoutMaster" Target="handoutMasters/handoutMaster1.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2026/6/18</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2026/6/18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2026/6/18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2026/6/18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2026/6/18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2026/6/18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D997B5FA-0921-464F-AAE1-844C04324D75}" type="datetimeFigureOut">
              <a:rPr lang="zh-CN" altLang="en-US" smtClean="0"/>
              <a:t>2026/6/18</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997B5FA-0921-464F-AAE1-844C04324D75}" type="datetimeFigureOut">
              <a:rPr lang="zh-CN" altLang="en-US" smtClean="0"/>
              <a:t>2026/6/18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t>2026/6/18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2026/6/18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2026/6/18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2026/6/18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2026/6/18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t>2026/6/18</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image" Target="../media/image1.jpeg"/><Relationship Id="rId5" Type="http://schemas.openxmlformats.org/officeDocument/2006/relationships/slideLayout" Target="../slideLayouts/slideLayout2.xml"/><Relationship Id="rId4" Type="http://schemas.openxmlformats.org/officeDocument/2006/relationships/tags" Target="../tags/tag5.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tags" Target="../tags/tag8.xml"/><Relationship Id="rId2" Type="http://schemas.openxmlformats.org/officeDocument/2006/relationships/tags" Target="../tags/tag7.xml"/><Relationship Id="rId1" Type="http://schemas.openxmlformats.org/officeDocument/2006/relationships/tags" Target="../tags/tag6.xml"/><Relationship Id="rId4"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tags" Target="../tags/tag11.xml"/><Relationship Id="rId2" Type="http://schemas.openxmlformats.org/officeDocument/2006/relationships/tags" Target="../tags/tag10.xml"/><Relationship Id="rId1" Type="http://schemas.openxmlformats.org/officeDocument/2006/relationships/tags" Target="../tags/tag9.xml"/><Relationship Id="rId4"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tags" Target="../tags/tag14.xml"/><Relationship Id="rId2" Type="http://schemas.openxmlformats.org/officeDocument/2006/relationships/tags" Target="../tags/tag13.xml"/><Relationship Id="rId1" Type="http://schemas.openxmlformats.org/officeDocument/2006/relationships/tags" Target="../tags/tag12.xml"/><Relationship Id="rId5" Type="http://schemas.openxmlformats.org/officeDocument/2006/relationships/slideLayout" Target="../slideLayouts/slideLayout2.xml"/><Relationship Id="rId4" Type="http://schemas.openxmlformats.org/officeDocument/2006/relationships/tags" Target="../tags/tag15.xml"/></Relationships>
</file>

<file path=ppt/slides/_rels/slide6.xml.rels><?xml version="1.0" encoding="UTF-8" standalone="yes"?>
<Relationships xmlns="http://schemas.openxmlformats.org/package/2006/relationships"><Relationship Id="rId3" Type="http://schemas.openxmlformats.org/officeDocument/2006/relationships/tags" Target="../tags/tag18.xml"/><Relationship Id="rId2" Type="http://schemas.openxmlformats.org/officeDocument/2006/relationships/tags" Target="../tags/tag17.xml"/><Relationship Id="rId1" Type="http://schemas.openxmlformats.org/officeDocument/2006/relationships/tags" Target="../tags/tag16.xml"/><Relationship Id="rId5" Type="http://schemas.openxmlformats.org/officeDocument/2006/relationships/slideLayout" Target="../slideLayouts/slideLayout2.xml"/><Relationship Id="rId4" Type="http://schemas.openxmlformats.org/officeDocument/2006/relationships/tags" Target="../tags/tag19.xml"/></Relationships>
</file>

<file path=ppt/slides/_rels/slide7.xml.rels><?xml version="1.0" encoding="UTF-8" standalone="yes"?>
<Relationships xmlns="http://schemas.openxmlformats.org/package/2006/relationships"><Relationship Id="rId3" Type="http://schemas.openxmlformats.org/officeDocument/2006/relationships/tags" Target="../tags/tag22.xml"/><Relationship Id="rId2" Type="http://schemas.openxmlformats.org/officeDocument/2006/relationships/tags" Target="../tags/tag21.xml"/><Relationship Id="rId1" Type="http://schemas.openxmlformats.org/officeDocument/2006/relationships/tags" Target="../tags/tag20.xml"/><Relationship Id="rId4"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3.jpeg"/><Relationship Id="rId3" Type="http://schemas.openxmlformats.org/officeDocument/2006/relationships/tags" Target="../tags/tag25.xml"/><Relationship Id="rId7" Type="http://schemas.openxmlformats.org/officeDocument/2006/relationships/slideLayout" Target="../slideLayouts/slideLayout2.xml"/><Relationship Id="rId2" Type="http://schemas.openxmlformats.org/officeDocument/2006/relationships/tags" Target="../tags/tag24.xml"/><Relationship Id="rId1" Type="http://schemas.openxmlformats.org/officeDocument/2006/relationships/tags" Target="../tags/tag23.xml"/><Relationship Id="rId6" Type="http://schemas.openxmlformats.org/officeDocument/2006/relationships/tags" Target="../tags/tag28.xml"/><Relationship Id="rId5" Type="http://schemas.openxmlformats.org/officeDocument/2006/relationships/tags" Target="../tags/tag27.xml"/><Relationship Id="rId4" Type="http://schemas.openxmlformats.org/officeDocument/2006/relationships/tags" Target="../tags/tag26.xml"/></Relationships>
</file>

<file path=ppt/slides/_rels/slide9.xml.rels><?xml version="1.0" encoding="UTF-8" standalone="yes"?>
<Relationships xmlns="http://schemas.openxmlformats.org/package/2006/relationships"><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tags" Target="../tags/tag29.xml"/><Relationship Id="rId6" Type="http://schemas.openxmlformats.org/officeDocument/2006/relationships/image" Target="../media/image4.jpeg"/><Relationship Id="rId5" Type="http://schemas.openxmlformats.org/officeDocument/2006/relationships/slideLayout" Target="../slideLayouts/slideLayout2.xml"/><Relationship Id="rId4" Type="http://schemas.openxmlformats.org/officeDocument/2006/relationships/tags" Target="../tags/tag32.xml"/></Relationships>
</file>

<file path=ppt/slides/_rels/slide10.xml.rels><?xml version="1.0" encoding="UTF-8" standalone="yes"?>
<Relationships xmlns="http://schemas.openxmlformats.org/package/2006/relationships"><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tags" Target="../tags/tag33.xml"/><Relationship Id="rId4"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tags" Target="../tags/tag36.xml"/><Relationship Id="rId4"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tags" Target="../tags/tag41.xml"/><Relationship Id="rId2" Type="http://schemas.openxmlformats.org/officeDocument/2006/relationships/tags" Target="../tags/tag40.xml"/><Relationship Id="rId1" Type="http://schemas.openxmlformats.org/officeDocument/2006/relationships/tags" Target="../tags/tag39.xml"/><Relationship Id="rId4"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tags" Target="../tags/tag42.xml"/><Relationship Id="rId4"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tags" Target="../tags/tag47.xml"/><Relationship Id="rId2" Type="http://schemas.openxmlformats.org/officeDocument/2006/relationships/tags" Target="../tags/tag46.xml"/><Relationship Id="rId1" Type="http://schemas.openxmlformats.org/officeDocument/2006/relationships/tags" Target="../tags/tag45.xml"/><Relationship Id="rId4"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tags" Target="../tags/tag50.xml"/><Relationship Id="rId2" Type="http://schemas.openxmlformats.org/officeDocument/2006/relationships/tags" Target="../tags/tag49.xml"/><Relationship Id="rId1" Type="http://schemas.openxmlformats.org/officeDocument/2006/relationships/tags" Target="../tags/tag48.xml"/><Relationship Id="rId4"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tags" Target="../tags/tag51.xml"/><Relationship Id="rId4"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tags" Target="../tags/tag56.xml"/><Relationship Id="rId2" Type="http://schemas.openxmlformats.org/officeDocument/2006/relationships/tags" Target="../tags/tag55.xml"/><Relationship Id="rId1" Type="http://schemas.openxmlformats.org/officeDocument/2006/relationships/tags" Target="../tags/tag54.xml"/><Relationship Id="rId4"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tags" Target="../tags/tag59.xml"/><Relationship Id="rId2" Type="http://schemas.openxmlformats.org/officeDocument/2006/relationships/tags" Target="../tags/tag58.xml"/><Relationship Id="rId1" Type="http://schemas.openxmlformats.org/officeDocument/2006/relationships/tags" Target="../tags/tag57.xml"/><Relationship Id="rId4"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tags" Target="../tags/tag62.xml"/><Relationship Id="rId2" Type="http://schemas.openxmlformats.org/officeDocument/2006/relationships/tags" Target="../tags/tag61.xml"/><Relationship Id="rId1" Type="http://schemas.openxmlformats.org/officeDocument/2006/relationships/tags" Target="../tags/tag60.xml"/><Relationship Id="rId4"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tags" Target="../tags/tag65.xml"/><Relationship Id="rId2" Type="http://schemas.openxmlformats.org/officeDocument/2006/relationships/tags" Target="../tags/tag64.xml"/><Relationship Id="rId1" Type="http://schemas.openxmlformats.org/officeDocument/2006/relationships/tags" Target="../tags/tag63.xml"/><Relationship Id="rId4"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tags" Target="../tags/tag68.xml"/><Relationship Id="rId2" Type="http://schemas.openxmlformats.org/officeDocument/2006/relationships/tags" Target="../tags/tag67.xml"/><Relationship Id="rId1" Type="http://schemas.openxmlformats.org/officeDocument/2006/relationships/tags" Target="../tags/tag66.xml"/><Relationship Id="rId4"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tags" Target="../tags/tag71.xml"/><Relationship Id="rId2" Type="http://schemas.openxmlformats.org/officeDocument/2006/relationships/tags" Target="../tags/tag70.xml"/><Relationship Id="rId1" Type="http://schemas.openxmlformats.org/officeDocument/2006/relationships/tags" Target="../tags/tag69.xml"/><Relationship Id="rId4"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tags" Target="../tags/tag74.xml"/><Relationship Id="rId2" Type="http://schemas.openxmlformats.org/officeDocument/2006/relationships/tags" Target="../tags/tag73.xml"/><Relationship Id="rId1" Type="http://schemas.openxmlformats.org/officeDocument/2006/relationships/tags" Target="../tags/tag72.xml"/><Relationship Id="rId4"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tags" Target="../tags/tag77.xml"/><Relationship Id="rId2" Type="http://schemas.openxmlformats.org/officeDocument/2006/relationships/tags" Target="../tags/tag76.xml"/><Relationship Id="rId1" Type="http://schemas.openxmlformats.org/officeDocument/2006/relationships/tags" Target="../tags/tag75.xml"/><Relationship Id="rId6" Type="http://schemas.openxmlformats.org/officeDocument/2006/relationships/image" Target="../media/image5.jpeg"/><Relationship Id="rId5" Type="http://schemas.openxmlformats.org/officeDocument/2006/relationships/slideLayout" Target="../slideLayouts/slideLayout2.xml"/><Relationship Id="rId4" Type="http://schemas.openxmlformats.org/officeDocument/2006/relationships/tags" Target="../tags/tag78.xml"/></Relationships>
</file>

<file path=ppt/slides/_rels/slide25.xml.rels><?xml version="1.0" encoding="UTF-8" standalone="yes"?>
<Relationships xmlns="http://schemas.openxmlformats.org/package/2006/relationships"><Relationship Id="rId3" Type="http://schemas.openxmlformats.org/officeDocument/2006/relationships/tags" Target="../tags/tag81.xml"/><Relationship Id="rId2" Type="http://schemas.openxmlformats.org/officeDocument/2006/relationships/tags" Target="../tags/tag80.xml"/><Relationship Id="rId1" Type="http://schemas.openxmlformats.org/officeDocument/2006/relationships/tags" Target="../tags/tag79.xml"/><Relationship Id="rId4"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tags" Target="../tags/tag84.xml"/><Relationship Id="rId2" Type="http://schemas.openxmlformats.org/officeDocument/2006/relationships/tags" Target="../tags/tag83.xml"/><Relationship Id="rId1" Type="http://schemas.openxmlformats.org/officeDocument/2006/relationships/tags" Target="../tags/tag82.xml"/><Relationship Id="rId4"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tags" Target="../tags/tag87.xml"/><Relationship Id="rId2" Type="http://schemas.openxmlformats.org/officeDocument/2006/relationships/tags" Target="../tags/tag86.xml"/><Relationship Id="rId1" Type="http://schemas.openxmlformats.org/officeDocument/2006/relationships/tags" Target="../tags/tag85.xml"/><Relationship Id="rId4"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tags" Target="../tags/tag90.xml"/><Relationship Id="rId2" Type="http://schemas.openxmlformats.org/officeDocument/2006/relationships/tags" Target="../tags/tag89.xml"/><Relationship Id="rId1" Type="http://schemas.openxmlformats.org/officeDocument/2006/relationships/tags" Target="../tags/tag88.xml"/><Relationship Id="rId4"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tags" Target="../tags/tag93.xml"/><Relationship Id="rId2" Type="http://schemas.openxmlformats.org/officeDocument/2006/relationships/tags" Target="../tags/tag92.xml"/><Relationship Id="rId1" Type="http://schemas.openxmlformats.org/officeDocument/2006/relationships/tags" Target="../tags/tag91.xml"/><Relationship Id="rId4"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tags" Target="../tags/tag96.xml"/><Relationship Id="rId2" Type="http://schemas.openxmlformats.org/officeDocument/2006/relationships/tags" Target="../tags/tag95.xml"/><Relationship Id="rId1" Type="http://schemas.openxmlformats.org/officeDocument/2006/relationships/tags" Target="../tags/tag94.xml"/><Relationship Id="rId4"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tags" Target="../tags/tag99.xml"/><Relationship Id="rId2" Type="http://schemas.openxmlformats.org/officeDocument/2006/relationships/tags" Target="../tags/tag98.xml"/><Relationship Id="rId1" Type="http://schemas.openxmlformats.org/officeDocument/2006/relationships/tags" Target="../tags/tag97.xml"/><Relationship Id="rId4"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tags" Target="../tags/tag102.xml"/><Relationship Id="rId2" Type="http://schemas.openxmlformats.org/officeDocument/2006/relationships/tags" Target="../tags/tag101.xml"/><Relationship Id="rId1" Type="http://schemas.openxmlformats.org/officeDocument/2006/relationships/tags" Target="../tags/tag100.xml"/><Relationship Id="rId4"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tags" Target="../tags/tag105.xml"/><Relationship Id="rId7" Type="http://schemas.openxmlformats.org/officeDocument/2006/relationships/image" Target="../media/image6.png"/><Relationship Id="rId2" Type="http://schemas.openxmlformats.org/officeDocument/2006/relationships/tags" Target="../tags/tag104.xml"/><Relationship Id="rId1" Type="http://schemas.openxmlformats.org/officeDocument/2006/relationships/tags" Target="../tags/tag103.xml"/><Relationship Id="rId6" Type="http://schemas.openxmlformats.org/officeDocument/2006/relationships/slideLayout" Target="../slideLayouts/slideLayout2.xml"/><Relationship Id="rId5" Type="http://schemas.openxmlformats.org/officeDocument/2006/relationships/tags" Target="../tags/tag107.xml"/><Relationship Id="rId4" Type="http://schemas.openxmlformats.org/officeDocument/2006/relationships/tags" Target="../tags/tag106.xml"/></Relationships>
</file>

<file path=ppt/slides/_rels/slide34.xml.rels><?xml version="1.0" encoding="UTF-8" standalone="yes"?>
<Relationships xmlns="http://schemas.openxmlformats.org/package/2006/relationships"><Relationship Id="rId3" Type="http://schemas.openxmlformats.org/officeDocument/2006/relationships/tags" Target="../tags/tag110.xml"/><Relationship Id="rId2" Type="http://schemas.openxmlformats.org/officeDocument/2006/relationships/tags" Target="../tags/tag109.xml"/><Relationship Id="rId1" Type="http://schemas.openxmlformats.org/officeDocument/2006/relationships/tags" Target="../tags/tag108.xml"/><Relationship Id="rId5" Type="http://schemas.openxmlformats.org/officeDocument/2006/relationships/slideLayout" Target="../slideLayouts/slideLayout2.xml"/><Relationship Id="rId4" Type="http://schemas.openxmlformats.org/officeDocument/2006/relationships/tags" Target="../tags/tag111.xml"/></Relationships>
</file>

<file path=ppt/slides/_rels/slide35.xml.rels><?xml version="1.0" encoding="UTF-8" standalone="yes"?>
<Relationships xmlns="http://schemas.openxmlformats.org/package/2006/relationships"><Relationship Id="rId3" Type="http://schemas.openxmlformats.org/officeDocument/2006/relationships/tags" Target="../tags/tag114.xml"/><Relationship Id="rId2" Type="http://schemas.openxmlformats.org/officeDocument/2006/relationships/tags" Target="../tags/tag113.xml"/><Relationship Id="rId1" Type="http://schemas.openxmlformats.org/officeDocument/2006/relationships/tags" Target="../tags/tag112.xml"/><Relationship Id="rId5" Type="http://schemas.openxmlformats.org/officeDocument/2006/relationships/slideLayout" Target="../slideLayouts/slideLayout2.xml"/><Relationship Id="rId4" Type="http://schemas.openxmlformats.org/officeDocument/2006/relationships/tags" Target="../tags/tag115.xml"/></Relationships>
</file>

<file path=ppt/slides/_rels/slide36.xml.rels><?xml version="1.0" encoding="UTF-8" standalone="yes"?>
<Relationships xmlns="http://schemas.openxmlformats.org/package/2006/relationships"><Relationship Id="rId3" Type="http://schemas.openxmlformats.org/officeDocument/2006/relationships/tags" Target="../tags/tag118.xml"/><Relationship Id="rId2" Type="http://schemas.openxmlformats.org/officeDocument/2006/relationships/tags" Target="../tags/tag117.xml"/><Relationship Id="rId1" Type="http://schemas.openxmlformats.org/officeDocument/2006/relationships/tags" Target="../tags/tag116.xml"/><Relationship Id="rId5" Type="http://schemas.openxmlformats.org/officeDocument/2006/relationships/slideLayout" Target="../slideLayouts/slideLayout2.xml"/><Relationship Id="rId4" Type="http://schemas.openxmlformats.org/officeDocument/2006/relationships/tags" Target="../tags/tag119.xml"/></Relationships>
</file>

<file path=ppt/slides/_rels/slide37.xml.rels><?xml version="1.0" encoding="UTF-8" standalone="yes"?>
<Relationships xmlns="http://schemas.openxmlformats.org/package/2006/relationships"><Relationship Id="rId3" Type="http://schemas.openxmlformats.org/officeDocument/2006/relationships/tags" Target="../tags/tag122.xml"/><Relationship Id="rId2" Type="http://schemas.openxmlformats.org/officeDocument/2006/relationships/tags" Target="../tags/tag121.xml"/><Relationship Id="rId1" Type="http://schemas.openxmlformats.org/officeDocument/2006/relationships/tags" Target="../tags/tag120.xml"/><Relationship Id="rId5" Type="http://schemas.openxmlformats.org/officeDocument/2006/relationships/slideLayout" Target="../slideLayouts/slideLayout2.xml"/><Relationship Id="rId4" Type="http://schemas.openxmlformats.org/officeDocument/2006/relationships/tags" Target="../tags/tag123.xml"/></Relationships>
</file>

<file path=ppt/slides/_rels/slide38.xml.rels><?xml version="1.0" encoding="UTF-8" standalone="yes"?>
<Relationships xmlns="http://schemas.openxmlformats.org/package/2006/relationships"><Relationship Id="rId3" Type="http://schemas.openxmlformats.org/officeDocument/2006/relationships/tags" Target="../tags/tag126.xml"/><Relationship Id="rId7" Type="http://schemas.openxmlformats.org/officeDocument/2006/relationships/image" Target="../media/image7.jpeg"/><Relationship Id="rId2" Type="http://schemas.openxmlformats.org/officeDocument/2006/relationships/tags" Target="../tags/tag125.xml"/><Relationship Id="rId1" Type="http://schemas.openxmlformats.org/officeDocument/2006/relationships/tags" Target="../tags/tag124.xml"/><Relationship Id="rId6" Type="http://schemas.openxmlformats.org/officeDocument/2006/relationships/slideLayout" Target="../slideLayouts/slideLayout2.xml"/><Relationship Id="rId5" Type="http://schemas.openxmlformats.org/officeDocument/2006/relationships/tags" Target="../tags/tag128.xml"/><Relationship Id="rId4" Type="http://schemas.openxmlformats.org/officeDocument/2006/relationships/tags" Target="../tags/tag127.xml"/></Relationships>
</file>

<file path=ppt/slides/_rels/slide39.xml.rels><?xml version="1.0" encoding="UTF-8" standalone="yes"?>
<Relationships xmlns="http://schemas.openxmlformats.org/package/2006/relationships"><Relationship Id="rId3" Type="http://schemas.openxmlformats.org/officeDocument/2006/relationships/tags" Target="../tags/tag131.xml"/><Relationship Id="rId2" Type="http://schemas.openxmlformats.org/officeDocument/2006/relationships/tags" Target="../tags/tag130.xml"/><Relationship Id="rId1" Type="http://schemas.openxmlformats.org/officeDocument/2006/relationships/tags" Target="../tags/tag129.xml"/><Relationship Id="rId5" Type="http://schemas.openxmlformats.org/officeDocument/2006/relationships/slideLayout" Target="../slideLayouts/slideLayout2.xml"/><Relationship Id="rId4" Type="http://schemas.openxmlformats.org/officeDocument/2006/relationships/tags" Target="../tags/tag132.xml"/></Relationships>
</file>

<file path=ppt/slides/_rels/slide40.xml.rels><?xml version="1.0" encoding="UTF-8" standalone="yes"?>
<Relationships xmlns="http://schemas.openxmlformats.org/package/2006/relationships"><Relationship Id="rId3" Type="http://schemas.openxmlformats.org/officeDocument/2006/relationships/tags" Target="../tags/tag135.xml"/><Relationship Id="rId2" Type="http://schemas.openxmlformats.org/officeDocument/2006/relationships/tags" Target="../tags/tag134.xml"/><Relationship Id="rId1" Type="http://schemas.openxmlformats.org/officeDocument/2006/relationships/tags" Target="../tags/tag133.xml"/><Relationship Id="rId5" Type="http://schemas.openxmlformats.org/officeDocument/2006/relationships/slideLayout" Target="../slideLayouts/slideLayout2.xml"/><Relationship Id="rId4" Type="http://schemas.openxmlformats.org/officeDocument/2006/relationships/tags" Target="../tags/tag136.xml"/></Relationships>
</file>

<file path=ppt/slides/_rels/slide41.xml.rels><?xml version="1.0" encoding="UTF-8" standalone="yes"?>
<Relationships xmlns="http://schemas.openxmlformats.org/package/2006/relationships"><Relationship Id="rId3" Type="http://schemas.openxmlformats.org/officeDocument/2006/relationships/tags" Target="../tags/tag139.xml"/><Relationship Id="rId2" Type="http://schemas.openxmlformats.org/officeDocument/2006/relationships/tags" Target="../tags/tag138.xml"/><Relationship Id="rId1" Type="http://schemas.openxmlformats.org/officeDocument/2006/relationships/tags" Target="../tags/tag137.xml"/><Relationship Id="rId5" Type="http://schemas.openxmlformats.org/officeDocument/2006/relationships/slideLayout" Target="../slideLayouts/slideLayout2.xml"/><Relationship Id="rId4" Type="http://schemas.openxmlformats.org/officeDocument/2006/relationships/tags" Target="../tags/tag140.xml"/></Relationships>
</file>

<file path=ppt/slides/_rels/slide42.xml.rels><?xml version="1.0" encoding="UTF-8" standalone="yes"?>
<Relationships xmlns="http://schemas.openxmlformats.org/package/2006/relationships"><Relationship Id="rId3" Type="http://schemas.openxmlformats.org/officeDocument/2006/relationships/tags" Target="../tags/tag143.xml"/><Relationship Id="rId2" Type="http://schemas.openxmlformats.org/officeDocument/2006/relationships/tags" Target="../tags/tag142.xml"/><Relationship Id="rId1" Type="http://schemas.openxmlformats.org/officeDocument/2006/relationships/tags" Target="../tags/tag141.xml"/><Relationship Id="rId5" Type="http://schemas.openxmlformats.org/officeDocument/2006/relationships/slideLayout" Target="../slideLayouts/slideLayout2.xml"/><Relationship Id="rId4" Type="http://schemas.openxmlformats.org/officeDocument/2006/relationships/tags" Target="../tags/tag144.xml"/></Relationships>
</file>

<file path=ppt/slides/_rels/slide43.xml.rels><?xml version="1.0" encoding="UTF-8" standalone="yes"?>
<Relationships xmlns="http://schemas.openxmlformats.org/package/2006/relationships"><Relationship Id="rId3" Type="http://schemas.openxmlformats.org/officeDocument/2006/relationships/tags" Target="../tags/tag147.xml"/><Relationship Id="rId2" Type="http://schemas.openxmlformats.org/officeDocument/2006/relationships/tags" Target="../tags/tag146.xml"/><Relationship Id="rId1" Type="http://schemas.openxmlformats.org/officeDocument/2006/relationships/tags" Target="../tags/tag145.xml"/><Relationship Id="rId5" Type="http://schemas.openxmlformats.org/officeDocument/2006/relationships/slideLayout" Target="../slideLayouts/slideLayout2.xml"/><Relationship Id="rId4" Type="http://schemas.openxmlformats.org/officeDocument/2006/relationships/tags" Target="../tags/tag148.xml"/></Relationships>
</file>

<file path=ppt/slides/_rels/slide44.xml.rels><?xml version="1.0" encoding="UTF-8" standalone="yes"?>
<Relationships xmlns="http://schemas.openxmlformats.org/package/2006/relationships"><Relationship Id="rId3" Type="http://schemas.openxmlformats.org/officeDocument/2006/relationships/tags" Target="../tags/tag151.xml"/><Relationship Id="rId2" Type="http://schemas.openxmlformats.org/officeDocument/2006/relationships/tags" Target="../tags/tag150.xml"/><Relationship Id="rId1" Type="http://schemas.openxmlformats.org/officeDocument/2006/relationships/tags" Target="../tags/tag149.xml"/><Relationship Id="rId5" Type="http://schemas.openxmlformats.org/officeDocument/2006/relationships/slideLayout" Target="../slideLayouts/slideLayout2.xml"/><Relationship Id="rId4" Type="http://schemas.openxmlformats.org/officeDocument/2006/relationships/tags" Target="../tags/tag152.xml"/></Relationships>
</file>

<file path=ppt/slides/_rels/slide45.xml.rels><?xml version="1.0" encoding="UTF-8" standalone="yes"?>
<Relationships xmlns="http://schemas.openxmlformats.org/package/2006/relationships"><Relationship Id="rId3" Type="http://schemas.openxmlformats.org/officeDocument/2006/relationships/tags" Target="../tags/tag155.xml"/><Relationship Id="rId7" Type="http://schemas.openxmlformats.org/officeDocument/2006/relationships/image" Target="../media/image8.png"/><Relationship Id="rId2" Type="http://schemas.openxmlformats.org/officeDocument/2006/relationships/tags" Target="../tags/tag154.xml"/><Relationship Id="rId1" Type="http://schemas.openxmlformats.org/officeDocument/2006/relationships/tags" Target="../tags/tag153.xml"/><Relationship Id="rId6" Type="http://schemas.openxmlformats.org/officeDocument/2006/relationships/slideLayout" Target="../slideLayouts/slideLayout2.xml"/><Relationship Id="rId5" Type="http://schemas.openxmlformats.org/officeDocument/2006/relationships/tags" Target="../tags/tag157.xml"/><Relationship Id="rId4" Type="http://schemas.openxmlformats.org/officeDocument/2006/relationships/tags" Target="../tags/tag156.xml"/></Relationships>
</file>

<file path=ppt/slides/_rels/slide46.xml.rels><?xml version="1.0" encoding="UTF-8" standalone="yes"?>
<Relationships xmlns="http://schemas.openxmlformats.org/package/2006/relationships"><Relationship Id="rId3" Type="http://schemas.openxmlformats.org/officeDocument/2006/relationships/tags" Target="../tags/tag160.xml"/><Relationship Id="rId2" Type="http://schemas.openxmlformats.org/officeDocument/2006/relationships/tags" Target="../tags/tag159.xml"/><Relationship Id="rId1" Type="http://schemas.openxmlformats.org/officeDocument/2006/relationships/tags" Target="../tags/tag158.xml"/><Relationship Id="rId5" Type="http://schemas.openxmlformats.org/officeDocument/2006/relationships/slideLayout" Target="../slideLayouts/slideLayout2.xml"/><Relationship Id="rId4" Type="http://schemas.openxmlformats.org/officeDocument/2006/relationships/tags" Target="../tags/tag161.xml"/></Relationships>
</file>

<file path=ppt/slides/_rels/slide47.xml.rels><?xml version="1.0" encoding="UTF-8" standalone="yes"?>
<Relationships xmlns="http://schemas.openxmlformats.org/package/2006/relationships"><Relationship Id="rId3" Type="http://schemas.openxmlformats.org/officeDocument/2006/relationships/tags" Target="../tags/tag164.xml"/><Relationship Id="rId2" Type="http://schemas.openxmlformats.org/officeDocument/2006/relationships/tags" Target="../tags/tag163.xml"/><Relationship Id="rId1" Type="http://schemas.openxmlformats.org/officeDocument/2006/relationships/tags" Target="../tags/tag162.xml"/><Relationship Id="rId5" Type="http://schemas.openxmlformats.org/officeDocument/2006/relationships/slideLayout" Target="../slideLayouts/slideLayout2.xml"/><Relationship Id="rId4" Type="http://schemas.openxmlformats.org/officeDocument/2006/relationships/tags" Target="../tags/tag165.xml"/></Relationships>
</file>

<file path=ppt/slides/_rels/slide4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2"/>
          <p:cNvSpPr txBox="1"/>
          <p:nvPr>
            <p:custDataLst>
              <p:tags r:id="rId2"/>
            </p:custDataLst>
          </p:nvPr>
        </p:nvSpPr>
        <p:spPr>
          <a:xfrm>
            <a:off x="609600" y="410845"/>
            <a:ext cx="10972800" cy="1326515"/>
          </a:xfrm>
          <a:prstGeom prst="rect">
            <a:avLst/>
          </a:prstGeom>
          <a:solidFill>
            <a:schemeClr val="bg1">
              <a:lumMod val="95000"/>
            </a:schemeClr>
          </a:solidFill>
          <a:effectLst>
            <a:innerShdw blurRad="114300">
              <a:prstClr val="black"/>
            </a:innerShdw>
            <a:softEdge rad="63500"/>
          </a:effectLst>
        </p:spPr>
        <p:txBody>
          <a:bodyPr wrap="square" lIns="63500" tIns="25400" rIns="63500" bIns="25400" rtlCol="0" anchor="t" anchorCtr="0">
            <a:normAutofit fontScale="92500"/>
          </a:bodyPr>
          <a:lstStyle/>
          <a:p>
            <a:pPr indent="0" algn="ctr" fontAlgn="auto">
              <a:lnSpc>
                <a:spcPct val="150000"/>
              </a:lnSpc>
              <a:spcBef>
                <a:spcPts val="0"/>
              </a:spcBef>
              <a:spcAft>
                <a:spcPts val="0"/>
              </a:spcAft>
              <a:buSzPct val="100000"/>
              <a:buNone/>
            </a:pPr>
            <a:r>
              <a:rPr lang="en-US" altLang="zh-CN" sz="3200" b="1" spc="170">
                <a:solidFill>
                  <a:schemeClr val="accent1"/>
                </a:solidFill>
                <a:uFillTx/>
                <a:latin typeface="Times New Roman" panose="02020603050405020304" charset="0"/>
                <a:ea typeface="微软雅黑" panose="020B0503020204020204" charset="-122"/>
                <a:cs typeface="Times New Roman" panose="02020603050405020304" charset="0"/>
                <a:sym typeface="+mn-ea"/>
              </a:rPr>
              <a:t>Writing English Papers</a:t>
            </a:r>
          </a:p>
          <a:p>
            <a:pPr indent="0" algn="ctr" fontAlgn="auto">
              <a:lnSpc>
                <a:spcPct val="150000"/>
              </a:lnSpc>
              <a:spcBef>
                <a:spcPts val="0"/>
              </a:spcBef>
              <a:spcAft>
                <a:spcPts val="0"/>
              </a:spcAft>
              <a:buSzPct val="100000"/>
              <a:buNone/>
            </a:pPr>
            <a:r>
              <a:rPr lang="zh-CN" altLang="zh-CN" sz="3200" b="1" spc="170">
                <a:solidFill>
                  <a:schemeClr val="accent1"/>
                </a:solidFill>
                <a:uFillTx/>
                <a:latin typeface="Times New Roman" panose="02020603050405020304" charset="0"/>
                <a:ea typeface="微软雅黑" panose="020B0503020204020204" charset="-122"/>
                <a:cs typeface="Times New Roman" panose="02020603050405020304" charset="0"/>
                <a:sym typeface="+mn-ea"/>
              </a:rPr>
              <a:t>《学术英语论文写作》</a:t>
            </a:r>
          </a:p>
        </p:txBody>
      </p:sp>
      <p:pic>
        <p:nvPicPr>
          <p:cNvPr id="7" name="图片 3"/>
          <p:cNvPicPr>
            <a:picLocks noChangeAspect="1"/>
          </p:cNvPicPr>
          <p:nvPr>
            <p:custDataLst>
              <p:tags r:id="rId3"/>
            </p:custDataLst>
          </p:nvPr>
        </p:nvPicPr>
        <p:blipFill rotWithShape="1">
          <a:blip r:embed="rId6"/>
          <a:srcRect t="26602" b="26602"/>
          <a:stretch>
            <a:fillRect/>
          </a:stretch>
        </p:blipFill>
        <p:spPr>
          <a:xfrm>
            <a:off x="609562" y="2042160"/>
            <a:ext cx="10972876" cy="2889261"/>
          </a:xfrm>
          <a:custGeom>
            <a:avLst/>
            <a:gdLst/>
            <a:ahLst/>
            <a:cxnLst>
              <a:cxn ang="3">
                <a:pos x="hc" y="t"/>
              </a:cxn>
              <a:cxn ang="cd2">
                <a:pos x="l" y="vc"/>
              </a:cxn>
              <a:cxn ang="cd4">
                <a:pos x="hc" y="b"/>
              </a:cxn>
              <a:cxn ang="0">
                <a:pos x="r" y="vc"/>
              </a:cxn>
            </a:cxnLst>
            <a:rect l="l" t="t" r="r" b="b"/>
            <a:pathLst>
              <a:path w="17280" h="4320">
                <a:moveTo>
                  <a:pt x="0" y="0"/>
                </a:moveTo>
                <a:lnTo>
                  <a:pt x="17280" y="0"/>
                </a:lnTo>
                <a:lnTo>
                  <a:pt x="17280" y="4320"/>
                </a:lnTo>
                <a:lnTo>
                  <a:pt x="0" y="4320"/>
                </a:lnTo>
                <a:lnTo>
                  <a:pt x="0" y="0"/>
                </a:lnTo>
                <a:close/>
              </a:path>
            </a:pathLst>
          </a:custGeom>
          <a:ln>
            <a:solidFill>
              <a:schemeClr val="accent2">
                <a:lumMod val="20000"/>
                <a:lumOff val="80000"/>
              </a:schemeClr>
            </a:solidFill>
          </a:ln>
          <a:effectLst>
            <a:innerShdw blurRad="114300">
              <a:prstClr val="black"/>
            </a:innerShdw>
          </a:effectLst>
        </p:spPr>
      </p:pic>
      <p:sp>
        <p:nvSpPr>
          <p:cNvPr id="11" name="Title 6"/>
          <p:cNvSpPr txBox="1"/>
          <p:nvPr>
            <p:custDataLst>
              <p:tags r:id="rId4"/>
            </p:custDataLst>
          </p:nvPr>
        </p:nvSpPr>
        <p:spPr>
          <a:xfrm>
            <a:off x="609562" y="5236196"/>
            <a:ext cx="10972800" cy="859804"/>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lvl="0" indent="0" algn="ctr" fontAlgn="auto">
              <a:lnSpc>
                <a:spcPct val="100000"/>
              </a:lnSpc>
              <a:spcBef>
                <a:spcPts val="0"/>
              </a:spcBef>
              <a:spcAft>
                <a:spcPts val="800"/>
              </a:spcAft>
              <a:buSzPct val="100000"/>
              <a:buNone/>
            </a:pPr>
            <a:r>
              <a:rPr lang="en-US" altLang="zh-CN" sz="2400" kern="0" spc="0">
                <a:ln w="3175">
                  <a:noFill/>
                  <a:prstDash val="dash"/>
                </a:ln>
                <a:solidFill>
                  <a:schemeClr val="tx1">
                    <a:lumMod val="75000"/>
                    <a:lumOff val="25000"/>
                  </a:schemeClr>
                </a:solidFill>
                <a:uFillTx/>
                <a:latin typeface="Times New Roman" panose="02020603050405020304" charset="0"/>
                <a:ea typeface="宋体" panose="02010600030101010101" pitchFamily="2" charset="-122"/>
                <a:cs typeface="Times New Roman" panose="02020603050405020304" charset="0"/>
                <a:sym typeface="+mn-ea"/>
              </a:rPr>
              <a:t>Lecturer: Liu Xindan</a:t>
            </a: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362585"/>
            <a:ext cx="9144000" cy="817880"/>
          </a:xfrm>
        </p:spPr>
        <p:txBody>
          <a:bodyPr>
            <a:normAutofit/>
          </a:bodyPr>
          <a:lstStyle/>
          <a:p>
            <a:r>
              <a:rPr lang="en-US" altLang="zh-CN" sz="4445" b="1">
                <a:latin typeface="Times New Roman" panose="02020603050405020304" charset="0"/>
                <a:cs typeface="Times New Roman" panose="02020603050405020304" charset="0"/>
              </a:rPr>
              <a:t>Chapter 6 </a:t>
            </a:r>
            <a:r>
              <a:rPr lang="zh-CN" altLang="en-US" sz="4445" b="1">
                <a:latin typeface="Times New Roman" panose="02020603050405020304" charset="0"/>
                <a:cs typeface="Times New Roman" panose="02020603050405020304" charset="0"/>
              </a:rPr>
              <a:t>Writing the First Draft</a:t>
            </a:r>
          </a:p>
        </p:txBody>
      </p:sp>
      <p:sp>
        <p:nvSpPr>
          <p:cNvPr id="3" name="副标题 2"/>
          <p:cNvSpPr>
            <a:spLocks noGrp="1"/>
          </p:cNvSpPr>
          <p:nvPr>
            <p:ph type="subTitle" idx="1"/>
          </p:nvPr>
        </p:nvSpPr>
        <p:spPr/>
        <p:txBody>
          <a:bodyPr/>
          <a:lstStyle/>
          <a:p>
            <a:endParaRPr lang="zh-CN" altLang="en-US"/>
          </a:p>
        </p:txBody>
      </p:sp>
      <p:pic>
        <p:nvPicPr>
          <p:cNvPr id="100" name="图片 99"/>
          <p:cNvPicPr/>
          <p:nvPr/>
        </p:nvPicPr>
        <p:blipFill>
          <a:blip r:embed="rId2"/>
          <a:stretch>
            <a:fillRect/>
          </a:stretch>
        </p:blipFill>
        <p:spPr>
          <a:xfrm>
            <a:off x="608330" y="1723390"/>
            <a:ext cx="10975340" cy="3810000"/>
          </a:xfrm>
          <a:prstGeom prst="rect">
            <a:avLst/>
          </a:prstGeom>
          <a:noFill/>
          <a:ln w="9525">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zh-CN" altLang="en-US" sz="2800" b="1" i="1">
                <a:latin typeface="Times New Roman" panose="02020603050405020304" charset="0"/>
                <a:cs typeface="Times New Roman" panose="02020603050405020304" charset="0"/>
                <a:sym typeface="+mn-ea"/>
              </a:rPr>
              <a:t>Writing the First Draft</a:t>
            </a:r>
            <a:endParaRPr lang="en-US" altLang="zh-CN" sz="2800" b="1" i="1">
              <a:solidFill>
                <a:schemeClr val="tx1"/>
              </a:solidFill>
              <a:latin typeface="Times New Roman" panose="02020603050405020304" charset="0"/>
              <a:cs typeface="Times New Roman" panose="02020603050405020304" charset="0"/>
              <a:sym typeface="+mn-ea"/>
            </a:endParaRPr>
          </a:p>
        </p:txBody>
      </p:sp>
      <p:sp>
        <p:nvSpPr>
          <p:cNvPr id="3" name="内容占位符 2"/>
          <p:cNvSpPr>
            <a:spLocks noGrp="1"/>
          </p:cNvSpPr>
          <p:nvPr>
            <p:ph idx="1"/>
          </p:nvPr>
        </p:nvSpPr>
        <p:spPr>
          <a:xfrm>
            <a:off x="838200" y="1557020"/>
            <a:ext cx="10947400" cy="4850765"/>
          </a:xfrm>
          <a:ln w="28575">
            <a:solidFill>
              <a:schemeClr val="accent2">
                <a:lumMod val="75000"/>
              </a:schemeClr>
            </a:solidFill>
          </a:ln>
        </p:spPr>
        <p:txBody>
          <a:bodyPr>
            <a:normAutofit/>
          </a:bodyPr>
          <a:lstStyle/>
          <a:p>
            <a:pPr marL="0" indent="0" fontAlgn="auto">
              <a:lnSpc>
                <a:spcPct val="150000"/>
              </a:lnSpc>
              <a:buNone/>
            </a:pPr>
            <a:endParaRPr lang="en-US" b="1">
              <a:solidFill>
                <a:srgbClr val="C00000"/>
              </a:solidFill>
              <a:latin typeface="Times New Roman" panose="02020603050405020304" charset="0"/>
              <a:cs typeface="Times New Roman" panose="02020603050405020304" charset="0"/>
            </a:endParaRPr>
          </a:p>
          <a:p>
            <a:pPr marL="0" indent="0" fontAlgn="auto">
              <a:lnSpc>
                <a:spcPct val="150000"/>
              </a:lnSpc>
              <a:buNone/>
            </a:pPr>
            <a:endParaRPr lang="en-US" b="1">
              <a:solidFill>
                <a:srgbClr val="C00000"/>
              </a:solidFill>
              <a:latin typeface="Times New Roman" panose="02020603050405020304" charset="0"/>
              <a:cs typeface="Times New Roman" panose="02020603050405020304" charset="0"/>
            </a:endParaRPr>
          </a:p>
          <a:p>
            <a:pPr marL="0" indent="0" algn="ctr" eaLnBrk="1" hangingPunct="1">
              <a:buClrTx/>
              <a:buSzTx/>
              <a:buFontTx/>
              <a:buNone/>
            </a:pPr>
            <a:r>
              <a:rPr lang="en-US" altLang="zh-CN" sz="3600">
                <a:latin typeface="Times New Roman" panose="02020603050405020304" charset="0"/>
                <a:cs typeface="Times New Roman" panose="02020603050405020304" charset="0"/>
                <a:sym typeface="+mn-ea"/>
              </a:rPr>
              <a:t>How to transform the notes into a rough draft?</a:t>
            </a:r>
            <a:endParaRPr lang="en-US" sz="3600" i="1">
              <a:solidFill>
                <a:schemeClr val="tx1"/>
              </a:solidFill>
              <a:latin typeface="Times New Roman" panose="02020603050405020304" charset="0"/>
              <a:cs typeface="Times New Roman" panose="02020603050405020304" charset="0"/>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6</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8" name="文本框 7"/>
          <p:cNvSpPr txBox="1"/>
          <p:nvPr/>
        </p:nvSpPr>
        <p:spPr>
          <a:xfrm>
            <a:off x="3785235" y="552450"/>
            <a:ext cx="4064000" cy="368300"/>
          </a:xfrm>
          <a:prstGeom prst="rect">
            <a:avLst/>
          </a:prstGeom>
          <a:noFill/>
        </p:spPr>
        <p:txBody>
          <a:bodyPr wrap="square" rtlCol="0">
            <a:spAutoFit/>
          </a:bodyPr>
          <a:lstStyle/>
          <a:p>
            <a:endParaRPr lang="zh-CN" alt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zh-CN" altLang="en-US" sz="2800" b="1" i="1">
                <a:latin typeface="Times New Roman" panose="02020603050405020304" charset="0"/>
                <a:cs typeface="Times New Roman" panose="02020603050405020304" charset="0"/>
                <a:sym typeface="+mn-ea"/>
              </a:rPr>
              <a:t>Writing the First Draft</a:t>
            </a:r>
            <a:endParaRPr lang="en-US" altLang="zh-CN" sz="2800" b="1" i="1">
              <a:solidFill>
                <a:schemeClr val="tx1"/>
              </a:solidFill>
              <a:latin typeface="Times New Roman" panose="02020603050405020304" charset="0"/>
              <a:cs typeface="Times New Roman" panose="02020603050405020304" charset="0"/>
              <a:sym typeface="+mn-ea"/>
            </a:endParaRPr>
          </a:p>
        </p:txBody>
      </p:sp>
      <p:sp>
        <p:nvSpPr>
          <p:cNvPr id="3" name="内容占位符 2"/>
          <p:cNvSpPr>
            <a:spLocks noGrp="1"/>
          </p:cNvSpPr>
          <p:nvPr>
            <p:ph idx="1"/>
          </p:nvPr>
        </p:nvSpPr>
        <p:spPr>
          <a:xfrm>
            <a:off x="838200" y="1557020"/>
            <a:ext cx="10938510" cy="4850765"/>
          </a:xfrm>
          <a:ln w="28575">
            <a:solidFill>
              <a:schemeClr val="accent2">
                <a:lumMod val="75000"/>
              </a:schemeClr>
            </a:solidFill>
          </a:ln>
        </p:spPr>
        <p:txBody>
          <a:bodyPr>
            <a:normAutofit fontScale="92500" lnSpcReduction="10000"/>
          </a:bodyPr>
          <a:lstStyle/>
          <a:p>
            <a:pPr marL="0" indent="0" fontAlgn="auto">
              <a:lnSpc>
                <a:spcPct val="150000"/>
              </a:lnSpc>
              <a:buNone/>
            </a:pPr>
            <a:r>
              <a:rPr lang="en-US" altLang="zh-CN" b="1" dirty="0">
                <a:solidFill>
                  <a:schemeClr val="accent2">
                    <a:lumMod val="75000"/>
                  </a:schemeClr>
                </a:solidFill>
                <a:latin typeface="Times New Roman" panose="02020603050405020304" charset="0"/>
                <a:cs typeface="Times New Roman" panose="02020603050405020304" charset="0"/>
                <a:sym typeface="+mn-ea"/>
              </a:rPr>
              <a:t>Note one</a:t>
            </a:r>
            <a:endParaRPr lang="en-US" altLang="zh-CN" b="1" dirty="0">
              <a:solidFill>
                <a:schemeClr val="accent2">
                  <a:lumMod val="75000"/>
                </a:schemeClr>
              </a:solidFill>
              <a:latin typeface="Times New Roman" panose="02020603050405020304" charset="0"/>
              <a:cs typeface="Times New Roman" panose="02020603050405020304" charset="0"/>
            </a:endParaRPr>
          </a:p>
          <a:p>
            <a:pPr fontAlgn="auto">
              <a:lnSpc>
                <a:spcPct val="150000"/>
              </a:lnSpc>
              <a:buNone/>
            </a:pPr>
            <a:r>
              <a:rPr lang="en-US" altLang="zh-CN" dirty="0">
                <a:latin typeface="Times New Roman" panose="02020603050405020304" charset="0"/>
                <a:cs typeface="Times New Roman" panose="02020603050405020304" charset="0"/>
                <a:sym typeface="+mn-ea"/>
              </a:rPr>
              <a:t>    preparing to write with a checklist</a:t>
            </a:r>
            <a:endParaRPr lang="en-US" altLang="zh-CN" dirty="0">
              <a:latin typeface="Times New Roman" panose="02020603050405020304" charset="0"/>
              <a:cs typeface="Times New Roman" panose="02020603050405020304" charset="0"/>
            </a:endParaRPr>
          </a:p>
          <a:p>
            <a:pPr fontAlgn="auto">
              <a:lnSpc>
                <a:spcPct val="150000"/>
              </a:lnSpc>
              <a:buNone/>
            </a:pPr>
            <a:r>
              <a:rPr lang="en-US" altLang="zh-CN" dirty="0">
                <a:latin typeface="Times New Roman" panose="02020603050405020304" charset="0"/>
                <a:cs typeface="Times New Roman" panose="02020603050405020304" charset="0"/>
                <a:sym typeface="+mn-ea"/>
              </a:rPr>
              <a:t>    1. Formulate a thesis.</a:t>
            </a:r>
            <a:endParaRPr lang="en-US" altLang="zh-CN" dirty="0">
              <a:latin typeface="Times New Roman" panose="02020603050405020304" charset="0"/>
              <a:cs typeface="Times New Roman" panose="02020603050405020304" charset="0"/>
            </a:endParaRPr>
          </a:p>
          <a:p>
            <a:pPr fontAlgn="auto">
              <a:lnSpc>
                <a:spcPct val="150000"/>
              </a:lnSpc>
              <a:buNone/>
            </a:pPr>
            <a:r>
              <a:rPr lang="en-US" altLang="zh-CN" dirty="0">
                <a:latin typeface="Times New Roman" panose="02020603050405020304" charset="0"/>
                <a:cs typeface="Times New Roman" panose="02020603050405020304" charset="0"/>
                <a:sym typeface="+mn-ea"/>
              </a:rPr>
              <a:t>    2. Go over your notes, picking out only material relevant to your thesis.</a:t>
            </a:r>
            <a:endParaRPr lang="en-US" altLang="zh-CN" dirty="0">
              <a:latin typeface="Times New Roman" panose="02020603050405020304" charset="0"/>
              <a:cs typeface="Times New Roman" panose="02020603050405020304" charset="0"/>
            </a:endParaRPr>
          </a:p>
          <a:p>
            <a:pPr fontAlgn="auto">
              <a:lnSpc>
                <a:spcPct val="150000"/>
              </a:lnSpc>
              <a:buNone/>
            </a:pPr>
            <a:r>
              <a:rPr lang="en-US" altLang="zh-CN" dirty="0">
                <a:latin typeface="Times New Roman" panose="02020603050405020304" charset="0"/>
                <a:cs typeface="Times New Roman" panose="02020603050405020304" charset="0"/>
                <a:sym typeface="+mn-ea"/>
              </a:rPr>
              <a:t>    3. Organize your notes in the order of their appearance in the paper.</a:t>
            </a:r>
            <a:endParaRPr lang="en-US" altLang="zh-CN" dirty="0">
              <a:latin typeface="Times New Roman" panose="02020603050405020304" charset="0"/>
              <a:cs typeface="Times New Roman" panose="02020603050405020304" charset="0"/>
            </a:endParaRPr>
          </a:p>
          <a:p>
            <a:pPr fontAlgn="auto">
              <a:lnSpc>
                <a:spcPct val="150000"/>
              </a:lnSpc>
              <a:buNone/>
            </a:pPr>
            <a:r>
              <a:rPr lang="en-US" altLang="zh-CN" dirty="0">
                <a:latin typeface="Times New Roman" panose="02020603050405020304" charset="0"/>
                <a:cs typeface="Times New Roman" panose="02020603050405020304" charset="0"/>
                <a:sym typeface="+mn-ea"/>
              </a:rPr>
              <a:t>    4. Write an outline, breaking down the thesis into an ordered list of </a:t>
            </a:r>
          </a:p>
          <a:p>
            <a:pPr fontAlgn="auto">
              <a:lnSpc>
                <a:spcPct val="150000"/>
              </a:lnSpc>
              <a:buNone/>
            </a:pPr>
            <a:r>
              <a:rPr lang="en-US" altLang="zh-CN" dirty="0">
                <a:latin typeface="Times New Roman" panose="02020603050405020304" charset="0"/>
                <a:cs typeface="Times New Roman" panose="02020603050405020304" charset="0"/>
                <a:sym typeface="+mn-ea"/>
              </a:rPr>
              <a:t>        topics.</a:t>
            </a:r>
            <a:endParaRPr lang="en-US" i="1" dirty="0">
              <a:solidFill>
                <a:schemeClr val="tx1"/>
              </a:solidFill>
              <a:latin typeface="Times New Roman" panose="02020603050405020304" charset="0"/>
              <a:cs typeface="Times New Roman" panose="02020603050405020304" charset="0"/>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6</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8" name="文本框 7"/>
          <p:cNvSpPr txBox="1"/>
          <p:nvPr/>
        </p:nvSpPr>
        <p:spPr>
          <a:xfrm>
            <a:off x="3785235" y="552450"/>
            <a:ext cx="4064000" cy="368300"/>
          </a:xfrm>
          <a:prstGeom prst="rect">
            <a:avLst/>
          </a:prstGeom>
          <a:noFill/>
        </p:spPr>
        <p:txBody>
          <a:bodyPr wrap="square" rtlCol="0">
            <a:spAutoFit/>
          </a:bodyPr>
          <a:lstStyle/>
          <a:p>
            <a:endParaRPr lang="zh-CN" alt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zh-CN" altLang="en-US" sz="2800" b="1" i="1">
                <a:latin typeface="Times New Roman" panose="02020603050405020304" charset="0"/>
                <a:cs typeface="Times New Roman" panose="02020603050405020304" charset="0"/>
                <a:sym typeface="+mn-ea"/>
              </a:rPr>
              <a:t>Writing the First Draft</a:t>
            </a:r>
            <a:endParaRPr lang="en-US" altLang="zh-CN" sz="2800" b="1" i="1">
              <a:solidFill>
                <a:schemeClr val="tx1"/>
              </a:solidFill>
              <a:latin typeface="Times New Roman" panose="02020603050405020304" charset="0"/>
              <a:cs typeface="Times New Roman" panose="02020603050405020304" charset="0"/>
              <a:sym typeface="+mn-ea"/>
            </a:endParaRPr>
          </a:p>
        </p:txBody>
      </p:sp>
      <p:sp>
        <p:nvSpPr>
          <p:cNvPr id="3" name="内容占位符 2"/>
          <p:cNvSpPr>
            <a:spLocks noGrp="1"/>
          </p:cNvSpPr>
          <p:nvPr>
            <p:ph idx="1"/>
          </p:nvPr>
        </p:nvSpPr>
        <p:spPr>
          <a:xfrm>
            <a:off x="838200" y="1557020"/>
            <a:ext cx="10938510" cy="4850765"/>
          </a:xfrm>
          <a:ln w="28575">
            <a:solidFill>
              <a:schemeClr val="accent2">
                <a:lumMod val="75000"/>
              </a:schemeClr>
            </a:solidFill>
          </a:ln>
        </p:spPr>
        <p:txBody>
          <a:bodyPr>
            <a:normAutofit fontScale="92500"/>
          </a:bodyPr>
          <a:lstStyle/>
          <a:p>
            <a:pPr marL="0" indent="0" fontAlgn="auto">
              <a:lnSpc>
                <a:spcPct val="150000"/>
              </a:lnSpc>
              <a:buNone/>
            </a:pPr>
            <a:r>
              <a:rPr lang="en-US" altLang="zh-CN" b="1" dirty="0">
                <a:solidFill>
                  <a:schemeClr val="accent2">
                    <a:lumMod val="75000"/>
                  </a:schemeClr>
                </a:solidFill>
                <a:latin typeface="Times New Roman" panose="02020603050405020304" charset="0"/>
                <a:cs typeface="Times New Roman" panose="02020603050405020304" charset="0"/>
                <a:sym typeface="+mn-ea"/>
              </a:rPr>
              <a:t>Note two</a:t>
            </a:r>
            <a:endParaRPr lang="en-US" altLang="zh-CN" b="1" dirty="0">
              <a:solidFill>
                <a:schemeClr val="accent2">
                  <a:lumMod val="75000"/>
                </a:schemeClr>
              </a:solidFill>
              <a:latin typeface="Times New Roman" panose="02020603050405020304" charset="0"/>
              <a:cs typeface="Times New Roman" panose="02020603050405020304" charset="0"/>
            </a:endParaRPr>
          </a:p>
          <a:p>
            <a:pPr fontAlgn="auto">
              <a:lnSpc>
                <a:spcPct val="150000"/>
              </a:lnSpc>
              <a:buNone/>
            </a:pPr>
            <a:r>
              <a:rPr lang="en-US" altLang="zh-CN" dirty="0">
                <a:latin typeface="Times New Roman" panose="02020603050405020304" charset="0"/>
                <a:cs typeface="Times New Roman" panose="02020603050405020304" charset="0"/>
                <a:sym typeface="+mn-ea"/>
              </a:rPr>
              <a:t>   writer’s block</a:t>
            </a:r>
            <a:endParaRPr lang="en-US" altLang="zh-CN" dirty="0">
              <a:latin typeface="Times New Roman" panose="02020603050405020304" charset="0"/>
              <a:cs typeface="Times New Roman" panose="02020603050405020304" charset="0"/>
            </a:endParaRPr>
          </a:p>
          <a:p>
            <a:pPr fontAlgn="auto">
              <a:lnSpc>
                <a:spcPct val="150000"/>
              </a:lnSpc>
              <a:buNone/>
            </a:pPr>
            <a:r>
              <a:rPr lang="en-US" altLang="zh-CN" dirty="0">
                <a:latin typeface="Times New Roman" panose="02020603050405020304" charset="0"/>
                <a:cs typeface="Times New Roman" panose="02020603050405020304" charset="0"/>
                <a:sym typeface="+mn-ea"/>
              </a:rPr>
              <a:t>    a. Being blocked is a condition suffered mainly by writers who have no</a:t>
            </a:r>
          </a:p>
          <a:p>
            <a:pPr fontAlgn="auto">
              <a:lnSpc>
                <a:spcPct val="150000"/>
              </a:lnSpc>
              <a:buNone/>
            </a:pPr>
            <a:r>
              <a:rPr lang="en-US" altLang="zh-CN" dirty="0">
                <a:latin typeface="Times New Roman" panose="02020603050405020304" charset="0"/>
                <a:cs typeface="Times New Roman" panose="02020603050405020304" charset="0"/>
                <a:sym typeface="+mn-ea"/>
              </a:rPr>
              <a:t>        love for their topic.</a:t>
            </a:r>
            <a:endParaRPr lang="en-US" altLang="zh-CN" dirty="0">
              <a:latin typeface="Times New Roman" panose="02020603050405020304" charset="0"/>
              <a:cs typeface="Times New Roman" panose="02020603050405020304" charset="0"/>
            </a:endParaRPr>
          </a:p>
          <a:p>
            <a:pPr fontAlgn="auto">
              <a:lnSpc>
                <a:spcPct val="150000"/>
              </a:lnSpc>
              <a:buNone/>
            </a:pPr>
            <a:r>
              <a:rPr lang="en-US" altLang="zh-CN" dirty="0">
                <a:latin typeface="Times New Roman" panose="02020603050405020304" charset="0"/>
                <a:cs typeface="Times New Roman" panose="02020603050405020304" charset="0"/>
                <a:sym typeface="+mn-ea"/>
              </a:rPr>
              <a:t>    b. Lower your standards enough to get something rough down on paper.    </a:t>
            </a:r>
          </a:p>
          <a:p>
            <a:pPr fontAlgn="auto">
              <a:lnSpc>
                <a:spcPct val="150000"/>
              </a:lnSpc>
              <a:buNone/>
            </a:pPr>
            <a:r>
              <a:rPr lang="en-US" altLang="zh-CN" dirty="0">
                <a:latin typeface="Times New Roman" panose="02020603050405020304" charset="0"/>
                <a:cs typeface="Times New Roman" panose="02020603050405020304" charset="0"/>
                <a:sym typeface="+mn-ea"/>
              </a:rPr>
              <a:t>       Once you have that rough draft, you can always refine it through  </a:t>
            </a:r>
          </a:p>
          <a:p>
            <a:pPr fontAlgn="auto">
              <a:lnSpc>
                <a:spcPct val="150000"/>
              </a:lnSpc>
              <a:buNone/>
            </a:pPr>
            <a:r>
              <a:rPr lang="en-US" altLang="zh-CN" dirty="0">
                <a:latin typeface="Times New Roman" panose="02020603050405020304" charset="0"/>
                <a:cs typeface="Times New Roman" panose="02020603050405020304" charset="0"/>
                <a:sym typeface="+mn-ea"/>
              </a:rPr>
              <a:t>       editing.</a:t>
            </a:r>
            <a:endParaRPr lang="en-US" i="1" dirty="0">
              <a:solidFill>
                <a:schemeClr val="tx1"/>
              </a:solidFill>
              <a:latin typeface="Times New Roman" panose="02020603050405020304" charset="0"/>
              <a:cs typeface="Times New Roman" panose="02020603050405020304" charset="0"/>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6</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11" name="矩形 10"/>
          <p:cNvSpPr/>
          <p:nvPr>
            <p:custDataLst>
              <p:tags r:id="rId4"/>
            </p:custDataLst>
          </p:nvPr>
        </p:nvSpPr>
        <p:spPr>
          <a:xfrm>
            <a:off x="8723630" y="626110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Chapter 6 Plagiarism</a:t>
            </a:r>
          </a:p>
        </p:txBody>
      </p:sp>
      <p:sp>
        <p:nvSpPr>
          <p:cNvPr id="8" name="文本框 7"/>
          <p:cNvSpPr txBox="1"/>
          <p:nvPr/>
        </p:nvSpPr>
        <p:spPr>
          <a:xfrm>
            <a:off x="3785235" y="552450"/>
            <a:ext cx="4064000" cy="368300"/>
          </a:xfrm>
          <a:prstGeom prst="rect">
            <a:avLst/>
          </a:prstGeom>
          <a:noFill/>
        </p:spPr>
        <p:txBody>
          <a:bodyPr wrap="square" rtlCol="0">
            <a:spAutoFit/>
          </a:bodyPr>
          <a:lstStyle/>
          <a:p>
            <a:endParaRPr lang="zh-CN" alt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zh-CN" altLang="en-US" sz="2800" b="1" i="1">
                <a:latin typeface="Times New Roman" panose="02020603050405020304" charset="0"/>
                <a:cs typeface="Times New Roman" panose="02020603050405020304" charset="0"/>
                <a:sym typeface="+mn-ea"/>
              </a:rPr>
              <a:t>Writing the First Draft</a:t>
            </a:r>
            <a:endParaRPr lang="en-US" altLang="zh-CN" sz="2800" b="1" i="1">
              <a:solidFill>
                <a:schemeClr val="tx1"/>
              </a:solidFill>
              <a:latin typeface="Times New Roman" panose="02020603050405020304" charset="0"/>
              <a:cs typeface="Times New Roman" panose="02020603050405020304" charset="0"/>
              <a:sym typeface="+mn-ea"/>
            </a:endParaRPr>
          </a:p>
        </p:txBody>
      </p:sp>
      <p:sp>
        <p:nvSpPr>
          <p:cNvPr id="3" name="内容占位符 2"/>
          <p:cNvSpPr>
            <a:spLocks noGrp="1"/>
          </p:cNvSpPr>
          <p:nvPr>
            <p:ph idx="1"/>
          </p:nvPr>
        </p:nvSpPr>
        <p:spPr>
          <a:xfrm>
            <a:off x="838200" y="1557020"/>
            <a:ext cx="10938510" cy="4850765"/>
          </a:xfrm>
          <a:ln w="28575">
            <a:solidFill>
              <a:schemeClr val="accent2">
                <a:lumMod val="75000"/>
              </a:schemeClr>
            </a:solidFill>
          </a:ln>
        </p:spPr>
        <p:txBody>
          <a:bodyPr>
            <a:normAutofit lnSpcReduction="10000"/>
          </a:bodyPr>
          <a:lstStyle/>
          <a:p>
            <a:pPr marL="0" indent="0" fontAlgn="auto">
              <a:lnSpc>
                <a:spcPct val="200000"/>
              </a:lnSpc>
              <a:spcBef>
                <a:spcPts val="0"/>
              </a:spcBef>
              <a:buNone/>
            </a:pPr>
            <a:r>
              <a:rPr lang="en-US" altLang="zh-CN" b="1" dirty="0">
                <a:solidFill>
                  <a:schemeClr val="accent2">
                    <a:lumMod val="75000"/>
                  </a:schemeClr>
                </a:solidFill>
                <a:latin typeface="Times New Roman" panose="02020603050405020304" charset="0"/>
                <a:cs typeface="Times New Roman" panose="02020603050405020304" charset="0"/>
                <a:sym typeface="+mn-ea"/>
              </a:rPr>
              <a:t>Note three</a:t>
            </a:r>
            <a:endParaRPr lang="en-US" altLang="zh-CN" b="1" dirty="0">
              <a:solidFill>
                <a:schemeClr val="accent2">
                  <a:lumMod val="75000"/>
                </a:schemeClr>
              </a:solidFill>
              <a:latin typeface="Times New Roman" panose="02020603050405020304" charset="0"/>
              <a:cs typeface="Times New Roman" panose="02020603050405020304" charset="0"/>
            </a:endParaRPr>
          </a:p>
          <a:p>
            <a:pPr fontAlgn="auto">
              <a:lnSpc>
                <a:spcPct val="200000"/>
              </a:lnSpc>
              <a:spcBef>
                <a:spcPts val="0"/>
              </a:spcBef>
              <a:buNone/>
            </a:pPr>
            <a:r>
              <a:rPr lang="en-US" altLang="zh-CN" dirty="0">
                <a:latin typeface="Times New Roman" panose="02020603050405020304" charset="0"/>
                <a:cs typeface="Times New Roman" panose="02020603050405020304" charset="0"/>
                <a:sym typeface="+mn-ea"/>
              </a:rPr>
              <a:t>   write with your computer</a:t>
            </a:r>
            <a:endParaRPr lang="en-US" altLang="zh-CN" dirty="0">
              <a:latin typeface="Times New Roman" panose="02020603050405020304" charset="0"/>
              <a:cs typeface="Times New Roman" panose="02020603050405020304" charset="0"/>
            </a:endParaRPr>
          </a:p>
          <a:p>
            <a:pPr fontAlgn="auto">
              <a:lnSpc>
                <a:spcPct val="200000"/>
              </a:lnSpc>
              <a:spcBef>
                <a:spcPts val="0"/>
              </a:spcBef>
              <a:buNone/>
            </a:pPr>
            <a:r>
              <a:rPr lang="en-US" altLang="zh-CN" dirty="0">
                <a:latin typeface="Times New Roman" panose="02020603050405020304" charset="0"/>
                <a:cs typeface="Times New Roman" panose="02020603050405020304" charset="0"/>
                <a:sym typeface="+mn-ea"/>
              </a:rPr>
              <a:t>   a. save the earlier draft just in case it turns out to be better than the latter  </a:t>
            </a:r>
          </a:p>
          <a:p>
            <a:pPr fontAlgn="auto">
              <a:lnSpc>
                <a:spcPct val="200000"/>
              </a:lnSpc>
              <a:spcBef>
                <a:spcPts val="0"/>
              </a:spcBef>
              <a:buNone/>
            </a:pPr>
            <a:r>
              <a:rPr lang="en-US" altLang="zh-CN" dirty="0">
                <a:latin typeface="Times New Roman" panose="02020603050405020304" charset="0"/>
                <a:cs typeface="Times New Roman" panose="02020603050405020304" charset="0"/>
                <a:sym typeface="+mn-ea"/>
              </a:rPr>
              <a:t>      one.</a:t>
            </a:r>
            <a:endParaRPr lang="en-US" altLang="zh-CN" dirty="0">
              <a:latin typeface="Times New Roman" panose="02020603050405020304" charset="0"/>
              <a:cs typeface="Times New Roman" panose="02020603050405020304" charset="0"/>
            </a:endParaRPr>
          </a:p>
          <a:p>
            <a:pPr fontAlgn="auto">
              <a:lnSpc>
                <a:spcPct val="200000"/>
              </a:lnSpc>
              <a:spcBef>
                <a:spcPts val="0"/>
              </a:spcBef>
              <a:buNone/>
            </a:pPr>
            <a:r>
              <a:rPr lang="en-US" altLang="zh-CN" dirty="0">
                <a:latin typeface="Times New Roman" panose="02020603050405020304" charset="0"/>
                <a:cs typeface="Times New Roman" panose="02020603050405020304" charset="0"/>
                <a:sym typeface="+mn-ea"/>
              </a:rPr>
              <a:t>   b. spell-checker can not tell you whether or not you have used a word </a:t>
            </a:r>
          </a:p>
          <a:p>
            <a:pPr fontAlgn="auto">
              <a:lnSpc>
                <a:spcPct val="200000"/>
              </a:lnSpc>
              <a:spcBef>
                <a:spcPts val="0"/>
              </a:spcBef>
              <a:buNone/>
            </a:pPr>
            <a:r>
              <a:rPr lang="en-US" altLang="zh-CN" dirty="0">
                <a:latin typeface="Times New Roman" panose="02020603050405020304" charset="0"/>
                <a:cs typeface="Times New Roman" panose="02020603050405020304" charset="0"/>
                <a:sym typeface="+mn-ea"/>
              </a:rPr>
              <a:t>     correctly.</a:t>
            </a:r>
            <a:endParaRPr lang="en-US" i="1" dirty="0">
              <a:solidFill>
                <a:schemeClr val="tx1"/>
              </a:solidFill>
              <a:latin typeface="Times New Roman" panose="02020603050405020304" charset="0"/>
              <a:cs typeface="Times New Roman" panose="02020603050405020304" charset="0"/>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6</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11" name="矩形 10"/>
          <p:cNvSpPr/>
          <p:nvPr>
            <p:custDataLst>
              <p:tags r:id="rId4"/>
            </p:custDataLst>
          </p:nvPr>
        </p:nvSpPr>
        <p:spPr>
          <a:xfrm>
            <a:off x="8723630" y="626110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Chapter 6 Plagiarism</a:t>
            </a:r>
          </a:p>
        </p:txBody>
      </p:sp>
      <p:sp>
        <p:nvSpPr>
          <p:cNvPr id="8" name="文本框 7"/>
          <p:cNvSpPr txBox="1"/>
          <p:nvPr/>
        </p:nvSpPr>
        <p:spPr>
          <a:xfrm>
            <a:off x="3785235" y="552450"/>
            <a:ext cx="4064000" cy="368300"/>
          </a:xfrm>
          <a:prstGeom prst="rect">
            <a:avLst/>
          </a:prstGeom>
          <a:noFill/>
        </p:spPr>
        <p:txBody>
          <a:bodyPr wrap="square" rtlCol="0">
            <a:spAutoFit/>
          </a:bodyPr>
          <a:lstStyle/>
          <a:p>
            <a:endParaRPr lang="zh-CN" alt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zh-CN" altLang="en-US" sz="2800" b="1" i="1">
                <a:latin typeface="Times New Roman" panose="02020603050405020304" charset="0"/>
                <a:cs typeface="Times New Roman" panose="02020603050405020304" charset="0"/>
                <a:sym typeface="+mn-ea"/>
              </a:rPr>
              <a:t>Writing the First Draft</a:t>
            </a:r>
            <a:endParaRPr lang="en-US" altLang="zh-CN" sz="2800" b="1" i="1">
              <a:solidFill>
                <a:schemeClr val="tx1"/>
              </a:solidFill>
              <a:latin typeface="Times New Roman" panose="02020603050405020304" charset="0"/>
              <a:cs typeface="Times New Roman" panose="02020603050405020304" charset="0"/>
              <a:sym typeface="+mn-ea"/>
            </a:endParaRPr>
          </a:p>
        </p:txBody>
      </p:sp>
      <p:sp>
        <p:nvSpPr>
          <p:cNvPr id="3" name="内容占位符 2"/>
          <p:cNvSpPr>
            <a:spLocks noGrp="1"/>
          </p:cNvSpPr>
          <p:nvPr>
            <p:ph idx="1"/>
          </p:nvPr>
        </p:nvSpPr>
        <p:spPr>
          <a:xfrm>
            <a:off x="838200" y="1354455"/>
            <a:ext cx="10938510" cy="5053330"/>
          </a:xfrm>
          <a:ln w="28575">
            <a:solidFill>
              <a:schemeClr val="accent2">
                <a:lumMod val="75000"/>
              </a:schemeClr>
            </a:solidFill>
          </a:ln>
        </p:spPr>
        <p:txBody>
          <a:bodyPr>
            <a:normAutofit/>
          </a:bodyPr>
          <a:lstStyle/>
          <a:p>
            <a:pPr marL="0" indent="0" fontAlgn="auto">
              <a:lnSpc>
                <a:spcPct val="200000"/>
              </a:lnSpc>
              <a:spcBef>
                <a:spcPts val="0"/>
              </a:spcBef>
              <a:buNone/>
            </a:pPr>
            <a:r>
              <a:rPr lang="en-US" altLang="zh-CN" b="1" dirty="0">
                <a:solidFill>
                  <a:schemeClr val="accent2">
                    <a:lumMod val="75000"/>
                  </a:schemeClr>
                </a:solidFill>
                <a:latin typeface="Times New Roman" panose="02020603050405020304" charset="0"/>
                <a:cs typeface="Times New Roman" panose="02020603050405020304" charset="0"/>
                <a:sym typeface="+mn-ea"/>
              </a:rPr>
              <a:t>Note four</a:t>
            </a:r>
            <a:endParaRPr lang="en-US" altLang="zh-CN" b="1" dirty="0">
              <a:solidFill>
                <a:schemeClr val="accent2">
                  <a:lumMod val="75000"/>
                </a:schemeClr>
              </a:solidFill>
              <a:latin typeface="Times New Roman" panose="02020603050405020304" charset="0"/>
              <a:cs typeface="Times New Roman" panose="02020603050405020304" charset="0"/>
            </a:endParaRPr>
          </a:p>
          <a:p>
            <a:pPr fontAlgn="auto">
              <a:lnSpc>
                <a:spcPct val="150000"/>
              </a:lnSpc>
              <a:spcBef>
                <a:spcPts val="0"/>
              </a:spcBef>
              <a:buNone/>
            </a:pPr>
            <a:r>
              <a:rPr lang="en-US" altLang="zh-CN" dirty="0">
                <a:latin typeface="Times New Roman" panose="02020603050405020304" charset="0"/>
                <a:cs typeface="Times New Roman" panose="02020603050405020304" charset="0"/>
                <a:sym typeface="+mn-ea"/>
              </a:rPr>
              <a:t>   use your notes in the paper</a:t>
            </a:r>
            <a:endParaRPr lang="en-US" altLang="zh-CN" dirty="0">
              <a:latin typeface="Times New Roman" panose="02020603050405020304" charset="0"/>
              <a:cs typeface="Times New Roman" panose="02020603050405020304" charset="0"/>
            </a:endParaRPr>
          </a:p>
          <a:p>
            <a:pPr fontAlgn="auto">
              <a:lnSpc>
                <a:spcPct val="150000"/>
              </a:lnSpc>
              <a:spcBef>
                <a:spcPts val="0"/>
              </a:spcBef>
              <a:buNone/>
            </a:pPr>
            <a:r>
              <a:rPr lang="en-US" altLang="zh-CN" dirty="0">
                <a:latin typeface="Times New Roman" panose="02020603050405020304" charset="0"/>
                <a:cs typeface="Times New Roman" panose="02020603050405020304" charset="0"/>
                <a:sym typeface="+mn-ea"/>
              </a:rPr>
              <a:t>   a. summaries and paraphrases (condensation and restatement)</a:t>
            </a:r>
            <a:endParaRPr lang="en-US" altLang="zh-CN" dirty="0">
              <a:latin typeface="Times New Roman" panose="02020603050405020304" charset="0"/>
              <a:cs typeface="Times New Roman" panose="02020603050405020304" charset="0"/>
            </a:endParaRPr>
          </a:p>
          <a:p>
            <a:pPr fontAlgn="auto">
              <a:lnSpc>
                <a:spcPct val="150000"/>
              </a:lnSpc>
              <a:spcBef>
                <a:spcPts val="0"/>
              </a:spcBef>
              <a:buNone/>
            </a:pPr>
            <a:r>
              <a:rPr lang="en-US" altLang="zh-CN" dirty="0">
                <a:latin typeface="Times New Roman" panose="02020603050405020304" charset="0"/>
                <a:cs typeface="Times New Roman" panose="02020603050405020304" charset="0"/>
                <a:sym typeface="+mn-ea"/>
              </a:rPr>
              <a:t>   b. direct and indirect quotations (or a mix of the two) </a:t>
            </a:r>
          </a:p>
          <a:p>
            <a:pPr fontAlgn="auto">
              <a:lnSpc>
                <a:spcPct val="150000"/>
              </a:lnSpc>
              <a:spcBef>
                <a:spcPts val="0"/>
              </a:spcBef>
              <a:buNone/>
            </a:pPr>
            <a:r>
              <a:rPr lang="en-US" altLang="zh-CN" dirty="0">
                <a:latin typeface="Times New Roman" panose="02020603050405020304" charset="0"/>
                <a:cs typeface="Times New Roman" panose="02020603050405020304" charset="0"/>
                <a:sym typeface="+mn-ea"/>
              </a:rPr>
              <a:t>   use words like admit; comment; confirm; claim; affirm; describe etc. in indirect quotations.</a:t>
            </a:r>
            <a:endParaRPr lang="en-US" i="1" dirty="0">
              <a:solidFill>
                <a:schemeClr val="tx1"/>
              </a:solidFill>
              <a:latin typeface="Times New Roman" panose="02020603050405020304" charset="0"/>
              <a:cs typeface="Times New Roman" panose="02020603050405020304" charset="0"/>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6</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8" name="文本框 7"/>
          <p:cNvSpPr txBox="1"/>
          <p:nvPr/>
        </p:nvSpPr>
        <p:spPr>
          <a:xfrm>
            <a:off x="3785235" y="552450"/>
            <a:ext cx="4064000" cy="368300"/>
          </a:xfrm>
          <a:prstGeom prst="rect">
            <a:avLst/>
          </a:prstGeom>
          <a:noFill/>
        </p:spPr>
        <p:txBody>
          <a:bodyPr wrap="square" rtlCol="0">
            <a:spAutoFit/>
          </a:bodyPr>
          <a:lstStyle/>
          <a:p>
            <a:endParaRPr lang="zh-CN" altLang="en-US"/>
          </a:p>
        </p:txBody>
      </p:sp>
      <p:sp>
        <p:nvSpPr>
          <p:cNvPr id="13" name="文本框 12"/>
          <p:cNvSpPr txBox="1"/>
          <p:nvPr/>
        </p:nvSpPr>
        <p:spPr>
          <a:xfrm>
            <a:off x="6430645" y="216535"/>
            <a:ext cx="4064000" cy="368300"/>
          </a:xfrm>
          <a:prstGeom prst="rect">
            <a:avLst/>
          </a:prstGeom>
          <a:noFill/>
        </p:spPr>
        <p:txBody>
          <a:bodyPr wrap="square" rtlCol="0">
            <a:spAutoFit/>
          </a:bodyPr>
          <a:lstStyle/>
          <a:p>
            <a:endParaRPr lang="zh-CN" altLang="en-US"/>
          </a:p>
        </p:txBody>
      </p:sp>
      <p:sp>
        <p:nvSpPr>
          <p:cNvPr id="15" name="文本框 14"/>
          <p:cNvSpPr txBox="1"/>
          <p:nvPr/>
        </p:nvSpPr>
        <p:spPr>
          <a:xfrm>
            <a:off x="3785235" y="603885"/>
            <a:ext cx="4064000" cy="368300"/>
          </a:xfrm>
          <a:prstGeom prst="rect">
            <a:avLst/>
          </a:prstGeom>
          <a:noFill/>
        </p:spPr>
        <p:txBody>
          <a:bodyPr wrap="square" rtlCol="0">
            <a:spAutoFit/>
          </a:bodyPr>
          <a:lstStyle/>
          <a:p>
            <a:endParaRPr lang="zh-CN" alt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zh-CN" altLang="en-US" sz="2800" b="1" i="1">
                <a:latin typeface="Times New Roman" panose="02020603050405020304" charset="0"/>
                <a:cs typeface="Times New Roman" panose="02020603050405020304" charset="0"/>
                <a:sym typeface="+mn-ea"/>
              </a:rPr>
              <a:t>Writing the First Draft</a:t>
            </a:r>
            <a:endParaRPr lang="en-US" altLang="zh-CN" sz="2800" b="1" i="1">
              <a:solidFill>
                <a:schemeClr val="tx1"/>
              </a:solidFill>
              <a:latin typeface="Times New Roman" panose="02020603050405020304" charset="0"/>
              <a:cs typeface="Times New Roman" panose="02020603050405020304" charset="0"/>
              <a:sym typeface="+mn-ea"/>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6</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8" name="圆角矩形 7"/>
          <p:cNvSpPr/>
          <p:nvPr>
            <p:custDataLst>
              <p:tags r:id="rId4"/>
            </p:custDataLst>
          </p:nvPr>
        </p:nvSpPr>
        <p:spPr>
          <a:xfrm>
            <a:off x="1539875" y="1773555"/>
            <a:ext cx="3613785" cy="2625090"/>
          </a:xfrm>
          <a:prstGeom prst="roundRect">
            <a:avLst/>
          </a:prstGeom>
          <a:blipFill rotWithShape="1">
            <a:blip r:embed="rId8"/>
            <a:stretch>
              <a:fillRect/>
            </a:stretch>
          </a:blip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内容占位符 2"/>
          <p:cNvSpPr>
            <a:spLocks noGrp="1"/>
          </p:cNvSpPr>
          <p:nvPr>
            <p:custDataLst>
              <p:tags r:id="rId5"/>
            </p:custDataLst>
          </p:nvPr>
        </p:nvSpPr>
        <p:spPr>
          <a:xfrm>
            <a:off x="1539875" y="4481195"/>
            <a:ext cx="3573780" cy="67119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altLang="zh-CN" sz="3600" b="1">
                <a:latin typeface="Times New Roman" panose="02020603050405020304" charset="0"/>
                <a:cs typeface="Times New Roman" panose="02020603050405020304" charset="0"/>
              </a:rPr>
              <a:t>Contents</a:t>
            </a:r>
          </a:p>
        </p:txBody>
      </p:sp>
      <p:sp>
        <p:nvSpPr>
          <p:cNvPr id="12" name="标题 1"/>
          <p:cNvSpPr>
            <a:spLocks noGrp="1"/>
          </p:cNvSpPr>
          <p:nvPr>
            <p:custDataLst>
              <p:tags r:id="rId6"/>
            </p:custDataLst>
          </p:nvPr>
        </p:nvSpPr>
        <p:spPr>
          <a:xfrm>
            <a:off x="5791200" y="1468120"/>
            <a:ext cx="6293485" cy="479234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indent="0" fontAlgn="auto">
              <a:lnSpc>
                <a:spcPct val="150000"/>
              </a:lnSpc>
            </a:pPr>
            <a:r>
              <a:rPr lang="en-US" altLang="zh-CN" sz="3200" b="1" i="1">
                <a:solidFill>
                  <a:schemeClr val="accent2">
                    <a:lumMod val="75000"/>
                  </a:schemeClr>
                </a:solidFill>
                <a:latin typeface="Times New Roman" panose="02020603050405020304" charset="0"/>
                <a:cs typeface="Times New Roman" panose="02020603050405020304" charset="0"/>
              </a:rPr>
              <a:t>1. </a:t>
            </a:r>
            <a:r>
              <a:rPr lang="en-US" altLang="zh-CN" sz="3200">
                <a:latin typeface="Times New Roman" panose="02020603050405020304" charset="0"/>
                <a:cs typeface="Times New Roman" panose="02020603050405020304" charset="0"/>
              </a:rPr>
              <a:t>Introduction</a:t>
            </a:r>
          </a:p>
          <a:p>
            <a:pPr marL="0" indent="0" fontAlgn="auto">
              <a:lnSpc>
                <a:spcPct val="150000"/>
              </a:lnSpc>
            </a:pPr>
            <a:r>
              <a:rPr lang="en-US" altLang="zh-CN" sz="3200" b="1" i="1">
                <a:solidFill>
                  <a:schemeClr val="accent2">
                    <a:lumMod val="75000"/>
                  </a:schemeClr>
                </a:solidFill>
                <a:latin typeface="Times New Roman" panose="02020603050405020304" charset="0"/>
                <a:cs typeface="Times New Roman" panose="02020603050405020304" charset="0"/>
              </a:rPr>
              <a:t>2.</a:t>
            </a:r>
            <a:r>
              <a:rPr lang="en-US" altLang="zh-CN" sz="3200">
                <a:latin typeface="Times New Roman" panose="02020603050405020304" charset="0"/>
                <a:cs typeface="Times New Roman" panose="02020603050405020304" charset="0"/>
              </a:rPr>
              <a:t> Research Methods </a:t>
            </a:r>
          </a:p>
          <a:p>
            <a:pPr marL="0" indent="0" fontAlgn="auto">
              <a:lnSpc>
                <a:spcPct val="150000"/>
              </a:lnSpc>
            </a:pPr>
            <a:r>
              <a:rPr lang="en-US" altLang="zh-CN" sz="3200" b="1" i="1">
                <a:solidFill>
                  <a:schemeClr val="accent2">
                    <a:lumMod val="75000"/>
                  </a:schemeClr>
                </a:solidFill>
                <a:latin typeface="Times New Roman" panose="02020603050405020304" charset="0"/>
                <a:cs typeface="Times New Roman" panose="02020603050405020304" charset="0"/>
              </a:rPr>
              <a:t>3.</a:t>
            </a:r>
            <a:r>
              <a:rPr lang="en-US" altLang="zh-CN" sz="3200">
                <a:latin typeface="Times New Roman" panose="02020603050405020304" charset="0"/>
                <a:cs typeface="Times New Roman" panose="02020603050405020304" charset="0"/>
              </a:rPr>
              <a:t> Results and Discussion</a:t>
            </a:r>
          </a:p>
          <a:p>
            <a:pPr marL="0" indent="0" fontAlgn="auto">
              <a:lnSpc>
                <a:spcPct val="150000"/>
              </a:lnSpc>
            </a:pPr>
            <a:r>
              <a:rPr lang="en-US" altLang="zh-CN" sz="3200" b="1" i="1">
                <a:solidFill>
                  <a:schemeClr val="accent2">
                    <a:lumMod val="75000"/>
                  </a:schemeClr>
                </a:solidFill>
                <a:latin typeface="Times New Roman" panose="02020603050405020304" charset="0"/>
                <a:cs typeface="Times New Roman" panose="02020603050405020304" charset="0"/>
              </a:rPr>
              <a:t>4.</a:t>
            </a:r>
            <a:r>
              <a:rPr lang="en-US" altLang="zh-CN" sz="3200">
                <a:latin typeface="Times New Roman" panose="02020603050405020304" charset="0"/>
                <a:cs typeface="Times New Roman" panose="02020603050405020304" charset="0"/>
              </a:rPr>
              <a:t> Conclusion and Recommendation</a:t>
            </a:r>
          </a:p>
          <a:p>
            <a:pPr marL="0" indent="0" fontAlgn="auto">
              <a:lnSpc>
                <a:spcPct val="150000"/>
              </a:lnSpc>
            </a:pPr>
            <a:r>
              <a:rPr lang="en-US" altLang="zh-CN" sz="3200" b="1" i="1">
                <a:solidFill>
                  <a:schemeClr val="accent2">
                    <a:lumMod val="75000"/>
                  </a:schemeClr>
                </a:solidFill>
                <a:latin typeface="Times New Roman" panose="02020603050405020304" charset="0"/>
                <a:cs typeface="Times New Roman" panose="02020603050405020304" charset="0"/>
              </a:rPr>
              <a:t>5.</a:t>
            </a:r>
            <a:r>
              <a:rPr lang="en-US" altLang="zh-CN" sz="3200">
                <a:latin typeface="Times New Roman" panose="02020603050405020304" charset="0"/>
                <a:cs typeface="Times New Roman" panose="02020603050405020304" charset="0"/>
              </a:rPr>
              <a:t> Acknowledgements</a:t>
            </a:r>
            <a:endParaRPr lang="zh-CN" altLang="en-US" sz="3200">
              <a:latin typeface="Times New Roman" panose="02020603050405020304" charset="0"/>
              <a:cs typeface="Times New Roman" panose="02020603050405020304" charset="0"/>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zh-CN" altLang="en-US" sz="2800" b="1" i="1">
                <a:latin typeface="Times New Roman" panose="02020603050405020304" charset="0"/>
                <a:cs typeface="Times New Roman" panose="02020603050405020304" charset="0"/>
                <a:sym typeface="+mn-ea"/>
              </a:rPr>
              <a:t>Writing the First Draft</a:t>
            </a:r>
            <a:endParaRPr lang="en-US" altLang="zh-CN" sz="2800" b="1" i="1">
              <a:solidFill>
                <a:schemeClr val="tx1"/>
              </a:solidFill>
              <a:latin typeface="Times New Roman" panose="02020603050405020304" charset="0"/>
              <a:cs typeface="Times New Roman" panose="02020603050405020304" charset="0"/>
              <a:sym typeface="+mn-ea"/>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6</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12" name="标题 1"/>
          <p:cNvSpPr>
            <a:spLocks noGrp="1"/>
          </p:cNvSpPr>
          <p:nvPr>
            <p:custDataLst>
              <p:tags r:id="rId4"/>
            </p:custDataLst>
          </p:nvPr>
        </p:nvSpPr>
        <p:spPr>
          <a:xfrm>
            <a:off x="5791200" y="1468120"/>
            <a:ext cx="6293485" cy="479234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indent="0" fontAlgn="auto">
              <a:lnSpc>
                <a:spcPct val="150000"/>
              </a:lnSpc>
            </a:pPr>
            <a:r>
              <a:rPr lang="en-US" altLang="zh-CN" sz="3200" b="1" i="1">
                <a:solidFill>
                  <a:schemeClr val="accent2">
                    <a:lumMod val="75000"/>
                  </a:schemeClr>
                </a:solidFill>
                <a:latin typeface="Times New Roman" panose="02020603050405020304" charset="0"/>
                <a:cs typeface="Times New Roman" panose="02020603050405020304" charset="0"/>
              </a:rPr>
              <a:t>1. </a:t>
            </a:r>
            <a:r>
              <a:rPr lang="en-US" altLang="zh-CN" sz="3200">
                <a:latin typeface="Times New Roman" panose="02020603050405020304" charset="0"/>
                <a:cs typeface="Times New Roman" panose="02020603050405020304" charset="0"/>
              </a:rPr>
              <a:t>Introduction</a:t>
            </a:r>
          </a:p>
          <a:p>
            <a:pPr marL="0" indent="0" fontAlgn="auto">
              <a:lnSpc>
                <a:spcPct val="150000"/>
              </a:lnSpc>
            </a:pPr>
            <a:endParaRPr lang="en-US" altLang="zh-CN" sz="3200">
              <a:latin typeface="Times New Roman" panose="02020603050405020304" charset="0"/>
              <a:cs typeface="Times New Roman" panose="02020603050405020304" charset="0"/>
            </a:endParaRPr>
          </a:p>
        </p:txBody>
      </p:sp>
      <p:pic>
        <p:nvPicPr>
          <p:cNvPr id="101" name="图片 100"/>
          <p:cNvPicPr/>
          <p:nvPr/>
        </p:nvPicPr>
        <p:blipFill>
          <a:blip r:embed="rId6"/>
          <a:stretch>
            <a:fillRect/>
          </a:stretch>
        </p:blipFill>
        <p:spPr>
          <a:xfrm>
            <a:off x="1192530" y="1700530"/>
            <a:ext cx="3943985" cy="3812540"/>
          </a:xfrm>
          <a:prstGeom prst="rect">
            <a:avLst/>
          </a:prstGeom>
          <a:noFill/>
          <a:ln w="9525">
            <a:noFill/>
          </a:ln>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zh-CN" altLang="en-US" sz="2800" b="1" i="1">
                <a:latin typeface="Times New Roman" panose="02020603050405020304" charset="0"/>
                <a:cs typeface="Times New Roman" panose="02020603050405020304" charset="0"/>
                <a:sym typeface="+mn-ea"/>
              </a:rPr>
              <a:t>Writing the First Draft</a:t>
            </a:r>
            <a:r>
              <a:rPr lang="en-US" altLang="zh-CN" sz="2800" b="1" i="1">
                <a:latin typeface="Times New Roman" panose="02020603050405020304" charset="0"/>
                <a:cs typeface="Times New Roman" panose="02020603050405020304" charset="0"/>
                <a:sym typeface="+mn-ea"/>
              </a:rPr>
              <a:t>-- </a:t>
            </a:r>
            <a:r>
              <a:rPr lang="en-US" altLang="zh-CN" sz="2800" i="1">
                <a:latin typeface="Times New Roman" panose="02020603050405020304" charset="0"/>
                <a:cs typeface="Times New Roman" panose="02020603050405020304" charset="0"/>
                <a:sym typeface="+mn-ea"/>
              </a:rPr>
              <a:t>1. Introduction</a:t>
            </a:r>
            <a:endParaRPr lang="en-US" altLang="zh-CN" sz="2800" i="1">
              <a:solidFill>
                <a:schemeClr val="tx1"/>
              </a:solidFill>
              <a:latin typeface="Times New Roman" panose="02020603050405020304" charset="0"/>
              <a:cs typeface="Times New Roman" panose="02020603050405020304" charset="0"/>
              <a:sym typeface="+mn-ea"/>
            </a:endParaRPr>
          </a:p>
        </p:txBody>
      </p:sp>
      <p:sp>
        <p:nvSpPr>
          <p:cNvPr id="3" name="内容占位符 2"/>
          <p:cNvSpPr>
            <a:spLocks noGrp="1"/>
          </p:cNvSpPr>
          <p:nvPr>
            <p:ph idx="1"/>
          </p:nvPr>
        </p:nvSpPr>
        <p:spPr>
          <a:xfrm>
            <a:off x="838200" y="1342390"/>
            <a:ext cx="10938510" cy="5203825"/>
          </a:xfrm>
          <a:ln w="28575">
            <a:solidFill>
              <a:schemeClr val="accent2">
                <a:lumMod val="75000"/>
              </a:schemeClr>
            </a:solidFill>
          </a:ln>
        </p:spPr>
        <p:txBody>
          <a:bodyPr>
            <a:normAutofit fontScale="90000"/>
          </a:bodyPr>
          <a:lstStyle/>
          <a:p>
            <a:pPr marL="0" indent="0" fontAlgn="auto">
              <a:lnSpc>
                <a:spcPct val="150000"/>
              </a:lnSpc>
              <a:spcBef>
                <a:spcPts val="0"/>
              </a:spcBef>
              <a:buNone/>
            </a:pPr>
            <a:r>
              <a:rPr lang="en-US" altLang="zh-CN" b="1" dirty="0">
                <a:latin typeface="Times New Roman" panose="02020603050405020304" charset="0"/>
                <a:cs typeface="Times New Roman" panose="02020603050405020304" charset="0"/>
                <a:sym typeface="+mn-ea"/>
              </a:rPr>
              <a:t>1.1 Functions of Introduction</a:t>
            </a:r>
            <a:endParaRPr lang="en-US" altLang="zh-CN" b="1" dirty="0">
              <a:latin typeface="Times New Roman" panose="02020603050405020304" charset="0"/>
              <a:cs typeface="Times New Roman" panose="02020603050405020304" charset="0"/>
            </a:endParaRPr>
          </a:p>
          <a:p>
            <a:pPr fontAlgn="auto">
              <a:lnSpc>
                <a:spcPct val="150000"/>
              </a:lnSpc>
              <a:buNone/>
            </a:pPr>
            <a:r>
              <a:rPr lang="en-US" altLang="zh-CN" dirty="0">
                <a:latin typeface="Times New Roman" panose="02020603050405020304" charset="0"/>
                <a:sym typeface="+mn-ea"/>
              </a:rPr>
              <a:t>---Create reader’s interest by introducing in more details some general background information on the topic under investigation;</a:t>
            </a:r>
            <a:endParaRPr lang="en-US" altLang="zh-CN" dirty="0">
              <a:latin typeface="Times New Roman" panose="02020603050405020304" charset="0"/>
            </a:endParaRPr>
          </a:p>
          <a:p>
            <a:pPr fontAlgn="auto">
              <a:lnSpc>
                <a:spcPct val="150000"/>
              </a:lnSpc>
              <a:buNone/>
            </a:pPr>
            <a:r>
              <a:rPr lang="en-US" altLang="zh-CN" dirty="0">
                <a:latin typeface="Times New Roman" panose="02020603050405020304" charset="0"/>
                <a:sym typeface="+mn-ea"/>
              </a:rPr>
              <a:t>---Focus on an issue, a problem, or a question relevant to the study;</a:t>
            </a:r>
            <a:endParaRPr lang="en-US" altLang="zh-CN" dirty="0">
              <a:latin typeface="Times New Roman" panose="02020603050405020304" charset="0"/>
            </a:endParaRPr>
          </a:p>
          <a:p>
            <a:pPr fontAlgn="auto">
              <a:lnSpc>
                <a:spcPct val="150000"/>
              </a:lnSpc>
              <a:buNone/>
            </a:pPr>
            <a:r>
              <a:rPr lang="en-US" altLang="zh-CN" dirty="0">
                <a:latin typeface="Times New Roman" panose="02020603050405020304" charset="0"/>
                <a:sym typeface="+mn-ea"/>
              </a:rPr>
              <a:t>---Review previous research;</a:t>
            </a:r>
          </a:p>
          <a:p>
            <a:pPr marL="609600" indent="-609600" fontAlgn="auto">
              <a:lnSpc>
                <a:spcPct val="150000"/>
              </a:lnSpc>
              <a:buNone/>
            </a:pPr>
            <a:r>
              <a:rPr lang="en-US" altLang="zh-CN" dirty="0">
                <a:latin typeface="Times New Roman" panose="02020603050405020304" charset="0"/>
                <a:sym typeface="+mn-ea"/>
              </a:rPr>
              <a:t>---Discuss deficiencies in previous research on the topic;</a:t>
            </a:r>
            <a:endParaRPr lang="en-US" altLang="zh-CN" dirty="0">
              <a:latin typeface="Times New Roman" panose="02020603050405020304" charset="0"/>
            </a:endParaRPr>
          </a:p>
          <a:p>
            <a:pPr marL="609600" indent="-609600" fontAlgn="auto">
              <a:lnSpc>
                <a:spcPct val="150000"/>
              </a:lnSpc>
              <a:buNone/>
            </a:pPr>
            <a:r>
              <a:rPr lang="en-US" altLang="zh-CN" dirty="0">
                <a:latin typeface="Times New Roman" panose="02020603050405020304" charset="0"/>
                <a:sym typeface="+mn-ea"/>
              </a:rPr>
              <a:t>---Propose a different/new way of investigating the same topic or some aspect of it.</a:t>
            </a:r>
            <a:endParaRPr lang="en-US" altLang="zh-CN" dirty="0">
              <a:latin typeface="Times New Roman" panose="02020603050405020304" charset="0"/>
            </a:endParaRPr>
          </a:p>
          <a:p>
            <a:pPr fontAlgn="auto">
              <a:lnSpc>
                <a:spcPct val="150000"/>
              </a:lnSpc>
              <a:buNone/>
            </a:pPr>
            <a:endParaRPr lang="en-US" dirty="0">
              <a:solidFill>
                <a:schemeClr val="tx1"/>
              </a:solidFill>
              <a:latin typeface="Times New Roman" panose="02020603050405020304" charset="0"/>
              <a:cs typeface="Times New Roman" panose="02020603050405020304" charset="0"/>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6</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8" name="文本框 7"/>
          <p:cNvSpPr txBox="1"/>
          <p:nvPr/>
        </p:nvSpPr>
        <p:spPr>
          <a:xfrm>
            <a:off x="3785235" y="552450"/>
            <a:ext cx="4064000" cy="368300"/>
          </a:xfrm>
          <a:prstGeom prst="rect">
            <a:avLst/>
          </a:prstGeom>
          <a:noFill/>
        </p:spPr>
        <p:txBody>
          <a:bodyPr wrap="square" rtlCol="0">
            <a:spAutoFit/>
          </a:bodyPr>
          <a:lstStyle/>
          <a:p>
            <a:endParaRPr lang="zh-CN" altLang="en-US"/>
          </a:p>
        </p:txBody>
      </p:sp>
      <p:sp>
        <p:nvSpPr>
          <p:cNvPr id="13" name="文本框 12"/>
          <p:cNvSpPr txBox="1"/>
          <p:nvPr/>
        </p:nvSpPr>
        <p:spPr>
          <a:xfrm>
            <a:off x="6430645" y="216535"/>
            <a:ext cx="4064000" cy="368300"/>
          </a:xfrm>
          <a:prstGeom prst="rect">
            <a:avLst/>
          </a:prstGeom>
          <a:noFill/>
        </p:spPr>
        <p:txBody>
          <a:bodyPr wrap="square" rtlCol="0">
            <a:spAutoFit/>
          </a:bodyPr>
          <a:lstStyle/>
          <a:p>
            <a:endParaRPr lang="zh-CN" alt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zh-CN" altLang="en-US" sz="2800" b="1" i="1">
                <a:latin typeface="Times New Roman" panose="02020603050405020304" charset="0"/>
                <a:cs typeface="Times New Roman" panose="02020603050405020304" charset="0"/>
                <a:sym typeface="+mn-ea"/>
              </a:rPr>
              <a:t>Writing the First Draft</a:t>
            </a:r>
            <a:r>
              <a:rPr lang="en-US" altLang="zh-CN" sz="2800" b="1" i="1">
                <a:latin typeface="Times New Roman" panose="02020603050405020304" charset="0"/>
                <a:cs typeface="Times New Roman" panose="02020603050405020304" charset="0"/>
                <a:sym typeface="+mn-ea"/>
              </a:rPr>
              <a:t>-- </a:t>
            </a:r>
            <a:r>
              <a:rPr lang="en-US" altLang="zh-CN" sz="2800" i="1">
                <a:latin typeface="Times New Roman" panose="02020603050405020304" charset="0"/>
                <a:cs typeface="Times New Roman" panose="02020603050405020304" charset="0"/>
                <a:sym typeface="+mn-ea"/>
              </a:rPr>
              <a:t>1. Introduction</a:t>
            </a:r>
            <a:endParaRPr lang="en-US" altLang="zh-CN" sz="2800" i="1">
              <a:solidFill>
                <a:schemeClr val="tx1"/>
              </a:solidFill>
              <a:latin typeface="Times New Roman" panose="02020603050405020304" charset="0"/>
              <a:cs typeface="Times New Roman" panose="02020603050405020304" charset="0"/>
              <a:sym typeface="+mn-ea"/>
            </a:endParaRPr>
          </a:p>
        </p:txBody>
      </p:sp>
      <p:sp>
        <p:nvSpPr>
          <p:cNvPr id="3" name="内容占位符 2"/>
          <p:cNvSpPr>
            <a:spLocks noGrp="1"/>
          </p:cNvSpPr>
          <p:nvPr>
            <p:ph idx="1"/>
          </p:nvPr>
        </p:nvSpPr>
        <p:spPr>
          <a:xfrm>
            <a:off x="838200" y="1557020"/>
            <a:ext cx="10938510" cy="4850765"/>
          </a:xfrm>
          <a:ln w="28575">
            <a:solidFill>
              <a:schemeClr val="accent2">
                <a:lumMod val="75000"/>
              </a:schemeClr>
            </a:solidFill>
          </a:ln>
        </p:spPr>
        <p:txBody>
          <a:bodyPr>
            <a:normAutofit/>
          </a:bodyPr>
          <a:lstStyle/>
          <a:p>
            <a:pPr marL="0" indent="0" fontAlgn="auto">
              <a:lnSpc>
                <a:spcPct val="150000"/>
              </a:lnSpc>
              <a:spcBef>
                <a:spcPts val="0"/>
              </a:spcBef>
              <a:buNone/>
            </a:pPr>
            <a:r>
              <a:rPr lang="en-US" altLang="zh-CN" b="1">
                <a:latin typeface="Times New Roman" panose="02020603050405020304" charset="0"/>
                <a:sym typeface="+mn-ea"/>
              </a:rPr>
              <a:t>1.2 Elements for a good introduction</a:t>
            </a:r>
            <a:endParaRPr lang="en-US" altLang="zh-CN" b="1">
              <a:latin typeface="Times New Roman" panose="02020603050405020304" charset="0"/>
            </a:endParaRPr>
          </a:p>
          <a:p>
            <a:pPr marL="609600" indent="-609600" fontAlgn="auto">
              <a:lnSpc>
                <a:spcPct val="150000"/>
              </a:lnSpc>
              <a:buNone/>
            </a:pPr>
            <a:r>
              <a:rPr lang="en-US" altLang="zh-CN">
                <a:latin typeface="Times New Roman" panose="02020603050405020304" charset="0"/>
                <a:sym typeface="+mn-ea"/>
              </a:rPr>
              <a:t>---A clear statement of purpose</a:t>
            </a:r>
            <a:endParaRPr lang="en-US" altLang="zh-CN">
              <a:latin typeface="Times New Roman" panose="02020603050405020304" charset="0"/>
            </a:endParaRPr>
          </a:p>
          <a:p>
            <a:pPr marL="609600" indent="-609600" fontAlgn="auto">
              <a:lnSpc>
                <a:spcPct val="150000"/>
              </a:lnSpc>
              <a:buNone/>
            </a:pPr>
            <a:r>
              <a:rPr lang="en-US" altLang="zh-CN">
                <a:latin typeface="Times New Roman" panose="02020603050405020304" charset="0"/>
                <a:sym typeface="+mn-ea"/>
              </a:rPr>
              <a:t>---A little background information</a:t>
            </a:r>
            <a:endParaRPr lang="en-US" altLang="zh-CN">
              <a:latin typeface="Times New Roman" panose="02020603050405020304" charset="0"/>
            </a:endParaRPr>
          </a:p>
          <a:p>
            <a:pPr marL="609600" indent="-609600" fontAlgn="auto">
              <a:lnSpc>
                <a:spcPct val="150000"/>
              </a:lnSpc>
              <a:buNone/>
            </a:pPr>
            <a:r>
              <a:rPr lang="en-US" altLang="zh-CN">
                <a:latin typeface="Times New Roman" panose="02020603050405020304" charset="0"/>
                <a:sym typeface="+mn-ea"/>
              </a:rPr>
              <a:t>---A few questions</a:t>
            </a:r>
            <a:endParaRPr lang="en-US" altLang="zh-CN">
              <a:latin typeface="Times New Roman" panose="02020603050405020304" charset="0"/>
            </a:endParaRPr>
          </a:p>
          <a:p>
            <a:pPr marL="609600" indent="-609600" fontAlgn="auto">
              <a:lnSpc>
                <a:spcPct val="150000"/>
              </a:lnSpc>
              <a:buNone/>
            </a:pPr>
            <a:r>
              <a:rPr lang="en-US" altLang="zh-CN">
                <a:latin typeface="Times New Roman" panose="02020603050405020304" charset="0"/>
                <a:sym typeface="+mn-ea"/>
              </a:rPr>
              <a:t>---A positive view of the end point and the topic of the paper</a:t>
            </a:r>
            <a:endParaRPr lang="en-US" altLang="zh-CN">
              <a:latin typeface="Times New Roman" panose="02020603050405020304" charset="0"/>
            </a:endParaRPr>
          </a:p>
          <a:p>
            <a:pPr marL="0" indent="0" fontAlgn="auto">
              <a:lnSpc>
                <a:spcPct val="150000"/>
              </a:lnSpc>
              <a:spcBef>
                <a:spcPts val="0"/>
              </a:spcBef>
              <a:buNone/>
            </a:pPr>
            <a:r>
              <a:rPr lang="zh-CN" altLang="en-US">
                <a:sym typeface="+mn-ea"/>
              </a:rPr>
              <a:t>引出课题</a:t>
            </a:r>
            <a:r>
              <a:rPr lang="en-US" altLang="zh-CN">
                <a:sym typeface="+mn-ea"/>
              </a:rPr>
              <a:t>---</a:t>
            </a:r>
            <a:r>
              <a:rPr lang="zh-CN" altLang="en-US">
                <a:sym typeface="+mn-ea"/>
              </a:rPr>
              <a:t>聚焦研究对象</a:t>
            </a:r>
            <a:r>
              <a:rPr lang="en-US" altLang="zh-CN">
                <a:sym typeface="+mn-ea"/>
              </a:rPr>
              <a:t>---</a:t>
            </a:r>
            <a:r>
              <a:rPr lang="zh-CN" altLang="en-US">
                <a:sym typeface="+mn-ea"/>
              </a:rPr>
              <a:t>文献回顾</a:t>
            </a:r>
            <a:r>
              <a:rPr lang="en-US" altLang="zh-CN">
                <a:sym typeface="+mn-ea"/>
              </a:rPr>
              <a:t>---</a:t>
            </a:r>
            <a:r>
              <a:rPr lang="zh-CN" altLang="en-US">
                <a:sym typeface="+mn-ea"/>
              </a:rPr>
              <a:t>提出新的研究方法 </a:t>
            </a:r>
            <a:endParaRPr lang="zh-CN" altLang="en-US">
              <a:latin typeface="Times New Roman" panose="02020603050405020304" charset="0"/>
            </a:endParaRPr>
          </a:p>
          <a:p>
            <a:pPr marL="0" indent="0" fontAlgn="auto">
              <a:lnSpc>
                <a:spcPct val="150000"/>
              </a:lnSpc>
              <a:spcBef>
                <a:spcPts val="0"/>
              </a:spcBef>
              <a:buNone/>
            </a:pPr>
            <a:endParaRPr lang="en-US" altLang="zh-CN">
              <a:latin typeface="Times New Roman" panose="02020603050405020304" charset="0"/>
              <a:cs typeface="Times New Roman" panose="02020603050405020304" charset="0"/>
              <a:sym typeface="+mn-ea"/>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6</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8" name="文本框 7"/>
          <p:cNvSpPr txBox="1"/>
          <p:nvPr/>
        </p:nvSpPr>
        <p:spPr>
          <a:xfrm>
            <a:off x="3785235" y="552450"/>
            <a:ext cx="4064000" cy="368300"/>
          </a:xfrm>
          <a:prstGeom prst="rect">
            <a:avLst/>
          </a:prstGeom>
          <a:noFill/>
        </p:spPr>
        <p:txBody>
          <a:bodyPr wrap="square" rtlCol="0">
            <a:spAutoFit/>
          </a:bodyPr>
          <a:lstStyle/>
          <a:p>
            <a:endParaRPr lang="zh-CN" altLang="en-US"/>
          </a:p>
        </p:txBody>
      </p:sp>
      <p:sp>
        <p:nvSpPr>
          <p:cNvPr id="13" name="文本框 12"/>
          <p:cNvSpPr txBox="1"/>
          <p:nvPr/>
        </p:nvSpPr>
        <p:spPr>
          <a:xfrm>
            <a:off x="6430645" y="216535"/>
            <a:ext cx="4064000" cy="368300"/>
          </a:xfrm>
          <a:prstGeom prst="rect">
            <a:avLst/>
          </a:prstGeom>
          <a:noFill/>
        </p:spPr>
        <p:txBody>
          <a:bodyPr wrap="square" rtlCol="0">
            <a:spAutoFit/>
          </a:bodyPr>
          <a:lstStyle/>
          <a:p>
            <a:endParaRPr lang="zh-CN" alt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zh-CN" altLang="en-US" sz="2800" b="1" i="1">
                <a:latin typeface="Times New Roman" panose="02020603050405020304" charset="0"/>
                <a:cs typeface="Times New Roman" panose="02020603050405020304" charset="0"/>
                <a:sym typeface="+mn-ea"/>
              </a:rPr>
              <a:t>Writing the First Draft</a:t>
            </a:r>
            <a:r>
              <a:rPr lang="en-US" altLang="zh-CN" sz="2800" b="1" i="1">
                <a:latin typeface="Times New Roman" panose="02020603050405020304" charset="0"/>
                <a:cs typeface="Times New Roman" panose="02020603050405020304" charset="0"/>
                <a:sym typeface="+mn-ea"/>
              </a:rPr>
              <a:t>-- </a:t>
            </a:r>
            <a:r>
              <a:rPr lang="en-US" altLang="zh-CN" sz="2800" i="1">
                <a:latin typeface="Times New Roman" panose="02020603050405020304" charset="0"/>
                <a:cs typeface="Times New Roman" panose="02020603050405020304" charset="0"/>
                <a:sym typeface="+mn-ea"/>
              </a:rPr>
              <a:t>1. Introduction</a:t>
            </a:r>
            <a:endParaRPr lang="en-US" altLang="zh-CN" sz="2800" i="1">
              <a:solidFill>
                <a:schemeClr val="tx1"/>
              </a:solidFill>
              <a:latin typeface="Times New Roman" panose="02020603050405020304" charset="0"/>
              <a:cs typeface="Times New Roman" panose="02020603050405020304" charset="0"/>
              <a:sym typeface="+mn-ea"/>
            </a:endParaRPr>
          </a:p>
        </p:txBody>
      </p:sp>
      <p:sp>
        <p:nvSpPr>
          <p:cNvPr id="3" name="内容占位符 2"/>
          <p:cNvSpPr>
            <a:spLocks noGrp="1"/>
          </p:cNvSpPr>
          <p:nvPr>
            <p:ph idx="1"/>
          </p:nvPr>
        </p:nvSpPr>
        <p:spPr>
          <a:xfrm>
            <a:off x="838200" y="1557020"/>
            <a:ext cx="10938510" cy="4850765"/>
          </a:xfrm>
          <a:ln w="28575">
            <a:solidFill>
              <a:schemeClr val="accent2">
                <a:lumMod val="75000"/>
              </a:schemeClr>
            </a:solidFill>
          </a:ln>
        </p:spPr>
        <p:txBody>
          <a:bodyPr>
            <a:normAutofit fontScale="92500"/>
          </a:bodyPr>
          <a:lstStyle/>
          <a:p>
            <a:pPr marL="0" indent="0" fontAlgn="auto">
              <a:lnSpc>
                <a:spcPct val="150000"/>
              </a:lnSpc>
              <a:buNone/>
            </a:pPr>
            <a:r>
              <a:rPr lang="en-US" altLang="zh-CN" dirty="0">
                <a:latin typeface="Times New Roman" panose="02020603050405020304" charset="0"/>
                <a:cs typeface="Times New Roman" panose="02020603050405020304" charset="0"/>
                <a:sym typeface="+mn-ea"/>
              </a:rPr>
              <a:t>Caution:   the past or present tense, never the future tense</a:t>
            </a:r>
            <a:endParaRPr lang="en-US" altLang="zh-CN" dirty="0">
              <a:latin typeface="Times New Roman" panose="02020603050405020304" charset="0"/>
              <a:cs typeface="Times New Roman" panose="02020603050405020304" charset="0"/>
            </a:endParaRPr>
          </a:p>
          <a:p>
            <a:pPr fontAlgn="auto">
              <a:lnSpc>
                <a:spcPct val="150000"/>
              </a:lnSpc>
              <a:buNone/>
            </a:pPr>
            <a:r>
              <a:rPr lang="en-US" altLang="zh-CN" i="1" dirty="0" err="1">
                <a:latin typeface="Times New Roman" panose="02020603050405020304" charset="0"/>
                <a:cs typeface="Times New Roman" panose="02020603050405020304" charset="0"/>
                <a:sym typeface="+mn-ea"/>
              </a:rPr>
              <a:t>Eg</a:t>
            </a:r>
            <a:r>
              <a:rPr lang="en-US" altLang="zh-CN" i="1" dirty="0">
                <a:latin typeface="Times New Roman" panose="02020603050405020304" charset="0"/>
                <a:cs typeface="Times New Roman" panose="02020603050405020304" charset="0"/>
                <a:sym typeface="+mn-ea"/>
              </a:rPr>
              <a:t>:</a:t>
            </a:r>
            <a:endParaRPr lang="en-US" altLang="zh-CN" i="1" dirty="0">
              <a:latin typeface="Times New Roman" panose="02020603050405020304" charset="0"/>
              <a:cs typeface="Times New Roman" panose="02020603050405020304" charset="0"/>
            </a:endParaRPr>
          </a:p>
          <a:p>
            <a:pPr fontAlgn="auto">
              <a:lnSpc>
                <a:spcPct val="150000"/>
              </a:lnSpc>
              <a:buNone/>
            </a:pPr>
            <a:r>
              <a:rPr lang="en-US" altLang="zh-CN" b="1" i="1" dirty="0">
                <a:solidFill>
                  <a:srgbClr val="92D050"/>
                </a:solidFill>
                <a:latin typeface="+mj-ea"/>
                <a:ea typeface="+mj-ea"/>
                <a:cs typeface="Times New Roman" panose="02020603050405020304" charset="0"/>
                <a:sym typeface="+mn-ea"/>
              </a:rPr>
              <a:t>√ </a:t>
            </a:r>
            <a:r>
              <a:rPr lang="en-US" altLang="zh-CN" i="1" dirty="0">
                <a:latin typeface="Times New Roman" panose="02020603050405020304" charset="0"/>
                <a:cs typeface="Times New Roman" panose="02020603050405020304" charset="0"/>
                <a:sym typeface="+mn-ea"/>
              </a:rPr>
              <a:t>This study </a:t>
            </a:r>
            <a:r>
              <a:rPr lang="en-US" altLang="zh-CN" i="1" dirty="0">
                <a:solidFill>
                  <a:srgbClr val="C00000"/>
                </a:solidFill>
                <a:latin typeface="Times New Roman" panose="02020603050405020304" charset="0"/>
                <a:cs typeface="Times New Roman" panose="02020603050405020304" charset="0"/>
                <a:sym typeface="+mn-ea"/>
              </a:rPr>
              <a:t>investigates</a:t>
            </a:r>
            <a:r>
              <a:rPr lang="en-US" altLang="zh-CN" i="1" dirty="0">
                <a:latin typeface="Times New Roman" panose="02020603050405020304" charset="0"/>
                <a:cs typeface="Times New Roman" panose="02020603050405020304" charset="0"/>
                <a:sym typeface="+mn-ea"/>
              </a:rPr>
              <a:t> the relationship between tree density and fruit size.</a:t>
            </a:r>
          </a:p>
          <a:p>
            <a:pPr fontAlgn="auto">
              <a:lnSpc>
                <a:spcPct val="150000"/>
              </a:lnSpc>
              <a:buNone/>
            </a:pPr>
            <a:r>
              <a:rPr lang="en-US" altLang="zh-CN" i="1" dirty="0">
                <a:solidFill>
                  <a:srgbClr val="C00000"/>
                </a:solidFill>
                <a:latin typeface="+mn-ea"/>
                <a:cs typeface="Times New Roman" panose="02020603050405020304" charset="0"/>
                <a:sym typeface="+mn-ea"/>
              </a:rPr>
              <a:t>×</a:t>
            </a:r>
            <a:r>
              <a:rPr lang="en-US" altLang="zh-CN" i="1" dirty="0">
                <a:latin typeface="Times New Roman" panose="02020603050405020304" charset="0"/>
                <a:cs typeface="Times New Roman" panose="02020603050405020304" charset="0"/>
                <a:sym typeface="+mn-ea"/>
              </a:rPr>
              <a:t>This study </a:t>
            </a:r>
            <a:r>
              <a:rPr lang="en-US" altLang="zh-CN" i="1" dirty="0">
                <a:solidFill>
                  <a:srgbClr val="C00000"/>
                </a:solidFill>
                <a:latin typeface="Times New Roman" panose="02020603050405020304" charset="0"/>
                <a:cs typeface="Times New Roman" panose="02020603050405020304" charset="0"/>
                <a:sym typeface="+mn-ea"/>
              </a:rPr>
              <a:t>will</a:t>
            </a:r>
            <a:r>
              <a:rPr lang="zh-CN" altLang="en-US" i="1" dirty="0">
                <a:solidFill>
                  <a:srgbClr val="C00000"/>
                </a:solidFill>
                <a:latin typeface="Times New Roman" panose="02020603050405020304" charset="0"/>
                <a:cs typeface="Times New Roman" panose="02020603050405020304" charset="0"/>
                <a:sym typeface="+mn-ea"/>
              </a:rPr>
              <a:t> </a:t>
            </a:r>
            <a:r>
              <a:rPr lang="en-US" altLang="zh-CN" i="1" dirty="0">
                <a:solidFill>
                  <a:srgbClr val="C00000"/>
                </a:solidFill>
                <a:latin typeface="Times New Roman" panose="02020603050405020304" charset="0"/>
                <a:cs typeface="Times New Roman" panose="02020603050405020304" charset="0"/>
                <a:sym typeface="+mn-ea"/>
              </a:rPr>
              <a:t>investigate</a:t>
            </a:r>
            <a:r>
              <a:rPr lang="zh-CN" altLang="en-US" i="1" dirty="0">
                <a:solidFill>
                  <a:srgbClr val="C00000"/>
                </a:solidFill>
                <a:latin typeface="Times New Roman" panose="02020603050405020304" charset="0"/>
                <a:cs typeface="Times New Roman" panose="02020603050405020304" charset="0"/>
                <a:sym typeface="+mn-ea"/>
              </a:rPr>
              <a:t> </a:t>
            </a:r>
            <a:r>
              <a:rPr lang="en-US" altLang="zh-CN" i="1" dirty="0">
                <a:latin typeface="Times New Roman" panose="02020603050405020304" charset="0"/>
                <a:cs typeface="Times New Roman" panose="02020603050405020304" charset="0"/>
                <a:sym typeface="+mn-ea"/>
              </a:rPr>
              <a:t>…</a:t>
            </a:r>
            <a:endParaRPr lang="en-US" altLang="zh-CN" i="1" dirty="0">
              <a:latin typeface="Times New Roman" panose="02020603050405020304" charset="0"/>
              <a:cs typeface="Times New Roman" panose="02020603050405020304" charset="0"/>
            </a:endParaRPr>
          </a:p>
          <a:p>
            <a:pPr fontAlgn="auto">
              <a:lnSpc>
                <a:spcPct val="150000"/>
              </a:lnSpc>
              <a:buNone/>
            </a:pPr>
            <a:r>
              <a:rPr lang="en-US" altLang="zh-CN" b="1" i="1" dirty="0">
                <a:solidFill>
                  <a:srgbClr val="92D050"/>
                </a:solidFill>
                <a:latin typeface="+mj-ea"/>
                <a:cs typeface="Times New Roman" panose="02020603050405020304" charset="0"/>
                <a:sym typeface="+mn-ea"/>
              </a:rPr>
              <a:t>√ </a:t>
            </a:r>
            <a:r>
              <a:rPr lang="en-US" altLang="zh-CN" i="1" dirty="0">
                <a:latin typeface="Times New Roman" panose="02020603050405020304" charset="0"/>
                <a:cs typeface="Times New Roman" panose="02020603050405020304" charset="0"/>
                <a:sym typeface="+mn-ea"/>
              </a:rPr>
              <a:t>The purpose of this study </a:t>
            </a:r>
            <a:r>
              <a:rPr lang="en-US" altLang="zh-CN" i="1" dirty="0">
                <a:solidFill>
                  <a:srgbClr val="C00000"/>
                </a:solidFill>
                <a:latin typeface="Times New Roman" panose="02020603050405020304" charset="0"/>
                <a:cs typeface="Times New Roman" panose="02020603050405020304" charset="0"/>
                <a:sym typeface="+mn-ea"/>
              </a:rPr>
              <a:t>is</a:t>
            </a:r>
            <a:r>
              <a:rPr lang="en-US" altLang="zh-CN" i="1" dirty="0">
                <a:latin typeface="Times New Roman" panose="02020603050405020304" charset="0"/>
                <a:cs typeface="Times New Roman" panose="02020603050405020304" charset="0"/>
                <a:sym typeface="+mn-ea"/>
              </a:rPr>
              <a:t> to determine the effect of …</a:t>
            </a:r>
          </a:p>
          <a:p>
            <a:pPr fontAlgn="auto">
              <a:lnSpc>
                <a:spcPct val="150000"/>
              </a:lnSpc>
              <a:buNone/>
            </a:pPr>
            <a:r>
              <a:rPr lang="en-US" altLang="zh-CN" i="1" dirty="0">
                <a:solidFill>
                  <a:srgbClr val="C00000"/>
                </a:solidFill>
                <a:latin typeface="Times New Roman" panose="02020603050405020304" charset="0"/>
                <a:cs typeface="Times New Roman" panose="02020603050405020304" charset="0"/>
                <a:sym typeface="+mn-ea"/>
              </a:rPr>
              <a:t>×</a:t>
            </a:r>
            <a:r>
              <a:rPr lang="en-US" altLang="zh-CN" i="1" dirty="0">
                <a:latin typeface="Times New Roman" panose="02020603050405020304" charset="0"/>
                <a:cs typeface="Times New Roman" panose="02020603050405020304" charset="0"/>
                <a:sym typeface="+mn-ea"/>
              </a:rPr>
              <a:t>The purpose of this study </a:t>
            </a:r>
            <a:r>
              <a:rPr lang="en-US" altLang="zh-CN" i="1" dirty="0">
                <a:solidFill>
                  <a:srgbClr val="C00000"/>
                </a:solidFill>
                <a:latin typeface="Times New Roman" panose="02020603050405020304" charset="0"/>
                <a:cs typeface="Times New Roman" panose="02020603050405020304" charset="0"/>
                <a:sym typeface="+mn-ea"/>
              </a:rPr>
              <a:t>will/is going to </a:t>
            </a:r>
            <a:r>
              <a:rPr lang="en-US" altLang="zh-CN" i="1" dirty="0">
                <a:latin typeface="Times New Roman" panose="02020603050405020304" charset="0"/>
                <a:cs typeface="Times New Roman" panose="02020603050405020304" charset="0"/>
                <a:sym typeface="+mn-ea"/>
              </a:rPr>
              <a:t>determine…</a:t>
            </a:r>
            <a:endParaRPr lang="en-US" altLang="zh-CN" i="1" dirty="0">
              <a:latin typeface="Times New Roman" panose="02020603050405020304" charset="0"/>
              <a:cs typeface="Times New Roman" panose="02020603050405020304" charset="0"/>
            </a:endParaRPr>
          </a:p>
          <a:p>
            <a:pPr marL="0" indent="0" fontAlgn="auto">
              <a:lnSpc>
                <a:spcPct val="150000"/>
              </a:lnSpc>
              <a:spcBef>
                <a:spcPts val="0"/>
              </a:spcBef>
              <a:buNone/>
            </a:pPr>
            <a:endParaRPr lang="en-US" altLang="zh-CN" dirty="0">
              <a:latin typeface="Times New Roman" panose="02020603050405020304" charset="0"/>
              <a:cs typeface="Times New Roman" panose="02020603050405020304" charset="0"/>
              <a:sym typeface="+mn-ea"/>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6</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8" name="文本框 7"/>
          <p:cNvSpPr txBox="1"/>
          <p:nvPr/>
        </p:nvSpPr>
        <p:spPr>
          <a:xfrm>
            <a:off x="3785235" y="552450"/>
            <a:ext cx="4064000" cy="368300"/>
          </a:xfrm>
          <a:prstGeom prst="rect">
            <a:avLst/>
          </a:prstGeom>
          <a:noFill/>
        </p:spPr>
        <p:txBody>
          <a:bodyPr wrap="square" rtlCol="0">
            <a:spAutoFit/>
          </a:bodyPr>
          <a:lstStyle/>
          <a:p>
            <a:endParaRPr lang="zh-CN" altLang="en-US"/>
          </a:p>
        </p:txBody>
      </p:sp>
      <p:sp>
        <p:nvSpPr>
          <p:cNvPr id="13" name="文本框 12"/>
          <p:cNvSpPr txBox="1"/>
          <p:nvPr/>
        </p:nvSpPr>
        <p:spPr>
          <a:xfrm>
            <a:off x="6430645" y="216535"/>
            <a:ext cx="4064000" cy="368300"/>
          </a:xfrm>
          <a:prstGeom prst="rect">
            <a:avLst/>
          </a:prstGeom>
          <a:noFill/>
        </p:spPr>
        <p:txBody>
          <a:bodyPr wrap="square" rtlCol="0">
            <a:spAutoFit/>
          </a:bodyPr>
          <a:lstStyle/>
          <a:p>
            <a:endParaRPr lang="zh-CN" alt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zh-CN" altLang="en-US" sz="2800" b="1" i="1">
                <a:latin typeface="Times New Roman" panose="02020603050405020304" charset="0"/>
                <a:cs typeface="Times New Roman" panose="02020603050405020304" charset="0"/>
                <a:sym typeface="+mn-ea"/>
              </a:rPr>
              <a:t>Writing the First Draft</a:t>
            </a:r>
            <a:r>
              <a:rPr lang="en-US" altLang="zh-CN" sz="2800" b="1" i="1">
                <a:latin typeface="Times New Roman" panose="02020603050405020304" charset="0"/>
                <a:cs typeface="Times New Roman" panose="02020603050405020304" charset="0"/>
                <a:sym typeface="+mn-ea"/>
              </a:rPr>
              <a:t>-- </a:t>
            </a:r>
            <a:r>
              <a:rPr lang="en-US" altLang="zh-CN" sz="2800" i="1">
                <a:latin typeface="Times New Roman" panose="02020603050405020304" charset="0"/>
                <a:cs typeface="Times New Roman" panose="02020603050405020304" charset="0"/>
                <a:sym typeface="+mn-ea"/>
              </a:rPr>
              <a:t>1. Introduction</a:t>
            </a:r>
            <a:endParaRPr lang="en-US" altLang="zh-CN" sz="2800" i="1">
              <a:solidFill>
                <a:schemeClr val="tx1"/>
              </a:solidFill>
              <a:latin typeface="Times New Roman" panose="02020603050405020304" charset="0"/>
              <a:cs typeface="Times New Roman" panose="02020603050405020304" charset="0"/>
              <a:sym typeface="+mn-ea"/>
            </a:endParaRPr>
          </a:p>
        </p:txBody>
      </p:sp>
      <p:sp>
        <p:nvSpPr>
          <p:cNvPr id="3" name="内容占位符 2"/>
          <p:cNvSpPr>
            <a:spLocks noGrp="1"/>
          </p:cNvSpPr>
          <p:nvPr>
            <p:ph idx="1"/>
          </p:nvPr>
        </p:nvSpPr>
        <p:spPr>
          <a:xfrm>
            <a:off x="838200" y="1557020"/>
            <a:ext cx="10938510" cy="4850765"/>
          </a:xfrm>
          <a:ln w="28575">
            <a:solidFill>
              <a:schemeClr val="accent2">
                <a:lumMod val="75000"/>
              </a:schemeClr>
            </a:solidFill>
          </a:ln>
        </p:spPr>
        <p:txBody>
          <a:bodyPr>
            <a:normAutofit/>
          </a:bodyPr>
          <a:lstStyle/>
          <a:p>
            <a:pPr marL="0" indent="0" fontAlgn="auto">
              <a:lnSpc>
                <a:spcPct val="150000"/>
              </a:lnSpc>
              <a:spcBef>
                <a:spcPts val="0"/>
              </a:spcBef>
              <a:buNone/>
            </a:pPr>
            <a:r>
              <a:rPr lang="en-US" altLang="zh-CN" b="1">
                <a:latin typeface="Times New Roman" panose="02020603050405020304" charset="0"/>
                <a:sym typeface="+mn-ea"/>
              </a:rPr>
              <a:t>1.3 Methods to write the introduction</a:t>
            </a:r>
          </a:p>
          <a:p>
            <a:pPr marL="0" indent="0" fontAlgn="auto">
              <a:lnSpc>
                <a:spcPct val="200000"/>
              </a:lnSpc>
              <a:spcBef>
                <a:spcPts val="0"/>
              </a:spcBef>
            </a:pPr>
            <a:r>
              <a:rPr lang="en-US" altLang="zh-CN">
                <a:latin typeface="Times New Roman" panose="02020603050405020304" charset="0"/>
                <a:sym typeface="+mn-ea"/>
              </a:rPr>
              <a:t> Problem method</a:t>
            </a:r>
          </a:p>
          <a:p>
            <a:pPr marL="0" indent="0" fontAlgn="auto">
              <a:lnSpc>
                <a:spcPct val="200000"/>
              </a:lnSpc>
              <a:spcBef>
                <a:spcPts val="0"/>
              </a:spcBef>
            </a:pPr>
            <a:r>
              <a:rPr lang="en-US" altLang="zh-CN">
                <a:latin typeface="Times New Roman" panose="02020603050405020304" charset="0"/>
                <a:sym typeface="+mn-ea"/>
              </a:rPr>
              <a:t> Topic method</a:t>
            </a:r>
          </a:p>
          <a:p>
            <a:pPr marL="0" indent="0" fontAlgn="auto">
              <a:lnSpc>
                <a:spcPct val="200000"/>
              </a:lnSpc>
              <a:spcBef>
                <a:spcPts val="0"/>
              </a:spcBef>
            </a:pPr>
            <a:r>
              <a:rPr lang="en-US" altLang="zh-CN">
                <a:latin typeface="Times New Roman" panose="02020603050405020304" charset="0"/>
                <a:sym typeface="+mn-ea"/>
              </a:rPr>
              <a:t> Background method</a:t>
            </a:r>
          </a:p>
          <a:p>
            <a:pPr marL="0" indent="0" fontAlgn="auto">
              <a:lnSpc>
                <a:spcPct val="150000"/>
              </a:lnSpc>
              <a:spcBef>
                <a:spcPts val="0"/>
              </a:spcBef>
              <a:buNone/>
            </a:pPr>
            <a:endParaRPr lang="en-US" altLang="zh-CN">
              <a:latin typeface="Times New Roman" panose="02020603050405020304" charset="0"/>
              <a:cs typeface="Times New Roman" panose="02020603050405020304" charset="0"/>
              <a:sym typeface="+mn-ea"/>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6</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8" name="文本框 7"/>
          <p:cNvSpPr txBox="1"/>
          <p:nvPr/>
        </p:nvSpPr>
        <p:spPr>
          <a:xfrm>
            <a:off x="3785235" y="552450"/>
            <a:ext cx="4064000" cy="368300"/>
          </a:xfrm>
          <a:prstGeom prst="rect">
            <a:avLst/>
          </a:prstGeom>
          <a:noFill/>
        </p:spPr>
        <p:txBody>
          <a:bodyPr wrap="square" rtlCol="0">
            <a:spAutoFit/>
          </a:bodyPr>
          <a:lstStyle/>
          <a:p>
            <a:endParaRPr lang="zh-CN" altLang="en-US"/>
          </a:p>
        </p:txBody>
      </p:sp>
      <p:sp>
        <p:nvSpPr>
          <p:cNvPr id="13" name="文本框 12"/>
          <p:cNvSpPr txBox="1"/>
          <p:nvPr/>
        </p:nvSpPr>
        <p:spPr>
          <a:xfrm>
            <a:off x="6430645" y="216535"/>
            <a:ext cx="4064000" cy="368300"/>
          </a:xfrm>
          <a:prstGeom prst="rect">
            <a:avLst/>
          </a:prstGeom>
          <a:noFill/>
        </p:spPr>
        <p:txBody>
          <a:bodyPr wrap="square" rtlCol="0">
            <a:spAutoFit/>
          </a:bodyPr>
          <a:lstStyle/>
          <a:p>
            <a:endParaRPr lang="zh-CN" alt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zh-CN" altLang="en-US" sz="2800" b="1" i="1">
                <a:latin typeface="Times New Roman" panose="02020603050405020304" charset="0"/>
                <a:cs typeface="Times New Roman" panose="02020603050405020304" charset="0"/>
                <a:sym typeface="+mn-ea"/>
              </a:rPr>
              <a:t>Writing the First Draft</a:t>
            </a:r>
            <a:r>
              <a:rPr lang="en-US" altLang="zh-CN" sz="2800" b="1" i="1">
                <a:latin typeface="Times New Roman" panose="02020603050405020304" charset="0"/>
                <a:cs typeface="Times New Roman" panose="02020603050405020304" charset="0"/>
                <a:sym typeface="+mn-ea"/>
              </a:rPr>
              <a:t>-- </a:t>
            </a:r>
            <a:r>
              <a:rPr lang="en-US" altLang="zh-CN" sz="2800" i="1">
                <a:latin typeface="Times New Roman" panose="02020603050405020304" charset="0"/>
                <a:cs typeface="Times New Roman" panose="02020603050405020304" charset="0"/>
                <a:sym typeface="+mn-ea"/>
              </a:rPr>
              <a:t>1. Introduction</a:t>
            </a:r>
            <a:endParaRPr lang="en-US" altLang="zh-CN" sz="2800" i="1">
              <a:solidFill>
                <a:schemeClr val="tx1"/>
              </a:solidFill>
              <a:latin typeface="Times New Roman" panose="02020603050405020304" charset="0"/>
              <a:cs typeface="Times New Roman" panose="02020603050405020304" charset="0"/>
              <a:sym typeface="+mn-ea"/>
            </a:endParaRPr>
          </a:p>
        </p:txBody>
      </p:sp>
      <p:sp>
        <p:nvSpPr>
          <p:cNvPr id="3" name="内容占位符 2"/>
          <p:cNvSpPr>
            <a:spLocks noGrp="1"/>
          </p:cNvSpPr>
          <p:nvPr>
            <p:ph idx="1"/>
          </p:nvPr>
        </p:nvSpPr>
        <p:spPr>
          <a:xfrm>
            <a:off x="838200" y="1557020"/>
            <a:ext cx="10938510" cy="4850765"/>
          </a:xfrm>
          <a:ln w="28575">
            <a:solidFill>
              <a:schemeClr val="accent2">
                <a:lumMod val="75000"/>
              </a:schemeClr>
            </a:solidFill>
          </a:ln>
        </p:spPr>
        <p:txBody>
          <a:bodyPr>
            <a:normAutofit/>
          </a:bodyPr>
          <a:lstStyle/>
          <a:p>
            <a:pPr marL="0" indent="0" fontAlgn="auto">
              <a:lnSpc>
                <a:spcPct val="150000"/>
              </a:lnSpc>
              <a:spcBef>
                <a:spcPts val="0"/>
              </a:spcBef>
              <a:buNone/>
            </a:pPr>
            <a:r>
              <a:rPr lang="en-US" altLang="zh-CN" b="1">
                <a:latin typeface="Times New Roman" panose="02020603050405020304" charset="0"/>
                <a:sym typeface="+mn-ea"/>
              </a:rPr>
              <a:t>1.3 Methods to write the introduction--</a:t>
            </a:r>
            <a:r>
              <a:rPr lang="en-US" altLang="zh-CN" i="1">
                <a:latin typeface="Times New Roman" panose="02020603050405020304" charset="0"/>
                <a:sym typeface="+mn-ea"/>
              </a:rPr>
              <a:t>Problem method</a:t>
            </a:r>
          </a:p>
          <a:p>
            <a:pPr marL="0" indent="0" fontAlgn="auto">
              <a:lnSpc>
                <a:spcPct val="200000"/>
              </a:lnSpc>
              <a:spcBef>
                <a:spcPts val="0"/>
              </a:spcBef>
              <a:buNone/>
            </a:pPr>
            <a:r>
              <a:rPr lang="en-US" altLang="zh-CN">
                <a:latin typeface="Times New Roman" panose="02020603050405020304" charset="0"/>
                <a:cs typeface="Times New Roman" panose="02020603050405020304" charset="0"/>
                <a:sym typeface="+mn-ea"/>
              </a:rPr>
              <a:t>    In this method, a problem is presented in order to attract the reader’s attention. This kind of introduction complies with the logic of problem-solution; so, the first half is a problem, the latter part the solution.</a:t>
            </a: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6</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8" name="文本框 7"/>
          <p:cNvSpPr txBox="1"/>
          <p:nvPr/>
        </p:nvSpPr>
        <p:spPr>
          <a:xfrm>
            <a:off x="3785235" y="552450"/>
            <a:ext cx="4064000" cy="368300"/>
          </a:xfrm>
          <a:prstGeom prst="rect">
            <a:avLst/>
          </a:prstGeom>
          <a:noFill/>
        </p:spPr>
        <p:txBody>
          <a:bodyPr wrap="square" rtlCol="0">
            <a:spAutoFit/>
          </a:bodyPr>
          <a:lstStyle/>
          <a:p>
            <a:endParaRPr lang="zh-CN" altLang="en-US"/>
          </a:p>
        </p:txBody>
      </p:sp>
      <p:sp>
        <p:nvSpPr>
          <p:cNvPr id="13" name="文本框 12"/>
          <p:cNvSpPr txBox="1"/>
          <p:nvPr/>
        </p:nvSpPr>
        <p:spPr>
          <a:xfrm>
            <a:off x="6430645" y="216535"/>
            <a:ext cx="4064000" cy="368300"/>
          </a:xfrm>
          <a:prstGeom prst="rect">
            <a:avLst/>
          </a:prstGeom>
          <a:noFill/>
        </p:spPr>
        <p:txBody>
          <a:bodyPr wrap="square" rtlCol="0">
            <a:spAutoFit/>
          </a:bodyPr>
          <a:lstStyle/>
          <a:p>
            <a:endParaRPr lang="zh-CN" alt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zh-CN" altLang="en-US" sz="2800" b="1" i="1">
                <a:latin typeface="Times New Roman" panose="02020603050405020304" charset="0"/>
                <a:cs typeface="Times New Roman" panose="02020603050405020304" charset="0"/>
                <a:sym typeface="+mn-ea"/>
              </a:rPr>
              <a:t>Writing the First Draft</a:t>
            </a:r>
            <a:r>
              <a:rPr lang="en-US" altLang="zh-CN" sz="2800" b="1" i="1">
                <a:latin typeface="Times New Roman" panose="02020603050405020304" charset="0"/>
                <a:cs typeface="Times New Roman" panose="02020603050405020304" charset="0"/>
                <a:sym typeface="+mn-ea"/>
              </a:rPr>
              <a:t>-- </a:t>
            </a:r>
            <a:r>
              <a:rPr lang="en-US" altLang="zh-CN" sz="2800" i="1">
                <a:latin typeface="Times New Roman" panose="02020603050405020304" charset="0"/>
                <a:cs typeface="Times New Roman" panose="02020603050405020304" charset="0"/>
                <a:sym typeface="+mn-ea"/>
              </a:rPr>
              <a:t>1. Introduction</a:t>
            </a:r>
            <a:endParaRPr lang="en-US" altLang="zh-CN" sz="2800" i="1">
              <a:solidFill>
                <a:schemeClr val="tx1"/>
              </a:solidFill>
              <a:latin typeface="Times New Roman" panose="02020603050405020304" charset="0"/>
              <a:cs typeface="Times New Roman" panose="02020603050405020304" charset="0"/>
              <a:sym typeface="+mn-ea"/>
            </a:endParaRPr>
          </a:p>
        </p:txBody>
      </p:sp>
      <p:sp>
        <p:nvSpPr>
          <p:cNvPr id="3" name="内容占位符 2"/>
          <p:cNvSpPr>
            <a:spLocks noGrp="1"/>
          </p:cNvSpPr>
          <p:nvPr>
            <p:ph idx="1"/>
          </p:nvPr>
        </p:nvSpPr>
        <p:spPr>
          <a:xfrm>
            <a:off x="838200" y="1557020"/>
            <a:ext cx="10938510" cy="4850765"/>
          </a:xfrm>
          <a:ln w="28575">
            <a:solidFill>
              <a:schemeClr val="accent2">
                <a:lumMod val="75000"/>
              </a:schemeClr>
            </a:solidFill>
          </a:ln>
        </p:spPr>
        <p:txBody>
          <a:bodyPr>
            <a:normAutofit/>
          </a:bodyPr>
          <a:lstStyle/>
          <a:p>
            <a:pPr marL="0" indent="0" fontAlgn="auto">
              <a:lnSpc>
                <a:spcPct val="150000"/>
              </a:lnSpc>
              <a:spcBef>
                <a:spcPts val="0"/>
              </a:spcBef>
              <a:buNone/>
            </a:pPr>
            <a:r>
              <a:rPr lang="en-US" altLang="zh-CN" b="1" dirty="0">
                <a:latin typeface="Times New Roman" panose="02020603050405020304" charset="0"/>
                <a:sym typeface="+mn-ea"/>
              </a:rPr>
              <a:t>1.3 Methods to write the introduction--</a:t>
            </a:r>
            <a:r>
              <a:rPr lang="en-US" altLang="zh-CN" i="1" dirty="0">
                <a:latin typeface="Times New Roman" panose="02020603050405020304" charset="0"/>
                <a:sym typeface="+mn-ea"/>
              </a:rPr>
              <a:t>Problem method</a:t>
            </a:r>
          </a:p>
          <a:p>
            <a:pPr marL="0" indent="0" fontAlgn="auto">
              <a:lnSpc>
                <a:spcPct val="200000"/>
              </a:lnSpc>
              <a:spcBef>
                <a:spcPts val="0"/>
              </a:spcBef>
              <a:buNone/>
            </a:pPr>
            <a:r>
              <a:rPr lang="en-US" altLang="zh-CN" dirty="0">
                <a:latin typeface="Times New Roman" panose="02020603050405020304" charset="0"/>
                <a:cs typeface="Times New Roman" panose="02020603050405020304" charset="0"/>
                <a:sym typeface="+mn-ea"/>
              </a:rPr>
              <a:t>    Such expressions as “difficulty”, “a difficult problem”, “a problem of considerable interest”, “...is a difficult problem...”, “...pose a problem of considerable interest in many industrial applications” are often used in this part. And “solution(s)” is usually used in the solution part. </a:t>
            </a: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6</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8" name="文本框 7"/>
          <p:cNvSpPr txBox="1"/>
          <p:nvPr/>
        </p:nvSpPr>
        <p:spPr>
          <a:xfrm>
            <a:off x="3785235" y="552450"/>
            <a:ext cx="4064000" cy="368300"/>
          </a:xfrm>
          <a:prstGeom prst="rect">
            <a:avLst/>
          </a:prstGeom>
          <a:noFill/>
        </p:spPr>
        <p:txBody>
          <a:bodyPr wrap="square" rtlCol="0">
            <a:spAutoFit/>
          </a:bodyPr>
          <a:lstStyle/>
          <a:p>
            <a:endParaRPr lang="zh-CN" altLang="en-US"/>
          </a:p>
        </p:txBody>
      </p:sp>
      <p:sp>
        <p:nvSpPr>
          <p:cNvPr id="13" name="文本框 12"/>
          <p:cNvSpPr txBox="1"/>
          <p:nvPr/>
        </p:nvSpPr>
        <p:spPr>
          <a:xfrm>
            <a:off x="6430645" y="216535"/>
            <a:ext cx="4064000" cy="368300"/>
          </a:xfrm>
          <a:prstGeom prst="rect">
            <a:avLst/>
          </a:prstGeom>
          <a:noFill/>
        </p:spPr>
        <p:txBody>
          <a:bodyPr wrap="square" rtlCol="0">
            <a:spAutoFit/>
          </a:bodyPr>
          <a:lstStyle/>
          <a:p>
            <a:endParaRPr lang="zh-CN" alt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zh-CN" altLang="en-US" sz="2800" b="1" i="1">
                <a:latin typeface="Times New Roman" panose="02020603050405020304" charset="0"/>
                <a:cs typeface="Times New Roman" panose="02020603050405020304" charset="0"/>
                <a:sym typeface="+mn-ea"/>
              </a:rPr>
              <a:t>Writing the First Draft</a:t>
            </a:r>
            <a:r>
              <a:rPr lang="en-US" altLang="zh-CN" sz="2800" b="1" i="1">
                <a:latin typeface="Times New Roman" panose="02020603050405020304" charset="0"/>
                <a:cs typeface="Times New Roman" panose="02020603050405020304" charset="0"/>
                <a:sym typeface="+mn-ea"/>
              </a:rPr>
              <a:t>-- </a:t>
            </a:r>
            <a:r>
              <a:rPr lang="en-US" altLang="zh-CN" sz="2800" i="1">
                <a:latin typeface="Times New Roman" panose="02020603050405020304" charset="0"/>
                <a:cs typeface="Times New Roman" panose="02020603050405020304" charset="0"/>
                <a:sym typeface="+mn-ea"/>
              </a:rPr>
              <a:t>1. Introduction</a:t>
            </a:r>
            <a:endParaRPr lang="en-US" altLang="zh-CN" sz="2800" i="1">
              <a:solidFill>
                <a:schemeClr val="tx1"/>
              </a:solidFill>
              <a:latin typeface="Times New Roman" panose="02020603050405020304" charset="0"/>
              <a:cs typeface="Times New Roman" panose="02020603050405020304" charset="0"/>
              <a:sym typeface="+mn-ea"/>
            </a:endParaRPr>
          </a:p>
        </p:txBody>
      </p:sp>
      <p:sp>
        <p:nvSpPr>
          <p:cNvPr id="3" name="内容占位符 2"/>
          <p:cNvSpPr>
            <a:spLocks noGrp="1"/>
          </p:cNvSpPr>
          <p:nvPr>
            <p:ph idx="1"/>
          </p:nvPr>
        </p:nvSpPr>
        <p:spPr>
          <a:xfrm>
            <a:off x="838200" y="1557020"/>
            <a:ext cx="10938510" cy="4850765"/>
          </a:xfrm>
          <a:ln w="28575">
            <a:solidFill>
              <a:schemeClr val="accent2">
                <a:lumMod val="75000"/>
              </a:schemeClr>
            </a:solidFill>
          </a:ln>
        </p:spPr>
        <p:txBody>
          <a:bodyPr>
            <a:normAutofit/>
          </a:bodyPr>
          <a:lstStyle/>
          <a:p>
            <a:pPr marL="0" indent="0" fontAlgn="auto">
              <a:lnSpc>
                <a:spcPct val="150000"/>
              </a:lnSpc>
              <a:spcBef>
                <a:spcPts val="0"/>
              </a:spcBef>
              <a:buNone/>
            </a:pPr>
            <a:r>
              <a:rPr lang="en-US" altLang="zh-CN" b="1">
                <a:latin typeface="Times New Roman" panose="02020603050405020304" charset="0"/>
                <a:sym typeface="+mn-ea"/>
              </a:rPr>
              <a:t>1.3 Methods to write the introduction--</a:t>
            </a:r>
            <a:r>
              <a:rPr lang="en-US" altLang="zh-CN" i="1">
                <a:latin typeface="Times New Roman" panose="02020603050405020304" charset="0"/>
                <a:sym typeface="+mn-ea"/>
              </a:rPr>
              <a:t>Topic method</a:t>
            </a:r>
          </a:p>
          <a:p>
            <a:pPr marL="0" indent="0" fontAlgn="auto">
              <a:lnSpc>
                <a:spcPct val="200000"/>
              </a:lnSpc>
              <a:spcBef>
                <a:spcPts val="0"/>
              </a:spcBef>
              <a:buNone/>
            </a:pPr>
            <a:r>
              <a:rPr lang="en-US" altLang="zh-CN">
                <a:latin typeface="Times New Roman" panose="02020603050405020304" charset="0"/>
                <a:cs typeface="Times New Roman" panose="02020603050405020304" charset="0"/>
                <a:sym typeface="+mn-ea"/>
              </a:rPr>
              <a:t>This method comes straight to the point by directly putting forward the theme of the paper, the author’s point of view or thesis statement. Commonly used expressions for straight presentation of topics are:</a:t>
            </a: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6</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8" name="文本框 7"/>
          <p:cNvSpPr txBox="1"/>
          <p:nvPr/>
        </p:nvSpPr>
        <p:spPr>
          <a:xfrm>
            <a:off x="3785235" y="552450"/>
            <a:ext cx="4064000" cy="368300"/>
          </a:xfrm>
          <a:prstGeom prst="rect">
            <a:avLst/>
          </a:prstGeom>
          <a:noFill/>
        </p:spPr>
        <p:txBody>
          <a:bodyPr wrap="square" rtlCol="0">
            <a:spAutoFit/>
          </a:bodyPr>
          <a:lstStyle/>
          <a:p>
            <a:endParaRPr lang="zh-CN" altLang="en-US"/>
          </a:p>
        </p:txBody>
      </p:sp>
      <p:sp>
        <p:nvSpPr>
          <p:cNvPr id="13" name="文本框 12"/>
          <p:cNvSpPr txBox="1"/>
          <p:nvPr/>
        </p:nvSpPr>
        <p:spPr>
          <a:xfrm>
            <a:off x="6430645" y="216535"/>
            <a:ext cx="4064000" cy="368300"/>
          </a:xfrm>
          <a:prstGeom prst="rect">
            <a:avLst/>
          </a:prstGeom>
          <a:noFill/>
        </p:spPr>
        <p:txBody>
          <a:bodyPr wrap="square" rtlCol="0">
            <a:spAutoFit/>
          </a:bodyPr>
          <a:lstStyle/>
          <a:p>
            <a:endParaRPr lang="zh-CN" alt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zh-CN" altLang="en-US" sz="2800" b="1" i="1">
                <a:latin typeface="Times New Roman" panose="02020603050405020304" charset="0"/>
                <a:cs typeface="Times New Roman" panose="02020603050405020304" charset="0"/>
                <a:sym typeface="+mn-ea"/>
              </a:rPr>
              <a:t>Writing the First Draft</a:t>
            </a:r>
            <a:r>
              <a:rPr lang="en-US" altLang="zh-CN" sz="2800" b="1" i="1">
                <a:latin typeface="Times New Roman" panose="02020603050405020304" charset="0"/>
                <a:cs typeface="Times New Roman" panose="02020603050405020304" charset="0"/>
                <a:sym typeface="+mn-ea"/>
              </a:rPr>
              <a:t>-- </a:t>
            </a:r>
            <a:r>
              <a:rPr lang="en-US" altLang="zh-CN" sz="2800" i="1">
                <a:latin typeface="Times New Roman" panose="02020603050405020304" charset="0"/>
                <a:cs typeface="Times New Roman" panose="02020603050405020304" charset="0"/>
                <a:sym typeface="+mn-ea"/>
              </a:rPr>
              <a:t>1. Introduction</a:t>
            </a:r>
            <a:endParaRPr lang="en-US" altLang="zh-CN" sz="2800" i="1">
              <a:solidFill>
                <a:schemeClr val="tx1"/>
              </a:solidFill>
              <a:latin typeface="Times New Roman" panose="02020603050405020304" charset="0"/>
              <a:cs typeface="Times New Roman" panose="02020603050405020304" charset="0"/>
              <a:sym typeface="+mn-ea"/>
            </a:endParaRPr>
          </a:p>
        </p:txBody>
      </p:sp>
      <p:sp>
        <p:nvSpPr>
          <p:cNvPr id="3" name="内容占位符 2"/>
          <p:cNvSpPr>
            <a:spLocks noGrp="1"/>
          </p:cNvSpPr>
          <p:nvPr>
            <p:ph idx="1"/>
          </p:nvPr>
        </p:nvSpPr>
        <p:spPr>
          <a:xfrm>
            <a:off x="838200" y="1557020"/>
            <a:ext cx="10938510" cy="4850765"/>
          </a:xfrm>
          <a:ln w="28575">
            <a:solidFill>
              <a:schemeClr val="accent2">
                <a:lumMod val="75000"/>
              </a:schemeClr>
            </a:solidFill>
          </a:ln>
        </p:spPr>
        <p:txBody>
          <a:bodyPr>
            <a:normAutofit fontScale="90000"/>
          </a:bodyPr>
          <a:lstStyle/>
          <a:p>
            <a:pPr marL="0" indent="0" fontAlgn="auto">
              <a:lnSpc>
                <a:spcPct val="150000"/>
              </a:lnSpc>
              <a:spcBef>
                <a:spcPts val="0"/>
              </a:spcBef>
              <a:buNone/>
            </a:pPr>
            <a:r>
              <a:rPr lang="en-US" altLang="zh-CN" b="1">
                <a:latin typeface="Times New Roman" panose="02020603050405020304" charset="0"/>
                <a:sym typeface="+mn-ea"/>
              </a:rPr>
              <a:t>1.3 Methods to write the introduction--</a:t>
            </a:r>
            <a:r>
              <a:rPr lang="en-US" altLang="zh-CN" i="1">
                <a:latin typeface="Times New Roman" panose="02020603050405020304" charset="0"/>
                <a:sym typeface="+mn-ea"/>
              </a:rPr>
              <a:t>Topic method</a:t>
            </a:r>
          </a:p>
          <a:p>
            <a:pPr marL="0" indent="0" fontAlgn="auto">
              <a:lnSpc>
                <a:spcPct val="200000"/>
              </a:lnSpc>
              <a:spcBef>
                <a:spcPts val="0"/>
              </a:spcBef>
              <a:buNone/>
            </a:pPr>
            <a:r>
              <a:rPr lang="en-US" altLang="zh-CN">
                <a:latin typeface="Times New Roman" panose="02020603050405020304" charset="0"/>
                <a:cs typeface="Times New Roman" panose="02020603050405020304" charset="0"/>
                <a:sym typeface="+mn-ea"/>
              </a:rPr>
              <a:t>This paper reports on...                                 It is important to study…</a:t>
            </a:r>
          </a:p>
          <a:p>
            <a:pPr marL="0" indent="0" fontAlgn="auto">
              <a:lnSpc>
                <a:spcPct val="200000"/>
              </a:lnSpc>
              <a:spcBef>
                <a:spcPts val="0"/>
              </a:spcBef>
              <a:buNone/>
            </a:pPr>
            <a:r>
              <a:rPr lang="en-US" altLang="zh-CN">
                <a:latin typeface="Times New Roman" panose="02020603050405020304" charset="0"/>
                <a:cs typeface="Times New Roman" panose="02020603050405020304" charset="0"/>
                <a:sym typeface="+mn-ea"/>
              </a:rPr>
              <a:t>The present work deals mainly with...         The primary goal of this research is...</a:t>
            </a:r>
          </a:p>
          <a:p>
            <a:pPr marL="0" indent="0" fontAlgn="auto">
              <a:lnSpc>
                <a:spcPct val="200000"/>
              </a:lnSpc>
              <a:spcBef>
                <a:spcPts val="0"/>
              </a:spcBef>
              <a:buNone/>
            </a:pPr>
            <a:r>
              <a:rPr lang="en-US" altLang="zh-CN">
                <a:latin typeface="Times New Roman" panose="02020603050405020304" charset="0"/>
                <a:cs typeface="Times New Roman" panose="02020603050405020304" charset="0"/>
                <a:sym typeface="+mn-ea"/>
              </a:rPr>
              <a:t>The emphasis of this paper is to survey...       The present study is focused on...</a:t>
            </a:r>
          </a:p>
          <a:p>
            <a:pPr marL="0" indent="0" fontAlgn="auto">
              <a:lnSpc>
                <a:spcPct val="200000"/>
              </a:lnSpc>
              <a:spcBef>
                <a:spcPts val="0"/>
              </a:spcBef>
              <a:buNone/>
            </a:pPr>
            <a:r>
              <a:rPr lang="en-US" altLang="zh-CN">
                <a:latin typeface="Times New Roman" panose="02020603050405020304" charset="0"/>
                <a:cs typeface="Times New Roman" panose="02020603050405020304" charset="0"/>
                <a:sym typeface="+mn-ea"/>
              </a:rPr>
              <a:t>The purpose of this paper/study/thesis is...</a:t>
            </a:r>
          </a:p>
          <a:p>
            <a:pPr marL="0" indent="0" fontAlgn="auto">
              <a:lnSpc>
                <a:spcPct val="200000"/>
              </a:lnSpc>
              <a:spcBef>
                <a:spcPts val="0"/>
              </a:spcBef>
              <a:buNone/>
            </a:pPr>
            <a:r>
              <a:rPr lang="en-US" altLang="zh-CN">
                <a:latin typeface="Times New Roman" panose="02020603050405020304" charset="0"/>
                <a:cs typeface="Times New Roman" panose="02020603050405020304" charset="0"/>
                <a:sym typeface="+mn-ea"/>
              </a:rPr>
              <a:t>In this paper, ….is discussed/studied/presented/investigated/described.</a:t>
            </a: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6</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8" name="文本框 7"/>
          <p:cNvSpPr txBox="1"/>
          <p:nvPr/>
        </p:nvSpPr>
        <p:spPr>
          <a:xfrm>
            <a:off x="3785235" y="552450"/>
            <a:ext cx="4064000" cy="368300"/>
          </a:xfrm>
          <a:prstGeom prst="rect">
            <a:avLst/>
          </a:prstGeom>
          <a:noFill/>
        </p:spPr>
        <p:txBody>
          <a:bodyPr wrap="square" rtlCol="0">
            <a:spAutoFit/>
          </a:bodyPr>
          <a:lstStyle/>
          <a:p>
            <a:endParaRPr lang="zh-CN" altLang="en-US"/>
          </a:p>
        </p:txBody>
      </p:sp>
      <p:sp>
        <p:nvSpPr>
          <p:cNvPr id="13" name="文本框 12"/>
          <p:cNvSpPr txBox="1"/>
          <p:nvPr/>
        </p:nvSpPr>
        <p:spPr>
          <a:xfrm>
            <a:off x="6430645" y="216535"/>
            <a:ext cx="4064000" cy="368300"/>
          </a:xfrm>
          <a:prstGeom prst="rect">
            <a:avLst/>
          </a:prstGeom>
          <a:noFill/>
        </p:spPr>
        <p:txBody>
          <a:bodyPr wrap="square" rtlCol="0">
            <a:spAutoFit/>
          </a:bodyPr>
          <a:lstStyle/>
          <a:p>
            <a:endParaRPr lang="zh-CN" alt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zh-CN" altLang="en-US" sz="2800" b="1" i="1">
                <a:latin typeface="Times New Roman" panose="02020603050405020304" charset="0"/>
                <a:cs typeface="Times New Roman" panose="02020603050405020304" charset="0"/>
                <a:sym typeface="+mn-ea"/>
              </a:rPr>
              <a:t>Writing the First Draft</a:t>
            </a:r>
            <a:r>
              <a:rPr lang="en-US" altLang="zh-CN" sz="2800" b="1" i="1">
                <a:latin typeface="Times New Roman" panose="02020603050405020304" charset="0"/>
                <a:cs typeface="Times New Roman" panose="02020603050405020304" charset="0"/>
                <a:sym typeface="+mn-ea"/>
              </a:rPr>
              <a:t>-- </a:t>
            </a:r>
            <a:r>
              <a:rPr lang="en-US" altLang="zh-CN" sz="2800" i="1">
                <a:latin typeface="Times New Roman" panose="02020603050405020304" charset="0"/>
                <a:cs typeface="Times New Roman" panose="02020603050405020304" charset="0"/>
                <a:sym typeface="+mn-ea"/>
              </a:rPr>
              <a:t>1. Introduction</a:t>
            </a:r>
            <a:endParaRPr lang="en-US" altLang="zh-CN" sz="2800" i="1">
              <a:solidFill>
                <a:schemeClr val="tx1"/>
              </a:solidFill>
              <a:latin typeface="Times New Roman" panose="02020603050405020304" charset="0"/>
              <a:cs typeface="Times New Roman" panose="02020603050405020304" charset="0"/>
              <a:sym typeface="+mn-ea"/>
            </a:endParaRPr>
          </a:p>
        </p:txBody>
      </p:sp>
      <p:sp>
        <p:nvSpPr>
          <p:cNvPr id="3" name="内容占位符 2"/>
          <p:cNvSpPr>
            <a:spLocks noGrp="1"/>
          </p:cNvSpPr>
          <p:nvPr>
            <p:ph idx="1"/>
          </p:nvPr>
        </p:nvSpPr>
        <p:spPr>
          <a:xfrm>
            <a:off x="838200" y="1557020"/>
            <a:ext cx="10938510" cy="4850765"/>
          </a:xfrm>
          <a:ln w="28575">
            <a:solidFill>
              <a:schemeClr val="accent2">
                <a:lumMod val="75000"/>
              </a:schemeClr>
            </a:solidFill>
          </a:ln>
        </p:spPr>
        <p:txBody>
          <a:bodyPr>
            <a:normAutofit fontScale="97500"/>
          </a:bodyPr>
          <a:lstStyle/>
          <a:p>
            <a:pPr marL="0" indent="0" fontAlgn="auto">
              <a:lnSpc>
                <a:spcPct val="150000"/>
              </a:lnSpc>
              <a:spcBef>
                <a:spcPts val="0"/>
              </a:spcBef>
              <a:buNone/>
            </a:pPr>
            <a:r>
              <a:rPr lang="en-US" altLang="zh-CN" b="1" dirty="0">
                <a:latin typeface="Times New Roman" panose="02020603050405020304" charset="0"/>
                <a:sym typeface="+mn-ea"/>
              </a:rPr>
              <a:t>1.3 Methods to write the introduction--</a:t>
            </a:r>
            <a:r>
              <a:rPr lang="en-US" altLang="zh-CN" i="1" dirty="0">
                <a:latin typeface="Times New Roman" panose="02020603050405020304" charset="0"/>
                <a:sym typeface="+mn-ea"/>
              </a:rPr>
              <a:t>Background method</a:t>
            </a:r>
          </a:p>
          <a:p>
            <a:pPr marL="0" indent="0" fontAlgn="auto">
              <a:lnSpc>
                <a:spcPct val="200000"/>
              </a:lnSpc>
              <a:spcBef>
                <a:spcPts val="0"/>
              </a:spcBef>
              <a:buNone/>
            </a:pPr>
            <a:r>
              <a:rPr lang="en-US" altLang="zh-CN" dirty="0">
                <a:latin typeface="Times New Roman" panose="02020603050405020304" charset="0"/>
                <a:cs typeface="Times New Roman" panose="02020603050405020304" charset="0"/>
                <a:sym typeface="+mn-ea"/>
              </a:rPr>
              <a:t>    This method provides background information of the study at the beginning of the paper, such as the latest progress of the study so far, strength and weakness of other researchers’ results and the significance of the present study. The widely used expressions for background method are:</a:t>
            </a:r>
          </a:p>
          <a:p>
            <a:pPr marL="0" indent="0" fontAlgn="auto">
              <a:lnSpc>
                <a:spcPct val="200000"/>
              </a:lnSpc>
              <a:spcBef>
                <a:spcPts val="0"/>
              </a:spcBef>
              <a:buNone/>
            </a:pPr>
            <a:endParaRPr lang="en-US" altLang="zh-CN" dirty="0">
              <a:latin typeface="Times New Roman" panose="02020603050405020304" charset="0"/>
              <a:cs typeface="Times New Roman" panose="02020603050405020304" charset="0"/>
              <a:sym typeface="+mn-ea"/>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6</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8" name="文本框 7"/>
          <p:cNvSpPr txBox="1"/>
          <p:nvPr/>
        </p:nvSpPr>
        <p:spPr>
          <a:xfrm>
            <a:off x="3785235" y="552450"/>
            <a:ext cx="4064000" cy="368300"/>
          </a:xfrm>
          <a:prstGeom prst="rect">
            <a:avLst/>
          </a:prstGeom>
          <a:noFill/>
        </p:spPr>
        <p:txBody>
          <a:bodyPr wrap="square" rtlCol="0">
            <a:spAutoFit/>
          </a:bodyPr>
          <a:lstStyle/>
          <a:p>
            <a:endParaRPr lang="zh-CN" altLang="en-US"/>
          </a:p>
        </p:txBody>
      </p:sp>
      <p:sp>
        <p:nvSpPr>
          <p:cNvPr id="13" name="文本框 12"/>
          <p:cNvSpPr txBox="1"/>
          <p:nvPr/>
        </p:nvSpPr>
        <p:spPr>
          <a:xfrm>
            <a:off x="6430645" y="216535"/>
            <a:ext cx="4064000" cy="368300"/>
          </a:xfrm>
          <a:prstGeom prst="rect">
            <a:avLst/>
          </a:prstGeom>
          <a:noFill/>
        </p:spPr>
        <p:txBody>
          <a:bodyPr wrap="square" rtlCol="0">
            <a:spAutoFit/>
          </a:bodyPr>
          <a:lstStyle/>
          <a:p>
            <a:endParaRPr lang="zh-CN" alt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zh-CN" altLang="en-US" sz="2800" b="1" i="1">
                <a:latin typeface="Times New Roman" panose="02020603050405020304" charset="0"/>
                <a:cs typeface="Times New Roman" panose="02020603050405020304" charset="0"/>
                <a:sym typeface="+mn-ea"/>
              </a:rPr>
              <a:t>Writing the First Draft</a:t>
            </a:r>
            <a:r>
              <a:rPr lang="en-US" altLang="zh-CN" sz="2800" b="1" i="1">
                <a:latin typeface="Times New Roman" panose="02020603050405020304" charset="0"/>
                <a:cs typeface="Times New Roman" panose="02020603050405020304" charset="0"/>
                <a:sym typeface="+mn-ea"/>
              </a:rPr>
              <a:t>-- </a:t>
            </a:r>
            <a:r>
              <a:rPr lang="en-US" altLang="zh-CN" sz="2800" i="1">
                <a:latin typeface="Times New Roman" panose="02020603050405020304" charset="0"/>
                <a:cs typeface="Times New Roman" panose="02020603050405020304" charset="0"/>
                <a:sym typeface="+mn-ea"/>
              </a:rPr>
              <a:t>1. Introduction</a:t>
            </a:r>
            <a:endParaRPr lang="en-US" altLang="zh-CN" sz="2800" i="1">
              <a:solidFill>
                <a:schemeClr val="tx1"/>
              </a:solidFill>
              <a:latin typeface="Times New Roman" panose="02020603050405020304" charset="0"/>
              <a:cs typeface="Times New Roman" panose="02020603050405020304" charset="0"/>
              <a:sym typeface="+mn-ea"/>
            </a:endParaRPr>
          </a:p>
        </p:txBody>
      </p:sp>
      <p:sp>
        <p:nvSpPr>
          <p:cNvPr id="3" name="内容占位符 2"/>
          <p:cNvSpPr>
            <a:spLocks noGrp="1"/>
          </p:cNvSpPr>
          <p:nvPr>
            <p:ph idx="1"/>
          </p:nvPr>
        </p:nvSpPr>
        <p:spPr>
          <a:xfrm>
            <a:off x="838200" y="1557020"/>
            <a:ext cx="10938510" cy="4850765"/>
          </a:xfrm>
          <a:ln w="28575">
            <a:solidFill>
              <a:schemeClr val="accent2">
                <a:lumMod val="75000"/>
              </a:schemeClr>
            </a:solidFill>
          </a:ln>
        </p:spPr>
        <p:txBody>
          <a:bodyPr>
            <a:normAutofit fontScale="97500"/>
          </a:bodyPr>
          <a:lstStyle/>
          <a:p>
            <a:pPr marL="0" indent="0" fontAlgn="auto">
              <a:lnSpc>
                <a:spcPct val="150000"/>
              </a:lnSpc>
              <a:spcBef>
                <a:spcPts val="0"/>
              </a:spcBef>
              <a:buNone/>
            </a:pPr>
            <a:r>
              <a:rPr lang="en-US" altLang="zh-CN" b="1" dirty="0">
                <a:latin typeface="Times New Roman" panose="02020603050405020304" charset="0"/>
                <a:sym typeface="+mn-ea"/>
              </a:rPr>
              <a:t>1.3 Methods to write the introduction--</a:t>
            </a:r>
            <a:r>
              <a:rPr lang="en-US" altLang="zh-CN" i="1" dirty="0">
                <a:latin typeface="Times New Roman" panose="02020603050405020304" charset="0"/>
                <a:sym typeface="+mn-ea"/>
              </a:rPr>
              <a:t>Background method</a:t>
            </a:r>
          </a:p>
          <a:p>
            <a:pPr marL="0" indent="0" fontAlgn="auto">
              <a:lnSpc>
                <a:spcPct val="200000"/>
              </a:lnSpc>
              <a:spcBef>
                <a:spcPts val="0"/>
              </a:spcBef>
              <a:buNone/>
            </a:pPr>
            <a:r>
              <a:rPr lang="en-US" altLang="zh-CN" dirty="0">
                <a:latin typeface="Times New Roman" panose="02020603050405020304" charset="0"/>
                <a:cs typeface="Times New Roman" panose="02020603050405020304" charset="0"/>
                <a:sym typeface="+mn-ea"/>
              </a:rPr>
              <a:t>It is well known that…</a:t>
            </a:r>
          </a:p>
          <a:p>
            <a:pPr marL="0" indent="0" fontAlgn="auto">
              <a:lnSpc>
                <a:spcPct val="200000"/>
              </a:lnSpc>
              <a:spcBef>
                <a:spcPts val="0"/>
              </a:spcBef>
              <a:buNone/>
            </a:pPr>
            <a:r>
              <a:rPr lang="en-US" altLang="zh-CN" dirty="0">
                <a:latin typeface="Times New Roman" panose="02020603050405020304" charset="0"/>
                <a:cs typeface="Times New Roman" panose="02020603050405020304" charset="0"/>
                <a:sym typeface="+mn-ea"/>
              </a:rPr>
              <a:t>It is noteworthy that…has made progress</a:t>
            </a:r>
          </a:p>
          <a:p>
            <a:pPr marL="0" indent="0" fontAlgn="auto">
              <a:lnSpc>
                <a:spcPct val="200000"/>
              </a:lnSpc>
              <a:spcBef>
                <a:spcPts val="0"/>
              </a:spcBef>
              <a:buNone/>
            </a:pPr>
            <a:r>
              <a:rPr lang="en-US" altLang="zh-CN" dirty="0">
                <a:latin typeface="Times New Roman" panose="02020603050405020304" charset="0"/>
                <a:cs typeface="Times New Roman" panose="02020603050405020304" charset="0"/>
                <a:sym typeface="+mn-ea"/>
              </a:rPr>
              <a:t>In recent years, there has been a great interest in...</a:t>
            </a:r>
          </a:p>
          <a:p>
            <a:pPr marL="0" indent="0" fontAlgn="auto">
              <a:lnSpc>
                <a:spcPct val="200000"/>
              </a:lnSpc>
              <a:spcBef>
                <a:spcPts val="0"/>
              </a:spcBef>
              <a:buNone/>
            </a:pPr>
            <a:r>
              <a:rPr lang="en-US" altLang="zh-CN" dirty="0">
                <a:latin typeface="Times New Roman" panose="02020603050405020304" charset="0"/>
                <a:cs typeface="Times New Roman" panose="02020603050405020304" charset="0"/>
                <a:sym typeface="+mn-ea"/>
              </a:rPr>
              <a:t>Several researchers have theoretically investigated.</a:t>
            </a:r>
          </a:p>
          <a:p>
            <a:pPr marL="0" indent="0" fontAlgn="auto">
              <a:lnSpc>
                <a:spcPct val="200000"/>
              </a:lnSpc>
              <a:spcBef>
                <a:spcPts val="0"/>
              </a:spcBef>
              <a:buNone/>
            </a:pPr>
            <a:r>
              <a:rPr lang="en-US" altLang="zh-CN" dirty="0">
                <a:latin typeface="Times New Roman" panose="02020603050405020304" charset="0"/>
                <a:cs typeface="Times New Roman" panose="02020603050405020304" charset="0"/>
                <a:sym typeface="+mn-ea"/>
              </a:rPr>
              <a:t>In most studies of…, ... has been emphasized with attention being given to.</a:t>
            </a: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6</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8" name="文本框 7"/>
          <p:cNvSpPr txBox="1"/>
          <p:nvPr/>
        </p:nvSpPr>
        <p:spPr>
          <a:xfrm>
            <a:off x="3785235" y="552450"/>
            <a:ext cx="4064000" cy="368300"/>
          </a:xfrm>
          <a:prstGeom prst="rect">
            <a:avLst/>
          </a:prstGeom>
          <a:noFill/>
        </p:spPr>
        <p:txBody>
          <a:bodyPr wrap="square" rtlCol="0">
            <a:spAutoFit/>
          </a:bodyPr>
          <a:lstStyle/>
          <a:p>
            <a:endParaRPr lang="zh-CN" altLang="en-US"/>
          </a:p>
        </p:txBody>
      </p:sp>
      <p:sp>
        <p:nvSpPr>
          <p:cNvPr id="13" name="文本框 12"/>
          <p:cNvSpPr txBox="1"/>
          <p:nvPr/>
        </p:nvSpPr>
        <p:spPr>
          <a:xfrm>
            <a:off x="6430645" y="216535"/>
            <a:ext cx="4064000" cy="368300"/>
          </a:xfrm>
          <a:prstGeom prst="rect">
            <a:avLst/>
          </a:prstGeom>
          <a:noFill/>
        </p:spPr>
        <p:txBody>
          <a:bodyPr wrap="square" rtlCol="0">
            <a:spAutoFit/>
          </a:bodyPr>
          <a:lstStyle/>
          <a:p>
            <a:endParaRPr lang="zh-CN" alt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zh-CN" altLang="en-US" sz="2800" b="1" i="1">
                <a:latin typeface="Times New Roman" panose="02020603050405020304" charset="0"/>
                <a:cs typeface="Times New Roman" panose="02020603050405020304" charset="0"/>
                <a:sym typeface="+mn-ea"/>
              </a:rPr>
              <a:t>Writing the First Draft</a:t>
            </a:r>
            <a:r>
              <a:rPr lang="en-US" altLang="zh-CN" sz="2800" b="1" i="1">
                <a:latin typeface="Times New Roman" panose="02020603050405020304" charset="0"/>
                <a:cs typeface="Times New Roman" panose="02020603050405020304" charset="0"/>
                <a:sym typeface="+mn-ea"/>
              </a:rPr>
              <a:t>-- </a:t>
            </a:r>
            <a:r>
              <a:rPr lang="en-US" altLang="zh-CN" sz="2800" i="1">
                <a:latin typeface="Times New Roman" panose="02020603050405020304" charset="0"/>
                <a:cs typeface="Times New Roman" panose="02020603050405020304" charset="0"/>
                <a:sym typeface="+mn-ea"/>
              </a:rPr>
              <a:t>1. Introduction</a:t>
            </a:r>
            <a:endParaRPr lang="en-US" altLang="zh-CN" sz="2800" i="1">
              <a:solidFill>
                <a:schemeClr val="tx1"/>
              </a:solidFill>
              <a:latin typeface="Times New Roman" panose="02020603050405020304" charset="0"/>
              <a:cs typeface="Times New Roman" panose="02020603050405020304" charset="0"/>
              <a:sym typeface="+mn-ea"/>
            </a:endParaRPr>
          </a:p>
        </p:txBody>
      </p:sp>
      <p:sp>
        <p:nvSpPr>
          <p:cNvPr id="3" name="内容占位符 2"/>
          <p:cNvSpPr>
            <a:spLocks noGrp="1"/>
          </p:cNvSpPr>
          <p:nvPr>
            <p:ph idx="1"/>
          </p:nvPr>
        </p:nvSpPr>
        <p:spPr>
          <a:xfrm>
            <a:off x="838200" y="1557020"/>
            <a:ext cx="10938510" cy="4850765"/>
          </a:xfrm>
          <a:ln w="28575">
            <a:solidFill>
              <a:schemeClr val="accent2">
                <a:lumMod val="75000"/>
              </a:schemeClr>
            </a:solidFill>
          </a:ln>
        </p:spPr>
        <p:txBody>
          <a:bodyPr>
            <a:normAutofit/>
          </a:bodyPr>
          <a:lstStyle/>
          <a:p>
            <a:pPr marL="0" indent="0" fontAlgn="auto">
              <a:lnSpc>
                <a:spcPct val="150000"/>
              </a:lnSpc>
              <a:spcBef>
                <a:spcPts val="0"/>
              </a:spcBef>
              <a:buNone/>
            </a:pPr>
            <a:r>
              <a:rPr lang="en-US" altLang="zh-CN" b="1">
                <a:latin typeface="Times New Roman" panose="02020603050405020304" charset="0"/>
                <a:sym typeface="+mn-ea"/>
              </a:rPr>
              <a:t>1.4</a:t>
            </a:r>
            <a:r>
              <a:rPr lang="en-US" altLang="zh-CN" b="1">
                <a:latin typeface="Times New Roman" panose="02020603050405020304" charset="0"/>
                <a:cs typeface="Times New Roman" panose="02020603050405020304" charset="0"/>
                <a:sym typeface="+mn-ea"/>
              </a:rPr>
              <a:t> Literature Review</a:t>
            </a:r>
          </a:p>
          <a:p>
            <a:pPr marL="609600" indent="-609600" fontAlgn="auto">
              <a:lnSpc>
                <a:spcPct val="150000"/>
              </a:lnSpc>
              <a:buNone/>
            </a:pPr>
            <a:r>
              <a:rPr lang="en-US" altLang="zh-CN">
                <a:latin typeface="Times New Roman" panose="02020603050405020304" charset="0"/>
                <a:cs typeface="Times New Roman" panose="02020603050405020304" charset="0"/>
                <a:sym typeface="+mn-ea"/>
              </a:rPr>
              <a:t>The purpose of literature review</a:t>
            </a:r>
            <a:endParaRPr lang="en-US" altLang="zh-CN">
              <a:latin typeface="Times New Roman" panose="02020603050405020304" charset="0"/>
              <a:cs typeface="Times New Roman" panose="02020603050405020304" charset="0"/>
            </a:endParaRPr>
          </a:p>
          <a:p>
            <a:pPr marL="609600" indent="-609600" fontAlgn="auto">
              <a:lnSpc>
                <a:spcPct val="150000"/>
              </a:lnSpc>
              <a:buNone/>
            </a:pPr>
            <a:r>
              <a:rPr lang="en-US" altLang="zh-CN">
                <a:latin typeface="Times New Roman" panose="02020603050405020304" charset="0"/>
                <a:cs typeface="Times New Roman" panose="02020603050405020304" charset="0"/>
                <a:sym typeface="+mn-ea"/>
              </a:rPr>
              <a:t>---To show what has been previously studied in the field.</a:t>
            </a:r>
            <a:endParaRPr lang="en-US" altLang="zh-CN">
              <a:latin typeface="Times New Roman" panose="02020603050405020304" charset="0"/>
              <a:cs typeface="Times New Roman" panose="02020603050405020304" charset="0"/>
            </a:endParaRPr>
          </a:p>
          <a:p>
            <a:pPr marL="609600" indent="-609600" fontAlgn="auto">
              <a:lnSpc>
                <a:spcPct val="150000"/>
              </a:lnSpc>
              <a:buNone/>
            </a:pPr>
            <a:r>
              <a:rPr lang="en-US" altLang="zh-CN">
                <a:latin typeface="Times New Roman" panose="02020603050405020304" charset="0"/>
                <a:cs typeface="Times New Roman" panose="02020603050405020304" charset="0"/>
                <a:sym typeface="+mn-ea"/>
              </a:rPr>
              <a:t>---To summarize other people’s writings.</a:t>
            </a:r>
            <a:endParaRPr lang="en-US" altLang="zh-CN">
              <a:latin typeface="Times New Roman" panose="02020603050405020304" charset="0"/>
              <a:cs typeface="Times New Roman" panose="02020603050405020304" charset="0"/>
            </a:endParaRPr>
          </a:p>
          <a:p>
            <a:pPr marL="609600" indent="-609600" fontAlgn="auto">
              <a:lnSpc>
                <a:spcPct val="150000"/>
              </a:lnSpc>
              <a:buNone/>
            </a:pPr>
            <a:r>
              <a:rPr lang="en-US" altLang="zh-CN">
                <a:latin typeface="Times New Roman" panose="02020603050405020304" charset="0"/>
                <a:cs typeface="Times New Roman" panose="02020603050405020304" charset="0"/>
                <a:sym typeface="+mn-ea"/>
              </a:rPr>
              <a:t>---To define or review definitions or concepts.</a:t>
            </a:r>
            <a:endParaRPr lang="en-US" altLang="zh-CN">
              <a:latin typeface="Times New Roman" panose="02020603050405020304" charset="0"/>
              <a:cs typeface="Times New Roman" panose="02020603050405020304" charset="0"/>
            </a:endParaRPr>
          </a:p>
          <a:p>
            <a:pPr marL="0" indent="0" fontAlgn="auto">
              <a:lnSpc>
                <a:spcPct val="150000"/>
              </a:lnSpc>
              <a:spcBef>
                <a:spcPts val="0"/>
              </a:spcBef>
              <a:buNone/>
            </a:pPr>
            <a:endParaRPr lang="en-US" altLang="zh-CN" b="1"/>
          </a:p>
          <a:p>
            <a:pPr marL="0" indent="0" fontAlgn="auto">
              <a:lnSpc>
                <a:spcPct val="150000"/>
              </a:lnSpc>
              <a:spcBef>
                <a:spcPts val="0"/>
              </a:spcBef>
              <a:buNone/>
            </a:pPr>
            <a:endParaRPr lang="en-US" altLang="zh-CN" b="1">
              <a:latin typeface="Times New Roman" panose="02020603050405020304" charset="0"/>
              <a:cs typeface="Times New Roman" panose="02020603050405020304" charset="0"/>
              <a:sym typeface="+mn-ea"/>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6</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8" name="文本框 7"/>
          <p:cNvSpPr txBox="1"/>
          <p:nvPr/>
        </p:nvSpPr>
        <p:spPr>
          <a:xfrm>
            <a:off x="3785235" y="552450"/>
            <a:ext cx="4064000" cy="368300"/>
          </a:xfrm>
          <a:prstGeom prst="rect">
            <a:avLst/>
          </a:prstGeom>
          <a:noFill/>
        </p:spPr>
        <p:txBody>
          <a:bodyPr wrap="square" rtlCol="0">
            <a:spAutoFit/>
          </a:bodyPr>
          <a:lstStyle/>
          <a:p>
            <a:endParaRPr lang="zh-CN" altLang="en-US"/>
          </a:p>
        </p:txBody>
      </p:sp>
      <p:sp>
        <p:nvSpPr>
          <p:cNvPr id="13" name="文本框 12"/>
          <p:cNvSpPr txBox="1"/>
          <p:nvPr/>
        </p:nvSpPr>
        <p:spPr>
          <a:xfrm>
            <a:off x="6430645" y="216535"/>
            <a:ext cx="4064000" cy="368300"/>
          </a:xfrm>
          <a:prstGeom prst="rect">
            <a:avLst/>
          </a:prstGeom>
          <a:noFill/>
        </p:spPr>
        <p:txBody>
          <a:bodyPr wrap="square" rtlCol="0">
            <a:spAutoFit/>
          </a:bodyPr>
          <a:lstStyle/>
          <a:p>
            <a:endParaRPr lang="zh-CN" alt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zh-CN" altLang="en-US" sz="2800" b="1" i="1">
                <a:latin typeface="Times New Roman" panose="02020603050405020304" charset="0"/>
                <a:cs typeface="Times New Roman" panose="02020603050405020304" charset="0"/>
                <a:sym typeface="+mn-ea"/>
              </a:rPr>
              <a:t>Writing the First Draft</a:t>
            </a:r>
            <a:r>
              <a:rPr lang="en-US" altLang="zh-CN" sz="2800" b="1" i="1">
                <a:latin typeface="Times New Roman" panose="02020603050405020304" charset="0"/>
                <a:cs typeface="Times New Roman" panose="02020603050405020304" charset="0"/>
                <a:sym typeface="+mn-ea"/>
              </a:rPr>
              <a:t>-- </a:t>
            </a:r>
            <a:r>
              <a:rPr lang="en-US" altLang="zh-CN" sz="2800" i="1">
                <a:latin typeface="Times New Roman" panose="02020603050405020304" charset="0"/>
                <a:cs typeface="Times New Roman" panose="02020603050405020304" charset="0"/>
                <a:sym typeface="+mn-ea"/>
              </a:rPr>
              <a:t>1. Introduction</a:t>
            </a:r>
            <a:endParaRPr lang="en-US" altLang="zh-CN" sz="2800" i="1">
              <a:solidFill>
                <a:schemeClr val="tx1"/>
              </a:solidFill>
              <a:latin typeface="Times New Roman" panose="02020603050405020304" charset="0"/>
              <a:cs typeface="Times New Roman" panose="02020603050405020304" charset="0"/>
              <a:sym typeface="+mn-ea"/>
            </a:endParaRPr>
          </a:p>
        </p:txBody>
      </p:sp>
      <p:sp>
        <p:nvSpPr>
          <p:cNvPr id="3" name="内容占位符 2"/>
          <p:cNvSpPr>
            <a:spLocks noGrp="1"/>
          </p:cNvSpPr>
          <p:nvPr>
            <p:ph idx="1"/>
          </p:nvPr>
        </p:nvSpPr>
        <p:spPr>
          <a:xfrm>
            <a:off x="838200" y="1557020"/>
            <a:ext cx="10938510" cy="4850765"/>
          </a:xfrm>
          <a:ln w="28575">
            <a:solidFill>
              <a:schemeClr val="accent2">
                <a:lumMod val="75000"/>
              </a:schemeClr>
            </a:solidFill>
          </a:ln>
        </p:spPr>
        <p:txBody>
          <a:bodyPr>
            <a:normAutofit fontScale="90000" lnSpcReduction="20000"/>
          </a:bodyPr>
          <a:lstStyle/>
          <a:p>
            <a:pPr marL="0" indent="0" fontAlgn="auto">
              <a:lnSpc>
                <a:spcPct val="150000"/>
              </a:lnSpc>
              <a:spcBef>
                <a:spcPts val="0"/>
              </a:spcBef>
              <a:buNone/>
            </a:pPr>
            <a:r>
              <a:rPr lang="en-US" altLang="zh-CN" b="1">
                <a:latin typeface="Times New Roman" panose="02020603050405020304" charset="0"/>
                <a:sym typeface="+mn-ea"/>
              </a:rPr>
              <a:t>1.4</a:t>
            </a:r>
            <a:r>
              <a:rPr lang="en-US" altLang="zh-CN" b="1">
                <a:latin typeface="Times New Roman" panose="02020603050405020304" charset="0"/>
                <a:cs typeface="Times New Roman" panose="02020603050405020304" charset="0"/>
                <a:sym typeface="+mn-ea"/>
              </a:rPr>
              <a:t> Literature Review</a:t>
            </a:r>
          </a:p>
          <a:p>
            <a:pPr fontAlgn="auto">
              <a:lnSpc>
                <a:spcPct val="150000"/>
              </a:lnSpc>
              <a:buNone/>
            </a:pPr>
            <a:r>
              <a:rPr lang="en-US" altLang="zh-CN">
                <a:latin typeface="Times New Roman" panose="02020603050405020304" charset="0"/>
                <a:cs typeface="Times New Roman" panose="02020603050405020304" charset="0"/>
                <a:sym typeface="+mn-ea"/>
              </a:rPr>
              <a:t>The elements of literature review</a:t>
            </a:r>
            <a:endParaRPr lang="en-US" altLang="zh-CN">
              <a:latin typeface="Times New Roman" panose="02020603050405020304" charset="0"/>
              <a:cs typeface="Times New Roman" panose="02020603050405020304" charset="0"/>
            </a:endParaRPr>
          </a:p>
          <a:p>
            <a:pPr fontAlgn="auto">
              <a:lnSpc>
                <a:spcPct val="150000"/>
              </a:lnSpc>
              <a:buNone/>
            </a:pPr>
            <a:r>
              <a:rPr lang="en-US" altLang="zh-CN">
                <a:latin typeface="Times New Roman" panose="02020603050405020304" charset="0"/>
                <a:cs typeface="Times New Roman" panose="02020603050405020304" charset="0"/>
                <a:sym typeface="+mn-ea"/>
              </a:rPr>
              <a:t>---Description of the source</a:t>
            </a:r>
            <a:endParaRPr lang="en-US" altLang="zh-CN">
              <a:latin typeface="Times New Roman" panose="02020603050405020304" charset="0"/>
              <a:cs typeface="Times New Roman" panose="02020603050405020304" charset="0"/>
            </a:endParaRPr>
          </a:p>
          <a:p>
            <a:pPr fontAlgn="auto">
              <a:lnSpc>
                <a:spcPct val="150000"/>
              </a:lnSpc>
              <a:buNone/>
            </a:pPr>
            <a:r>
              <a:rPr lang="en-US" altLang="zh-CN">
                <a:latin typeface="Times New Roman" panose="02020603050405020304" charset="0"/>
                <a:cs typeface="Times New Roman" panose="02020603050405020304" charset="0"/>
                <a:sym typeface="+mn-ea"/>
              </a:rPr>
              <a:t>---Analysis of the work</a:t>
            </a:r>
            <a:endParaRPr lang="en-US" altLang="zh-CN">
              <a:latin typeface="Times New Roman" panose="02020603050405020304" charset="0"/>
              <a:cs typeface="Times New Roman" panose="02020603050405020304" charset="0"/>
            </a:endParaRPr>
          </a:p>
          <a:p>
            <a:pPr fontAlgn="auto">
              <a:lnSpc>
                <a:spcPct val="150000"/>
              </a:lnSpc>
              <a:buNone/>
            </a:pPr>
            <a:r>
              <a:rPr lang="en-US" altLang="zh-CN">
                <a:latin typeface="Times New Roman" panose="02020603050405020304" charset="0"/>
                <a:cs typeface="Times New Roman" panose="02020603050405020304" charset="0"/>
                <a:sym typeface="+mn-ea"/>
              </a:rPr>
              <a:t>---Crediting the source</a:t>
            </a:r>
          </a:p>
          <a:p>
            <a:pPr fontAlgn="auto">
              <a:lnSpc>
                <a:spcPct val="150000"/>
              </a:lnSpc>
              <a:buNone/>
            </a:pPr>
            <a:r>
              <a:rPr lang="en-US" altLang="zh-CN">
                <a:latin typeface="Times New Roman" panose="02020603050405020304" charset="0"/>
                <a:cs typeface="Times New Roman" panose="02020603050405020304" charset="0"/>
                <a:sym typeface="+mn-ea"/>
              </a:rPr>
              <a:t>   It</a:t>
            </a:r>
            <a:r>
              <a:rPr lang="zh-CN" altLang="en-US">
                <a:latin typeface="Times New Roman" panose="02020603050405020304" charset="0"/>
                <a:cs typeface="Times New Roman" panose="02020603050405020304" charset="0"/>
                <a:sym typeface="+mn-ea"/>
              </a:rPr>
              <a:t> </a:t>
            </a:r>
            <a:r>
              <a:rPr lang="en-US" altLang="zh-CN">
                <a:latin typeface="Times New Roman" panose="02020603050405020304" charset="0"/>
                <a:cs typeface="Times New Roman" panose="02020603050405020304" charset="0"/>
                <a:sym typeface="+mn-ea"/>
              </a:rPr>
              <a:t>is</a:t>
            </a:r>
            <a:r>
              <a:rPr lang="zh-CN" altLang="en-US">
                <a:latin typeface="Times New Roman" panose="02020603050405020304" charset="0"/>
                <a:cs typeface="Times New Roman" panose="02020603050405020304" charset="0"/>
                <a:sym typeface="+mn-ea"/>
              </a:rPr>
              <a:t> </a:t>
            </a:r>
            <a:r>
              <a:rPr lang="en-US" altLang="zh-CN">
                <a:latin typeface="Times New Roman" panose="02020603050405020304" charset="0"/>
                <a:cs typeface="Times New Roman" panose="02020603050405020304" charset="0"/>
                <a:sym typeface="+mn-ea"/>
              </a:rPr>
              <a:t>more</a:t>
            </a:r>
            <a:r>
              <a:rPr lang="zh-CN" altLang="en-US">
                <a:latin typeface="Times New Roman" panose="02020603050405020304" charset="0"/>
                <a:cs typeface="Times New Roman" panose="02020603050405020304" charset="0"/>
                <a:sym typeface="+mn-ea"/>
              </a:rPr>
              <a:t> </a:t>
            </a:r>
            <a:r>
              <a:rPr lang="en-US" altLang="zh-CN">
                <a:latin typeface="Times New Roman" panose="02020603050405020304" charset="0"/>
                <a:cs typeface="Times New Roman" panose="02020603050405020304" charset="0"/>
                <a:sym typeface="+mn-ea"/>
              </a:rPr>
              <a:t>than</a:t>
            </a:r>
            <a:r>
              <a:rPr lang="zh-CN" altLang="en-US">
                <a:latin typeface="Times New Roman" panose="02020603050405020304" charset="0"/>
                <a:cs typeface="Times New Roman" panose="02020603050405020304" charset="0"/>
                <a:sym typeface="+mn-ea"/>
              </a:rPr>
              <a:t> </a:t>
            </a:r>
            <a:r>
              <a:rPr lang="en-US" altLang="zh-CN">
                <a:latin typeface="Times New Roman" panose="02020603050405020304" charset="0"/>
                <a:cs typeface="Times New Roman" panose="02020603050405020304" charset="0"/>
                <a:sym typeface="+mn-ea"/>
              </a:rPr>
              <a:t>a</a:t>
            </a:r>
            <a:r>
              <a:rPr lang="zh-CN" altLang="en-US">
                <a:latin typeface="Times New Roman" panose="02020603050405020304" charset="0"/>
                <a:cs typeface="Times New Roman" panose="02020603050405020304" charset="0"/>
                <a:sym typeface="+mn-ea"/>
              </a:rPr>
              <a:t> </a:t>
            </a:r>
            <a:r>
              <a:rPr lang="en-US" altLang="zh-CN">
                <a:latin typeface="Times New Roman" panose="02020603050405020304" charset="0"/>
                <a:cs typeface="Times New Roman" panose="02020603050405020304" charset="0"/>
                <a:sym typeface="+mn-ea"/>
              </a:rPr>
              <a:t>summary</a:t>
            </a:r>
            <a:r>
              <a:rPr lang="zh-CN" altLang="en-US">
                <a:latin typeface="Times New Roman" panose="02020603050405020304" charset="0"/>
                <a:cs typeface="Times New Roman" panose="02020603050405020304" charset="0"/>
                <a:sym typeface="+mn-ea"/>
              </a:rPr>
              <a:t> </a:t>
            </a:r>
            <a:r>
              <a:rPr lang="en-US" altLang="zh-CN">
                <a:latin typeface="Times New Roman" panose="02020603050405020304" charset="0"/>
                <a:cs typeface="Times New Roman" panose="02020603050405020304" charset="0"/>
                <a:sym typeface="+mn-ea"/>
              </a:rPr>
              <a:t>because</a:t>
            </a:r>
            <a:r>
              <a:rPr lang="zh-CN" altLang="en-US">
                <a:latin typeface="Times New Roman" panose="02020603050405020304" charset="0"/>
                <a:cs typeface="Times New Roman" panose="02020603050405020304" charset="0"/>
                <a:sym typeface="+mn-ea"/>
              </a:rPr>
              <a:t> </a:t>
            </a:r>
            <a:r>
              <a:rPr lang="en-US" altLang="zh-CN">
                <a:latin typeface="Times New Roman" panose="02020603050405020304" charset="0"/>
                <a:cs typeface="Times New Roman" panose="02020603050405020304" charset="0"/>
                <a:sym typeface="+mn-ea"/>
              </a:rPr>
              <a:t>it</a:t>
            </a:r>
            <a:r>
              <a:rPr lang="zh-CN" altLang="en-US">
                <a:latin typeface="Times New Roman" panose="02020603050405020304" charset="0"/>
                <a:cs typeface="Times New Roman" panose="02020603050405020304" charset="0"/>
                <a:sym typeface="+mn-ea"/>
              </a:rPr>
              <a:t> </a:t>
            </a:r>
            <a:r>
              <a:rPr lang="en-US" altLang="zh-CN">
                <a:latin typeface="Times New Roman" panose="02020603050405020304" charset="0"/>
                <a:cs typeface="Times New Roman" panose="02020603050405020304" charset="0"/>
                <a:sym typeface="+mn-ea"/>
              </a:rPr>
              <a:t>evaluates</a:t>
            </a:r>
            <a:r>
              <a:rPr lang="zh-CN" altLang="en-US">
                <a:latin typeface="Times New Roman" panose="02020603050405020304" charset="0"/>
                <a:cs typeface="Times New Roman" panose="02020603050405020304" charset="0"/>
                <a:sym typeface="+mn-ea"/>
              </a:rPr>
              <a:t> </a:t>
            </a:r>
            <a:r>
              <a:rPr lang="en-US" altLang="zh-CN">
                <a:latin typeface="Times New Roman" panose="02020603050405020304" charset="0"/>
                <a:cs typeface="Times New Roman" panose="02020603050405020304" charset="0"/>
                <a:sym typeface="+mn-ea"/>
              </a:rPr>
              <a:t>previous</a:t>
            </a:r>
            <a:r>
              <a:rPr lang="zh-CN" altLang="en-US">
                <a:latin typeface="Times New Roman" panose="02020603050405020304" charset="0"/>
                <a:cs typeface="Times New Roman" panose="02020603050405020304" charset="0"/>
                <a:sym typeface="+mn-ea"/>
              </a:rPr>
              <a:t> </a:t>
            </a:r>
            <a:r>
              <a:rPr lang="en-US" altLang="zh-CN">
                <a:latin typeface="Times New Roman" panose="02020603050405020304" charset="0"/>
                <a:cs typeface="Times New Roman" panose="02020603050405020304" charset="0"/>
                <a:sym typeface="+mn-ea"/>
              </a:rPr>
              <a:t>and</a:t>
            </a:r>
            <a:r>
              <a:rPr lang="zh-CN" altLang="en-US">
                <a:latin typeface="Times New Roman" panose="02020603050405020304" charset="0"/>
                <a:cs typeface="Times New Roman" panose="02020603050405020304" charset="0"/>
                <a:sym typeface="+mn-ea"/>
              </a:rPr>
              <a:t> </a:t>
            </a:r>
            <a:r>
              <a:rPr lang="en-US" altLang="zh-CN">
                <a:latin typeface="Times New Roman" panose="02020603050405020304" charset="0"/>
                <a:cs typeface="Times New Roman" panose="02020603050405020304" charset="0"/>
                <a:sym typeface="+mn-ea"/>
              </a:rPr>
              <a:t>current</a:t>
            </a:r>
            <a:r>
              <a:rPr lang="zh-CN" altLang="en-US">
                <a:latin typeface="Times New Roman" panose="02020603050405020304" charset="0"/>
                <a:cs typeface="Times New Roman" panose="02020603050405020304" charset="0"/>
                <a:sym typeface="+mn-ea"/>
              </a:rPr>
              <a:t> </a:t>
            </a:r>
            <a:r>
              <a:rPr lang="en-US" altLang="zh-CN">
                <a:latin typeface="Times New Roman" panose="02020603050405020304" charset="0"/>
                <a:cs typeface="Times New Roman" panose="02020603050405020304" charset="0"/>
                <a:sym typeface="+mn-ea"/>
              </a:rPr>
              <a:t>research</a:t>
            </a:r>
            <a:r>
              <a:rPr lang="zh-CN" altLang="en-US">
                <a:latin typeface="Times New Roman" panose="02020603050405020304" charset="0"/>
                <a:cs typeface="Times New Roman" panose="02020603050405020304" charset="0"/>
                <a:sym typeface="+mn-ea"/>
              </a:rPr>
              <a:t> </a:t>
            </a:r>
            <a:r>
              <a:rPr lang="en-US" altLang="zh-CN">
                <a:latin typeface="Times New Roman" panose="02020603050405020304" charset="0"/>
                <a:cs typeface="Times New Roman" panose="02020603050405020304" charset="0"/>
                <a:sym typeface="+mn-ea"/>
              </a:rPr>
              <a:t>in</a:t>
            </a:r>
            <a:r>
              <a:rPr lang="zh-CN" altLang="en-US">
                <a:latin typeface="Times New Roman" panose="02020603050405020304" charset="0"/>
                <a:cs typeface="Times New Roman" panose="02020603050405020304" charset="0"/>
                <a:sym typeface="+mn-ea"/>
              </a:rPr>
              <a:t> </a:t>
            </a:r>
            <a:r>
              <a:rPr lang="en-US" altLang="zh-CN">
                <a:latin typeface="Times New Roman" panose="02020603050405020304" charset="0"/>
                <a:cs typeface="Times New Roman" panose="02020603050405020304" charset="0"/>
                <a:sym typeface="+mn-ea"/>
              </a:rPr>
              <a:t>regard</a:t>
            </a:r>
            <a:r>
              <a:rPr lang="zh-CN" altLang="en-US">
                <a:latin typeface="Times New Roman" panose="02020603050405020304" charset="0"/>
                <a:cs typeface="Times New Roman" panose="02020603050405020304" charset="0"/>
                <a:sym typeface="+mn-ea"/>
              </a:rPr>
              <a:t>  </a:t>
            </a:r>
            <a:r>
              <a:rPr lang="en-US" altLang="zh-CN">
                <a:latin typeface="Times New Roman" panose="02020603050405020304" charset="0"/>
                <a:cs typeface="Times New Roman" panose="02020603050405020304" charset="0"/>
                <a:sym typeface="+mn-ea"/>
              </a:rPr>
              <a:t>to</a:t>
            </a:r>
            <a:r>
              <a:rPr lang="zh-CN" altLang="en-US">
                <a:latin typeface="Times New Roman" panose="02020603050405020304" charset="0"/>
                <a:cs typeface="Times New Roman" panose="02020603050405020304" charset="0"/>
                <a:sym typeface="+mn-ea"/>
              </a:rPr>
              <a:t> </a:t>
            </a:r>
            <a:r>
              <a:rPr lang="en-US" altLang="zh-CN">
                <a:latin typeface="Times New Roman" panose="02020603050405020304" charset="0"/>
                <a:cs typeface="Times New Roman" panose="02020603050405020304" charset="0"/>
                <a:sym typeface="+mn-ea"/>
              </a:rPr>
              <a:t>how</a:t>
            </a:r>
            <a:r>
              <a:rPr lang="zh-CN" altLang="en-US">
                <a:latin typeface="Times New Roman" panose="02020603050405020304" charset="0"/>
                <a:cs typeface="Times New Roman" panose="02020603050405020304" charset="0"/>
                <a:sym typeface="+mn-ea"/>
              </a:rPr>
              <a:t> </a:t>
            </a:r>
            <a:r>
              <a:rPr lang="en-US" altLang="zh-CN">
                <a:latin typeface="Times New Roman" panose="02020603050405020304" charset="0"/>
                <a:cs typeface="Times New Roman" panose="02020603050405020304" charset="0"/>
                <a:sym typeface="+mn-ea"/>
              </a:rPr>
              <a:t>relevant</a:t>
            </a:r>
            <a:r>
              <a:rPr lang="zh-CN" altLang="en-US">
                <a:latin typeface="Times New Roman" panose="02020603050405020304" charset="0"/>
                <a:cs typeface="Times New Roman" panose="02020603050405020304" charset="0"/>
                <a:sym typeface="+mn-ea"/>
              </a:rPr>
              <a:t> </a:t>
            </a:r>
            <a:r>
              <a:rPr lang="en-US" altLang="zh-CN">
                <a:latin typeface="Times New Roman" panose="02020603050405020304" charset="0"/>
                <a:cs typeface="Times New Roman" panose="02020603050405020304" charset="0"/>
                <a:sym typeface="+mn-ea"/>
              </a:rPr>
              <a:t>or</a:t>
            </a:r>
            <a:r>
              <a:rPr lang="zh-CN" altLang="en-US">
                <a:latin typeface="Times New Roman" panose="02020603050405020304" charset="0"/>
                <a:cs typeface="Times New Roman" panose="02020603050405020304" charset="0"/>
                <a:sym typeface="+mn-ea"/>
              </a:rPr>
              <a:t> </a:t>
            </a:r>
            <a:r>
              <a:rPr lang="en-US" altLang="zh-CN">
                <a:latin typeface="Times New Roman" panose="02020603050405020304" charset="0"/>
                <a:cs typeface="Times New Roman" panose="02020603050405020304" charset="0"/>
                <a:sym typeface="+mn-ea"/>
              </a:rPr>
              <a:t>useful</a:t>
            </a:r>
            <a:r>
              <a:rPr lang="zh-CN" altLang="en-US">
                <a:latin typeface="Times New Roman" panose="02020603050405020304" charset="0"/>
                <a:cs typeface="Times New Roman" panose="02020603050405020304" charset="0"/>
                <a:sym typeface="+mn-ea"/>
              </a:rPr>
              <a:t> </a:t>
            </a:r>
            <a:r>
              <a:rPr lang="en-US" altLang="zh-CN">
                <a:latin typeface="Times New Roman" panose="02020603050405020304" charset="0"/>
                <a:cs typeface="Times New Roman" panose="02020603050405020304" charset="0"/>
                <a:sym typeface="+mn-ea"/>
              </a:rPr>
              <a:t>it</a:t>
            </a:r>
            <a:r>
              <a:rPr lang="zh-CN" altLang="en-US">
                <a:latin typeface="Times New Roman" panose="02020603050405020304" charset="0"/>
                <a:cs typeface="Times New Roman" panose="02020603050405020304" charset="0"/>
                <a:sym typeface="+mn-ea"/>
              </a:rPr>
              <a:t> </a:t>
            </a:r>
            <a:r>
              <a:rPr lang="en-US" altLang="zh-CN">
                <a:latin typeface="Times New Roman" panose="02020603050405020304" charset="0"/>
                <a:cs typeface="Times New Roman" panose="02020603050405020304" charset="0"/>
                <a:sym typeface="+mn-ea"/>
              </a:rPr>
              <a:t>is.</a:t>
            </a:r>
            <a:r>
              <a:rPr lang="zh-CN" altLang="en-US">
                <a:latin typeface="Times New Roman" panose="02020603050405020304" charset="0"/>
                <a:cs typeface="Times New Roman" panose="02020603050405020304" charset="0"/>
                <a:sym typeface="+mn-ea"/>
              </a:rPr>
              <a:t> </a:t>
            </a:r>
            <a:r>
              <a:rPr lang="en-US" altLang="zh-CN">
                <a:latin typeface="Times New Roman" panose="02020603050405020304" charset="0"/>
                <a:cs typeface="Times New Roman" panose="02020603050405020304" charset="0"/>
                <a:sym typeface="+mn-ea"/>
              </a:rPr>
              <a:t>It</a:t>
            </a:r>
            <a:r>
              <a:rPr lang="zh-CN" altLang="en-US">
                <a:latin typeface="Times New Roman" panose="02020603050405020304" charset="0"/>
                <a:cs typeface="Times New Roman" panose="02020603050405020304" charset="0"/>
                <a:sym typeface="+mn-ea"/>
              </a:rPr>
              <a:t> </a:t>
            </a:r>
            <a:r>
              <a:rPr lang="en-US" altLang="zh-CN">
                <a:latin typeface="Times New Roman" panose="02020603050405020304" charset="0"/>
                <a:cs typeface="Times New Roman" panose="02020603050405020304" charset="0"/>
                <a:sym typeface="+mn-ea"/>
              </a:rPr>
              <a:t>is</a:t>
            </a:r>
            <a:r>
              <a:rPr lang="zh-CN" altLang="en-US">
                <a:latin typeface="Times New Roman" panose="02020603050405020304" charset="0"/>
                <a:cs typeface="Times New Roman" panose="02020603050405020304" charset="0"/>
                <a:sym typeface="+mn-ea"/>
              </a:rPr>
              <a:t> </a:t>
            </a:r>
            <a:r>
              <a:rPr lang="en-US" altLang="zh-CN">
                <a:latin typeface="Times New Roman" panose="02020603050405020304" charset="0"/>
                <a:cs typeface="Times New Roman" panose="02020603050405020304" charset="0"/>
                <a:sym typeface="+mn-ea"/>
              </a:rPr>
              <a:t>usually</a:t>
            </a:r>
            <a:r>
              <a:rPr lang="zh-CN" altLang="en-US">
                <a:latin typeface="Times New Roman" panose="02020603050405020304" charset="0"/>
                <a:cs typeface="Times New Roman" panose="02020603050405020304" charset="0"/>
                <a:sym typeface="+mn-ea"/>
              </a:rPr>
              <a:t> </a:t>
            </a:r>
            <a:r>
              <a:rPr lang="en-US" altLang="zh-CN">
                <a:latin typeface="Times New Roman" panose="02020603050405020304" charset="0"/>
                <a:cs typeface="Times New Roman" panose="02020603050405020304" charset="0"/>
                <a:sym typeface="+mn-ea"/>
              </a:rPr>
              <a:t>organized</a:t>
            </a:r>
            <a:r>
              <a:rPr lang="zh-CN" altLang="en-US">
                <a:latin typeface="Times New Roman" panose="02020603050405020304" charset="0"/>
                <a:cs typeface="Times New Roman" panose="02020603050405020304" charset="0"/>
                <a:sym typeface="+mn-ea"/>
              </a:rPr>
              <a:t> </a:t>
            </a:r>
            <a:r>
              <a:rPr lang="en-US" altLang="zh-CN">
                <a:solidFill>
                  <a:srgbClr val="C00000"/>
                </a:solidFill>
                <a:latin typeface="Times New Roman" panose="02020603050405020304" charset="0"/>
                <a:cs typeface="Times New Roman" panose="02020603050405020304" charset="0"/>
                <a:sym typeface="+mn-ea"/>
              </a:rPr>
              <a:t>chronologically</a:t>
            </a:r>
            <a:r>
              <a:rPr lang="zh-CN" altLang="en-US">
                <a:solidFill>
                  <a:srgbClr val="C00000"/>
                </a:solidFill>
                <a:latin typeface="Times New Roman" panose="02020603050405020304" charset="0"/>
                <a:cs typeface="Times New Roman" panose="02020603050405020304" charset="0"/>
                <a:sym typeface="+mn-ea"/>
              </a:rPr>
              <a:t> </a:t>
            </a:r>
            <a:r>
              <a:rPr lang="en-US" altLang="zh-CN">
                <a:solidFill>
                  <a:srgbClr val="C00000"/>
                </a:solidFill>
                <a:latin typeface="Times New Roman" panose="02020603050405020304" charset="0"/>
                <a:cs typeface="Times New Roman" panose="02020603050405020304" charset="0"/>
                <a:sym typeface="+mn-ea"/>
              </a:rPr>
              <a:t>or</a:t>
            </a:r>
            <a:r>
              <a:rPr lang="zh-CN" altLang="en-US">
                <a:solidFill>
                  <a:srgbClr val="C00000"/>
                </a:solidFill>
                <a:latin typeface="Times New Roman" panose="02020603050405020304" charset="0"/>
                <a:cs typeface="Times New Roman" panose="02020603050405020304" charset="0"/>
                <a:sym typeface="+mn-ea"/>
              </a:rPr>
              <a:t> </a:t>
            </a:r>
            <a:r>
              <a:rPr lang="en-US" altLang="zh-CN">
                <a:solidFill>
                  <a:srgbClr val="C00000"/>
                </a:solidFill>
                <a:latin typeface="Times New Roman" panose="02020603050405020304" charset="0"/>
                <a:cs typeface="Times New Roman" panose="02020603050405020304" charset="0"/>
                <a:sym typeface="+mn-ea"/>
              </a:rPr>
              <a:t>thematically.</a:t>
            </a:r>
            <a:endParaRPr lang="en-US" altLang="zh-CN">
              <a:solidFill>
                <a:srgbClr val="FF0000"/>
              </a:solidFill>
              <a:latin typeface="Times New Roman" panose="02020603050405020304" charset="0"/>
              <a:cs typeface="Times New Roman" panose="02020603050405020304" charset="0"/>
            </a:endParaRPr>
          </a:p>
          <a:p>
            <a:pPr fontAlgn="auto">
              <a:lnSpc>
                <a:spcPct val="150000"/>
              </a:lnSpc>
              <a:buNone/>
            </a:pPr>
            <a:endParaRPr lang="en-US" altLang="zh-CN">
              <a:latin typeface="Times New Roman" panose="02020603050405020304" charset="0"/>
              <a:cs typeface="Times New Roman" panose="02020603050405020304" charset="0"/>
            </a:endParaRPr>
          </a:p>
          <a:p>
            <a:pPr marL="0" indent="0" fontAlgn="auto">
              <a:lnSpc>
                <a:spcPct val="150000"/>
              </a:lnSpc>
              <a:spcBef>
                <a:spcPts val="0"/>
              </a:spcBef>
              <a:buNone/>
            </a:pPr>
            <a:endParaRPr lang="en-US" altLang="zh-CN" b="1"/>
          </a:p>
          <a:p>
            <a:pPr marL="0" indent="0" fontAlgn="auto">
              <a:lnSpc>
                <a:spcPct val="150000"/>
              </a:lnSpc>
              <a:spcBef>
                <a:spcPts val="0"/>
              </a:spcBef>
              <a:buNone/>
            </a:pPr>
            <a:endParaRPr lang="en-US" altLang="zh-CN" b="1">
              <a:latin typeface="Times New Roman" panose="02020603050405020304" charset="0"/>
              <a:cs typeface="Times New Roman" panose="02020603050405020304" charset="0"/>
              <a:sym typeface="+mn-ea"/>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6</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8" name="文本框 7"/>
          <p:cNvSpPr txBox="1"/>
          <p:nvPr/>
        </p:nvSpPr>
        <p:spPr>
          <a:xfrm>
            <a:off x="3785235" y="552450"/>
            <a:ext cx="4064000" cy="368300"/>
          </a:xfrm>
          <a:prstGeom prst="rect">
            <a:avLst/>
          </a:prstGeom>
          <a:noFill/>
        </p:spPr>
        <p:txBody>
          <a:bodyPr wrap="square" rtlCol="0">
            <a:spAutoFit/>
          </a:bodyPr>
          <a:lstStyle/>
          <a:p>
            <a:endParaRPr lang="zh-CN" altLang="en-US"/>
          </a:p>
        </p:txBody>
      </p:sp>
      <p:sp>
        <p:nvSpPr>
          <p:cNvPr id="13" name="文本框 12"/>
          <p:cNvSpPr txBox="1"/>
          <p:nvPr/>
        </p:nvSpPr>
        <p:spPr>
          <a:xfrm>
            <a:off x="6430645" y="216535"/>
            <a:ext cx="4064000" cy="368300"/>
          </a:xfrm>
          <a:prstGeom prst="rect">
            <a:avLst/>
          </a:prstGeom>
          <a:noFill/>
        </p:spPr>
        <p:txBody>
          <a:bodyPr wrap="square" rtlCol="0">
            <a:spAutoFit/>
          </a:bodyPr>
          <a:lstStyle/>
          <a:p>
            <a:endParaRPr lang="zh-CN" alt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zh-CN" altLang="en-US" sz="2800" b="1" i="1">
                <a:latin typeface="Times New Roman" panose="02020603050405020304" charset="0"/>
                <a:cs typeface="Times New Roman" panose="02020603050405020304" charset="0"/>
                <a:sym typeface="+mn-ea"/>
              </a:rPr>
              <a:t>Writing the First Draft</a:t>
            </a:r>
            <a:r>
              <a:rPr lang="en-US" altLang="zh-CN" sz="2800" b="1" i="1">
                <a:latin typeface="Times New Roman" panose="02020603050405020304" charset="0"/>
                <a:cs typeface="Times New Roman" panose="02020603050405020304" charset="0"/>
                <a:sym typeface="+mn-ea"/>
              </a:rPr>
              <a:t>-- </a:t>
            </a:r>
            <a:r>
              <a:rPr lang="en-US" altLang="zh-CN" sz="2800" i="1">
                <a:latin typeface="Times New Roman" panose="02020603050405020304" charset="0"/>
                <a:cs typeface="Times New Roman" panose="02020603050405020304" charset="0"/>
                <a:sym typeface="+mn-ea"/>
              </a:rPr>
              <a:t>1. Introduction</a:t>
            </a:r>
            <a:endParaRPr lang="en-US" altLang="zh-CN" sz="2800" i="1">
              <a:solidFill>
                <a:schemeClr val="tx1"/>
              </a:solidFill>
              <a:latin typeface="Times New Roman" panose="02020603050405020304" charset="0"/>
              <a:cs typeface="Times New Roman" panose="02020603050405020304" charset="0"/>
              <a:sym typeface="+mn-ea"/>
            </a:endParaRPr>
          </a:p>
        </p:txBody>
      </p:sp>
      <p:sp>
        <p:nvSpPr>
          <p:cNvPr id="3" name="内容占位符 2"/>
          <p:cNvSpPr>
            <a:spLocks noGrp="1"/>
          </p:cNvSpPr>
          <p:nvPr>
            <p:ph idx="1"/>
          </p:nvPr>
        </p:nvSpPr>
        <p:spPr>
          <a:xfrm>
            <a:off x="838200" y="1557020"/>
            <a:ext cx="10938510" cy="4850765"/>
          </a:xfrm>
          <a:ln w="28575">
            <a:solidFill>
              <a:schemeClr val="accent2">
                <a:lumMod val="75000"/>
              </a:schemeClr>
            </a:solidFill>
          </a:ln>
        </p:spPr>
        <p:txBody>
          <a:bodyPr>
            <a:normAutofit fontScale="90000" lnSpcReduction="20000"/>
          </a:bodyPr>
          <a:lstStyle/>
          <a:p>
            <a:pPr marL="0" indent="0" fontAlgn="auto">
              <a:lnSpc>
                <a:spcPct val="150000"/>
              </a:lnSpc>
              <a:spcBef>
                <a:spcPts val="0"/>
              </a:spcBef>
              <a:buNone/>
            </a:pPr>
            <a:r>
              <a:rPr lang="en-US" altLang="zh-CN" b="1" dirty="0">
                <a:latin typeface="Times New Roman" panose="02020603050405020304" charset="0"/>
                <a:sym typeface="+mn-ea"/>
              </a:rPr>
              <a:t>1.4</a:t>
            </a:r>
            <a:r>
              <a:rPr lang="en-US" altLang="zh-CN" b="1" dirty="0">
                <a:latin typeface="Times New Roman" panose="02020603050405020304" charset="0"/>
                <a:cs typeface="Times New Roman" panose="02020603050405020304" charset="0"/>
                <a:sym typeface="+mn-ea"/>
              </a:rPr>
              <a:t> Literature Review</a:t>
            </a:r>
          </a:p>
          <a:p>
            <a:pPr indent="230505" fontAlgn="auto">
              <a:lnSpc>
                <a:spcPct val="150000"/>
              </a:lnSpc>
              <a:spcBef>
                <a:spcPts val="0"/>
              </a:spcBef>
            </a:pPr>
            <a:r>
              <a:rPr lang="en-US" altLang="zh-CN" dirty="0">
                <a:latin typeface="Times New Roman" panose="02020603050405020304" charset="0"/>
                <a:cs typeface="Times New Roman" panose="02020603050405020304" charset="0"/>
                <a:sym typeface="+mn-ea"/>
              </a:rPr>
              <a:t>A</a:t>
            </a:r>
            <a:r>
              <a:rPr lang="zh-CN" altLang="en-US" dirty="0">
                <a:latin typeface="Times New Roman" panose="02020603050405020304" charset="0"/>
                <a:cs typeface="Times New Roman" panose="02020603050405020304" charset="0"/>
                <a:sym typeface="+mn-ea"/>
              </a:rPr>
              <a:t> </a:t>
            </a:r>
            <a:r>
              <a:rPr lang="en-US" altLang="zh-CN" dirty="0">
                <a:latin typeface="Times New Roman" panose="02020603050405020304" charset="0"/>
                <a:cs typeface="Times New Roman" panose="02020603050405020304" charset="0"/>
                <a:sym typeface="+mn-ea"/>
              </a:rPr>
              <a:t>good</a:t>
            </a:r>
            <a:r>
              <a:rPr lang="zh-CN" altLang="en-US" dirty="0">
                <a:latin typeface="Times New Roman" panose="02020603050405020304" charset="0"/>
                <a:cs typeface="Times New Roman" panose="02020603050405020304" charset="0"/>
                <a:sym typeface="+mn-ea"/>
              </a:rPr>
              <a:t> </a:t>
            </a:r>
            <a:r>
              <a:rPr lang="en-US" altLang="zh-CN" dirty="0">
                <a:latin typeface="Times New Roman" panose="02020603050405020304" charset="0"/>
                <a:cs typeface="Times New Roman" panose="02020603050405020304" charset="0"/>
                <a:sym typeface="+mn-ea"/>
              </a:rPr>
              <a:t>literature</a:t>
            </a:r>
            <a:r>
              <a:rPr lang="zh-CN" altLang="en-US" dirty="0">
                <a:latin typeface="Times New Roman" panose="02020603050405020304" charset="0"/>
                <a:cs typeface="Times New Roman" panose="02020603050405020304" charset="0"/>
                <a:sym typeface="+mn-ea"/>
              </a:rPr>
              <a:t> </a:t>
            </a:r>
            <a:r>
              <a:rPr lang="en-US" altLang="zh-CN" dirty="0">
                <a:latin typeface="Times New Roman" panose="02020603050405020304" charset="0"/>
                <a:cs typeface="Times New Roman" panose="02020603050405020304" charset="0"/>
                <a:sym typeface="+mn-ea"/>
              </a:rPr>
              <a:t>review</a:t>
            </a:r>
            <a:r>
              <a:rPr lang="zh-CN" altLang="en-US" dirty="0">
                <a:latin typeface="Times New Roman" panose="02020603050405020304" charset="0"/>
                <a:cs typeface="Times New Roman" panose="02020603050405020304" charset="0"/>
                <a:sym typeface="+mn-ea"/>
              </a:rPr>
              <a:t> </a:t>
            </a:r>
            <a:r>
              <a:rPr lang="en-US" altLang="zh-CN" dirty="0">
                <a:latin typeface="Times New Roman" panose="02020603050405020304" charset="0"/>
                <a:cs typeface="Times New Roman" panose="02020603050405020304" charset="0"/>
                <a:sym typeface="+mn-ea"/>
              </a:rPr>
              <a:t>goes</a:t>
            </a:r>
            <a:r>
              <a:rPr lang="zh-CN" altLang="en-US" dirty="0">
                <a:latin typeface="Times New Roman" panose="02020603050405020304" charset="0"/>
                <a:cs typeface="Times New Roman" panose="02020603050405020304" charset="0"/>
                <a:sym typeface="+mn-ea"/>
              </a:rPr>
              <a:t> </a:t>
            </a:r>
            <a:r>
              <a:rPr lang="en-US" altLang="zh-CN" dirty="0">
                <a:latin typeface="Times New Roman" panose="02020603050405020304" charset="0"/>
                <a:cs typeface="Times New Roman" panose="02020603050405020304" charset="0"/>
                <a:sym typeface="+mn-ea"/>
              </a:rPr>
              <a:t>beyond</a:t>
            </a:r>
            <a:r>
              <a:rPr lang="zh-CN" altLang="en-US" dirty="0">
                <a:latin typeface="Times New Roman" panose="02020603050405020304" charset="0"/>
                <a:cs typeface="Times New Roman" panose="02020603050405020304" charset="0"/>
                <a:sym typeface="+mn-ea"/>
              </a:rPr>
              <a:t> </a:t>
            </a:r>
            <a:r>
              <a:rPr lang="en-US" altLang="zh-CN" dirty="0">
                <a:latin typeface="Times New Roman" panose="02020603050405020304" charset="0"/>
                <a:cs typeface="Times New Roman" panose="02020603050405020304" charset="0"/>
                <a:sym typeface="+mn-ea"/>
              </a:rPr>
              <a:t>retelling</a:t>
            </a:r>
            <a:r>
              <a:rPr lang="zh-CN" altLang="en-US" dirty="0">
                <a:latin typeface="Times New Roman" panose="02020603050405020304" charset="0"/>
                <a:cs typeface="Times New Roman" panose="02020603050405020304" charset="0"/>
                <a:sym typeface="+mn-ea"/>
              </a:rPr>
              <a:t> </a:t>
            </a:r>
            <a:r>
              <a:rPr lang="en-US" altLang="zh-CN" dirty="0">
                <a:latin typeface="Times New Roman" panose="02020603050405020304" charset="0"/>
                <a:cs typeface="Times New Roman" panose="02020603050405020304" charset="0"/>
                <a:sym typeface="+mn-ea"/>
              </a:rPr>
              <a:t>a</a:t>
            </a:r>
            <a:r>
              <a:rPr lang="zh-CN" altLang="en-US" dirty="0">
                <a:latin typeface="Times New Roman" panose="02020603050405020304" charset="0"/>
                <a:cs typeface="Times New Roman" panose="02020603050405020304" charset="0"/>
                <a:sym typeface="+mn-ea"/>
              </a:rPr>
              <a:t> </a:t>
            </a:r>
            <a:r>
              <a:rPr lang="en-US" altLang="zh-CN" dirty="0">
                <a:latin typeface="Times New Roman" panose="02020603050405020304" charset="0"/>
                <a:cs typeface="Times New Roman" panose="02020603050405020304" charset="0"/>
                <a:sym typeface="+mn-ea"/>
              </a:rPr>
              <a:t>story,</a:t>
            </a:r>
            <a:r>
              <a:rPr lang="zh-CN" altLang="en-US" dirty="0">
                <a:latin typeface="Times New Roman" panose="02020603050405020304" charset="0"/>
                <a:cs typeface="Times New Roman" panose="02020603050405020304" charset="0"/>
                <a:sym typeface="+mn-ea"/>
              </a:rPr>
              <a:t> </a:t>
            </a:r>
            <a:r>
              <a:rPr lang="en-US" altLang="zh-CN" dirty="0">
                <a:latin typeface="Times New Roman" panose="02020603050405020304" charset="0"/>
                <a:cs typeface="Times New Roman" panose="02020603050405020304" charset="0"/>
                <a:sym typeface="+mn-ea"/>
              </a:rPr>
              <a:t>it</a:t>
            </a:r>
            <a:r>
              <a:rPr lang="zh-CN" altLang="en-US" dirty="0">
                <a:latin typeface="Times New Roman" panose="02020603050405020304" charset="0"/>
                <a:cs typeface="Times New Roman" panose="02020603050405020304" charset="0"/>
                <a:sym typeface="+mn-ea"/>
              </a:rPr>
              <a:t> </a:t>
            </a:r>
            <a:r>
              <a:rPr lang="en-US" altLang="zh-CN" dirty="0">
                <a:latin typeface="Times New Roman" panose="02020603050405020304" charset="0"/>
                <a:cs typeface="Times New Roman" panose="02020603050405020304" charset="0"/>
                <a:sym typeface="+mn-ea"/>
              </a:rPr>
              <a:t>requires</a:t>
            </a:r>
            <a:r>
              <a:rPr lang="zh-CN" altLang="en-US" dirty="0">
                <a:latin typeface="Times New Roman" panose="02020603050405020304" charset="0"/>
                <a:cs typeface="Times New Roman" panose="02020603050405020304" charset="0"/>
                <a:sym typeface="+mn-ea"/>
              </a:rPr>
              <a:t> </a:t>
            </a:r>
            <a:r>
              <a:rPr lang="en-US" altLang="zh-CN" dirty="0">
                <a:latin typeface="Times New Roman" panose="02020603050405020304" charset="0"/>
                <a:cs typeface="Times New Roman" panose="02020603050405020304" charset="0"/>
                <a:sym typeface="+mn-ea"/>
              </a:rPr>
              <a:t>both</a:t>
            </a:r>
            <a:r>
              <a:rPr lang="zh-CN" altLang="en-US" dirty="0">
                <a:latin typeface="Times New Roman" panose="02020603050405020304" charset="0"/>
                <a:cs typeface="Times New Roman" panose="02020603050405020304" charset="0"/>
                <a:sym typeface="+mn-ea"/>
              </a:rPr>
              <a:t> </a:t>
            </a:r>
            <a:r>
              <a:rPr lang="en-US" altLang="zh-CN" dirty="0">
                <a:solidFill>
                  <a:srgbClr val="FF0000"/>
                </a:solidFill>
                <a:latin typeface="Times New Roman" panose="02020603050405020304" charset="0"/>
                <a:cs typeface="Times New Roman" panose="02020603050405020304" charset="0"/>
                <a:sym typeface="+mn-ea"/>
              </a:rPr>
              <a:t>synthesis</a:t>
            </a:r>
            <a:r>
              <a:rPr lang="zh-CN" altLang="en-US" dirty="0">
                <a:latin typeface="Times New Roman" panose="02020603050405020304" charset="0"/>
                <a:cs typeface="Times New Roman" panose="02020603050405020304" charset="0"/>
                <a:sym typeface="+mn-ea"/>
              </a:rPr>
              <a:t> </a:t>
            </a:r>
            <a:r>
              <a:rPr lang="en-US" altLang="zh-CN" dirty="0">
                <a:latin typeface="Times New Roman" panose="02020603050405020304" charset="0"/>
                <a:cs typeface="Times New Roman" panose="02020603050405020304" charset="0"/>
                <a:sym typeface="+mn-ea"/>
              </a:rPr>
              <a:t>and</a:t>
            </a:r>
            <a:r>
              <a:rPr lang="zh-CN" altLang="en-US" dirty="0">
                <a:latin typeface="Times New Roman" panose="02020603050405020304" charset="0"/>
                <a:cs typeface="Times New Roman" panose="02020603050405020304" charset="0"/>
                <a:sym typeface="+mn-ea"/>
              </a:rPr>
              <a:t> </a:t>
            </a:r>
            <a:r>
              <a:rPr lang="en-US" altLang="zh-CN" dirty="0">
                <a:latin typeface="Times New Roman" panose="02020603050405020304" charset="0"/>
                <a:cs typeface="Times New Roman" panose="02020603050405020304" charset="0"/>
                <a:sym typeface="+mn-ea"/>
              </a:rPr>
              <a:t>summary.</a:t>
            </a:r>
            <a:r>
              <a:rPr lang="zh-CN" altLang="en-US" dirty="0">
                <a:latin typeface="Times New Roman" panose="02020603050405020304" charset="0"/>
                <a:cs typeface="Times New Roman" panose="02020603050405020304" charset="0"/>
                <a:sym typeface="+mn-ea"/>
              </a:rPr>
              <a:t>  </a:t>
            </a:r>
          </a:p>
          <a:p>
            <a:pPr indent="230505" fontAlgn="auto">
              <a:lnSpc>
                <a:spcPct val="150000"/>
              </a:lnSpc>
              <a:spcBef>
                <a:spcPts val="0"/>
              </a:spcBef>
            </a:pPr>
            <a:r>
              <a:rPr lang="en-US" altLang="zh-CN" dirty="0">
                <a:latin typeface="Times New Roman" panose="02020603050405020304" charset="0"/>
                <a:cs typeface="Times New Roman" panose="02020603050405020304" charset="0"/>
                <a:sym typeface="+mn-ea"/>
              </a:rPr>
              <a:t>create</a:t>
            </a:r>
            <a:r>
              <a:rPr lang="zh-CN" altLang="en-US" dirty="0">
                <a:latin typeface="Times New Roman" panose="02020603050405020304" charset="0"/>
                <a:cs typeface="Times New Roman" panose="02020603050405020304" charset="0"/>
                <a:sym typeface="+mn-ea"/>
              </a:rPr>
              <a:t> </a:t>
            </a:r>
            <a:r>
              <a:rPr lang="en-US" altLang="zh-CN" dirty="0">
                <a:latin typeface="Times New Roman" panose="02020603050405020304" charset="0"/>
                <a:cs typeface="Times New Roman" panose="02020603050405020304" charset="0"/>
                <a:sym typeface="+mn-ea"/>
              </a:rPr>
              <a:t>a</a:t>
            </a:r>
            <a:r>
              <a:rPr lang="zh-CN" altLang="en-US" dirty="0">
                <a:latin typeface="Times New Roman" panose="02020603050405020304" charset="0"/>
                <a:cs typeface="Times New Roman" panose="02020603050405020304" charset="0"/>
                <a:sym typeface="+mn-ea"/>
              </a:rPr>
              <a:t> </a:t>
            </a:r>
            <a:r>
              <a:rPr lang="en-US" altLang="zh-CN" dirty="0">
                <a:latin typeface="Times New Roman" panose="02020603050405020304" charset="0"/>
                <a:cs typeface="Times New Roman" panose="02020603050405020304" charset="0"/>
                <a:sym typeface="+mn-ea"/>
              </a:rPr>
              <a:t>grid</a:t>
            </a:r>
            <a:r>
              <a:rPr lang="zh-CN" altLang="en-US" dirty="0">
                <a:latin typeface="Times New Roman" panose="02020603050405020304" charset="0"/>
                <a:cs typeface="Times New Roman" panose="02020603050405020304" charset="0"/>
                <a:sym typeface="+mn-ea"/>
              </a:rPr>
              <a:t> </a:t>
            </a:r>
            <a:r>
              <a:rPr lang="en-US" altLang="zh-CN" dirty="0">
                <a:latin typeface="Times New Roman" panose="02020603050405020304" charset="0"/>
                <a:cs typeface="Times New Roman" panose="02020603050405020304" charset="0"/>
                <a:sym typeface="+mn-ea"/>
              </a:rPr>
              <a:t>of</a:t>
            </a:r>
            <a:r>
              <a:rPr lang="zh-CN" altLang="en-US" dirty="0">
                <a:latin typeface="Times New Roman" panose="02020603050405020304" charset="0"/>
                <a:cs typeface="Times New Roman" panose="02020603050405020304" charset="0"/>
                <a:sym typeface="+mn-ea"/>
              </a:rPr>
              <a:t> </a:t>
            </a:r>
            <a:r>
              <a:rPr lang="en-US" altLang="zh-CN" dirty="0">
                <a:latin typeface="Times New Roman" panose="02020603050405020304" charset="0"/>
                <a:cs typeface="Times New Roman" panose="02020603050405020304" charset="0"/>
                <a:sym typeface="+mn-ea"/>
              </a:rPr>
              <a:t>common</a:t>
            </a:r>
            <a:r>
              <a:rPr lang="zh-CN" altLang="en-US" dirty="0">
                <a:latin typeface="Times New Roman" panose="02020603050405020304" charset="0"/>
                <a:cs typeface="Times New Roman" panose="02020603050405020304" charset="0"/>
                <a:sym typeface="+mn-ea"/>
              </a:rPr>
              <a:t> </a:t>
            </a:r>
            <a:r>
              <a:rPr lang="en-US" altLang="zh-CN" dirty="0">
                <a:latin typeface="Times New Roman" panose="02020603050405020304" charset="0"/>
                <a:cs typeface="Times New Roman" panose="02020603050405020304" charset="0"/>
                <a:sym typeface="+mn-ea"/>
              </a:rPr>
              <a:t>points.</a:t>
            </a:r>
          </a:p>
          <a:p>
            <a:pPr indent="0" fontAlgn="auto">
              <a:lnSpc>
                <a:spcPct val="150000"/>
              </a:lnSpc>
              <a:spcBef>
                <a:spcPts val="0"/>
              </a:spcBef>
              <a:buNone/>
            </a:pPr>
            <a:r>
              <a:rPr lang="en-US" altLang="zh-CN" b="1" dirty="0">
                <a:latin typeface="Times New Roman" panose="02020603050405020304" charset="0"/>
                <a:cs typeface="Times New Roman" panose="02020603050405020304" charset="0"/>
                <a:sym typeface="+mn-ea"/>
              </a:rPr>
              <a:t>steps</a:t>
            </a:r>
            <a:r>
              <a:rPr lang="zh-CN" altLang="en-US" b="1" dirty="0">
                <a:latin typeface="Times New Roman" panose="02020603050405020304" charset="0"/>
                <a:cs typeface="Times New Roman" panose="02020603050405020304" charset="0"/>
                <a:sym typeface="+mn-ea"/>
              </a:rPr>
              <a:t> </a:t>
            </a:r>
            <a:r>
              <a:rPr lang="en-US" altLang="zh-CN" b="1" dirty="0">
                <a:latin typeface="Times New Roman" panose="02020603050405020304" charset="0"/>
                <a:cs typeface="Times New Roman" panose="02020603050405020304" charset="0"/>
                <a:sym typeface="+mn-ea"/>
              </a:rPr>
              <a:t>to</a:t>
            </a:r>
            <a:r>
              <a:rPr lang="zh-CN" altLang="en-US" b="1" dirty="0">
                <a:latin typeface="Times New Roman" panose="02020603050405020304" charset="0"/>
                <a:cs typeface="Times New Roman" panose="02020603050405020304" charset="0"/>
                <a:sym typeface="+mn-ea"/>
              </a:rPr>
              <a:t> </a:t>
            </a:r>
            <a:r>
              <a:rPr lang="en-US" altLang="zh-CN" b="1" dirty="0">
                <a:latin typeface="Times New Roman" panose="02020603050405020304" charset="0"/>
                <a:cs typeface="Times New Roman" panose="02020603050405020304" charset="0"/>
                <a:sym typeface="+mn-ea"/>
              </a:rPr>
              <a:t>do</a:t>
            </a:r>
            <a:endParaRPr lang="en-US" altLang="zh-CN" b="1" dirty="0">
              <a:latin typeface="Times New Roman" panose="02020603050405020304" charset="0"/>
              <a:cs typeface="Times New Roman" panose="02020603050405020304" charset="0"/>
            </a:endParaRPr>
          </a:p>
          <a:p>
            <a:pPr indent="230505" fontAlgn="auto">
              <a:lnSpc>
                <a:spcPct val="150000"/>
              </a:lnSpc>
              <a:spcBef>
                <a:spcPts val="0"/>
              </a:spcBef>
              <a:buNone/>
            </a:pPr>
            <a:r>
              <a:rPr lang="en-US" altLang="zh-CN" dirty="0">
                <a:latin typeface="Times New Roman" panose="02020603050405020304" charset="0"/>
                <a:cs typeface="Times New Roman" panose="02020603050405020304" charset="0"/>
                <a:sym typeface="+mn-ea"/>
              </a:rPr>
              <a:t>1.</a:t>
            </a:r>
            <a:r>
              <a:rPr lang="zh-CN" altLang="en-US" dirty="0">
                <a:latin typeface="Times New Roman" panose="02020603050405020304" charset="0"/>
                <a:cs typeface="Times New Roman" panose="02020603050405020304" charset="0"/>
                <a:sym typeface="+mn-ea"/>
              </a:rPr>
              <a:t> </a:t>
            </a:r>
            <a:r>
              <a:rPr lang="en-US" altLang="zh-CN" dirty="0">
                <a:latin typeface="Times New Roman" panose="02020603050405020304" charset="0"/>
                <a:cs typeface="Times New Roman" panose="02020603050405020304" charset="0"/>
                <a:sym typeface="+mn-ea"/>
              </a:rPr>
              <a:t>take</a:t>
            </a:r>
            <a:r>
              <a:rPr lang="zh-CN" altLang="en-US" dirty="0">
                <a:latin typeface="Times New Roman" panose="02020603050405020304" charset="0"/>
                <a:cs typeface="Times New Roman" panose="02020603050405020304" charset="0"/>
                <a:sym typeface="+mn-ea"/>
              </a:rPr>
              <a:t> </a:t>
            </a:r>
            <a:r>
              <a:rPr lang="en-US" altLang="zh-CN" dirty="0">
                <a:latin typeface="Times New Roman" panose="02020603050405020304" charset="0"/>
                <a:cs typeface="Times New Roman" panose="02020603050405020304" charset="0"/>
                <a:sym typeface="+mn-ea"/>
              </a:rPr>
              <a:t>notes</a:t>
            </a:r>
            <a:r>
              <a:rPr lang="zh-CN" altLang="en-US" dirty="0">
                <a:latin typeface="Times New Roman" panose="02020603050405020304" charset="0"/>
                <a:cs typeface="Times New Roman" panose="02020603050405020304" charset="0"/>
                <a:sym typeface="+mn-ea"/>
              </a:rPr>
              <a:t> </a:t>
            </a:r>
            <a:r>
              <a:rPr lang="en-US" altLang="zh-CN" dirty="0">
                <a:latin typeface="Times New Roman" panose="02020603050405020304" charset="0"/>
                <a:cs typeface="Times New Roman" panose="02020603050405020304" charset="0"/>
                <a:sym typeface="+mn-ea"/>
              </a:rPr>
              <a:t>of</a:t>
            </a:r>
            <a:r>
              <a:rPr lang="zh-CN" altLang="en-US" dirty="0">
                <a:latin typeface="Times New Roman" panose="02020603050405020304" charset="0"/>
                <a:cs typeface="Times New Roman" panose="02020603050405020304" charset="0"/>
                <a:sym typeface="+mn-ea"/>
              </a:rPr>
              <a:t> </a:t>
            </a:r>
            <a:r>
              <a:rPr lang="en-US" altLang="zh-CN" dirty="0">
                <a:latin typeface="Times New Roman" panose="02020603050405020304" charset="0"/>
                <a:cs typeface="Times New Roman" panose="02020603050405020304" charset="0"/>
                <a:sym typeface="+mn-ea"/>
              </a:rPr>
              <a:t>repetitions</a:t>
            </a:r>
            <a:r>
              <a:rPr lang="zh-CN" altLang="en-US" dirty="0">
                <a:latin typeface="Times New Roman" panose="02020603050405020304" charset="0"/>
                <a:cs typeface="Times New Roman" panose="02020603050405020304" charset="0"/>
                <a:sym typeface="+mn-ea"/>
              </a:rPr>
              <a:t> </a:t>
            </a:r>
            <a:r>
              <a:rPr lang="en-US" altLang="zh-CN" dirty="0">
                <a:latin typeface="Times New Roman" panose="02020603050405020304" charset="0"/>
                <a:cs typeface="Times New Roman" panose="02020603050405020304" charset="0"/>
                <a:sym typeface="+mn-ea"/>
              </a:rPr>
              <a:t>and</a:t>
            </a:r>
            <a:r>
              <a:rPr lang="zh-CN" altLang="en-US" dirty="0">
                <a:latin typeface="Times New Roman" panose="02020603050405020304" charset="0"/>
                <a:cs typeface="Times New Roman" panose="02020603050405020304" charset="0"/>
                <a:sym typeface="+mn-ea"/>
              </a:rPr>
              <a:t> </a:t>
            </a:r>
            <a:r>
              <a:rPr lang="en-US" altLang="zh-CN" dirty="0">
                <a:latin typeface="Times New Roman" panose="02020603050405020304" charset="0"/>
                <a:cs typeface="Times New Roman" panose="02020603050405020304" charset="0"/>
                <a:sym typeface="+mn-ea"/>
              </a:rPr>
              <a:t>contradictions</a:t>
            </a:r>
            <a:endParaRPr lang="en-US" altLang="zh-CN" dirty="0">
              <a:latin typeface="Times New Roman" panose="02020603050405020304" charset="0"/>
              <a:cs typeface="Times New Roman" panose="02020603050405020304" charset="0"/>
            </a:endParaRPr>
          </a:p>
          <a:p>
            <a:pPr indent="230505" fontAlgn="auto">
              <a:lnSpc>
                <a:spcPct val="150000"/>
              </a:lnSpc>
              <a:spcBef>
                <a:spcPts val="0"/>
              </a:spcBef>
              <a:buNone/>
            </a:pPr>
            <a:r>
              <a:rPr lang="en-US" altLang="zh-CN" dirty="0">
                <a:latin typeface="Times New Roman" panose="02020603050405020304" charset="0"/>
                <a:cs typeface="Times New Roman" panose="02020603050405020304" charset="0"/>
                <a:sym typeface="+mn-ea"/>
              </a:rPr>
              <a:t>2.</a:t>
            </a:r>
            <a:r>
              <a:rPr lang="zh-CN" altLang="en-US" dirty="0">
                <a:latin typeface="Times New Roman" panose="02020603050405020304" charset="0"/>
                <a:cs typeface="Times New Roman" panose="02020603050405020304" charset="0"/>
                <a:sym typeface="+mn-ea"/>
              </a:rPr>
              <a:t> </a:t>
            </a:r>
            <a:r>
              <a:rPr lang="en-US" altLang="zh-CN" dirty="0">
                <a:latin typeface="Times New Roman" panose="02020603050405020304" charset="0"/>
                <a:cs typeface="Times New Roman" panose="02020603050405020304" charset="0"/>
                <a:sym typeface="+mn-ea"/>
              </a:rPr>
              <a:t>write</a:t>
            </a:r>
            <a:r>
              <a:rPr lang="zh-CN" altLang="en-US" dirty="0">
                <a:latin typeface="Times New Roman" panose="02020603050405020304" charset="0"/>
                <a:cs typeface="Times New Roman" panose="02020603050405020304" charset="0"/>
                <a:sym typeface="+mn-ea"/>
              </a:rPr>
              <a:t> </a:t>
            </a:r>
            <a:r>
              <a:rPr lang="en-US" altLang="zh-CN" dirty="0">
                <a:latin typeface="Times New Roman" panose="02020603050405020304" charset="0"/>
                <a:cs typeface="Times New Roman" panose="02020603050405020304" charset="0"/>
                <a:sym typeface="+mn-ea"/>
              </a:rPr>
              <a:t>down</a:t>
            </a:r>
            <a:r>
              <a:rPr lang="zh-CN" altLang="en-US" dirty="0">
                <a:latin typeface="Times New Roman" panose="02020603050405020304" charset="0"/>
                <a:cs typeface="Times New Roman" panose="02020603050405020304" charset="0"/>
                <a:sym typeface="+mn-ea"/>
              </a:rPr>
              <a:t> </a:t>
            </a:r>
            <a:r>
              <a:rPr lang="en-US" altLang="zh-CN" dirty="0">
                <a:latin typeface="Times New Roman" panose="02020603050405020304" charset="0"/>
                <a:cs typeface="Times New Roman" panose="02020603050405020304" charset="0"/>
                <a:sym typeface="+mn-ea"/>
              </a:rPr>
              <a:t>the</a:t>
            </a:r>
            <a:r>
              <a:rPr lang="zh-CN" altLang="en-US" dirty="0">
                <a:latin typeface="Times New Roman" panose="02020603050405020304" charset="0"/>
                <a:cs typeface="Times New Roman" panose="02020603050405020304" charset="0"/>
                <a:sym typeface="+mn-ea"/>
              </a:rPr>
              <a:t> </a:t>
            </a:r>
            <a:r>
              <a:rPr lang="en-US" altLang="zh-CN" dirty="0">
                <a:latin typeface="Times New Roman" panose="02020603050405020304" charset="0"/>
                <a:cs typeface="Times New Roman" panose="02020603050405020304" charset="0"/>
                <a:sym typeface="+mn-ea"/>
              </a:rPr>
              <a:t>main</a:t>
            </a:r>
            <a:r>
              <a:rPr lang="zh-CN" altLang="en-US" dirty="0">
                <a:latin typeface="Times New Roman" panose="02020603050405020304" charset="0"/>
                <a:cs typeface="Times New Roman" panose="02020603050405020304" charset="0"/>
                <a:sym typeface="+mn-ea"/>
              </a:rPr>
              <a:t> </a:t>
            </a:r>
            <a:r>
              <a:rPr lang="en-US" altLang="zh-CN" dirty="0">
                <a:latin typeface="Times New Roman" panose="02020603050405020304" charset="0"/>
                <a:cs typeface="Times New Roman" panose="02020603050405020304" charset="0"/>
                <a:sym typeface="+mn-ea"/>
              </a:rPr>
              <a:t>research</a:t>
            </a:r>
            <a:r>
              <a:rPr lang="zh-CN" altLang="en-US" dirty="0">
                <a:latin typeface="Times New Roman" panose="02020603050405020304" charset="0"/>
                <a:cs typeface="Times New Roman" panose="02020603050405020304" charset="0"/>
                <a:sym typeface="+mn-ea"/>
              </a:rPr>
              <a:t> </a:t>
            </a:r>
            <a:r>
              <a:rPr lang="en-US" altLang="zh-CN" dirty="0">
                <a:latin typeface="Times New Roman" panose="02020603050405020304" charset="0"/>
                <a:cs typeface="Times New Roman" panose="02020603050405020304" charset="0"/>
                <a:sym typeface="+mn-ea"/>
              </a:rPr>
              <a:t>questions</a:t>
            </a:r>
            <a:r>
              <a:rPr lang="zh-CN" altLang="en-US" dirty="0">
                <a:latin typeface="Times New Roman" panose="02020603050405020304" charset="0"/>
                <a:cs typeface="Times New Roman" panose="02020603050405020304" charset="0"/>
                <a:sym typeface="+mn-ea"/>
              </a:rPr>
              <a:t> </a:t>
            </a:r>
            <a:r>
              <a:rPr lang="en-US" altLang="zh-CN" dirty="0">
                <a:latin typeface="Times New Roman" panose="02020603050405020304" charset="0"/>
                <a:cs typeface="Times New Roman" panose="02020603050405020304" charset="0"/>
                <a:sym typeface="+mn-ea"/>
              </a:rPr>
              <a:t>and</a:t>
            </a:r>
            <a:r>
              <a:rPr lang="zh-CN" altLang="en-US" dirty="0">
                <a:latin typeface="Times New Roman" panose="02020603050405020304" charset="0"/>
                <a:cs typeface="Times New Roman" panose="02020603050405020304" charset="0"/>
                <a:sym typeface="+mn-ea"/>
              </a:rPr>
              <a:t> </a:t>
            </a:r>
            <a:r>
              <a:rPr lang="en-US" altLang="zh-CN" dirty="0">
                <a:latin typeface="Times New Roman" panose="02020603050405020304" charset="0"/>
                <a:cs typeface="Times New Roman" panose="02020603050405020304" charset="0"/>
                <a:sym typeface="+mn-ea"/>
              </a:rPr>
              <a:t>answer</a:t>
            </a:r>
            <a:r>
              <a:rPr lang="zh-CN" altLang="en-US" dirty="0">
                <a:latin typeface="Times New Roman" panose="02020603050405020304" charset="0"/>
                <a:cs typeface="Times New Roman" panose="02020603050405020304" charset="0"/>
                <a:sym typeface="+mn-ea"/>
              </a:rPr>
              <a:t> </a:t>
            </a:r>
            <a:r>
              <a:rPr lang="en-US" altLang="zh-CN" dirty="0">
                <a:latin typeface="Times New Roman" panose="02020603050405020304" charset="0"/>
                <a:cs typeface="Times New Roman" panose="02020603050405020304" charset="0"/>
                <a:sym typeface="+mn-ea"/>
              </a:rPr>
              <a:t>them</a:t>
            </a:r>
            <a:endParaRPr lang="en-US" altLang="zh-CN" dirty="0">
              <a:latin typeface="Times New Roman" panose="02020603050405020304" charset="0"/>
              <a:cs typeface="Times New Roman" panose="02020603050405020304" charset="0"/>
            </a:endParaRPr>
          </a:p>
          <a:p>
            <a:pPr indent="230505" fontAlgn="auto">
              <a:lnSpc>
                <a:spcPct val="150000"/>
              </a:lnSpc>
              <a:spcBef>
                <a:spcPts val="0"/>
              </a:spcBef>
              <a:buNone/>
            </a:pPr>
            <a:r>
              <a:rPr lang="en-US" altLang="zh-CN" dirty="0">
                <a:latin typeface="Times New Roman" panose="02020603050405020304" charset="0"/>
                <a:cs typeface="Times New Roman" panose="02020603050405020304" charset="0"/>
                <a:sym typeface="+mn-ea"/>
              </a:rPr>
              <a:t>3.</a:t>
            </a:r>
            <a:r>
              <a:rPr lang="zh-CN" altLang="en-US" dirty="0">
                <a:latin typeface="Times New Roman" panose="02020603050405020304" charset="0"/>
                <a:cs typeface="Times New Roman" panose="02020603050405020304" charset="0"/>
                <a:sym typeface="+mn-ea"/>
              </a:rPr>
              <a:t> </a:t>
            </a:r>
            <a:r>
              <a:rPr lang="en-US" altLang="zh-CN" dirty="0">
                <a:latin typeface="Times New Roman" panose="02020603050405020304" charset="0"/>
                <a:cs typeface="Times New Roman" panose="02020603050405020304" charset="0"/>
                <a:sym typeface="+mn-ea"/>
              </a:rPr>
              <a:t>create</a:t>
            </a:r>
            <a:r>
              <a:rPr lang="zh-CN" altLang="en-US" dirty="0">
                <a:latin typeface="Times New Roman" panose="02020603050405020304" charset="0"/>
                <a:cs typeface="Times New Roman" panose="02020603050405020304" charset="0"/>
                <a:sym typeface="+mn-ea"/>
              </a:rPr>
              <a:t> </a:t>
            </a:r>
            <a:r>
              <a:rPr lang="en-US" altLang="zh-CN" dirty="0">
                <a:latin typeface="Times New Roman" panose="02020603050405020304" charset="0"/>
                <a:cs typeface="Times New Roman" panose="02020603050405020304" charset="0"/>
                <a:sym typeface="+mn-ea"/>
              </a:rPr>
              <a:t>a</a:t>
            </a:r>
            <a:r>
              <a:rPr lang="zh-CN" altLang="en-US" dirty="0">
                <a:latin typeface="Times New Roman" panose="02020603050405020304" charset="0"/>
                <a:cs typeface="Times New Roman" panose="02020603050405020304" charset="0"/>
                <a:sym typeface="+mn-ea"/>
              </a:rPr>
              <a:t> </a:t>
            </a:r>
            <a:r>
              <a:rPr lang="en-US" altLang="zh-CN" dirty="0">
                <a:latin typeface="Times New Roman" panose="02020603050405020304" charset="0"/>
                <a:cs typeface="Times New Roman" panose="02020603050405020304" charset="0"/>
                <a:sym typeface="+mn-ea"/>
              </a:rPr>
              <a:t>grid</a:t>
            </a:r>
            <a:r>
              <a:rPr lang="zh-CN" altLang="en-US" dirty="0">
                <a:latin typeface="Times New Roman" panose="02020603050405020304" charset="0"/>
                <a:cs typeface="Times New Roman" panose="02020603050405020304" charset="0"/>
                <a:sym typeface="+mn-ea"/>
              </a:rPr>
              <a:t> </a:t>
            </a:r>
            <a:r>
              <a:rPr lang="en-US" altLang="zh-CN" dirty="0">
                <a:latin typeface="Times New Roman" panose="02020603050405020304" charset="0"/>
                <a:cs typeface="Times New Roman" panose="02020603050405020304" charset="0"/>
                <a:sym typeface="+mn-ea"/>
              </a:rPr>
              <a:t>using</a:t>
            </a:r>
            <a:r>
              <a:rPr lang="zh-CN" altLang="en-US" dirty="0">
                <a:latin typeface="Times New Roman" panose="02020603050405020304" charset="0"/>
                <a:cs typeface="Times New Roman" panose="02020603050405020304" charset="0"/>
                <a:sym typeface="+mn-ea"/>
              </a:rPr>
              <a:t> </a:t>
            </a:r>
            <a:r>
              <a:rPr lang="en-US" altLang="zh-CN" dirty="0">
                <a:latin typeface="Times New Roman" panose="02020603050405020304" charset="0"/>
                <a:cs typeface="Times New Roman" panose="02020603050405020304" charset="0"/>
                <a:sym typeface="+mn-ea"/>
              </a:rPr>
              <a:t>author’s</a:t>
            </a:r>
            <a:r>
              <a:rPr lang="zh-CN" altLang="en-US" dirty="0">
                <a:latin typeface="Times New Roman" panose="02020603050405020304" charset="0"/>
                <a:cs typeface="Times New Roman" panose="02020603050405020304" charset="0"/>
                <a:sym typeface="+mn-ea"/>
              </a:rPr>
              <a:t> </a:t>
            </a:r>
            <a:r>
              <a:rPr lang="en-US" altLang="zh-CN" dirty="0">
                <a:latin typeface="Times New Roman" panose="02020603050405020304" charset="0"/>
                <a:cs typeface="Times New Roman" panose="02020603050405020304" charset="0"/>
                <a:sym typeface="+mn-ea"/>
              </a:rPr>
              <a:t>names</a:t>
            </a:r>
            <a:r>
              <a:rPr lang="zh-CN" altLang="en-US" dirty="0">
                <a:latin typeface="Times New Roman" panose="02020603050405020304" charset="0"/>
                <a:cs typeface="Times New Roman" panose="02020603050405020304" charset="0"/>
                <a:sym typeface="+mn-ea"/>
              </a:rPr>
              <a:t> </a:t>
            </a:r>
            <a:r>
              <a:rPr lang="en-US" altLang="zh-CN" dirty="0">
                <a:latin typeface="Times New Roman" panose="02020603050405020304" charset="0"/>
                <a:cs typeface="Times New Roman" panose="02020603050405020304" charset="0"/>
                <a:sym typeface="+mn-ea"/>
              </a:rPr>
              <a:t>and</a:t>
            </a:r>
            <a:r>
              <a:rPr lang="zh-CN" altLang="en-US" dirty="0">
                <a:latin typeface="Times New Roman" panose="02020603050405020304" charset="0"/>
                <a:cs typeface="Times New Roman" panose="02020603050405020304" charset="0"/>
                <a:sym typeface="+mn-ea"/>
              </a:rPr>
              <a:t> </a:t>
            </a:r>
            <a:r>
              <a:rPr lang="en-US" altLang="zh-CN" dirty="0">
                <a:latin typeface="Times New Roman" panose="02020603050405020304" charset="0"/>
                <a:cs typeface="Times New Roman" panose="02020603050405020304" charset="0"/>
                <a:sym typeface="+mn-ea"/>
              </a:rPr>
              <a:t>categories</a:t>
            </a:r>
            <a:r>
              <a:rPr lang="zh-CN" altLang="en-US" dirty="0">
                <a:latin typeface="Times New Roman" panose="02020603050405020304" charset="0"/>
                <a:cs typeface="Times New Roman" panose="02020603050405020304" charset="0"/>
                <a:sym typeface="+mn-ea"/>
              </a:rPr>
              <a:t> </a:t>
            </a:r>
            <a:r>
              <a:rPr lang="en-US" altLang="zh-CN" dirty="0">
                <a:latin typeface="Times New Roman" panose="02020603050405020304" charset="0"/>
                <a:cs typeface="Times New Roman" panose="02020603050405020304" charset="0"/>
                <a:sym typeface="+mn-ea"/>
              </a:rPr>
              <a:t>as</a:t>
            </a:r>
            <a:r>
              <a:rPr lang="zh-CN" altLang="en-US" dirty="0">
                <a:latin typeface="Times New Roman" panose="02020603050405020304" charset="0"/>
                <a:cs typeface="Times New Roman" panose="02020603050405020304" charset="0"/>
                <a:sym typeface="+mn-ea"/>
              </a:rPr>
              <a:t> </a:t>
            </a:r>
            <a:r>
              <a:rPr lang="en-US" altLang="zh-CN" dirty="0">
                <a:latin typeface="Times New Roman" panose="02020603050405020304" charset="0"/>
                <a:cs typeface="Times New Roman" panose="02020603050405020304" charset="0"/>
                <a:sym typeface="+mn-ea"/>
              </a:rPr>
              <a:t>organizing</a:t>
            </a:r>
            <a:r>
              <a:rPr lang="zh-CN" altLang="en-US" dirty="0">
                <a:latin typeface="Times New Roman" panose="02020603050405020304" charset="0"/>
                <a:cs typeface="Times New Roman" panose="02020603050405020304" charset="0"/>
                <a:sym typeface="+mn-ea"/>
              </a:rPr>
              <a:t> </a:t>
            </a:r>
            <a:r>
              <a:rPr lang="en-US" altLang="zh-CN" dirty="0">
                <a:latin typeface="Times New Roman" panose="02020603050405020304" charset="0"/>
                <a:cs typeface="Times New Roman" panose="02020603050405020304" charset="0"/>
                <a:sym typeface="+mn-ea"/>
              </a:rPr>
              <a:t>features.</a:t>
            </a:r>
          </a:p>
          <a:p>
            <a:pPr indent="230505" fontAlgn="auto">
              <a:lnSpc>
                <a:spcPct val="150000"/>
              </a:lnSpc>
              <a:spcBef>
                <a:spcPts val="0"/>
              </a:spcBef>
              <a:buNone/>
            </a:pPr>
            <a:r>
              <a:rPr lang="en-US" altLang="zh-CN" dirty="0">
                <a:latin typeface="Times New Roman" panose="02020603050405020304" charset="0"/>
                <a:cs typeface="Times New Roman" panose="02020603050405020304" charset="0"/>
                <a:sym typeface="+mn-ea"/>
              </a:rPr>
              <a:t>4.</a:t>
            </a:r>
            <a:r>
              <a:rPr lang="zh-CN" altLang="en-US" dirty="0">
                <a:latin typeface="Times New Roman" panose="02020603050405020304" charset="0"/>
                <a:cs typeface="Times New Roman" panose="02020603050405020304" charset="0"/>
                <a:sym typeface="+mn-ea"/>
              </a:rPr>
              <a:t> </a:t>
            </a:r>
            <a:r>
              <a:rPr lang="en-US" altLang="zh-CN" dirty="0">
                <a:latin typeface="Times New Roman" panose="02020603050405020304" charset="0"/>
                <a:cs typeface="Times New Roman" panose="02020603050405020304" charset="0"/>
                <a:sym typeface="+mn-ea"/>
              </a:rPr>
              <a:t>fill</a:t>
            </a:r>
            <a:r>
              <a:rPr lang="zh-CN" altLang="en-US" dirty="0">
                <a:latin typeface="Times New Roman" panose="02020603050405020304" charset="0"/>
                <a:cs typeface="Times New Roman" panose="02020603050405020304" charset="0"/>
                <a:sym typeface="+mn-ea"/>
              </a:rPr>
              <a:t> </a:t>
            </a:r>
            <a:r>
              <a:rPr lang="en-US" altLang="zh-CN" dirty="0">
                <a:latin typeface="Times New Roman" panose="02020603050405020304" charset="0"/>
                <a:cs typeface="Times New Roman" panose="02020603050405020304" charset="0"/>
                <a:sym typeface="+mn-ea"/>
              </a:rPr>
              <a:t>in</a:t>
            </a:r>
            <a:r>
              <a:rPr lang="zh-CN" altLang="en-US" dirty="0">
                <a:latin typeface="Times New Roman" panose="02020603050405020304" charset="0"/>
                <a:cs typeface="Times New Roman" panose="02020603050405020304" charset="0"/>
                <a:sym typeface="+mn-ea"/>
              </a:rPr>
              <a:t> </a:t>
            </a:r>
            <a:r>
              <a:rPr lang="en-US" altLang="zh-CN" dirty="0">
                <a:latin typeface="Times New Roman" panose="02020603050405020304" charset="0"/>
                <a:cs typeface="Times New Roman" panose="02020603050405020304" charset="0"/>
                <a:sym typeface="+mn-ea"/>
              </a:rPr>
              <a:t>the</a:t>
            </a:r>
            <a:r>
              <a:rPr lang="zh-CN" altLang="en-US" dirty="0">
                <a:latin typeface="Times New Roman" panose="02020603050405020304" charset="0"/>
                <a:cs typeface="Times New Roman" panose="02020603050405020304" charset="0"/>
                <a:sym typeface="+mn-ea"/>
              </a:rPr>
              <a:t> </a:t>
            </a:r>
            <a:r>
              <a:rPr lang="en-US" altLang="zh-CN" dirty="0">
                <a:latin typeface="Times New Roman" panose="02020603050405020304" charset="0"/>
                <a:cs typeface="Times New Roman" panose="02020603050405020304" charset="0"/>
                <a:sym typeface="+mn-ea"/>
              </a:rPr>
              <a:t>grid</a:t>
            </a:r>
            <a:r>
              <a:rPr lang="zh-CN" altLang="en-US" dirty="0">
                <a:latin typeface="Times New Roman" panose="02020603050405020304" charset="0"/>
                <a:cs typeface="Times New Roman" panose="02020603050405020304" charset="0"/>
                <a:sym typeface="+mn-ea"/>
              </a:rPr>
              <a:t> </a:t>
            </a:r>
            <a:r>
              <a:rPr lang="en-US" altLang="zh-CN" dirty="0">
                <a:latin typeface="Times New Roman" panose="02020603050405020304" charset="0"/>
                <a:cs typeface="Times New Roman" panose="02020603050405020304" charset="0"/>
                <a:sym typeface="+mn-ea"/>
              </a:rPr>
              <a:t>with</a:t>
            </a:r>
            <a:r>
              <a:rPr lang="zh-CN" altLang="en-US" dirty="0">
                <a:latin typeface="Times New Roman" panose="02020603050405020304" charset="0"/>
                <a:cs typeface="Times New Roman" panose="02020603050405020304" charset="0"/>
                <a:sym typeface="+mn-ea"/>
              </a:rPr>
              <a:t> </a:t>
            </a:r>
            <a:r>
              <a:rPr lang="en-US" altLang="zh-CN" dirty="0">
                <a:latin typeface="Times New Roman" panose="02020603050405020304" charset="0"/>
                <a:cs typeface="Times New Roman" panose="02020603050405020304" charset="0"/>
                <a:sym typeface="+mn-ea"/>
              </a:rPr>
              <a:t>details</a:t>
            </a:r>
            <a:r>
              <a:rPr lang="zh-CN" altLang="en-US" dirty="0">
                <a:latin typeface="Times New Roman" panose="02020603050405020304" charset="0"/>
                <a:cs typeface="Times New Roman" panose="02020603050405020304" charset="0"/>
                <a:sym typeface="+mn-ea"/>
              </a:rPr>
              <a:t> </a:t>
            </a:r>
            <a:r>
              <a:rPr lang="en-US" altLang="zh-CN" dirty="0">
                <a:latin typeface="Times New Roman" panose="02020603050405020304" charset="0"/>
                <a:cs typeface="Times New Roman" panose="02020603050405020304" charset="0"/>
                <a:sym typeface="+mn-ea"/>
              </a:rPr>
              <a:t>from</a:t>
            </a:r>
            <a:r>
              <a:rPr lang="zh-CN" altLang="en-US" dirty="0">
                <a:latin typeface="Times New Roman" panose="02020603050405020304" charset="0"/>
                <a:cs typeface="Times New Roman" panose="02020603050405020304" charset="0"/>
                <a:sym typeface="+mn-ea"/>
              </a:rPr>
              <a:t> </a:t>
            </a:r>
            <a:r>
              <a:rPr lang="en-US" altLang="zh-CN" dirty="0">
                <a:latin typeface="Times New Roman" panose="02020603050405020304" charset="0"/>
                <a:cs typeface="Times New Roman" panose="02020603050405020304" charset="0"/>
                <a:sym typeface="+mn-ea"/>
              </a:rPr>
              <a:t>source</a:t>
            </a:r>
            <a:r>
              <a:rPr lang="zh-CN" altLang="en-US" dirty="0">
                <a:latin typeface="Times New Roman" panose="02020603050405020304" charset="0"/>
                <a:cs typeface="Times New Roman" panose="02020603050405020304" charset="0"/>
                <a:sym typeface="+mn-ea"/>
              </a:rPr>
              <a:t> </a:t>
            </a:r>
            <a:r>
              <a:rPr lang="en-US" altLang="zh-CN" dirty="0">
                <a:latin typeface="Times New Roman" panose="02020603050405020304" charset="0"/>
                <a:cs typeface="Times New Roman" panose="02020603050405020304" charset="0"/>
                <a:sym typeface="+mn-ea"/>
              </a:rPr>
              <a:t>material.</a:t>
            </a:r>
            <a:endParaRPr lang="en-US" altLang="zh-CN" dirty="0">
              <a:latin typeface="Times New Roman" panose="02020603050405020304" charset="0"/>
              <a:cs typeface="Times New Roman" panose="02020603050405020304" charset="0"/>
            </a:endParaRPr>
          </a:p>
          <a:p>
            <a:pPr fontAlgn="auto">
              <a:lnSpc>
                <a:spcPct val="100000"/>
              </a:lnSpc>
              <a:buNone/>
            </a:pPr>
            <a:endParaRPr lang="en-US" altLang="zh-CN" dirty="0">
              <a:latin typeface="Times New Roman" panose="02020603050405020304" charset="0"/>
              <a:cs typeface="Times New Roman" panose="02020603050405020304" charset="0"/>
            </a:endParaRPr>
          </a:p>
          <a:p>
            <a:pPr marL="0" indent="0" fontAlgn="auto">
              <a:lnSpc>
                <a:spcPct val="150000"/>
              </a:lnSpc>
              <a:spcBef>
                <a:spcPts val="0"/>
              </a:spcBef>
              <a:buNone/>
            </a:pPr>
            <a:endParaRPr lang="en-US" altLang="zh-CN" b="1" dirty="0"/>
          </a:p>
          <a:p>
            <a:pPr marL="0" indent="0" fontAlgn="auto">
              <a:lnSpc>
                <a:spcPct val="150000"/>
              </a:lnSpc>
              <a:spcBef>
                <a:spcPts val="0"/>
              </a:spcBef>
              <a:buNone/>
            </a:pPr>
            <a:endParaRPr lang="en-US" altLang="zh-CN" b="1" dirty="0">
              <a:latin typeface="Times New Roman" panose="02020603050405020304" charset="0"/>
              <a:cs typeface="Times New Roman" panose="02020603050405020304" charset="0"/>
              <a:sym typeface="+mn-ea"/>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6</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8" name="文本框 7"/>
          <p:cNvSpPr txBox="1"/>
          <p:nvPr/>
        </p:nvSpPr>
        <p:spPr>
          <a:xfrm>
            <a:off x="3785235" y="552450"/>
            <a:ext cx="4064000" cy="368300"/>
          </a:xfrm>
          <a:prstGeom prst="rect">
            <a:avLst/>
          </a:prstGeom>
          <a:noFill/>
        </p:spPr>
        <p:txBody>
          <a:bodyPr wrap="square" rtlCol="0">
            <a:spAutoFit/>
          </a:bodyPr>
          <a:lstStyle/>
          <a:p>
            <a:endParaRPr lang="zh-CN" altLang="en-US"/>
          </a:p>
        </p:txBody>
      </p:sp>
      <p:sp>
        <p:nvSpPr>
          <p:cNvPr id="13" name="文本框 12"/>
          <p:cNvSpPr txBox="1"/>
          <p:nvPr/>
        </p:nvSpPr>
        <p:spPr>
          <a:xfrm>
            <a:off x="6430645" y="216535"/>
            <a:ext cx="4064000" cy="368300"/>
          </a:xfrm>
          <a:prstGeom prst="rect">
            <a:avLst/>
          </a:prstGeom>
          <a:noFill/>
        </p:spPr>
        <p:txBody>
          <a:bodyPr wrap="square" rtlCol="0">
            <a:spAutoFit/>
          </a:bodyPr>
          <a:lstStyle/>
          <a:p>
            <a:endParaRPr lang="zh-CN" alt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zh-CN" altLang="en-US" sz="2800" b="1" i="1">
                <a:latin typeface="Times New Roman" panose="02020603050405020304" charset="0"/>
                <a:cs typeface="Times New Roman" panose="02020603050405020304" charset="0"/>
                <a:sym typeface="+mn-ea"/>
              </a:rPr>
              <a:t>Writing the First Draft</a:t>
            </a:r>
            <a:r>
              <a:rPr lang="en-US" altLang="zh-CN" sz="2800" b="1" i="1">
                <a:latin typeface="Times New Roman" panose="02020603050405020304" charset="0"/>
                <a:cs typeface="Times New Roman" panose="02020603050405020304" charset="0"/>
                <a:sym typeface="+mn-ea"/>
              </a:rPr>
              <a:t>-- </a:t>
            </a:r>
            <a:r>
              <a:rPr lang="en-US" altLang="zh-CN" sz="2800" i="1">
                <a:latin typeface="Times New Roman" panose="02020603050405020304" charset="0"/>
                <a:cs typeface="Times New Roman" panose="02020603050405020304" charset="0"/>
                <a:sym typeface="+mn-ea"/>
              </a:rPr>
              <a:t>1. Introduction</a:t>
            </a:r>
            <a:endParaRPr lang="en-US" altLang="zh-CN" sz="2800" i="1">
              <a:solidFill>
                <a:schemeClr val="tx1"/>
              </a:solidFill>
              <a:latin typeface="Times New Roman" panose="02020603050405020304" charset="0"/>
              <a:cs typeface="Times New Roman" panose="02020603050405020304" charset="0"/>
              <a:sym typeface="+mn-ea"/>
            </a:endParaRPr>
          </a:p>
        </p:txBody>
      </p:sp>
      <p:sp>
        <p:nvSpPr>
          <p:cNvPr id="3" name="内容占位符 2"/>
          <p:cNvSpPr>
            <a:spLocks noGrp="1"/>
          </p:cNvSpPr>
          <p:nvPr>
            <p:ph idx="1"/>
          </p:nvPr>
        </p:nvSpPr>
        <p:spPr>
          <a:xfrm>
            <a:off x="838200" y="1557020"/>
            <a:ext cx="10938510" cy="4850765"/>
          </a:xfrm>
          <a:ln w="28575">
            <a:solidFill>
              <a:schemeClr val="accent2">
                <a:lumMod val="75000"/>
              </a:schemeClr>
            </a:solidFill>
          </a:ln>
        </p:spPr>
        <p:txBody>
          <a:bodyPr>
            <a:normAutofit fontScale="90000" lnSpcReduction="10000"/>
          </a:bodyPr>
          <a:lstStyle/>
          <a:p>
            <a:pPr fontAlgn="auto">
              <a:lnSpc>
                <a:spcPct val="150000"/>
              </a:lnSpc>
              <a:buNone/>
            </a:pPr>
            <a:r>
              <a:rPr lang="en-US" altLang="zh-CN">
                <a:latin typeface="Times New Roman" panose="02020603050405020304" charset="0"/>
                <a:cs typeface="Times New Roman" panose="02020603050405020304" charset="0"/>
                <a:sym typeface="+mn-ea"/>
              </a:rPr>
              <a:t>When</a:t>
            </a:r>
            <a:r>
              <a:rPr lang="zh-CN" altLang="en-US">
                <a:latin typeface="Times New Roman" panose="02020603050405020304" charset="0"/>
                <a:cs typeface="Times New Roman" panose="02020603050405020304" charset="0"/>
                <a:sym typeface="+mn-ea"/>
              </a:rPr>
              <a:t> </a:t>
            </a:r>
            <a:r>
              <a:rPr lang="en-US" altLang="zh-CN">
                <a:latin typeface="Times New Roman" panose="02020603050405020304" charset="0"/>
                <a:cs typeface="Times New Roman" panose="02020603050405020304" charset="0"/>
                <a:sym typeface="+mn-ea"/>
              </a:rPr>
              <a:t>you</a:t>
            </a:r>
            <a:r>
              <a:rPr lang="zh-CN" altLang="en-US">
                <a:latin typeface="Times New Roman" panose="02020603050405020304" charset="0"/>
                <a:cs typeface="Times New Roman" panose="02020603050405020304" charset="0"/>
                <a:sym typeface="+mn-ea"/>
              </a:rPr>
              <a:t> </a:t>
            </a:r>
            <a:r>
              <a:rPr lang="en-US" altLang="zh-CN">
                <a:latin typeface="Times New Roman" panose="02020603050405020304" charset="0"/>
                <a:cs typeface="Times New Roman" panose="02020603050405020304" charset="0"/>
                <a:sym typeface="+mn-ea"/>
              </a:rPr>
              <a:t>begin</a:t>
            </a:r>
            <a:r>
              <a:rPr lang="zh-CN" altLang="en-US">
                <a:latin typeface="Times New Roman" panose="02020603050405020304" charset="0"/>
                <a:cs typeface="Times New Roman" panose="02020603050405020304" charset="0"/>
                <a:sym typeface="+mn-ea"/>
              </a:rPr>
              <a:t> </a:t>
            </a:r>
            <a:r>
              <a:rPr lang="en-US" altLang="zh-CN">
                <a:latin typeface="Times New Roman" panose="02020603050405020304" charset="0"/>
                <a:cs typeface="Times New Roman" panose="02020603050405020304" charset="0"/>
                <a:sym typeface="+mn-ea"/>
              </a:rPr>
              <a:t>to</a:t>
            </a:r>
            <a:r>
              <a:rPr lang="zh-CN" altLang="en-US">
                <a:latin typeface="Times New Roman" panose="02020603050405020304" charset="0"/>
                <a:cs typeface="Times New Roman" panose="02020603050405020304" charset="0"/>
                <a:sym typeface="+mn-ea"/>
              </a:rPr>
              <a:t> </a:t>
            </a:r>
            <a:r>
              <a:rPr lang="en-US" altLang="zh-CN">
                <a:latin typeface="Times New Roman" panose="02020603050405020304" charset="0"/>
                <a:cs typeface="Times New Roman" panose="02020603050405020304" charset="0"/>
                <a:sym typeface="+mn-ea"/>
              </a:rPr>
              <a:t>write</a:t>
            </a:r>
            <a:r>
              <a:rPr lang="zh-CN" altLang="en-US">
                <a:latin typeface="Times New Roman" panose="02020603050405020304" charset="0"/>
                <a:cs typeface="Times New Roman" panose="02020603050405020304" charset="0"/>
                <a:sym typeface="+mn-ea"/>
              </a:rPr>
              <a:t> </a:t>
            </a:r>
            <a:r>
              <a:rPr lang="en-US" altLang="zh-CN">
                <a:latin typeface="Times New Roman" panose="02020603050405020304" charset="0"/>
                <a:cs typeface="Times New Roman" panose="02020603050405020304" charset="0"/>
                <a:sym typeface="+mn-ea"/>
              </a:rPr>
              <a:t>the</a:t>
            </a:r>
            <a:r>
              <a:rPr lang="zh-CN" altLang="en-US">
                <a:latin typeface="Times New Roman" panose="02020603050405020304" charset="0"/>
                <a:cs typeface="Times New Roman" panose="02020603050405020304" charset="0"/>
                <a:sym typeface="+mn-ea"/>
              </a:rPr>
              <a:t> </a:t>
            </a:r>
            <a:r>
              <a:rPr lang="en-US" altLang="zh-CN">
                <a:latin typeface="Times New Roman" panose="02020603050405020304" charset="0"/>
                <a:cs typeface="Times New Roman" panose="02020603050405020304" charset="0"/>
                <a:sym typeface="+mn-ea"/>
              </a:rPr>
              <a:t>body</a:t>
            </a:r>
            <a:r>
              <a:rPr lang="zh-CN" altLang="en-US">
                <a:latin typeface="Times New Roman" panose="02020603050405020304" charset="0"/>
                <a:cs typeface="Times New Roman" panose="02020603050405020304" charset="0"/>
                <a:sym typeface="+mn-ea"/>
              </a:rPr>
              <a:t> </a:t>
            </a:r>
            <a:r>
              <a:rPr lang="en-US" altLang="zh-CN">
                <a:latin typeface="Times New Roman" panose="02020603050405020304" charset="0"/>
                <a:cs typeface="Times New Roman" panose="02020603050405020304" charset="0"/>
                <a:sym typeface="+mn-ea"/>
              </a:rPr>
              <a:t>of</a:t>
            </a:r>
            <a:r>
              <a:rPr lang="zh-CN" altLang="en-US">
                <a:latin typeface="Times New Roman" panose="02020603050405020304" charset="0"/>
                <a:cs typeface="Times New Roman" panose="02020603050405020304" charset="0"/>
                <a:sym typeface="+mn-ea"/>
              </a:rPr>
              <a:t> </a:t>
            </a:r>
            <a:r>
              <a:rPr lang="en-US" altLang="zh-CN">
                <a:latin typeface="Times New Roman" panose="02020603050405020304" charset="0"/>
                <a:cs typeface="Times New Roman" panose="02020603050405020304" charset="0"/>
                <a:sym typeface="+mn-ea"/>
              </a:rPr>
              <a:t>the</a:t>
            </a:r>
            <a:r>
              <a:rPr lang="zh-CN" altLang="en-US">
                <a:latin typeface="Times New Roman" panose="02020603050405020304" charset="0"/>
                <a:cs typeface="Times New Roman" panose="02020603050405020304" charset="0"/>
                <a:sym typeface="+mn-ea"/>
              </a:rPr>
              <a:t> </a:t>
            </a:r>
            <a:r>
              <a:rPr lang="en-US" altLang="zh-CN">
                <a:latin typeface="Times New Roman" panose="02020603050405020304" charset="0"/>
                <a:cs typeface="Times New Roman" panose="02020603050405020304" charset="0"/>
                <a:sym typeface="+mn-ea"/>
              </a:rPr>
              <a:t>paper,</a:t>
            </a:r>
            <a:r>
              <a:rPr lang="zh-CN" altLang="en-US">
                <a:latin typeface="Times New Roman" panose="02020603050405020304" charset="0"/>
                <a:cs typeface="Times New Roman" panose="02020603050405020304" charset="0"/>
                <a:sym typeface="+mn-ea"/>
              </a:rPr>
              <a:t> </a:t>
            </a:r>
            <a:r>
              <a:rPr lang="en-US" altLang="zh-CN">
                <a:latin typeface="Times New Roman" panose="02020603050405020304" charset="0"/>
                <a:cs typeface="Times New Roman" panose="02020603050405020304" charset="0"/>
                <a:sym typeface="+mn-ea"/>
              </a:rPr>
              <a:t>you</a:t>
            </a:r>
            <a:r>
              <a:rPr lang="zh-CN" altLang="en-US">
                <a:latin typeface="Times New Roman" panose="02020603050405020304" charset="0"/>
                <a:cs typeface="Times New Roman" panose="02020603050405020304" charset="0"/>
                <a:sym typeface="+mn-ea"/>
              </a:rPr>
              <a:t> </a:t>
            </a:r>
            <a:r>
              <a:rPr lang="en-US" altLang="zh-CN">
                <a:latin typeface="Times New Roman" panose="02020603050405020304" charset="0"/>
                <a:cs typeface="Times New Roman" panose="02020603050405020304" charset="0"/>
                <a:sym typeface="+mn-ea"/>
              </a:rPr>
              <a:t>may</a:t>
            </a:r>
            <a:r>
              <a:rPr lang="zh-CN" altLang="en-US">
                <a:latin typeface="Times New Roman" panose="02020603050405020304" charset="0"/>
                <a:cs typeface="Times New Roman" panose="02020603050405020304" charset="0"/>
                <a:sym typeface="+mn-ea"/>
              </a:rPr>
              <a:t> </a:t>
            </a:r>
            <a:r>
              <a:rPr lang="en-US" altLang="zh-CN">
                <a:latin typeface="Times New Roman" panose="02020603050405020304" charset="0"/>
                <a:cs typeface="Times New Roman" panose="02020603050405020304" charset="0"/>
                <a:sym typeface="+mn-ea"/>
              </a:rPr>
              <a:t>want</a:t>
            </a:r>
            <a:r>
              <a:rPr lang="zh-CN" altLang="en-US">
                <a:latin typeface="Times New Roman" panose="02020603050405020304" charset="0"/>
                <a:cs typeface="Times New Roman" panose="02020603050405020304" charset="0"/>
                <a:sym typeface="+mn-ea"/>
              </a:rPr>
              <a:t> </a:t>
            </a:r>
            <a:r>
              <a:rPr lang="en-US" altLang="zh-CN">
                <a:latin typeface="Times New Roman" panose="02020603050405020304" charset="0"/>
                <a:cs typeface="Times New Roman" panose="02020603050405020304" charset="0"/>
                <a:sym typeface="+mn-ea"/>
              </a:rPr>
              <a:t>to</a:t>
            </a:r>
            <a:r>
              <a:rPr lang="zh-CN" altLang="en-US">
                <a:latin typeface="Times New Roman" panose="02020603050405020304" charset="0"/>
                <a:cs typeface="Times New Roman" panose="02020603050405020304" charset="0"/>
                <a:sym typeface="+mn-ea"/>
              </a:rPr>
              <a:t> </a:t>
            </a:r>
            <a:r>
              <a:rPr lang="en-US" altLang="zh-CN">
                <a:latin typeface="Times New Roman" panose="02020603050405020304" charset="0"/>
                <a:cs typeface="Times New Roman" panose="02020603050405020304" charset="0"/>
                <a:sym typeface="+mn-ea"/>
              </a:rPr>
              <a:t>follow</a:t>
            </a:r>
            <a:r>
              <a:rPr lang="zh-CN" altLang="en-US">
                <a:latin typeface="Times New Roman" panose="02020603050405020304" charset="0"/>
                <a:cs typeface="Times New Roman" panose="02020603050405020304" charset="0"/>
                <a:sym typeface="+mn-ea"/>
              </a:rPr>
              <a:t> </a:t>
            </a:r>
            <a:r>
              <a:rPr lang="en-US" altLang="zh-CN">
                <a:latin typeface="Times New Roman" panose="02020603050405020304" charset="0"/>
                <a:cs typeface="Times New Roman" panose="02020603050405020304" charset="0"/>
                <a:sym typeface="+mn-ea"/>
              </a:rPr>
              <a:t>the following</a:t>
            </a:r>
            <a:r>
              <a:rPr lang="zh-CN" altLang="en-US">
                <a:latin typeface="Times New Roman" panose="02020603050405020304" charset="0"/>
                <a:cs typeface="Times New Roman" panose="02020603050405020304" charset="0"/>
                <a:sym typeface="+mn-ea"/>
              </a:rPr>
              <a:t> </a:t>
            </a:r>
            <a:r>
              <a:rPr lang="en-US" altLang="zh-CN">
                <a:latin typeface="Times New Roman" panose="02020603050405020304" charset="0"/>
                <a:cs typeface="Times New Roman" panose="02020603050405020304" charset="0"/>
                <a:sym typeface="+mn-ea"/>
              </a:rPr>
              <a:t>steps.</a:t>
            </a:r>
            <a:endParaRPr lang="en-US" altLang="zh-CN">
              <a:latin typeface="Times New Roman" panose="02020603050405020304" charset="0"/>
              <a:cs typeface="Times New Roman" panose="02020603050405020304" charset="0"/>
            </a:endParaRPr>
          </a:p>
          <a:p>
            <a:pPr fontAlgn="auto">
              <a:lnSpc>
                <a:spcPct val="150000"/>
              </a:lnSpc>
              <a:buNone/>
            </a:pPr>
            <a:r>
              <a:rPr lang="en-US" altLang="zh-CN" b="1">
                <a:latin typeface="Times New Roman" panose="02020603050405020304" charset="0"/>
                <a:cs typeface="Times New Roman" panose="02020603050405020304" charset="0"/>
                <a:sym typeface="+mn-ea"/>
              </a:rPr>
              <a:t>Step</a:t>
            </a:r>
            <a:r>
              <a:rPr lang="zh-CN" altLang="en-US" b="1">
                <a:latin typeface="Times New Roman" panose="02020603050405020304" charset="0"/>
                <a:cs typeface="Times New Roman" panose="02020603050405020304" charset="0"/>
                <a:sym typeface="+mn-ea"/>
              </a:rPr>
              <a:t> </a:t>
            </a:r>
            <a:r>
              <a:rPr lang="en-US" altLang="zh-CN" b="1">
                <a:latin typeface="Times New Roman" panose="02020603050405020304" charset="0"/>
                <a:cs typeface="Times New Roman" panose="02020603050405020304" charset="0"/>
                <a:sym typeface="+mn-ea"/>
              </a:rPr>
              <a:t>1.</a:t>
            </a:r>
            <a:r>
              <a:rPr lang="zh-CN" altLang="en-US">
                <a:latin typeface="Times New Roman" panose="02020603050405020304" charset="0"/>
                <a:cs typeface="Times New Roman" panose="02020603050405020304" charset="0"/>
                <a:sym typeface="+mn-ea"/>
              </a:rPr>
              <a:t> </a:t>
            </a:r>
            <a:r>
              <a:rPr lang="en-US" altLang="zh-CN">
                <a:latin typeface="Times New Roman" panose="02020603050405020304" charset="0"/>
                <a:cs typeface="Times New Roman" panose="02020603050405020304" charset="0"/>
                <a:sym typeface="+mn-ea"/>
              </a:rPr>
              <a:t>select</a:t>
            </a:r>
            <a:r>
              <a:rPr lang="zh-CN" altLang="en-US">
                <a:latin typeface="Times New Roman" panose="02020603050405020304" charset="0"/>
                <a:cs typeface="Times New Roman" panose="02020603050405020304" charset="0"/>
                <a:sym typeface="+mn-ea"/>
              </a:rPr>
              <a:t> </a:t>
            </a:r>
            <a:r>
              <a:rPr lang="en-US" altLang="zh-CN">
                <a:latin typeface="Times New Roman" panose="02020603050405020304" charset="0"/>
                <a:cs typeface="Times New Roman" panose="02020603050405020304" charset="0"/>
                <a:sym typeface="+mn-ea"/>
              </a:rPr>
              <a:t>on</a:t>
            </a:r>
            <a:r>
              <a:rPr lang="zh-CN" altLang="en-US">
                <a:latin typeface="Times New Roman" panose="02020603050405020304" charset="0"/>
                <a:cs typeface="Times New Roman" panose="02020603050405020304" charset="0"/>
                <a:sym typeface="+mn-ea"/>
              </a:rPr>
              <a:t> </a:t>
            </a:r>
            <a:r>
              <a:rPr lang="en-US" altLang="zh-CN">
                <a:latin typeface="Times New Roman" panose="02020603050405020304" charset="0"/>
                <a:cs typeface="Times New Roman" panose="02020603050405020304" charset="0"/>
                <a:sym typeface="+mn-ea"/>
              </a:rPr>
              <a:t>common</a:t>
            </a:r>
            <a:r>
              <a:rPr lang="zh-CN" altLang="en-US">
                <a:latin typeface="Times New Roman" panose="02020603050405020304" charset="0"/>
                <a:cs typeface="Times New Roman" panose="02020603050405020304" charset="0"/>
                <a:sym typeface="+mn-ea"/>
              </a:rPr>
              <a:t> </a:t>
            </a:r>
            <a:r>
              <a:rPr lang="en-US" altLang="zh-CN">
                <a:latin typeface="Times New Roman" panose="02020603050405020304" charset="0"/>
                <a:cs typeface="Times New Roman" panose="02020603050405020304" charset="0"/>
                <a:sym typeface="+mn-ea"/>
              </a:rPr>
              <a:t>point</a:t>
            </a:r>
            <a:r>
              <a:rPr lang="zh-CN" altLang="en-US">
                <a:latin typeface="Times New Roman" panose="02020603050405020304" charset="0"/>
                <a:cs typeface="Times New Roman" panose="02020603050405020304" charset="0"/>
                <a:sym typeface="+mn-ea"/>
              </a:rPr>
              <a:t> </a:t>
            </a:r>
            <a:r>
              <a:rPr lang="en-US" altLang="zh-CN">
                <a:latin typeface="Times New Roman" panose="02020603050405020304" charset="0"/>
                <a:cs typeface="Times New Roman" panose="02020603050405020304" charset="0"/>
                <a:sym typeface="+mn-ea"/>
              </a:rPr>
              <a:t>and</a:t>
            </a:r>
            <a:r>
              <a:rPr lang="zh-CN" altLang="en-US">
                <a:latin typeface="Times New Roman" panose="02020603050405020304" charset="0"/>
                <a:cs typeface="Times New Roman" panose="02020603050405020304" charset="0"/>
                <a:sym typeface="+mn-ea"/>
              </a:rPr>
              <a:t> </a:t>
            </a:r>
            <a:r>
              <a:rPr lang="en-US" altLang="zh-CN">
                <a:latin typeface="Times New Roman" panose="02020603050405020304" charset="0"/>
                <a:cs typeface="Times New Roman" panose="02020603050405020304" charset="0"/>
                <a:sym typeface="+mn-ea"/>
              </a:rPr>
              <a:t>divide</a:t>
            </a:r>
            <a:r>
              <a:rPr lang="zh-CN" altLang="en-US">
                <a:latin typeface="Times New Roman" panose="02020603050405020304" charset="0"/>
                <a:cs typeface="Times New Roman" panose="02020603050405020304" charset="0"/>
                <a:sym typeface="+mn-ea"/>
              </a:rPr>
              <a:t> </a:t>
            </a:r>
            <a:r>
              <a:rPr lang="en-US" altLang="zh-CN">
                <a:latin typeface="Times New Roman" panose="02020603050405020304" charset="0"/>
                <a:cs typeface="Times New Roman" panose="02020603050405020304" charset="0"/>
                <a:sym typeface="+mn-ea"/>
              </a:rPr>
              <a:t>it</a:t>
            </a:r>
            <a:r>
              <a:rPr lang="zh-CN" altLang="en-US">
                <a:latin typeface="Times New Roman" panose="02020603050405020304" charset="0"/>
                <a:cs typeface="Times New Roman" panose="02020603050405020304" charset="0"/>
                <a:sym typeface="+mn-ea"/>
              </a:rPr>
              <a:t> </a:t>
            </a:r>
            <a:r>
              <a:rPr lang="en-US" altLang="zh-CN">
                <a:latin typeface="Times New Roman" panose="02020603050405020304" charset="0"/>
                <a:cs typeface="Times New Roman" panose="02020603050405020304" charset="0"/>
                <a:sym typeface="+mn-ea"/>
              </a:rPr>
              <a:t>into</a:t>
            </a:r>
            <a:r>
              <a:rPr lang="zh-CN" altLang="en-US">
                <a:latin typeface="Times New Roman" panose="02020603050405020304" charset="0"/>
                <a:cs typeface="Times New Roman" panose="02020603050405020304" charset="0"/>
                <a:sym typeface="+mn-ea"/>
              </a:rPr>
              <a:t> </a:t>
            </a:r>
            <a:r>
              <a:rPr lang="en-US" altLang="zh-CN">
                <a:latin typeface="Times New Roman" panose="02020603050405020304" charset="0"/>
                <a:cs typeface="Times New Roman" panose="02020603050405020304" charset="0"/>
                <a:sym typeface="+mn-ea"/>
              </a:rPr>
              <a:t>sub-topics</a:t>
            </a:r>
            <a:r>
              <a:rPr lang="zh-CN" altLang="en-US">
                <a:latin typeface="Times New Roman" panose="02020603050405020304" charset="0"/>
                <a:cs typeface="Times New Roman" panose="02020603050405020304" charset="0"/>
                <a:sym typeface="+mn-ea"/>
              </a:rPr>
              <a:t> </a:t>
            </a:r>
            <a:r>
              <a:rPr lang="en-US" altLang="zh-CN">
                <a:latin typeface="Times New Roman" panose="02020603050405020304" charset="0"/>
                <a:cs typeface="Times New Roman" panose="02020603050405020304" charset="0"/>
                <a:sym typeface="+mn-ea"/>
              </a:rPr>
              <a:t>that</a:t>
            </a:r>
            <a:r>
              <a:rPr lang="zh-CN" altLang="en-US">
                <a:latin typeface="Times New Roman" panose="02020603050405020304" charset="0"/>
                <a:cs typeface="Times New Roman" panose="02020603050405020304" charset="0"/>
                <a:sym typeface="+mn-ea"/>
              </a:rPr>
              <a:t> </a:t>
            </a:r>
            <a:r>
              <a:rPr lang="en-US" altLang="zh-CN">
                <a:latin typeface="Times New Roman" panose="02020603050405020304" charset="0"/>
                <a:cs typeface="Times New Roman" panose="02020603050405020304" charset="0"/>
                <a:sym typeface="+mn-ea"/>
              </a:rPr>
              <a:t>represent</a:t>
            </a:r>
            <a:r>
              <a:rPr lang="zh-CN" altLang="en-US">
                <a:latin typeface="Times New Roman" panose="02020603050405020304" charset="0"/>
                <a:cs typeface="Times New Roman" panose="02020603050405020304" charset="0"/>
                <a:sym typeface="+mn-ea"/>
              </a:rPr>
              <a:t> </a:t>
            </a:r>
            <a:r>
              <a:rPr lang="en-US" altLang="zh-CN">
                <a:latin typeface="Times New Roman" panose="02020603050405020304" charset="0"/>
                <a:cs typeface="Times New Roman" panose="02020603050405020304" charset="0"/>
                <a:sym typeface="+mn-ea"/>
              </a:rPr>
              <a:t>paragraph</a:t>
            </a:r>
            <a:r>
              <a:rPr lang="zh-CN" altLang="en-US">
                <a:latin typeface="Times New Roman" panose="02020603050405020304" charset="0"/>
                <a:cs typeface="Times New Roman" panose="02020603050405020304" charset="0"/>
                <a:sym typeface="+mn-ea"/>
              </a:rPr>
              <a:t> </a:t>
            </a:r>
            <a:r>
              <a:rPr lang="en-US" altLang="zh-CN">
                <a:latin typeface="Times New Roman" panose="02020603050405020304" charset="0"/>
                <a:cs typeface="Times New Roman" panose="02020603050405020304" charset="0"/>
                <a:sym typeface="+mn-ea"/>
              </a:rPr>
              <a:t>size</a:t>
            </a:r>
            <a:r>
              <a:rPr lang="zh-CN" altLang="en-US">
                <a:latin typeface="Times New Roman" panose="02020603050405020304" charset="0"/>
                <a:cs typeface="Times New Roman" panose="02020603050405020304" charset="0"/>
                <a:sym typeface="+mn-ea"/>
              </a:rPr>
              <a:t> </a:t>
            </a:r>
            <a:r>
              <a:rPr lang="en-US" altLang="zh-CN">
                <a:latin typeface="Times New Roman" panose="02020603050405020304" charset="0"/>
                <a:cs typeface="Times New Roman" panose="02020603050405020304" charset="0"/>
                <a:sym typeface="+mn-ea"/>
              </a:rPr>
              <a:t>“chunks”.</a:t>
            </a:r>
            <a:endParaRPr lang="en-US" altLang="zh-CN">
              <a:latin typeface="Times New Roman" panose="02020603050405020304" charset="0"/>
              <a:cs typeface="Times New Roman" panose="02020603050405020304" charset="0"/>
            </a:endParaRPr>
          </a:p>
          <a:p>
            <a:pPr fontAlgn="auto">
              <a:lnSpc>
                <a:spcPct val="150000"/>
              </a:lnSpc>
              <a:buNone/>
            </a:pPr>
            <a:r>
              <a:rPr lang="en-US" altLang="zh-CN" b="1">
                <a:latin typeface="Times New Roman" panose="02020603050405020304" charset="0"/>
                <a:cs typeface="Times New Roman" panose="02020603050405020304" charset="0"/>
                <a:sym typeface="+mn-ea"/>
              </a:rPr>
              <a:t>Step</a:t>
            </a:r>
            <a:r>
              <a:rPr lang="zh-CN" altLang="en-US" b="1">
                <a:latin typeface="Times New Roman" panose="02020603050405020304" charset="0"/>
                <a:cs typeface="Times New Roman" panose="02020603050405020304" charset="0"/>
                <a:sym typeface="+mn-ea"/>
              </a:rPr>
              <a:t> </a:t>
            </a:r>
            <a:r>
              <a:rPr lang="en-US" altLang="zh-CN" b="1">
                <a:latin typeface="Times New Roman" panose="02020603050405020304" charset="0"/>
                <a:cs typeface="Times New Roman" panose="02020603050405020304" charset="0"/>
                <a:sym typeface="+mn-ea"/>
              </a:rPr>
              <a:t>2.</a:t>
            </a:r>
            <a:r>
              <a:rPr lang="zh-CN" altLang="en-US">
                <a:latin typeface="Times New Roman" panose="02020603050405020304" charset="0"/>
                <a:cs typeface="Times New Roman" panose="02020603050405020304" charset="0"/>
                <a:sym typeface="+mn-ea"/>
              </a:rPr>
              <a:t> </a:t>
            </a:r>
            <a:r>
              <a:rPr lang="en-US" altLang="zh-CN">
                <a:latin typeface="Times New Roman" panose="02020603050405020304" charset="0"/>
                <a:cs typeface="Times New Roman" panose="02020603050405020304" charset="0"/>
                <a:sym typeface="+mn-ea"/>
              </a:rPr>
              <a:t>For</a:t>
            </a:r>
            <a:r>
              <a:rPr lang="zh-CN" altLang="en-US">
                <a:latin typeface="Times New Roman" panose="02020603050405020304" charset="0"/>
                <a:cs typeface="Times New Roman" panose="02020603050405020304" charset="0"/>
                <a:sym typeface="+mn-ea"/>
              </a:rPr>
              <a:t> </a:t>
            </a:r>
            <a:r>
              <a:rPr lang="en-US" altLang="zh-CN">
                <a:latin typeface="Times New Roman" panose="02020603050405020304" charset="0"/>
                <a:cs typeface="Times New Roman" panose="02020603050405020304" charset="0"/>
                <a:sym typeface="+mn-ea"/>
              </a:rPr>
              <a:t>each</a:t>
            </a:r>
            <a:r>
              <a:rPr lang="zh-CN" altLang="en-US">
                <a:latin typeface="Times New Roman" panose="02020603050405020304" charset="0"/>
                <a:cs typeface="Times New Roman" panose="02020603050405020304" charset="0"/>
                <a:sym typeface="+mn-ea"/>
              </a:rPr>
              <a:t> </a:t>
            </a:r>
            <a:r>
              <a:rPr lang="en-US" altLang="zh-CN">
                <a:latin typeface="Times New Roman" panose="02020603050405020304" charset="0"/>
                <a:cs typeface="Times New Roman" panose="02020603050405020304" charset="0"/>
                <a:sym typeface="+mn-ea"/>
              </a:rPr>
              <a:t>chunk</a:t>
            </a:r>
            <a:r>
              <a:rPr lang="zh-CN" altLang="en-US">
                <a:latin typeface="Times New Roman" panose="02020603050405020304" charset="0"/>
                <a:cs typeface="Times New Roman" panose="02020603050405020304" charset="0"/>
                <a:sym typeface="+mn-ea"/>
              </a:rPr>
              <a:t> </a:t>
            </a:r>
            <a:r>
              <a:rPr lang="en-US" altLang="zh-CN">
                <a:latin typeface="Times New Roman" panose="02020603050405020304" charset="0"/>
                <a:cs typeface="Times New Roman" panose="02020603050405020304" charset="0"/>
                <a:sym typeface="+mn-ea"/>
              </a:rPr>
              <a:t>create</a:t>
            </a:r>
            <a:r>
              <a:rPr lang="zh-CN" altLang="en-US">
                <a:latin typeface="Times New Roman" panose="02020603050405020304" charset="0"/>
                <a:cs typeface="Times New Roman" panose="02020603050405020304" charset="0"/>
                <a:sym typeface="+mn-ea"/>
              </a:rPr>
              <a:t> </a:t>
            </a:r>
            <a:r>
              <a:rPr lang="en-US" altLang="zh-CN">
                <a:latin typeface="Times New Roman" panose="02020603050405020304" charset="0"/>
                <a:cs typeface="Times New Roman" panose="02020603050405020304" charset="0"/>
                <a:sym typeface="+mn-ea"/>
              </a:rPr>
              <a:t>a</a:t>
            </a:r>
            <a:r>
              <a:rPr lang="zh-CN" altLang="en-US">
                <a:latin typeface="Times New Roman" panose="02020603050405020304" charset="0"/>
                <a:cs typeface="Times New Roman" panose="02020603050405020304" charset="0"/>
                <a:sym typeface="+mn-ea"/>
              </a:rPr>
              <a:t> </a:t>
            </a:r>
            <a:r>
              <a:rPr lang="en-US" altLang="zh-CN">
                <a:latin typeface="Times New Roman" panose="02020603050405020304" charset="0"/>
                <a:cs typeface="Times New Roman" panose="02020603050405020304" charset="0"/>
                <a:sym typeface="+mn-ea"/>
              </a:rPr>
              <a:t>topic</a:t>
            </a:r>
            <a:r>
              <a:rPr lang="zh-CN" altLang="en-US">
                <a:latin typeface="Times New Roman" panose="02020603050405020304" charset="0"/>
                <a:cs typeface="Times New Roman" panose="02020603050405020304" charset="0"/>
                <a:sym typeface="+mn-ea"/>
              </a:rPr>
              <a:t> </a:t>
            </a:r>
            <a:r>
              <a:rPr lang="en-US" altLang="zh-CN">
                <a:latin typeface="Times New Roman" panose="02020603050405020304" charset="0"/>
                <a:cs typeface="Times New Roman" panose="02020603050405020304" charset="0"/>
                <a:sym typeface="+mn-ea"/>
              </a:rPr>
              <a:t>sentence</a:t>
            </a:r>
            <a:r>
              <a:rPr lang="zh-CN" altLang="en-US">
                <a:latin typeface="Times New Roman" panose="02020603050405020304" charset="0"/>
                <a:cs typeface="Times New Roman" panose="02020603050405020304" charset="0"/>
                <a:sym typeface="+mn-ea"/>
              </a:rPr>
              <a:t> </a:t>
            </a:r>
            <a:r>
              <a:rPr lang="en-US" altLang="zh-CN">
                <a:latin typeface="Times New Roman" panose="02020603050405020304" charset="0"/>
                <a:cs typeface="Times New Roman" panose="02020603050405020304" charset="0"/>
                <a:sym typeface="+mn-ea"/>
              </a:rPr>
              <a:t>that</a:t>
            </a:r>
            <a:r>
              <a:rPr lang="zh-CN" altLang="en-US">
                <a:latin typeface="Times New Roman" panose="02020603050405020304" charset="0"/>
                <a:cs typeface="Times New Roman" panose="02020603050405020304" charset="0"/>
                <a:sym typeface="+mn-ea"/>
              </a:rPr>
              <a:t> </a:t>
            </a:r>
            <a:r>
              <a:rPr lang="en-US" altLang="zh-CN">
                <a:latin typeface="Times New Roman" panose="02020603050405020304" charset="0"/>
                <a:cs typeface="Times New Roman" panose="02020603050405020304" charset="0"/>
                <a:sym typeface="+mn-ea"/>
              </a:rPr>
              <a:t>both</a:t>
            </a:r>
            <a:r>
              <a:rPr lang="zh-CN" altLang="en-US">
                <a:latin typeface="Times New Roman" panose="02020603050405020304" charset="0"/>
                <a:cs typeface="Times New Roman" panose="02020603050405020304" charset="0"/>
                <a:sym typeface="+mn-ea"/>
              </a:rPr>
              <a:t> </a:t>
            </a:r>
            <a:r>
              <a:rPr lang="en-US" altLang="zh-CN">
                <a:latin typeface="Times New Roman" panose="02020603050405020304" charset="0"/>
                <a:cs typeface="Times New Roman" panose="02020603050405020304" charset="0"/>
                <a:sym typeface="+mn-ea"/>
              </a:rPr>
              <a:t>synthesizes</a:t>
            </a:r>
            <a:r>
              <a:rPr lang="zh-CN" altLang="en-US">
                <a:latin typeface="Times New Roman" panose="02020603050405020304" charset="0"/>
                <a:cs typeface="Times New Roman" panose="02020603050405020304" charset="0"/>
                <a:sym typeface="+mn-ea"/>
              </a:rPr>
              <a:t> </a:t>
            </a:r>
            <a:r>
              <a:rPr lang="en-US" altLang="zh-CN">
                <a:latin typeface="Times New Roman" panose="02020603050405020304" charset="0"/>
                <a:cs typeface="Times New Roman" panose="02020603050405020304" charset="0"/>
                <a:sym typeface="+mn-ea"/>
              </a:rPr>
              <a:t>and</a:t>
            </a:r>
            <a:r>
              <a:rPr lang="zh-CN" altLang="en-US">
                <a:latin typeface="Times New Roman" panose="02020603050405020304" charset="0"/>
                <a:cs typeface="Times New Roman" panose="02020603050405020304" charset="0"/>
                <a:sym typeface="+mn-ea"/>
              </a:rPr>
              <a:t> </a:t>
            </a:r>
            <a:r>
              <a:rPr lang="en-US" altLang="zh-CN">
                <a:latin typeface="Times New Roman" panose="02020603050405020304" charset="0"/>
                <a:cs typeface="Times New Roman" panose="02020603050405020304" charset="0"/>
                <a:sym typeface="+mn-ea"/>
              </a:rPr>
              <a:t>describes</a:t>
            </a:r>
            <a:r>
              <a:rPr lang="zh-CN" altLang="en-US">
                <a:latin typeface="Times New Roman" panose="02020603050405020304" charset="0"/>
                <a:cs typeface="Times New Roman" panose="02020603050405020304" charset="0"/>
                <a:sym typeface="+mn-ea"/>
              </a:rPr>
              <a:t> </a:t>
            </a:r>
            <a:r>
              <a:rPr lang="en-US" altLang="zh-CN">
                <a:latin typeface="Times New Roman" panose="02020603050405020304" charset="0"/>
                <a:cs typeface="Times New Roman" panose="02020603050405020304" charset="0"/>
                <a:sym typeface="+mn-ea"/>
              </a:rPr>
              <a:t>the</a:t>
            </a:r>
            <a:r>
              <a:rPr lang="zh-CN" altLang="en-US">
                <a:latin typeface="Times New Roman" panose="02020603050405020304" charset="0"/>
                <a:cs typeface="Times New Roman" panose="02020603050405020304" charset="0"/>
                <a:sym typeface="+mn-ea"/>
              </a:rPr>
              <a:t> </a:t>
            </a:r>
            <a:r>
              <a:rPr lang="en-US" altLang="zh-CN">
                <a:latin typeface="Times New Roman" panose="02020603050405020304" charset="0"/>
                <a:cs typeface="Times New Roman" panose="02020603050405020304" charset="0"/>
                <a:sym typeface="+mn-ea"/>
              </a:rPr>
              <a:t>literature.</a:t>
            </a:r>
          </a:p>
          <a:p>
            <a:pPr fontAlgn="auto">
              <a:lnSpc>
                <a:spcPct val="150000"/>
              </a:lnSpc>
              <a:buNone/>
            </a:pPr>
            <a:r>
              <a:rPr lang="en-US" altLang="zh-CN" b="1">
                <a:latin typeface="Times New Roman" panose="02020603050405020304" charset="0"/>
                <a:cs typeface="Times New Roman" panose="02020603050405020304" charset="0"/>
                <a:sym typeface="+mn-ea"/>
              </a:rPr>
              <a:t>Step</a:t>
            </a:r>
            <a:r>
              <a:rPr lang="zh-CN" altLang="en-US" b="1">
                <a:latin typeface="Times New Roman" panose="02020603050405020304" charset="0"/>
                <a:cs typeface="Times New Roman" panose="02020603050405020304" charset="0"/>
                <a:sym typeface="+mn-ea"/>
              </a:rPr>
              <a:t> </a:t>
            </a:r>
            <a:r>
              <a:rPr lang="en-US" altLang="zh-CN" b="1">
                <a:latin typeface="Times New Roman" panose="02020603050405020304" charset="0"/>
                <a:cs typeface="Times New Roman" panose="02020603050405020304" charset="0"/>
                <a:sym typeface="+mn-ea"/>
              </a:rPr>
              <a:t>3.</a:t>
            </a:r>
            <a:r>
              <a:rPr lang="zh-CN" altLang="en-US">
                <a:latin typeface="Times New Roman" panose="02020603050405020304" charset="0"/>
                <a:cs typeface="Times New Roman" panose="02020603050405020304" charset="0"/>
                <a:sym typeface="+mn-ea"/>
              </a:rPr>
              <a:t> </a:t>
            </a:r>
            <a:r>
              <a:rPr lang="en-US" altLang="zh-CN">
                <a:latin typeface="Times New Roman" panose="02020603050405020304" charset="0"/>
                <a:cs typeface="Times New Roman" panose="02020603050405020304" charset="0"/>
                <a:sym typeface="+mn-ea"/>
              </a:rPr>
              <a:t>support</a:t>
            </a:r>
            <a:r>
              <a:rPr lang="zh-CN" altLang="en-US">
                <a:latin typeface="Times New Roman" panose="02020603050405020304" charset="0"/>
                <a:cs typeface="Times New Roman" panose="02020603050405020304" charset="0"/>
                <a:sym typeface="+mn-ea"/>
              </a:rPr>
              <a:t> </a:t>
            </a:r>
            <a:r>
              <a:rPr lang="en-US" altLang="zh-CN">
                <a:latin typeface="Times New Roman" panose="02020603050405020304" charset="0"/>
                <a:cs typeface="Times New Roman" panose="02020603050405020304" charset="0"/>
                <a:sym typeface="+mn-ea"/>
              </a:rPr>
              <a:t>the</a:t>
            </a:r>
            <a:r>
              <a:rPr lang="zh-CN" altLang="en-US">
                <a:latin typeface="Times New Roman" panose="02020603050405020304" charset="0"/>
                <a:cs typeface="Times New Roman" panose="02020603050405020304" charset="0"/>
                <a:sym typeface="+mn-ea"/>
              </a:rPr>
              <a:t> </a:t>
            </a:r>
            <a:r>
              <a:rPr lang="en-US" altLang="zh-CN">
                <a:latin typeface="Times New Roman" panose="02020603050405020304" charset="0"/>
                <a:cs typeface="Times New Roman" panose="02020603050405020304" charset="0"/>
                <a:sym typeface="+mn-ea"/>
              </a:rPr>
              <a:t>topic</a:t>
            </a:r>
            <a:r>
              <a:rPr lang="zh-CN" altLang="en-US">
                <a:latin typeface="Times New Roman" panose="02020603050405020304" charset="0"/>
                <a:cs typeface="Times New Roman" panose="02020603050405020304" charset="0"/>
                <a:sym typeface="+mn-ea"/>
              </a:rPr>
              <a:t> </a:t>
            </a:r>
            <a:r>
              <a:rPr lang="en-US" altLang="zh-CN">
                <a:latin typeface="Times New Roman" panose="02020603050405020304" charset="0"/>
                <a:cs typeface="Times New Roman" panose="02020603050405020304" charset="0"/>
                <a:sym typeface="+mn-ea"/>
              </a:rPr>
              <a:t>sentences</a:t>
            </a:r>
            <a:r>
              <a:rPr lang="zh-CN" altLang="en-US">
                <a:latin typeface="Times New Roman" panose="02020603050405020304" charset="0"/>
                <a:cs typeface="Times New Roman" panose="02020603050405020304" charset="0"/>
                <a:sym typeface="+mn-ea"/>
              </a:rPr>
              <a:t> </a:t>
            </a:r>
            <a:r>
              <a:rPr lang="en-US" altLang="zh-CN">
                <a:latin typeface="Times New Roman" panose="02020603050405020304" charset="0"/>
                <a:cs typeface="Times New Roman" panose="02020603050405020304" charset="0"/>
                <a:sym typeface="+mn-ea"/>
              </a:rPr>
              <a:t>in</a:t>
            </a:r>
            <a:r>
              <a:rPr lang="zh-CN" altLang="en-US">
                <a:latin typeface="Times New Roman" panose="02020603050405020304" charset="0"/>
                <a:cs typeface="Times New Roman" panose="02020603050405020304" charset="0"/>
                <a:sym typeface="+mn-ea"/>
              </a:rPr>
              <a:t> </a:t>
            </a:r>
            <a:r>
              <a:rPr lang="en-US" altLang="zh-CN">
                <a:latin typeface="Times New Roman" panose="02020603050405020304" charset="0"/>
                <a:cs typeface="Times New Roman" panose="02020603050405020304" charset="0"/>
                <a:sym typeface="+mn-ea"/>
              </a:rPr>
              <a:t>step</a:t>
            </a:r>
            <a:r>
              <a:rPr lang="zh-CN" altLang="en-US">
                <a:latin typeface="Times New Roman" panose="02020603050405020304" charset="0"/>
                <a:cs typeface="Times New Roman" panose="02020603050405020304" charset="0"/>
                <a:sym typeface="+mn-ea"/>
              </a:rPr>
              <a:t> </a:t>
            </a:r>
            <a:r>
              <a:rPr lang="en-US" altLang="zh-CN">
                <a:latin typeface="Times New Roman" panose="02020603050405020304" charset="0"/>
                <a:cs typeface="Times New Roman" panose="02020603050405020304" charset="0"/>
                <a:sym typeface="+mn-ea"/>
              </a:rPr>
              <a:t>2</a:t>
            </a:r>
            <a:r>
              <a:rPr lang="zh-CN" altLang="en-US">
                <a:latin typeface="Times New Roman" panose="02020603050405020304" charset="0"/>
                <a:cs typeface="Times New Roman" panose="02020603050405020304" charset="0"/>
                <a:sym typeface="+mn-ea"/>
              </a:rPr>
              <a:t> </a:t>
            </a:r>
            <a:r>
              <a:rPr lang="en-US" altLang="zh-CN">
                <a:latin typeface="Times New Roman" panose="02020603050405020304" charset="0"/>
                <a:cs typeface="Times New Roman" panose="02020603050405020304" charset="0"/>
                <a:sym typeface="+mn-ea"/>
              </a:rPr>
              <a:t>with</a:t>
            </a:r>
            <a:r>
              <a:rPr lang="zh-CN" altLang="en-US">
                <a:latin typeface="Times New Roman" panose="02020603050405020304" charset="0"/>
                <a:cs typeface="Times New Roman" panose="02020603050405020304" charset="0"/>
                <a:sym typeface="+mn-ea"/>
              </a:rPr>
              <a:t> </a:t>
            </a:r>
            <a:r>
              <a:rPr lang="en-US" altLang="zh-CN">
                <a:latin typeface="Times New Roman" panose="02020603050405020304" charset="0"/>
                <a:cs typeface="Times New Roman" panose="02020603050405020304" charset="0"/>
                <a:sym typeface="+mn-ea"/>
              </a:rPr>
              <a:t>quotes</a:t>
            </a:r>
            <a:r>
              <a:rPr lang="zh-CN" altLang="en-US">
                <a:latin typeface="Times New Roman" panose="02020603050405020304" charset="0"/>
                <a:cs typeface="Times New Roman" panose="02020603050405020304" charset="0"/>
                <a:sym typeface="+mn-ea"/>
              </a:rPr>
              <a:t> </a:t>
            </a:r>
            <a:r>
              <a:rPr lang="en-US" altLang="zh-CN">
                <a:latin typeface="Times New Roman" panose="02020603050405020304" charset="0"/>
                <a:cs typeface="Times New Roman" panose="02020603050405020304" charset="0"/>
                <a:sym typeface="+mn-ea"/>
              </a:rPr>
              <a:t>and</a:t>
            </a:r>
            <a:r>
              <a:rPr lang="zh-CN" altLang="en-US">
                <a:latin typeface="Times New Roman" panose="02020603050405020304" charset="0"/>
                <a:cs typeface="Times New Roman" panose="02020603050405020304" charset="0"/>
                <a:sym typeface="+mn-ea"/>
              </a:rPr>
              <a:t> </a:t>
            </a:r>
            <a:r>
              <a:rPr lang="en-US" altLang="zh-CN">
                <a:latin typeface="Times New Roman" panose="02020603050405020304" charset="0"/>
                <a:cs typeface="Times New Roman" panose="02020603050405020304" charset="0"/>
                <a:sym typeface="+mn-ea"/>
              </a:rPr>
              <a:t>paraphrases</a:t>
            </a:r>
            <a:r>
              <a:rPr lang="zh-CN" altLang="en-US">
                <a:latin typeface="Times New Roman" panose="02020603050405020304" charset="0"/>
                <a:cs typeface="Times New Roman" panose="02020603050405020304" charset="0"/>
                <a:sym typeface="+mn-ea"/>
              </a:rPr>
              <a:t> </a:t>
            </a:r>
            <a:r>
              <a:rPr lang="en-US" altLang="zh-CN">
                <a:latin typeface="Times New Roman" panose="02020603050405020304" charset="0"/>
                <a:cs typeface="Times New Roman" panose="02020603050405020304" charset="0"/>
                <a:sym typeface="+mn-ea"/>
              </a:rPr>
              <a:t>from</a:t>
            </a:r>
            <a:r>
              <a:rPr lang="zh-CN" altLang="en-US">
                <a:latin typeface="Times New Roman" panose="02020603050405020304" charset="0"/>
                <a:cs typeface="Times New Roman" panose="02020603050405020304" charset="0"/>
                <a:sym typeface="+mn-ea"/>
              </a:rPr>
              <a:t> </a:t>
            </a:r>
            <a:r>
              <a:rPr lang="en-US" altLang="zh-CN">
                <a:latin typeface="Times New Roman" panose="02020603050405020304" charset="0"/>
                <a:cs typeface="Times New Roman" panose="02020603050405020304" charset="0"/>
                <a:sym typeface="+mn-ea"/>
              </a:rPr>
              <a:t>source</a:t>
            </a:r>
            <a:r>
              <a:rPr lang="zh-CN" altLang="en-US">
                <a:latin typeface="Times New Roman" panose="02020603050405020304" charset="0"/>
                <a:cs typeface="Times New Roman" panose="02020603050405020304" charset="0"/>
                <a:sym typeface="+mn-ea"/>
              </a:rPr>
              <a:t> </a:t>
            </a:r>
            <a:r>
              <a:rPr lang="en-US" altLang="zh-CN">
                <a:latin typeface="Times New Roman" panose="02020603050405020304" charset="0"/>
                <a:cs typeface="Times New Roman" panose="02020603050405020304" charset="0"/>
                <a:sym typeface="+mn-ea"/>
              </a:rPr>
              <a:t>material.</a:t>
            </a:r>
            <a:endParaRPr lang="en-US" altLang="zh-CN">
              <a:latin typeface="Times New Roman" panose="02020603050405020304" charset="0"/>
              <a:cs typeface="Times New Roman" panose="02020603050405020304" charset="0"/>
            </a:endParaRPr>
          </a:p>
          <a:p>
            <a:pPr fontAlgn="auto">
              <a:lnSpc>
                <a:spcPct val="100000"/>
              </a:lnSpc>
              <a:buNone/>
            </a:pPr>
            <a:endParaRPr lang="zh-CN" altLang="en-US">
              <a:latin typeface="Times New Roman" panose="02020603050405020304" charset="0"/>
              <a:cs typeface="Times New Roman" panose="02020603050405020304" charset="0"/>
            </a:endParaRPr>
          </a:p>
          <a:p>
            <a:pPr fontAlgn="auto">
              <a:lnSpc>
                <a:spcPct val="100000"/>
              </a:lnSpc>
              <a:buNone/>
            </a:pPr>
            <a:endParaRPr lang="en-US" altLang="zh-CN">
              <a:latin typeface="Times New Roman" panose="02020603050405020304" charset="0"/>
              <a:cs typeface="Times New Roman" panose="02020603050405020304" charset="0"/>
            </a:endParaRPr>
          </a:p>
          <a:p>
            <a:pPr marL="0" indent="0" fontAlgn="auto">
              <a:lnSpc>
                <a:spcPct val="150000"/>
              </a:lnSpc>
              <a:spcBef>
                <a:spcPts val="0"/>
              </a:spcBef>
              <a:buNone/>
            </a:pPr>
            <a:endParaRPr lang="en-US" altLang="zh-CN" b="1"/>
          </a:p>
          <a:p>
            <a:pPr marL="0" indent="0" fontAlgn="auto">
              <a:lnSpc>
                <a:spcPct val="150000"/>
              </a:lnSpc>
              <a:spcBef>
                <a:spcPts val="0"/>
              </a:spcBef>
              <a:buNone/>
            </a:pPr>
            <a:endParaRPr lang="en-US" altLang="zh-CN" b="1">
              <a:latin typeface="Times New Roman" panose="02020603050405020304" charset="0"/>
              <a:cs typeface="Times New Roman" panose="02020603050405020304" charset="0"/>
              <a:sym typeface="+mn-ea"/>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6</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8" name="文本框 7"/>
          <p:cNvSpPr txBox="1"/>
          <p:nvPr/>
        </p:nvSpPr>
        <p:spPr>
          <a:xfrm>
            <a:off x="3785235" y="552450"/>
            <a:ext cx="4064000" cy="368300"/>
          </a:xfrm>
          <a:prstGeom prst="rect">
            <a:avLst/>
          </a:prstGeom>
          <a:noFill/>
        </p:spPr>
        <p:txBody>
          <a:bodyPr wrap="square" rtlCol="0">
            <a:spAutoFit/>
          </a:bodyPr>
          <a:lstStyle/>
          <a:p>
            <a:endParaRPr lang="zh-CN" altLang="en-US"/>
          </a:p>
        </p:txBody>
      </p:sp>
      <p:sp>
        <p:nvSpPr>
          <p:cNvPr id="13" name="文本框 12"/>
          <p:cNvSpPr txBox="1"/>
          <p:nvPr/>
        </p:nvSpPr>
        <p:spPr>
          <a:xfrm>
            <a:off x="6430645" y="216535"/>
            <a:ext cx="4064000" cy="368300"/>
          </a:xfrm>
          <a:prstGeom prst="rect">
            <a:avLst/>
          </a:prstGeom>
          <a:noFill/>
        </p:spPr>
        <p:txBody>
          <a:bodyPr wrap="square" rtlCol="0">
            <a:spAutoFit/>
          </a:bodyPr>
          <a:lstStyle/>
          <a:p>
            <a:endParaRPr lang="zh-CN" alt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zh-CN" altLang="en-US" sz="2800" b="1" i="1">
                <a:latin typeface="Times New Roman" panose="02020603050405020304" charset="0"/>
                <a:cs typeface="Times New Roman" panose="02020603050405020304" charset="0"/>
                <a:sym typeface="+mn-ea"/>
              </a:rPr>
              <a:t>Writing the First Draft</a:t>
            </a:r>
            <a:endParaRPr lang="en-US" altLang="zh-CN" sz="2800" b="1" i="1">
              <a:solidFill>
                <a:schemeClr val="tx1"/>
              </a:solidFill>
              <a:latin typeface="Times New Roman" panose="02020603050405020304" charset="0"/>
              <a:cs typeface="Times New Roman" panose="02020603050405020304" charset="0"/>
              <a:sym typeface="+mn-ea"/>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6</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12" name="标题 1"/>
          <p:cNvSpPr>
            <a:spLocks noGrp="1"/>
          </p:cNvSpPr>
          <p:nvPr>
            <p:custDataLst>
              <p:tags r:id="rId4"/>
            </p:custDataLst>
          </p:nvPr>
        </p:nvSpPr>
        <p:spPr>
          <a:xfrm>
            <a:off x="6442075" y="1745615"/>
            <a:ext cx="5642610" cy="28213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indent="0" fontAlgn="auto">
              <a:lnSpc>
                <a:spcPct val="150000"/>
              </a:lnSpc>
            </a:pPr>
            <a:r>
              <a:rPr lang="en-US" altLang="zh-CN" sz="3200" b="1" i="1">
                <a:solidFill>
                  <a:schemeClr val="accent2">
                    <a:lumMod val="75000"/>
                  </a:schemeClr>
                </a:solidFill>
                <a:latin typeface="Times New Roman" panose="02020603050405020304" charset="0"/>
                <a:cs typeface="Times New Roman" panose="02020603050405020304" charset="0"/>
                <a:sym typeface="+mn-ea"/>
              </a:rPr>
              <a:t>2.</a:t>
            </a:r>
            <a:r>
              <a:rPr lang="en-US" altLang="zh-CN" sz="3200">
                <a:latin typeface="Times New Roman" panose="02020603050405020304" charset="0"/>
                <a:cs typeface="Times New Roman" panose="02020603050405020304" charset="0"/>
                <a:sym typeface="+mn-ea"/>
              </a:rPr>
              <a:t> Research Methods </a:t>
            </a:r>
            <a:endParaRPr lang="en-US" altLang="zh-CN" sz="3200">
              <a:latin typeface="Times New Roman" panose="02020603050405020304" charset="0"/>
              <a:cs typeface="Times New Roman" panose="02020603050405020304" charset="0"/>
            </a:endParaRPr>
          </a:p>
        </p:txBody>
      </p:sp>
      <p:pic>
        <p:nvPicPr>
          <p:cNvPr id="102" name="图片 101"/>
          <p:cNvPicPr/>
          <p:nvPr/>
        </p:nvPicPr>
        <p:blipFill>
          <a:blip r:embed="rId6"/>
          <a:stretch>
            <a:fillRect/>
          </a:stretch>
        </p:blipFill>
        <p:spPr>
          <a:xfrm>
            <a:off x="1154430" y="2345690"/>
            <a:ext cx="4479925" cy="2485390"/>
          </a:xfrm>
          <a:prstGeom prst="roundRect">
            <a:avLst/>
          </a:prstGeom>
          <a:noFill/>
          <a:ln w="9525">
            <a:noFill/>
          </a:ln>
          <a:effectLst>
            <a:innerShdw blurRad="114300">
              <a:prstClr val="black"/>
            </a:innerShdw>
          </a:effectLst>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zh-CN" altLang="en-US" sz="2800" b="1" i="1">
                <a:latin typeface="Times New Roman" panose="02020603050405020304" charset="0"/>
                <a:cs typeface="Times New Roman" panose="02020603050405020304" charset="0"/>
                <a:sym typeface="+mn-ea"/>
              </a:rPr>
              <a:t>Writing the First Draft</a:t>
            </a:r>
            <a:r>
              <a:rPr lang="en-US" altLang="zh-CN" sz="2800" b="1" i="1">
                <a:latin typeface="Times New Roman" panose="02020603050405020304" charset="0"/>
                <a:cs typeface="Times New Roman" panose="02020603050405020304" charset="0"/>
                <a:sym typeface="+mn-ea"/>
              </a:rPr>
              <a:t>-- </a:t>
            </a:r>
            <a:r>
              <a:rPr lang="en-US" altLang="zh-CN" sz="2800" i="1">
                <a:latin typeface="Times New Roman" panose="02020603050405020304" charset="0"/>
                <a:cs typeface="Times New Roman" panose="02020603050405020304" charset="0"/>
                <a:sym typeface="+mn-ea"/>
              </a:rPr>
              <a:t>2. Research Methods</a:t>
            </a:r>
            <a:endParaRPr lang="en-US" altLang="zh-CN" sz="2800" i="1">
              <a:solidFill>
                <a:schemeClr val="tx1"/>
              </a:solidFill>
              <a:latin typeface="Times New Roman" panose="02020603050405020304" charset="0"/>
              <a:cs typeface="Times New Roman" panose="02020603050405020304" charset="0"/>
              <a:sym typeface="+mn-ea"/>
            </a:endParaRPr>
          </a:p>
        </p:txBody>
      </p:sp>
      <p:sp>
        <p:nvSpPr>
          <p:cNvPr id="3" name="内容占位符 2"/>
          <p:cNvSpPr>
            <a:spLocks noGrp="1"/>
          </p:cNvSpPr>
          <p:nvPr>
            <p:ph idx="1"/>
          </p:nvPr>
        </p:nvSpPr>
        <p:spPr>
          <a:xfrm>
            <a:off x="838200" y="1557020"/>
            <a:ext cx="10938510" cy="4850765"/>
          </a:xfrm>
          <a:ln w="28575">
            <a:solidFill>
              <a:schemeClr val="accent2">
                <a:lumMod val="75000"/>
              </a:schemeClr>
            </a:solidFill>
          </a:ln>
        </p:spPr>
        <p:txBody>
          <a:bodyPr>
            <a:normAutofit/>
          </a:bodyPr>
          <a:lstStyle/>
          <a:p>
            <a:pPr marL="0" indent="0" fontAlgn="auto">
              <a:lnSpc>
                <a:spcPct val="150000"/>
              </a:lnSpc>
              <a:spcBef>
                <a:spcPts val="0"/>
              </a:spcBef>
              <a:buNone/>
            </a:pPr>
            <a:r>
              <a:rPr lang="en-US" altLang="zh-CN" b="1">
                <a:solidFill>
                  <a:schemeClr val="accent2">
                    <a:lumMod val="75000"/>
                  </a:schemeClr>
                </a:solidFill>
                <a:latin typeface="Times New Roman" panose="02020603050405020304" charset="0"/>
                <a:cs typeface="Times New Roman" panose="02020603050405020304" charset="0"/>
                <a:sym typeface="+mn-ea"/>
              </a:rPr>
              <a:t>Research methods contains:</a:t>
            </a:r>
            <a:endParaRPr lang="en-US" altLang="zh-CN" b="1">
              <a:solidFill>
                <a:schemeClr val="accent2">
                  <a:lumMod val="75000"/>
                </a:schemeClr>
              </a:solidFill>
              <a:latin typeface="Times New Roman" panose="02020603050405020304" charset="0"/>
              <a:cs typeface="Times New Roman" panose="02020603050405020304" charset="0"/>
            </a:endParaRPr>
          </a:p>
          <a:p>
            <a:pPr marL="0" indent="0" fontAlgn="auto">
              <a:lnSpc>
                <a:spcPct val="150000"/>
              </a:lnSpc>
              <a:spcBef>
                <a:spcPts val="0"/>
              </a:spcBef>
              <a:buNone/>
            </a:pPr>
            <a:r>
              <a:rPr lang="en-US" altLang="zh-CN">
                <a:latin typeface="Times New Roman" panose="02020603050405020304" charset="0"/>
                <a:cs typeface="Times New Roman" panose="02020603050405020304" charset="0"/>
                <a:sym typeface="+mn-ea"/>
              </a:rPr>
              <a:t>---research methods and their reasons</a:t>
            </a:r>
            <a:endParaRPr lang="en-US" altLang="zh-CN">
              <a:latin typeface="Times New Roman" panose="02020603050405020304" charset="0"/>
              <a:cs typeface="Times New Roman" panose="02020603050405020304" charset="0"/>
            </a:endParaRPr>
          </a:p>
          <a:p>
            <a:pPr marL="0" indent="0" fontAlgn="auto">
              <a:lnSpc>
                <a:spcPct val="150000"/>
              </a:lnSpc>
              <a:spcBef>
                <a:spcPts val="0"/>
              </a:spcBef>
              <a:buNone/>
            </a:pPr>
            <a:r>
              <a:rPr lang="en-US" altLang="zh-CN">
                <a:latin typeface="Times New Roman" panose="02020603050405020304" charset="0"/>
                <a:cs typeface="Times New Roman" panose="02020603050405020304" charset="0"/>
                <a:sym typeface="+mn-ea"/>
              </a:rPr>
              <a:t>---subjects and sample selection</a:t>
            </a:r>
            <a:endParaRPr lang="en-US" altLang="zh-CN">
              <a:latin typeface="Times New Roman" panose="02020603050405020304" charset="0"/>
              <a:cs typeface="Times New Roman" panose="02020603050405020304" charset="0"/>
            </a:endParaRPr>
          </a:p>
          <a:p>
            <a:pPr marL="0" indent="0" fontAlgn="auto">
              <a:lnSpc>
                <a:spcPct val="150000"/>
              </a:lnSpc>
              <a:spcBef>
                <a:spcPts val="0"/>
              </a:spcBef>
              <a:buNone/>
            </a:pPr>
            <a:r>
              <a:rPr lang="en-US" altLang="zh-CN">
                <a:latin typeface="Times New Roman" panose="02020603050405020304" charset="0"/>
                <a:cs typeface="Times New Roman" panose="02020603050405020304" charset="0"/>
                <a:sym typeface="+mn-ea"/>
              </a:rPr>
              <a:t>---instruments </a:t>
            </a:r>
            <a:endParaRPr lang="en-US" altLang="zh-CN">
              <a:latin typeface="Times New Roman" panose="02020603050405020304" charset="0"/>
              <a:cs typeface="Times New Roman" panose="02020603050405020304" charset="0"/>
            </a:endParaRPr>
          </a:p>
          <a:p>
            <a:pPr marL="0" indent="0" fontAlgn="auto">
              <a:lnSpc>
                <a:spcPct val="150000"/>
              </a:lnSpc>
              <a:spcBef>
                <a:spcPts val="0"/>
              </a:spcBef>
              <a:buNone/>
            </a:pPr>
            <a:r>
              <a:rPr lang="en-US" altLang="zh-CN">
                <a:latin typeface="Times New Roman" panose="02020603050405020304" charset="0"/>
                <a:cs typeface="Times New Roman" panose="02020603050405020304" charset="0"/>
                <a:sym typeface="+mn-ea"/>
              </a:rPr>
              <a:t>---data collection methods and analysis methods</a:t>
            </a:r>
          </a:p>
          <a:p>
            <a:pPr marL="0" indent="0" fontAlgn="auto">
              <a:lnSpc>
                <a:spcPct val="150000"/>
              </a:lnSpc>
              <a:spcBef>
                <a:spcPts val="0"/>
              </a:spcBef>
              <a:buNone/>
            </a:pPr>
            <a:endParaRPr lang="en-US" altLang="zh-CN">
              <a:latin typeface="Times New Roman" panose="02020603050405020304" charset="0"/>
              <a:cs typeface="Times New Roman" panose="02020603050405020304" charset="0"/>
            </a:endParaRPr>
          </a:p>
          <a:p>
            <a:pPr marL="0" indent="0" fontAlgn="auto">
              <a:lnSpc>
                <a:spcPct val="150000"/>
              </a:lnSpc>
              <a:spcBef>
                <a:spcPts val="0"/>
              </a:spcBef>
              <a:buNone/>
            </a:pPr>
            <a:r>
              <a:rPr lang="en-US" altLang="zh-CN" b="1">
                <a:solidFill>
                  <a:schemeClr val="accent2">
                    <a:lumMod val="75000"/>
                  </a:schemeClr>
                </a:solidFill>
                <a:latin typeface="Times New Roman" panose="02020603050405020304" charset="0"/>
                <a:cs typeface="Times New Roman" panose="02020603050405020304" charset="0"/>
                <a:sym typeface="+mn-ea"/>
              </a:rPr>
              <a:t>function</a:t>
            </a:r>
            <a:r>
              <a:rPr lang="en-US" altLang="zh-CN">
                <a:latin typeface="Times New Roman" panose="02020603050405020304" charset="0"/>
                <a:cs typeface="Times New Roman" panose="02020603050405020304" charset="0"/>
                <a:sym typeface="+mn-ea"/>
              </a:rPr>
              <a:t>: to describe all experimental procedures, including controls.</a:t>
            </a:r>
            <a:endParaRPr lang="en-US" altLang="zh-CN">
              <a:latin typeface="Times New Roman" panose="02020603050405020304" charset="0"/>
              <a:cs typeface="Times New Roman" panose="02020603050405020304" charset="0"/>
            </a:endParaRPr>
          </a:p>
          <a:p>
            <a:pPr marL="0" indent="0" fontAlgn="auto">
              <a:lnSpc>
                <a:spcPct val="150000"/>
              </a:lnSpc>
              <a:spcBef>
                <a:spcPts val="0"/>
              </a:spcBef>
              <a:buNone/>
            </a:pPr>
            <a:endParaRPr lang="en-US" altLang="zh-CN">
              <a:latin typeface="Times New Roman" panose="02020603050405020304" charset="0"/>
              <a:cs typeface="Times New Roman" panose="02020603050405020304" charset="0"/>
              <a:sym typeface="+mn-ea"/>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6</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13" name="文本框 12"/>
          <p:cNvSpPr txBox="1"/>
          <p:nvPr/>
        </p:nvSpPr>
        <p:spPr>
          <a:xfrm>
            <a:off x="6430645" y="216535"/>
            <a:ext cx="4064000" cy="368300"/>
          </a:xfrm>
          <a:prstGeom prst="rect">
            <a:avLst/>
          </a:prstGeom>
          <a:noFill/>
        </p:spPr>
        <p:txBody>
          <a:bodyPr wrap="square" rtlCol="0">
            <a:spAutoFit/>
          </a:bodyPr>
          <a:lstStyle/>
          <a:p>
            <a:endParaRPr lang="zh-CN" alt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zh-CN" altLang="en-US" sz="2800" b="1" i="1">
                <a:latin typeface="Times New Roman" panose="02020603050405020304" charset="0"/>
                <a:cs typeface="Times New Roman" panose="02020603050405020304" charset="0"/>
                <a:sym typeface="+mn-ea"/>
              </a:rPr>
              <a:t>Writing the First Draft</a:t>
            </a:r>
            <a:r>
              <a:rPr lang="en-US" altLang="zh-CN" sz="2800" b="1" i="1">
                <a:latin typeface="Times New Roman" panose="02020603050405020304" charset="0"/>
                <a:cs typeface="Times New Roman" panose="02020603050405020304" charset="0"/>
                <a:sym typeface="+mn-ea"/>
              </a:rPr>
              <a:t>-- </a:t>
            </a:r>
            <a:r>
              <a:rPr lang="en-US" altLang="zh-CN" sz="2800" i="1">
                <a:latin typeface="Times New Roman" panose="02020603050405020304" charset="0"/>
                <a:cs typeface="Times New Roman" panose="02020603050405020304" charset="0"/>
                <a:sym typeface="+mn-ea"/>
              </a:rPr>
              <a:t>2. Research Methods</a:t>
            </a:r>
            <a:endParaRPr lang="en-US" altLang="zh-CN" sz="2800" i="1">
              <a:solidFill>
                <a:schemeClr val="tx1"/>
              </a:solidFill>
              <a:latin typeface="Times New Roman" panose="02020603050405020304" charset="0"/>
              <a:cs typeface="Times New Roman" panose="02020603050405020304" charset="0"/>
              <a:sym typeface="+mn-ea"/>
            </a:endParaRPr>
          </a:p>
        </p:txBody>
      </p:sp>
      <p:sp>
        <p:nvSpPr>
          <p:cNvPr id="3" name="内容占位符 2"/>
          <p:cNvSpPr>
            <a:spLocks noGrp="1"/>
          </p:cNvSpPr>
          <p:nvPr>
            <p:ph idx="1"/>
          </p:nvPr>
        </p:nvSpPr>
        <p:spPr>
          <a:xfrm>
            <a:off x="838200" y="1557020"/>
            <a:ext cx="10938510" cy="4850765"/>
          </a:xfrm>
          <a:ln w="28575">
            <a:solidFill>
              <a:schemeClr val="accent2">
                <a:lumMod val="75000"/>
              </a:schemeClr>
            </a:solidFill>
          </a:ln>
        </p:spPr>
        <p:txBody>
          <a:bodyPr>
            <a:normAutofit/>
          </a:bodyPr>
          <a:lstStyle/>
          <a:p>
            <a:pPr marL="0" indent="0" fontAlgn="auto">
              <a:lnSpc>
                <a:spcPct val="150000"/>
              </a:lnSpc>
              <a:spcBef>
                <a:spcPts val="0"/>
              </a:spcBef>
              <a:buNone/>
            </a:pPr>
            <a:r>
              <a:rPr lang="en-US" altLang="zh-CN" b="1">
                <a:solidFill>
                  <a:schemeClr val="accent2">
                    <a:lumMod val="75000"/>
                  </a:schemeClr>
                </a:solidFill>
                <a:latin typeface="Times New Roman" panose="02020603050405020304" charset="0"/>
                <a:cs typeface="Times New Roman" panose="02020603050405020304" charset="0"/>
                <a:sym typeface="+mn-ea"/>
              </a:rPr>
              <a:t>Types of research methods</a:t>
            </a:r>
          </a:p>
          <a:p>
            <a:pPr fontAlgn="auto">
              <a:lnSpc>
                <a:spcPct val="150000"/>
              </a:lnSpc>
              <a:buNone/>
            </a:pPr>
            <a:r>
              <a:rPr lang="en-US" altLang="zh-CN">
                <a:latin typeface="Times New Roman" panose="02020603050405020304" charset="0"/>
                <a:cs typeface="Times New Roman" panose="02020603050405020304" charset="0"/>
                <a:sym typeface="+mn-ea"/>
              </a:rPr>
              <a:t>--- </a:t>
            </a:r>
            <a:r>
              <a:rPr lang="en-US" altLang="zh-CN" b="1">
                <a:solidFill>
                  <a:schemeClr val="accent2">
                    <a:lumMod val="75000"/>
                  </a:schemeClr>
                </a:solidFill>
                <a:latin typeface="Times New Roman" panose="02020603050405020304" charset="0"/>
                <a:cs typeface="Times New Roman" panose="02020603050405020304" charset="0"/>
                <a:sym typeface="+mn-ea"/>
              </a:rPr>
              <a:t>qualitative</a:t>
            </a:r>
            <a:r>
              <a:rPr lang="en-US" altLang="zh-CN">
                <a:latin typeface="Times New Roman" panose="02020603050405020304" charset="0"/>
                <a:cs typeface="Times New Roman" panose="02020603050405020304" charset="0"/>
                <a:sym typeface="+mn-ea"/>
              </a:rPr>
              <a:t>: in liberal arts and social sciences</a:t>
            </a:r>
            <a:endParaRPr lang="en-US" altLang="zh-CN">
              <a:latin typeface="Times New Roman" panose="02020603050405020304" charset="0"/>
              <a:cs typeface="Times New Roman" panose="02020603050405020304" charset="0"/>
            </a:endParaRPr>
          </a:p>
          <a:p>
            <a:pPr fontAlgn="auto">
              <a:lnSpc>
                <a:spcPct val="150000"/>
              </a:lnSpc>
              <a:buNone/>
            </a:pPr>
            <a:r>
              <a:rPr lang="en-US" altLang="zh-CN">
                <a:latin typeface="Times New Roman" panose="02020603050405020304" charset="0"/>
                <a:cs typeface="Times New Roman" panose="02020603050405020304" charset="0"/>
                <a:sym typeface="+mn-ea"/>
              </a:rPr>
              <a:t>    observation, sound recordings, questionnaires, interviews, etc.</a:t>
            </a:r>
            <a:endParaRPr lang="en-US" altLang="zh-CN">
              <a:latin typeface="Times New Roman" panose="02020603050405020304" charset="0"/>
              <a:cs typeface="Times New Roman" panose="02020603050405020304" charset="0"/>
            </a:endParaRPr>
          </a:p>
          <a:p>
            <a:pPr fontAlgn="auto">
              <a:lnSpc>
                <a:spcPct val="150000"/>
              </a:lnSpc>
              <a:buNone/>
            </a:pPr>
            <a:r>
              <a:rPr lang="en-US" altLang="zh-CN">
                <a:latin typeface="Times New Roman" panose="02020603050405020304" charset="0"/>
                <a:cs typeface="Times New Roman" panose="02020603050405020304" charset="0"/>
                <a:sym typeface="+mn-ea"/>
              </a:rPr>
              <a:t>--- </a:t>
            </a:r>
            <a:r>
              <a:rPr lang="en-US" altLang="zh-CN" b="1">
                <a:solidFill>
                  <a:schemeClr val="accent2">
                    <a:lumMod val="75000"/>
                  </a:schemeClr>
                </a:solidFill>
                <a:latin typeface="Times New Roman" panose="02020603050405020304" charset="0"/>
                <a:cs typeface="Times New Roman" panose="02020603050405020304" charset="0"/>
                <a:sym typeface="+mn-ea"/>
              </a:rPr>
              <a:t>quantitative</a:t>
            </a:r>
            <a:r>
              <a:rPr lang="en-US" altLang="zh-CN">
                <a:latin typeface="Times New Roman" panose="02020603050405020304" charset="0"/>
                <a:cs typeface="Times New Roman" panose="02020603050405020304" charset="0"/>
                <a:sym typeface="+mn-ea"/>
              </a:rPr>
              <a:t>: in science</a:t>
            </a:r>
            <a:endParaRPr lang="en-US" altLang="zh-CN">
              <a:latin typeface="Times New Roman" panose="02020603050405020304" charset="0"/>
              <a:cs typeface="Times New Roman" panose="02020603050405020304" charset="0"/>
            </a:endParaRPr>
          </a:p>
          <a:p>
            <a:pPr fontAlgn="auto">
              <a:lnSpc>
                <a:spcPct val="150000"/>
              </a:lnSpc>
              <a:buNone/>
            </a:pPr>
            <a:r>
              <a:rPr lang="en-US" altLang="zh-CN">
                <a:latin typeface="Times New Roman" panose="02020603050405020304" charset="0"/>
                <a:cs typeface="Times New Roman" panose="02020603050405020304" charset="0"/>
                <a:sym typeface="+mn-ea"/>
              </a:rPr>
              <a:t>    pre-experimental research, experimental research.</a:t>
            </a:r>
            <a:endParaRPr lang="en-US" altLang="zh-CN">
              <a:latin typeface="Times New Roman" panose="02020603050405020304" charset="0"/>
              <a:cs typeface="Times New Roman" panose="02020603050405020304" charset="0"/>
            </a:endParaRPr>
          </a:p>
          <a:p>
            <a:pPr marL="0" indent="0" fontAlgn="auto">
              <a:lnSpc>
                <a:spcPct val="150000"/>
              </a:lnSpc>
              <a:spcBef>
                <a:spcPts val="0"/>
              </a:spcBef>
              <a:buNone/>
            </a:pPr>
            <a:endParaRPr lang="en-US" altLang="zh-CN">
              <a:latin typeface="Times New Roman" panose="02020603050405020304" charset="0"/>
              <a:cs typeface="Times New Roman" panose="02020603050405020304" charset="0"/>
              <a:sym typeface="+mn-ea"/>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6</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13" name="文本框 12"/>
          <p:cNvSpPr txBox="1"/>
          <p:nvPr/>
        </p:nvSpPr>
        <p:spPr>
          <a:xfrm>
            <a:off x="6430645" y="216535"/>
            <a:ext cx="4064000" cy="368300"/>
          </a:xfrm>
          <a:prstGeom prst="rect">
            <a:avLst/>
          </a:prstGeom>
          <a:noFill/>
        </p:spPr>
        <p:txBody>
          <a:bodyPr wrap="square" rtlCol="0">
            <a:spAutoFit/>
          </a:bodyPr>
          <a:lstStyle/>
          <a:p>
            <a:endParaRPr lang="zh-CN" alt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zh-CN" altLang="en-US" sz="2800" b="1" i="1">
                <a:latin typeface="Times New Roman" panose="02020603050405020304" charset="0"/>
                <a:cs typeface="Times New Roman" panose="02020603050405020304" charset="0"/>
                <a:sym typeface="+mn-ea"/>
              </a:rPr>
              <a:t>Writing the First Draft</a:t>
            </a:r>
            <a:r>
              <a:rPr lang="en-US" altLang="zh-CN" sz="2800" b="1" i="1">
                <a:latin typeface="Times New Roman" panose="02020603050405020304" charset="0"/>
                <a:cs typeface="Times New Roman" panose="02020603050405020304" charset="0"/>
                <a:sym typeface="+mn-ea"/>
              </a:rPr>
              <a:t>-- </a:t>
            </a:r>
            <a:r>
              <a:rPr lang="en-US" altLang="zh-CN" sz="2800" i="1">
                <a:latin typeface="Times New Roman" panose="02020603050405020304" charset="0"/>
                <a:cs typeface="Times New Roman" panose="02020603050405020304" charset="0"/>
                <a:sym typeface="+mn-ea"/>
              </a:rPr>
              <a:t>2. Research Methods</a:t>
            </a:r>
            <a:endParaRPr lang="en-US" altLang="zh-CN" sz="2800" i="1">
              <a:solidFill>
                <a:schemeClr val="tx1"/>
              </a:solidFill>
              <a:latin typeface="Times New Roman" panose="02020603050405020304" charset="0"/>
              <a:cs typeface="Times New Roman" panose="02020603050405020304" charset="0"/>
              <a:sym typeface="+mn-ea"/>
            </a:endParaRPr>
          </a:p>
        </p:txBody>
      </p:sp>
      <p:sp>
        <p:nvSpPr>
          <p:cNvPr id="3" name="内容占位符 2"/>
          <p:cNvSpPr>
            <a:spLocks noGrp="1"/>
          </p:cNvSpPr>
          <p:nvPr>
            <p:ph idx="1"/>
          </p:nvPr>
        </p:nvSpPr>
        <p:spPr>
          <a:xfrm>
            <a:off x="838200" y="1557020"/>
            <a:ext cx="10938510" cy="4850765"/>
          </a:xfrm>
          <a:ln w="28575">
            <a:solidFill>
              <a:schemeClr val="accent2">
                <a:lumMod val="75000"/>
              </a:schemeClr>
            </a:solidFill>
          </a:ln>
        </p:spPr>
        <p:txBody>
          <a:bodyPr>
            <a:normAutofit/>
          </a:bodyPr>
          <a:lstStyle/>
          <a:p>
            <a:pPr marL="0" indent="0" fontAlgn="auto">
              <a:lnSpc>
                <a:spcPct val="150000"/>
              </a:lnSpc>
              <a:spcBef>
                <a:spcPts val="0"/>
              </a:spcBef>
              <a:buNone/>
            </a:pPr>
            <a:r>
              <a:rPr lang="en-US" altLang="zh-CN" b="1" dirty="0">
                <a:solidFill>
                  <a:schemeClr val="accent2">
                    <a:lumMod val="75000"/>
                  </a:schemeClr>
                </a:solidFill>
                <a:latin typeface="Times New Roman" panose="02020603050405020304" charset="0"/>
                <a:cs typeface="Times New Roman" panose="02020603050405020304" charset="0"/>
                <a:sym typeface="+mn-ea"/>
              </a:rPr>
              <a:t>Types of research methods</a:t>
            </a:r>
          </a:p>
          <a:p>
            <a:pPr fontAlgn="auto">
              <a:lnSpc>
                <a:spcPct val="150000"/>
              </a:lnSpc>
              <a:buNone/>
            </a:pPr>
            <a:r>
              <a:rPr lang="en-US" altLang="zh-CN" dirty="0">
                <a:latin typeface="Times New Roman" panose="02020603050405020304" charset="0"/>
                <a:cs typeface="Times New Roman" panose="02020603050405020304" charset="0"/>
                <a:sym typeface="+mn-ea"/>
              </a:rPr>
              <a:t>--- </a:t>
            </a:r>
            <a:r>
              <a:rPr lang="en-US" altLang="zh-CN" b="1" dirty="0">
                <a:solidFill>
                  <a:schemeClr val="accent2">
                    <a:lumMod val="75000"/>
                  </a:schemeClr>
                </a:solidFill>
                <a:latin typeface="Times New Roman" panose="02020603050405020304" charset="0"/>
                <a:cs typeface="Times New Roman" panose="02020603050405020304" charset="0"/>
                <a:sym typeface="+mn-ea"/>
              </a:rPr>
              <a:t>descriptive</a:t>
            </a:r>
            <a:r>
              <a:rPr lang="en-US" altLang="zh-CN" dirty="0">
                <a:latin typeface="Times New Roman" panose="02020603050405020304" charset="0"/>
                <a:cs typeface="Times New Roman" panose="02020603050405020304" charset="0"/>
                <a:sym typeface="+mn-ea"/>
              </a:rPr>
              <a:t>: in liberal arts and social sciences</a:t>
            </a:r>
            <a:endParaRPr lang="en-US" altLang="zh-CN" dirty="0">
              <a:latin typeface="Times New Roman" panose="02020603050405020304" charset="0"/>
              <a:cs typeface="Times New Roman" panose="02020603050405020304" charset="0"/>
            </a:endParaRPr>
          </a:p>
          <a:p>
            <a:pPr fontAlgn="auto">
              <a:lnSpc>
                <a:spcPct val="150000"/>
              </a:lnSpc>
              <a:buNone/>
            </a:pPr>
            <a:r>
              <a:rPr lang="en-US" altLang="zh-CN" dirty="0">
                <a:latin typeface="Times New Roman" panose="02020603050405020304" charset="0"/>
                <a:cs typeface="Times New Roman" panose="02020603050405020304" charset="0"/>
                <a:sym typeface="+mn-ea"/>
              </a:rPr>
              <a:t>    between the qualitative and quantitative research methods.</a:t>
            </a:r>
            <a:endParaRPr lang="en-US" altLang="zh-CN" dirty="0">
              <a:latin typeface="Times New Roman" panose="02020603050405020304" charset="0"/>
              <a:cs typeface="Times New Roman" panose="02020603050405020304" charset="0"/>
            </a:endParaRPr>
          </a:p>
          <a:p>
            <a:pPr fontAlgn="auto">
              <a:lnSpc>
                <a:spcPct val="150000"/>
              </a:lnSpc>
              <a:buNone/>
            </a:pPr>
            <a:r>
              <a:rPr lang="en-US" altLang="zh-CN" dirty="0">
                <a:latin typeface="Times New Roman" panose="02020603050405020304" charset="0"/>
                <a:cs typeface="Times New Roman" panose="02020603050405020304" charset="0"/>
                <a:sym typeface="+mn-ea"/>
              </a:rPr>
              <a:t>   case study, group study, survey, development research, etc.</a:t>
            </a:r>
            <a:endParaRPr lang="en-US" altLang="zh-CN" dirty="0">
              <a:latin typeface="Times New Roman" panose="02020603050405020304" charset="0"/>
              <a:cs typeface="Times New Roman" panose="02020603050405020304" charset="0"/>
            </a:endParaRPr>
          </a:p>
          <a:p>
            <a:pPr fontAlgn="auto">
              <a:lnSpc>
                <a:spcPct val="150000"/>
              </a:lnSpc>
              <a:buNone/>
            </a:pPr>
            <a:r>
              <a:rPr lang="zh-CN" altLang="en-US" dirty="0">
                <a:latin typeface="Times New Roman" panose="02020603050405020304" charset="0"/>
                <a:cs typeface="Times New Roman" panose="02020603050405020304" charset="0"/>
                <a:sym typeface="+mn-ea"/>
              </a:rPr>
              <a:t>归纳：从观察入手，通过做实验，分析得出假设</a:t>
            </a:r>
            <a:endParaRPr lang="en-US" altLang="zh-CN" dirty="0">
              <a:latin typeface="Times New Roman" panose="02020603050405020304" charset="0"/>
              <a:cs typeface="Times New Roman" panose="02020603050405020304" charset="0"/>
            </a:endParaRPr>
          </a:p>
          <a:p>
            <a:pPr fontAlgn="auto">
              <a:lnSpc>
                <a:spcPct val="150000"/>
              </a:lnSpc>
              <a:buNone/>
            </a:pPr>
            <a:r>
              <a:rPr lang="zh-CN" altLang="en-US" dirty="0">
                <a:latin typeface="Times New Roman" panose="02020603050405020304" charset="0"/>
                <a:cs typeface="Times New Roman" panose="02020603050405020304" charset="0"/>
                <a:sym typeface="+mn-ea"/>
              </a:rPr>
              <a:t>演绎：从某种理论开始，通过实验，验证理论或假说   </a:t>
            </a:r>
            <a:endParaRPr lang="en-US" altLang="zh-CN" dirty="0">
              <a:latin typeface="Times New Roman" panose="02020603050405020304" charset="0"/>
              <a:cs typeface="Times New Roman" panose="02020603050405020304" charset="0"/>
              <a:sym typeface="+mn-ea"/>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6</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13" name="文本框 12"/>
          <p:cNvSpPr txBox="1"/>
          <p:nvPr/>
        </p:nvSpPr>
        <p:spPr>
          <a:xfrm>
            <a:off x="6430645" y="216535"/>
            <a:ext cx="4064000" cy="368300"/>
          </a:xfrm>
          <a:prstGeom prst="rect">
            <a:avLst/>
          </a:prstGeom>
          <a:noFill/>
        </p:spPr>
        <p:txBody>
          <a:bodyPr wrap="square" rtlCol="0">
            <a:spAutoFit/>
          </a:bodyPr>
          <a:lstStyle/>
          <a:p>
            <a:endParaRPr lang="zh-CN" alt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zh-CN" altLang="en-US" sz="2800" b="1" i="1">
                <a:latin typeface="Times New Roman" panose="02020603050405020304" charset="0"/>
                <a:cs typeface="Times New Roman" panose="02020603050405020304" charset="0"/>
                <a:sym typeface="+mn-ea"/>
              </a:rPr>
              <a:t>Writing the First Draft</a:t>
            </a:r>
            <a:r>
              <a:rPr lang="en-US" altLang="zh-CN" sz="2800" b="1" i="1">
                <a:latin typeface="Times New Roman" panose="02020603050405020304" charset="0"/>
                <a:cs typeface="Times New Roman" panose="02020603050405020304" charset="0"/>
                <a:sym typeface="+mn-ea"/>
              </a:rPr>
              <a:t>-- </a:t>
            </a:r>
            <a:r>
              <a:rPr lang="en-US" altLang="zh-CN" sz="2800" i="1">
                <a:latin typeface="Times New Roman" panose="02020603050405020304" charset="0"/>
                <a:cs typeface="Times New Roman" panose="02020603050405020304" charset="0"/>
                <a:sym typeface="+mn-ea"/>
              </a:rPr>
              <a:t>2. Research Methods</a:t>
            </a:r>
            <a:endParaRPr lang="en-US" altLang="zh-CN" sz="2800" i="1">
              <a:solidFill>
                <a:schemeClr val="tx1"/>
              </a:solidFill>
              <a:latin typeface="Times New Roman" panose="02020603050405020304" charset="0"/>
              <a:cs typeface="Times New Roman" panose="02020603050405020304" charset="0"/>
              <a:sym typeface="+mn-ea"/>
            </a:endParaRPr>
          </a:p>
        </p:txBody>
      </p:sp>
      <p:sp>
        <p:nvSpPr>
          <p:cNvPr id="3" name="内容占位符 2"/>
          <p:cNvSpPr>
            <a:spLocks noGrp="1"/>
          </p:cNvSpPr>
          <p:nvPr>
            <p:ph idx="1"/>
          </p:nvPr>
        </p:nvSpPr>
        <p:spPr>
          <a:xfrm>
            <a:off x="838200" y="1557020"/>
            <a:ext cx="10938510" cy="4850765"/>
          </a:xfrm>
          <a:ln w="28575">
            <a:solidFill>
              <a:schemeClr val="accent2">
                <a:lumMod val="75000"/>
              </a:schemeClr>
            </a:solidFill>
          </a:ln>
        </p:spPr>
        <p:txBody>
          <a:bodyPr>
            <a:normAutofit fontScale="97500" lnSpcReduction="10000"/>
          </a:bodyPr>
          <a:lstStyle/>
          <a:p>
            <a:pPr marL="0" indent="0" fontAlgn="auto">
              <a:lnSpc>
                <a:spcPct val="150000"/>
              </a:lnSpc>
              <a:spcBef>
                <a:spcPct val="0"/>
              </a:spcBef>
              <a:buNone/>
            </a:pPr>
            <a:r>
              <a:rPr lang="en-US" altLang="zh-CN">
                <a:latin typeface="Times New Roman" panose="02020603050405020304" charset="0"/>
                <a:cs typeface="Times New Roman" panose="02020603050405020304" charset="0"/>
                <a:sym typeface="+mn-ea"/>
              </a:rPr>
              <a:t>Quantitative and qualitative research traditions represent a fundamental debate in the production of knowledge.</a:t>
            </a:r>
            <a:endParaRPr lang="en-US" altLang="zh-CN">
              <a:latin typeface="Times New Roman" panose="02020603050405020304" charset="0"/>
              <a:cs typeface="Times New Roman" panose="02020603050405020304" charset="0"/>
            </a:endParaRPr>
          </a:p>
          <a:p>
            <a:pPr marL="0" indent="0" fontAlgn="auto">
              <a:lnSpc>
                <a:spcPct val="150000"/>
              </a:lnSpc>
              <a:spcBef>
                <a:spcPct val="0"/>
              </a:spcBef>
              <a:buNone/>
            </a:pPr>
            <a:endParaRPr lang="en-US" altLang="zh-CN">
              <a:latin typeface="Times New Roman" panose="02020603050405020304" charset="0"/>
              <a:cs typeface="Times New Roman" panose="02020603050405020304" charset="0"/>
            </a:endParaRPr>
          </a:p>
          <a:p>
            <a:pPr marL="0" indent="0" fontAlgn="auto">
              <a:lnSpc>
                <a:spcPct val="150000"/>
              </a:lnSpc>
              <a:spcBef>
                <a:spcPct val="0"/>
              </a:spcBef>
              <a:buNone/>
            </a:pPr>
            <a:r>
              <a:rPr lang="en-US" altLang="zh-CN" b="1">
                <a:solidFill>
                  <a:schemeClr val="accent2">
                    <a:lumMod val="75000"/>
                  </a:schemeClr>
                </a:solidFill>
                <a:latin typeface="Times New Roman" panose="02020603050405020304" charset="0"/>
                <a:cs typeface="Times New Roman" panose="02020603050405020304" charset="0"/>
                <a:sym typeface="+mn-ea"/>
              </a:rPr>
              <a:t>Quantitative research</a:t>
            </a:r>
            <a:endParaRPr lang="en-US" altLang="zh-CN" b="1">
              <a:solidFill>
                <a:schemeClr val="accent2">
                  <a:lumMod val="75000"/>
                </a:schemeClr>
              </a:solidFill>
              <a:latin typeface="Times New Roman" panose="02020603050405020304" charset="0"/>
              <a:cs typeface="Times New Roman" panose="02020603050405020304" charset="0"/>
            </a:endParaRPr>
          </a:p>
          <a:p>
            <a:pPr fontAlgn="auto">
              <a:lnSpc>
                <a:spcPct val="150000"/>
              </a:lnSpc>
              <a:spcBef>
                <a:spcPct val="0"/>
              </a:spcBef>
            </a:pPr>
            <a:r>
              <a:rPr lang="en-GB" altLang="zh-CN">
                <a:latin typeface="Times New Roman" panose="02020603050405020304" charset="0"/>
                <a:cs typeface="Times New Roman" panose="02020603050405020304" charset="0"/>
                <a:sym typeface="+mn-ea"/>
              </a:rPr>
              <a:t>The quantitative tradition is based on a belief that the study of society is no different than the scientific study of any other element of our world.</a:t>
            </a:r>
            <a:endParaRPr lang="en-GB" altLang="zh-CN">
              <a:latin typeface="Times New Roman" panose="02020603050405020304" charset="0"/>
              <a:cs typeface="Times New Roman" panose="02020603050405020304" charset="0"/>
            </a:endParaRPr>
          </a:p>
          <a:p>
            <a:pPr fontAlgn="auto">
              <a:lnSpc>
                <a:spcPct val="150000"/>
              </a:lnSpc>
              <a:spcBef>
                <a:spcPct val="0"/>
              </a:spcBef>
            </a:pPr>
            <a:r>
              <a:rPr lang="en-GB" altLang="zh-CN">
                <a:latin typeface="Times New Roman" panose="02020603050405020304" charset="0"/>
                <a:cs typeface="Times New Roman" panose="02020603050405020304" charset="0"/>
                <a:sym typeface="+mn-ea"/>
              </a:rPr>
              <a:t>It premises scientific method, hypothesis testing, deductive logic, objectivity and quantification. </a:t>
            </a:r>
            <a:endParaRPr lang="en-US" altLang="zh-CN">
              <a:latin typeface="Times New Roman" panose="02020603050405020304" charset="0"/>
              <a:cs typeface="Times New Roman" panose="02020603050405020304" charset="0"/>
              <a:sym typeface="+mn-ea"/>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6</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13" name="文本框 12"/>
          <p:cNvSpPr txBox="1"/>
          <p:nvPr/>
        </p:nvSpPr>
        <p:spPr>
          <a:xfrm>
            <a:off x="6430645" y="216535"/>
            <a:ext cx="4064000" cy="368300"/>
          </a:xfrm>
          <a:prstGeom prst="rect">
            <a:avLst/>
          </a:prstGeom>
          <a:noFill/>
        </p:spPr>
        <p:txBody>
          <a:bodyPr wrap="square" rtlCol="0">
            <a:spAutoFit/>
          </a:bodyPr>
          <a:lstStyle/>
          <a:p>
            <a:endParaRPr lang="zh-CN" alt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zh-CN" altLang="en-US" sz="2800" b="1" i="1">
                <a:latin typeface="Times New Roman" panose="02020603050405020304" charset="0"/>
                <a:cs typeface="Times New Roman" panose="02020603050405020304" charset="0"/>
                <a:sym typeface="+mn-ea"/>
              </a:rPr>
              <a:t>Writing the First Draft</a:t>
            </a:r>
            <a:r>
              <a:rPr lang="en-US" altLang="zh-CN" sz="2800" b="1" i="1">
                <a:latin typeface="Times New Roman" panose="02020603050405020304" charset="0"/>
                <a:cs typeface="Times New Roman" panose="02020603050405020304" charset="0"/>
                <a:sym typeface="+mn-ea"/>
              </a:rPr>
              <a:t>-- </a:t>
            </a:r>
            <a:r>
              <a:rPr lang="en-US" altLang="zh-CN" sz="2800" i="1">
                <a:latin typeface="Times New Roman" panose="02020603050405020304" charset="0"/>
                <a:cs typeface="Times New Roman" panose="02020603050405020304" charset="0"/>
                <a:sym typeface="+mn-ea"/>
              </a:rPr>
              <a:t>2. Research Methods</a:t>
            </a:r>
            <a:endParaRPr lang="en-US" altLang="zh-CN" sz="2800" i="1">
              <a:solidFill>
                <a:schemeClr val="tx1"/>
              </a:solidFill>
              <a:latin typeface="Times New Roman" panose="02020603050405020304" charset="0"/>
              <a:cs typeface="Times New Roman" panose="02020603050405020304" charset="0"/>
              <a:sym typeface="+mn-ea"/>
            </a:endParaRPr>
          </a:p>
        </p:txBody>
      </p:sp>
      <p:sp>
        <p:nvSpPr>
          <p:cNvPr id="3" name="内容占位符 2"/>
          <p:cNvSpPr>
            <a:spLocks noGrp="1"/>
          </p:cNvSpPr>
          <p:nvPr>
            <p:ph idx="1"/>
          </p:nvPr>
        </p:nvSpPr>
        <p:spPr>
          <a:xfrm>
            <a:off x="838200" y="1557020"/>
            <a:ext cx="10938510" cy="4850765"/>
          </a:xfrm>
          <a:ln w="28575">
            <a:solidFill>
              <a:schemeClr val="accent2">
                <a:lumMod val="75000"/>
              </a:schemeClr>
            </a:solidFill>
          </a:ln>
        </p:spPr>
        <p:txBody>
          <a:bodyPr>
            <a:normAutofit fontScale="90000" lnSpcReduction="10000"/>
          </a:bodyPr>
          <a:lstStyle/>
          <a:p>
            <a:pPr algn="just" fontAlgn="auto">
              <a:lnSpc>
                <a:spcPct val="150000"/>
              </a:lnSpc>
              <a:spcBef>
                <a:spcPts val="0"/>
              </a:spcBef>
            </a:pPr>
            <a:r>
              <a:rPr lang="en-GB" altLang="zh-CN" b="1">
                <a:solidFill>
                  <a:schemeClr val="accent2">
                    <a:lumMod val="75000"/>
                  </a:schemeClr>
                </a:solidFill>
                <a:latin typeface="Times New Roman" panose="02020603050405020304" charset="0"/>
                <a:cs typeface="Times New Roman" panose="02020603050405020304" charset="0"/>
                <a:sym typeface="+mn-ea"/>
              </a:rPr>
              <a:t>Hypothetico-deductive Method:</a:t>
            </a:r>
            <a:r>
              <a:rPr lang="en-GB" altLang="zh-CN">
                <a:latin typeface="Times New Roman" panose="02020603050405020304" charset="0"/>
                <a:cs typeface="Times New Roman" panose="02020603050405020304" charset="0"/>
                <a:sym typeface="+mn-ea"/>
              </a:rPr>
              <a:t> Involves hypothesis testing through collection and analysis of quantitative data gathered through experimental design or survey research. </a:t>
            </a:r>
            <a:endParaRPr lang="en-GB" altLang="zh-CN">
              <a:latin typeface="Times New Roman" panose="02020603050405020304" charset="0"/>
              <a:cs typeface="Times New Roman" panose="02020603050405020304" charset="0"/>
            </a:endParaRPr>
          </a:p>
          <a:p>
            <a:pPr algn="just" fontAlgn="auto">
              <a:lnSpc>
                <a:spcPct val="150000"/>
              </a:lnSpc>
              <a:spcBef>
                <a:spcPts val="0"/>
              </a:spcBef>
            </a:pPr>
            <a:r>
              <a:rPr lang="en-AU" altLang="zh-CN" b="1">
                <a:solidFill>
                  <a:schemeClr val="accent2">
                    <a:lumMod val="75000"/>
                  </a:schemeClr>
                </a:solidFill>
                <a:latin typeface="Times New Roman" panose="02020603050405020304" charset="0"/>
                <a:cs typeface="Times New Roman" panose="02020603050405020304" charset="0"/>
                <a:sym typeface="+mn-ea"/>
              </a:rPr>
              <a:t>Experimentation:</a:t>
            </a:r>
            <a:r>
              <a:rPr lang="en-AU" altLang="zh-CN">
                <a:latin typeface="Times New Roman" panose="02020603050405020304" charset="0"/>
                <a:cs typeface="Times New Roman" panose="02020603050405020304" charset="0"/>
                <a:sym typeface="+mn-ea"/>
              </a:rPr>
              <a:t> </a:t>
            </a:r>
            <a:r>
              <a:rPr lang="en-GB" altLang="zh-CN">
                <a:latin typeface="Times New Roman" panose="02020603050405020304" charset="0"/>
                <a:cs typeface="Times New Roman" panose="02020603050405020304" charset="0"/>
                <a:sym typeface="+mn-ea"/>
              </a:rPr>
              <a:t>Experiments explore cause and effect by manipulating independent variables to see if there is a corresponding effect on a dependent variable. Pure experimentation requires controlled environments and randomly assigned control groups (not always possible in social science experiments often conducted in the field rather than a lab). </a:t>
            </a:r>
          </a:p>
          <a:p>
            <a:pPr algn="just" fontAlgn="auto">
              <a:lnSpc>
                <a:spcPct val="150000"/>
              </a:lnSpc>
              <a:spcBef>
                <a:spcPts val="0"/>
              </a:spcBef>
            </a:pPr>
            <a:r>
              <a:rPr lang="zh-CN" altLang="en-US">
                <a:latin typeface="Times New Roman" panose="02020603050405020304" charset="0"/>
                <a:cs typeface="Times New Roman" panose="02020603050405020304" charset="0"/>
                <a:sym typeface="+mn-ea"/>
              </a:rPr>
              <a:t>从交际学的角度看同声传译的质量评估</a:t>
            </a:r>
            <a:endParaRPr lang="en-US" altLang="zh-CN">
              <a:latin typeface="Times New Roman" panose="02020603050405020304" charset="0"/>
              <a:cs typeface="Times New Roman" panose="02020603050405020304" charset="0"/>
              <a:sym typeface="+mn-ea"/>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6</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13" name="文本框 12"/>
          <p:cNvSpPr txBox="1"/>
          <p:nvPr/>
        </p:nvSpPr>
        <p:spPr>
          <a:xfrm>
            <a:off x="6430645" y="216535"/>
            <a:ext cx="4064000" cy="368300"/>
          </a:xfrm>
          <a:prstGeom prst="rect">
            <a:avLst/>
          </a:prstGeom>
          <a:noFill/>
        </p:spPr>
        <p:txBody>
          <a:bodyPr wrap="square" rtlCol="0">
            <a:spAutoFit/>
          </a:bodyPr>
          <a:lstStyle/>
          <a:p>
            <a:endParaRPr lang="zh-CN" alt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zh-CN" altLang="en-US" sz="2800" b="1" i="1">
                <a:latin typeface="Times New Roman" panose="02020603050405020304" charset="0"/>
                <a:cs typeface="Times New Roman" panose="02020603050405020304" charset="0"/>
                <a:sym typeface="+mn-ea"/>
              </a:rPr>
              <a:t>Writing the First Draft</a:t>
            </a:r>
            <a:r>
              <a:rPr lang="en-US" altLang="zh-CN" sz="2800" b="1" i="1">
                <a:latin typeface="Times New Roman" panose="02020603050405020304" charset="0"/>
                <a:cs typeface="Times New Roman" panose="02020603050405020304" charset="0"/>
                <a:sym typeface="+mn-ea"/>
              </a:rPr>
              <a:t>-- </a:t>
            </a:r>
            <a:r>
              <a:rPr lang="en-US" altLang="zh-CN" sz="2800" i="1">
                <a:latin typeface="Times New Roman" panose="02020603050405020304" charset="0"/>
                <a:cs typeface="Times New Roman" panose="02020603050405020304" charset="0"/>
                <a:sym typeface="+mn-ea"/>
              </a:rPr>
              <a:t>2. Research Methods</a:t>
            </a:r>
            <a:endParaRPr lang="en-US" altLang="zh-CN" sz="2800" i="1">
              <a:solidFill>
                <a:schemeClr val="tx1"/>
              </a:solidFill>
              <a:latin typeface="Times New Roman" panose="02020603050405020304" charset="0"/>
              <a:cs typeface="Times New Roman" panose="02020603050405020304" charset="0"/>
              <a:sym typeface="+mn-ea"/>
            </a:endParaRPr>
          </a:p>
        </p:txBody>
      </p:sp>
      <p:sp>
        <p:nvSpPr>
          <p:cNvPr id="3" name="内容占位符 2"/>
          <p:cNvSpPr>
            <a:spLocks noGrp="1"/>
          </p:cNvSpPr>
          <p:nvPr>
            <p:ph idx="1"/>
          </p:nvPr>
        </p:nvSpPr>
        <p:spPr>
          <a:xfrm>
            <a:off x="838200" y="1557020"/>
            <a:ext cx="10938510" cy="4850765"/>
          </a:xfrm>
          <a:ln w="28575">
            <a:solidFill>
              <a:schemeClr val="accent2">
                <a:lumMod val="75000"/>
              </a:schemeClr>
            </a:solidFill>
          </a:ln>
        </p:spPr>
        <p:txBody>
          <a:bodyPr>
            <a:normAutofit fontScale="90000" lnSpcReduction="10000"/>
          </a:bodyPr>
          <a:lstStyle/>
          <a:p>
            <a:pPr marL="0" indent="0" algn="just" fontAlgn="auto">
              <a:lnSpc>
                <a:spcPct val="150000"/>
              </a:lnSpc>
              <a:spcBef>
                <a:spcPts val="0"/>
              </a:spcBef>
              <a:buNone/>
            </a:pPr>
            <a:r>
              <a:rPr lang="en-US" altLang="zh-CN" b="1" dirty="0">
                <a:solidFill>
                  <a:schemeClr val="accent2">
                    <a:lumMod val="75000"/>
                  </a:schemeClr>
                </a:solidFill>
                <a:latin typeface="Times New Roman" panose="02020603050405020304" charset="0"/>
                <a:cs typeface="Times New Roman" panose="02020603050405020304" charset="0"/>
                <a:sym typeface="+mn-ea"/>
              </a:rPr>
              <a:t>Qualitative method: </a:t>
            </a:r>
          </a:p>
          <a:p>
            <a:pPr algn="just" fontAlgn="auto">
              <a:lnSpc>
                <a:spcPct val="150000"/>
              </a:lnSpc>
              <a:spcBef>
                <a:spcPts val="0"/>
              </a:spcBef>
            </a:pPr>
            <a:r>
              <a:rPr lang="en-US" altLang="zh-CN" dirty="0">
                <a:latin typeface="Times New Roman" panose="02020603050405020304" charset="0"/>
                <a:cs typeface="Times New Roman" panose="02020603050405020304" charset="0"/>
                <a:sym typeface="+mn-ea"/>
              </a:rPr>
              <a:t>The qualitative tradition critiques quantitative assumptions and premises inductive logic, subjectivity, multiple truths, the political nature of research, and the value of depth over quantity.  </a:t>
            </a:r>
            <a:endParaRPr lang="en-US" altLang="zh-CN" dirty="0">
              <a:latin typeface="Times New Roman" panose="02020603050405020304" charset="0"/>
              <a:cs typeface="Times New Roman" panose="02020603050405020304" charset="0"/>
            </a:endParaRPr>
          </a:p>
          <a:p>
            <a:pPr algn="just" fontAlgn="auto">
              <a:lnSpc>
                <a:spcPct val="150000"/>
              </a:lnSpc>
              <a:spcBef>
                <a:spcPts val="0"/>
              </a:spcBef>
            </a:pPr>
            <a:r>
              <a:rPr lang="en-US" altLang="zh-CN" dirty="0">
                <a:latin typeface="Times New Roman" panose="02020603050405020304" charset="0"/>
                <a:cs typeface="Times New Roman" panose="02020603050405020304" charset="0"/>
                <a:sym typeface="+mn-ea"/>
              </a:rPr>
              <a:t>Qualitative research strategies for achieving credibility include thoroughness, i.e. saturation, crystallization, prolonged engagement, persistent observation, broad representation and peer review, and confirmation, i.e. triangulation, member checking, and full explication of method.</a:t>
            </a:r>
          </a:p>
          <a:p>
            <a:pPr algn="just" fontAlgn="auto">
              <a:lnSpc>
                <a:spcPct val="150000"/>
              </a:lnSpc>
              <a:spcBef>
                <a:spcPts val="0"/>
              </a:spcBef>
            </a:pPr>
            <a:r>
              <a:rPr lang="zh-CN" altLang="en-US" dirty="0">
                <a:latin typeface="Times New Roman" panose="02020603050405020304" charset="0"/>
                <a:cs typeface="Times New Roman" panose="02020603050405020304" charset="0"/>
                <a:sym typeface="+mn-ea"/>
              </a:rPr>
              <a:t>同声传译中的非语言因素</a:t>
            </a:r>
            <a:r>
              <a:rPr lang="en-US" altLang="zh-CN" dirty="0">
                <a:latin typeface="Times New Roman" panose="02020603050405020304" charset="0"/>
                <a:cs typeface="Times New Roman" panose="02020603050405020304" charset="0"/>
                <a:sym typeface="+mn-ea"/>
              </a:rPr>
              <a:t>--</a:t>
            </a:r>
            <a:r>
              <a:rPr lang="zh-CN" altLang="en-US" dirty="0">
                <a:latin typeface="Times New Roman" panose="02020603050405020304" charset="0"/>
                <a:cs typeface="Times New Roman" panose="02020603050405020304" charset="0"/>
                <a:sym typeface="+mn-ea"/>
              </a:rPr>
              <a:t>对中欧译员培训班学员的一项定性研究</a:t>
            </a:r>
            <a:endParaRPr lang="en-US" altLang="zh-CN" dirty="0">
              <a:latin typeface="Times New Roman" panose="02020603050405020304" charset="0"/>
              <a:cs typeface="Times New Roman" panose="02020603050405020304" charset="0"/>
              <a:sym typeface="+mn-ea"/>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6</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13" name="文本框 12"/>
          <p:cNvSpPr txBox="1"/>
          <p:nvPr/>
        </p:nvSpPr>
        <p:spPr>
          <a:xfrm>
            <a:off x="6430645" y="216535"/>
            <a:ext cx="4064000" cy="368300"/>
          </a:xfrm>
          <a:prstGeom prst="rect">
            <a:avLst/>
          </a:prstGeom>
          <a:noFill/>
        </p:spPr>
        <p:txBody>
          <a:bodyPr wrap="square" rtlCol="0">
            <a:spAutoFit/>
          </a:bodyPr>
          <a:lstStyle/>
          <a:p>
            <a:endParaRPr lang="zh-CN" alt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zh-CN" altLang="en-US" sz="2800" b="1" i="1">
                <a:latin typeface="Times New Roman" panose="02020603050405020304" charset="0"/>
                <a:cs typeface="Times New Roman" panose="02020603050405020304" charset="0"/>
                <a:sym typeface="+mn-ea"/>
              </a:rPr>
              <a:t>Writing the First Draft</a:t>
            </a:r>
            <a:r>
              <a:rPr lang="en-US" altLang="zh-CN" sz="2800" b="1" i="1">
                <a:latin typeface="Times New Roman" panose="02020603050405020304" charset="0"/>
                <a:cs typeface="Times New Roman" panose="02020603050405020304" charset="0"/>
                <a:sym typeface="+mn-ea"/>
              </a:rPr>
              <a:t>-- </a:t>
            </a:r>
            <a:r>
              <a:rPr lang="en-US" altLang="zh-CN" sz="2800" i="1">
                <a:latin typeface="Times New Roman" panose="02020603050405020304" charset="0"/>
                <a:cs typeface="Times New Roman" panose="02020603050405020304" charset="0"/>
                <a:sym typeface="+mn-ea"/>
              </a:rPr>
              <a:t>2. Research Methods</a:t>
            </a:r>
            <a:endParaRPr lang="en-US" altLang="zh-CN" sz="2800" i="1">
              <a:solidFill>
                <a:schemeClr val="tx1"/>
              </a:solidFill>
              <a:latin typeface="Times New Roman" panose="02020603050405020304" charset="0"/>
              <a:cs typeface="Times New Roman" panose="02020603050405020304" charset="0"/>
              <a:sym typeface="+mn-ea"/>
            </a:endParaRPr>
          </a:p>
        </p:txBody>
      </p:sp>
      <p:sp>
        <p:nvSpPr>
          <p:cNvPr id="3" name="内容占位符 2"/>
          <p:cNvSpPr>
            <a:spLocks noGrp="1"/>
          </p:cNvSpPr>
          <p:nvPr>
            <p:ph idx="1"/>
          </p:nvPr>
        </p:nvSpPr>
        <p:spPr>
          <a:xfrm>
            <a:off x="838200" y="1557020"/>
            <a:ext cx="10938510" cy="4850765"/>
          </a:xfrm>
          <a:ln w="28575">
            <a:solidFill>
              <a:schemeClr val="accent2">
                <a:lumMod val="75000"/>
              </a:schemeClr>
            </a:solidFill>
          </a:ln>
        </p:spPr>
        <p:txBody>
          <a:bodyPr>
            <a:normAutofit/>
          </a:bodyPr>
          <a:lstStyle/>
          <a:p>
            <a:pPr marL="0" indent="0" fontAlgn="auto">
              <a:lnSpc>
                <a:spcPct val="150000"/>
              </a:lnSpc>
              <a:spcBef>
                <a:spcPts val="0"/>
              </a:spcBef>
              <a:buNone/>
            </a:pPr>
            <a:r>
              <a:rPr lang="en-US" altLang="zh-CN" b="1" dirty="0">
                <a:solidFill>
                  <a:schemeClr val="accent2">
                    <a:lumMod val="75000"/>
                  </a:schemeClr>
                </a:solidFill>
                <a:latin typeface="Times New Roman" panose="02020603050405020304" charset="0"/>
                <a:cs typeface="Times New Roman" panose="02020603050405020304" charset="0"/>
                <a:sym typeface="+mn-ea"/>
              </a:rPr>
              <a:t>Notice:</a:t>
            </a:r>
          </a:p>
          <a:p>
            <a:pPr marL="0" indent="0" fontAlgn="auto">
              <a:lnSpc>
                <a:spcPct val="150000"/>
              </a:lnSpc>
              <a:spcBef>
                <a:spcPts val="0"/>
              </a:spcBef>
              <a:buNone/>
            </a:pPr>
            <a:r>
              <a:rPr lang="en-US" altLang="zh-CN" dirty="0">
                <a:solidFill>
                  <a:schemeClr val="tx1"/>
                </a:solidFill>
                <a:latin typeface="Times New Roman" panose="02020603050405020304" charset="0"/>
                <a:cs typeface="Times New Roman" panose="02020603050405020304" charset="0"/>
                <a:sym typeface="+mn-ea"/>
              </a:rPr>
              <a:t>---Explain why each procedure was done</a:t>
            </a:r>
          </a:p>
          <a:p>
            <a:pPr marL="0" indent="0" fontAlgn="auto">
              <a:lnSpc>
                <a:spcPct val="150000"/>
              </a:lnSpc>
              <a:spcBef>
                <a:spcPts val="0"/>
              </a:spcBef>
              <a:buNone/>
            </a:pPr>
            <a:r>
              <a:rPr lang="en-US" altLang="zh-CN" dirty="0">
                <a:solidFill>
                  <a:schemeClr val="tx1"/>
                </a:solidFill>
                <a:latin typeface="Times New Roman" panose="02020603050405020304" charset="0"/>
                <a:cs typeface="Times New Roman" panose="02020603050405020304" charset="0"/>
                <a:sym typeface="+mn-ea"/>
              </a:rPr>
              <a:t>---Experimental procedures and results are narrated in the </a:t>
            </a:r>
            <a:r>
              <a:rPr lang="en-US" altLang="zh-CN" dirty="0">
                <a:solidFill>
                  <a:srgbClr val="C00000"/>
                </a:solidFill>
                <a:latin typeface="Times New Roman" panose="02020603050405020304" charset="0"/>
                <a:cs typeface="Times New Roman" panose="02020603050405020304" charset="0"/>
                <a:sym typeface="+mn-ea"/>
              </a:rPr>
              <a:t>past tense</a:t>
            </a:r>
            <a:r>
              <a:rPr lang="en-US" altLang="zh-CN" dirty="0">
                <a:solidFill>
                  <a:schemeClr val="tx1"/>
                </a:solidFill>
                <a:latin typeface="Times New Roman" panose="02020603050405020304" charset="0"/>
                <a:cs typeface="Times New Roman" panose="02020603050405020304" charset="0"/>
                <a:sym typeface="+mn-ea"/>
              </a:rPr>
              <a:t>;   </a:t>
            </a:r>
          </a:p>
          <a:p>
            <a:pPr marL="0" indent="0" fontAlgn="auto">
              <a:lnSpc>
                <a:spcPct val="150000"/>
              </a:lnSpc>
              <a:spcBef>
                <a:spcPts val="0"/>
              </a:spcBef>
              <a:buNone/>
            </a:pPr>
            <a:r>
              <a:rPr lang="en-US" altLang="zh-CN" dirty="0">
                <a:solidFill>
                  <a:schemeClr val="tx1"/>
                </a:solidFill>
                <a:latin typeface="Times New Roman" panose="02020603050405020304" charset="0"/>
                <a:cs typeface="Times New Roman" panose="02020603050405020304" charset="0"/>
                <a:sym typeface="+mn-ea"/>
              </a:rPr>
              <a:t>    conclusions from results are given in the </a:t>
            </a:r>
            <a:r>
              <a:rPr lang="en-US" altLang="zh-CN" dirty="0">
                <a:solidFill>
                  <a:srgbClr val="C00000"/>
                </a:solidFill>
                <a:latin typeface="Times New Roman" panose="02020603050405020304" charset="0"/>
                <a:cs typeface="Times New Roman" panose="02020603050405020304" charset="0"/>
                <a:sym typeface="+mn-ea"/>
              </a:rPr>
              <a:t>present tense</a:t>
            </a:r>
            <a:r>
              <a:rPr lang="en-US" altLang="zh-CN" dirty="0">
                <a:solidFill>
                  <a:schemeClr val="tx1"/>
                </a:solidFill>
                <a:latin typeface="Times New Roman" panose="02020603050405020304" charset="0"/>
                <a:cs typeface="Times New Roman" panose="02020603050405020304" charset="0"/>
                <a:sym typeface="+mn-ea"/>
              </a:rPr>
              <a:t>.</a:t>
            </a:r>
          </a:p>
          <a:p>
            <a:pPr marL="0" indent="0" fontAlgn="auto">
              <a:lnSpc>
                <a:spcPct val="150000"/>
              </a:lnSpc>
              <a:spcBef>
                <a:spcPts val="0"/>
              </a:spcBef>
              <a:buNone/>
            </a:pPr>
            <a:r>
              <a:rPr lang="en-US" altLang="zh-CN" dirty="0">
                <a:solidFill>
                  <a:schemeClr val="tx1"/>
                </a:solidFill>
                <a:latin typeface="Times New Roman" panose="02020603050405020304" charset="0"/>
                <a:cs typeface="Times New Roman" panose="02020603050405020304" charset="0"/>
                <a:sym typeface="+mn-ea"/>
              </a:rPr>
              <a:t>---Experimental papers should address the materials, laboratory  </a:t>
            </a:r>
          </a:p>
          <a:p>
            <a:pPr marL="0" indent="0" fontAlgn="auto">
              <a:lnSpc>
                <a:spcPct val="150000"/>
              </a:lnSpc>
              <a:spcBef>
                <a:spcPts val="0"/>
              </a:spcBef>
              <a:buNone/>
            </a:pPr>
            <a:r>
              <a:rPr lang="en-US" altLang="zh-CN" dirty="0">
                <a:solidFill>
                  <a:schemeClr val="tx1"/>
                </a:solidFill>
                <a:latin typeface="Times New Roman" panose="02020603050405020304" charset="0"/>
                <a:cs typeface="Times New Roman" panose="02020603050405020304" charset="0"/>
                <a:sym typeface="+mn-ea"/>
              </a:rPr>
              <a:t>    equipments, experimental processes.</a:t>
            </a: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6</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13" name="文本框 12"/>
          <p:cNvSpPr txBox="1"/>
          <p:nvPr/>
        </p:nvSpPr>
        <p:spPr>
          <a:xfrm>
            <a:off x="6430645" y="216535"/>
            <a:ext cx="4064000" cy="368300"/>
          </a:xfrm>
          <a:prstGeom prst="rect">
            <a:avLst/>
          </a:prstGeom>
          <a:noFill/>
        </p:spPr>
        <p:txBody>
          <a:bodyPr wrap="square" rtlCol="0">
            <a:spAutoFit/>
          </a:bodyPr>
          <a:lstStyle/>
          <a:p>
            <a:endParaRPr lang="zh-CN" alt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zh-CN" altLang="en-US" sz="2800" b="1" i="1">
                <a:latin typeface="Times New Roman" panose="02020603050405020304" charset="0"/>
                <a:cs typeface="Times New Roman" panose="02020603050405020304" charset="0"/>
                <a:sym typeface="+mn-ea"/>
              </a:rPr>
              <a:t>Writing the First Draft</a:t>
            </a:r>
            <a:r>
              <a:rPr lang="en-US" altLang="zh-CN" sz="2800" b="1" i="1">
                <a:latin typeface="Times New Roman" panose="02020603050405020304" charset="0"/>
                <a:cs typeface="Times New Roman" panose="02020603050405020304" charset="0"/>
                <a:sym typeface="+mn-ea"/>
              </a:rPr>
              <a:t>-- </a:t>
            </a:r>
            <a:r>
              <a:rPr lang="en-US" altLang="zh-CN" sz="2800" i="1">
                <a:latin typeface="Times New Roman" panose="02020603050405020304" charset="0"/>
                <a:cs typeface="Times New Roman" panose="02020603050405020304" charset="0"/>
                <a:sym typeface="+mn-ea"/>
              </a:rPr>
              <a:t>2. Research Methods</a:t>
            </a:r>
            <a:endParaRPr lang="en-US" altLang="zh-CN" sz="2800" i="1">
              <a:solidFill>
                <a:schemeClr val="tx1"/>
              </a:solidFill>
              <a:latin typeface="Times New Roman" panose="02020603050405020304" charset="0"/>
              <a:cs typeface="Times New Roman" panose="02020603050405020304" charset="0"/>
              <a:sym typeface="+mn-ea"/>
            </a:endParaRPr>
          </a:p>
        </p:txBody>
      </p:sp>
      <p:sp>
        <p:nvSpPr>
          <p:cNvPr id="3" name="内容占位符 2"/>
          <p:cNvSpPr>
            <a:spLocks noGrp="1"/>
          </p:cNvSpPr>
          <p:nvPr>
            <p:ph idx="1"/>
          </p:nvPr>
        </p:nvSpPr>
        <p:spPr>
          <a:xfrm>
            <a:off x="838200" y="1557020"/>
            <a:ext cx="10938510" cy="4850765"/>
          </a:xfrm>
          <a:ln w="28575">
            <a:solidFill>
              <a:schemeClr val="accent2">
                <a:lumMod val="75000"/>
              </a:schemeClr>
            </a:solidFill>
          </a:ln>
        </p:spPr>
        <p:txBody>
          <a:bodyPr>
            <a:normAutofit/>
          </a:bodyPr>
          <a:lstStyle/>
          <a:p>
            <a:pPr marL="0" indent="0" fontAlgn="auto">
              <a:lnSpc>
                <a:spcPct val="150000"/>
              </a:lnSpc>
              <a:spcBef>
                <a:spcPts val="0"/>
              </a:spcBef>
              <a:buNone/>
            </a:pPr>
            <a:r>
              <a:rPr lang="en-US" altLang="zh-CN" dirty="0">
                <a:solidFill>
                  <a:schemeClr val="tx1"/>
                </a:solidFill>
                <a:latin typeface="Times New Roman" panose="02020603050405020304" charset="0"/>
                <a:cs typeface="Times New Roman" panose="02020603050405020304" charset="0"/>
                <a:sym typeface="+mn-ea"/>
              </a:rPr>
              <a:t>---Mathematical equations and statistical tests are considered mathematical  </a:t>
            </a:r>
          </a:p>
          <a:p>
            <a:pPr marL="0" indent="0" fontAlgn="auto">
              <a:lnSpc>
                <a:spcPct val="150000"/>
              </a:lnSpc>
              <a:spcBef>
                <a:spcPts val="0"/>
              </a:spcBef>
              <a:buNone/>
            </a:pPr>
            <a:r>
              <a:rPr lang="en-US" altLang="zh-CN" dirty="0">
                <a:solidFill>
                  <a:schemeClr val="tx1"/>
                </a:solidFill>
                <a:latin typeface="Times New Roman" panose="02020603050405020304" charset="0"/>
                <a:cs typeface="Times New Roman" panose="02020603050405020304" charset="0"/>
                <a:sym typeface="+mn-ea"/>
              </a:rPr>
              <a:t>    methods and should be described in this section along with the actual </a:t>
            </a:r>
          </a:p>
          <a:p>
            <a:pPr marL="0" indent="0" fontAlgn="auto">
              <a:lnSpc>
                <a:spcPct val="150000"/>
              </a:lnSpc>
              <a:spcBef>
                <a:spcPts val="0"/>
              </a:spcBef>
              <a:buNone/>
            </a:pPr>
            <a:r>
              <a:rPr lang="en-US" altLang="zh-CN" dirty="0">
                <a:solidFill>
                  <a:schemeClr val="tx1"/>
                </a:solidFill>
                <a:latin typeface="Times New Roman" panose="02020603050405020304" charset="0"/>
                <a:cs typeface="Times New Roman" panose="02020603050405020304" charset="0"/>
                <a:sym typeface="+mn-ea"/>
              </a:rPr>
              <a:t>    experimental work.</a:t>
            </a:r>
          </a:p>
          <a:p>
            <a:pPr marL="0" indent="0" fontAlgn="auto">
              <a:lnSpc>
                <a:spcPct val="150000"/>
              </a:lnSpc>
              <a:spcBef>
                <a:spcPts val="0"/>
              </a:spcBef>
              <a:buNone/>
            </a:pPr>
            <a:r>
              <a:rPr lang="en-US" altLang="zh-CN" dirty="0">
                <a:solidFill>
                  <a:schemeClr val="tx1"/>
                </a:solidFill>
                <a:latin typeface="Times New Roman" panose="02020603050405020304" charset="0"/>
                <a:cs typeface="Times New Roman" panose="02020603050405020304" charset="0"/>
                <a:sym typeface="+mn-ea"/>
              </a:rPr>
              <a:t>---If any of your methods are fully described in a previous publication </a:t>
            </a:r>
          </a:p>
          <a:p>
            <a:pPr marL="0" indent="0" fontAlgn="auto">
              <a:lnSpc>
                <a:spcPct val="150000"/>
              </a:lnSpc>
              <a:spcBef>
                <a:spcPts val="0"/>
              </a:spcBef>
              <a:buNone/>
            </a:pPr>
            <a:r>
              <a:rPr lang="en-US" altLang="zh-CN" dirty="0">
                <a:solidFill>
                  <a:schemeClr val="tx1"/>
                </a:solidFill>
                <a:latin typeface="Times New Roman" panose="02020603050405020304" charset="0"/>
                <a:cs typeface="Times New Roman" panose="02020603050405020304" charset="0"/>
                <a:sym typeface="+mn-ea"/>
              </a:rPr>
              <a:t>    (yours or someone else’s), you can cite that instead of describing the </a:t>
            </a:r>
          </a:p>
          <a:p>
            <a:pPr marL="0" indent="0" fontAlgn="auto">
              <a:lnSpc>
                <a:spcPct val="150000"/>
              </a:lnSpc>
              <a:spcBef>
                <a:spcPts val="0"/>
              </a:spcBef>
              <a:buNone/>
            </a:pPr>
            <a:r>
              <a:rPr lang="en-US" altLang="zh-CN" dirty="0">
                <a:solidFill>
                  <a:schemeClr val="tx1"/>
                </a:solidFill>
                <a:latin typeface="Times New Roman" panose="02020603050405020304" charset="0"/>
                <a:cs typeface="Times New Roman" panose="02020603050405020304" charset="0"/>
                <a:sym typeface="+mn-ea"/>
              </a:rPr>
              <a:t>    procedure again. </a:t>
            </a: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6</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13" name="文本框 12"/>
          <p:cNvSpPr txBox="1"/>
          <p:nvPr/>
        </p:nvSpPr>
        <p:spPr>
          <a:xfrm>
            <a:off x="6430645" y="216535"/>
            <a:ext cx="4064000" cy="368300"/>
          </a:xfrm>
          <a:prstGeom prst="rect">
            <a:avLst/>
          </a:prstGeom>
          <a:noFill/>
        </p:spPr>
        <p:txBody>
          <a:bodyPr wrap="square" rtlCol="0">
            <a:spAutoFit/>
          </a:bodyPr>
          <a:lstStyle/>
          <a:p>
            <a:endParaRPr lang="zh-CN" alt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zh-CN" altLang="en-US" sz="2800" b="1" i="1">
                <a:latin typeface="Times New Roman" panose="02020603050405020304" charset="0"/>
                <a:cs typeface="Times New Roman" panose="02020603050405020304" charset="0"/>
                <a:sym typeface="+mn-ea"/>
              </a:rPr>
              <a:t>Writing the First Draft</a:t>
            </a:r>
            <a:endParaRPr lang="en-US" altLang="zh-CN" sz="2800" b="1" i="1">
              <a:solidFill>
                <a:schemeClr val="tx1"/>
              </a:solidFill>
              <a:latin typeface="Times New Roman" panose="02020603050405020304" charset="0"/>
              <a:cs typeface="Times New Roman" panose="02020603050405020304" charset="0"/>
              <a:sym typeface="+mn-ea"/>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6</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11" name="矩形 10"/>
          <p:cNvSpPr/>
          <p:nvPr>
            <p:custDataLst>
              <p:tags r:id="rId4"/>
            </p:custDataLst>
          </p:nvPr>
        </p:nvSpPr>
        <p:spPr>
          <a:xfrm>
            <a:off x="8723630" y="626110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Chapter 6 Plagiarism</a:t>
            </a:r>
          </a:p>
        </p:txBody>
      </p:sp>
      <p:sp>
        <p:nvSpPr>
          <p:cNvPr id="12" name="标题 1"/>
          <p:cNvSpPr>
            <a:spLocks noGrp="1"/>
          </p:cNvSpPr>
          <p:nvPr>
            <p:custDataLst>
              <p:tags r:id="rId5"/>
            </p:custDataLst>
          </p:nvPr>
        </p:nvSpPr>
        <p:spPr>
          <a:xfrm>
            <a:off x="6442075" y="1745615"/>
            <a:ext cx="5642610" cy="282130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indent="0" fontAlgn="auto">
              <a:lnSpc>
                <a:spcPct val="150000"/>
              </a:lnSpc>
            </a:pPr>
            <a:r>
              <a:rPr lang="en-US" altLang="zh-CN" sz="3200" b="1" i="1">
                <a:solidFill>
                  <a:schemeClr val="accent2">
                    <a:lumMod val="75000"/>
                  </a:schemeClr>
                </a:solidFill>
                <a:latin typeface="Times New Roman" panose="02020603050405020304" charset="0"/>
                <a:cs typeface="Times New Roman" panose="02020603050405020304" charset="0"/>
                <a:sym typeface="+mn-ea"/>
              </a:rPr>
              <a:t>3.</a:t>
            </a:r>
            <a:r>
              <a:rPr lang="en-US" altLang="zh-CN" sz="3200">
                <a:latin typeface="Times New Roman" panose="02020603050405020304" charset="0"/>
                <a:cs typeface="Times New Roman" panose="02020603050405020304" charset="0"/>
                <a:sym typeface="+mn-ea"/>
              </a:rPr>
              <a:t> Results and Discussion</a:t>
            </a:r>
            <a:endParaRPr lang="en-US" altLang="zh-CN" sz="3200">
              <a:latin typeface="Times New Roman" panose="02020603050405020304" charset="0"/>
              <a:cs typeface="Times New Roman" panose="02020603050405020304" charset="0"/>
            </a:endParaRPr>
          </a:p>
          <a:p>
            <a:pPr marL="0" indent="0" fontAlgn="auto">
              <a:lnSpc>
                <a:spcPct val="150000"/>
              </a:lnSpc>
            </a:pPr>
            <a:r>
              <a:rPr lang="en-US" altLang="zh-CN" sz="3200">
                <a:latin typeface="Times New Roman" panose="02020603050405020304" charset="0"/>
                <a:cs typeface="Times New Roman" panose="02020603050405020304" charset="0"/>
                <a:sym typeface="+mn-ea"/>
              </a:rPr>
              <a:t> </a:t>
            </a:r>
            <a:endParaRPr lang="en-US" altLang="zh-CN" sz="3200">
              <a:latin typeface="Times New Roman" panose="02020603050405020304" charset="0"/>
              <a:cs typeface="Times New Roman" panose="02020603050405020304" charset="0"/>
            </a:endParaRPr>
          </a:p>
        </p:txBody>
      </p:sp>
      <p:pic>
        <p:nvPicPr>
          <p:cNvPr id="3" name="图片 2" descr="8-1"/>
          <p:cNvPicPr>
            <a:picLocks noChangeAspect="1"/>
          </p:cNvPicPr>
          <p:nvPr/>
        </p:nvPicPr>
        <p:blipFill>
          <a:blip r:embed="rId7"/>
          <a:stretch>
            <a:fillRect/>
          </a:stretch>
        </p:blipFill>
        <p:spPr>
          <a:xfrm>
            <a:off x="1281430" y="2392045"/>
            <a:ext cx="4981575" cy="2331085"/>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zh-CN" altLang="en-US" sz="2800" b="1" i="1">
                <a:latin typeface="Times New Roman" panose="02020603050405020304" charset="0"/>
                <a:cs typeface="Times New Roman" panose="02020603050405020304" charset="0"/>
                <a:sym typeface="+mn-ea"/>
              </a:rPr>
              <a:t>Writing the First Draft</a:t>
            </a:r>
            <a:r>
              <a:rPr lang="en-US" altLang="zh-CN" sz="2800" b="1" i="1">
                <a:latin typeface="Times New Roman" panose="02020603050405020304" charset="0"/>
                <a:cs typeface="Times New Roman" panose="02020603050405020304" charset="0"/>
                <a:sym typeface="+mn-ea"/>
              </a:rPr>
              <a:t>-- </a:t>
            </a:r>
            <a:r>
              <a:rPr lang="en-US" altLang="zh-CN" sz="2800" b="1" i="1">
                <a:solidFill>
                  <a:schemeClr val="accent2">
                    <a:lumMod val="75000"/>
                  </a:schemeClr>
                </a:solidFill>
                <a:latin typeface="Times New Roman" panose="02020603050405020304" charset="0"/>
                <a:cs typeface="Times New Roman" panose="02020603050405020304" charset="0"/>
                <a:sym typeface="+mn-ea"/>
              </a:rPr>
              <a:t>3.</a:t>
            </a:r>
            <a:r>
              <a:rPr lang="en-US" altLang="zh-CN" sz="2800">
                <a:latin typeface="Times New Roman" panose="02020603050405020304" charset="0"/>
                <a:cs typeface="Times New Roman" panose="02020603050405020304" charset="0"/>
                <a:sym typeface="+mn-ea"/>
              </a:rPr>
              <a:t> Results and Discussion</a:t>
            </a:r>
            <a:endParaRPr lang="en-US" altLang="zh-CN" sz="2800" i="1">
              <a:solidFill>
                <a:schemeClr val="tx1"/>
              </a:solidFill>
              <a:latin typeface="Times New Roman" panose="02020603050405020304" charset="0"/>
              <a:cs typeface="Times New Roman" panose="02020603050405020304" charset="0"/>
              <a:sym typeface="+mn-ea"/>
            </a:endParaRPr>
          </a:p>
        </p:txBody>
      </p:sp>
      <p:sp>
        <p:nvSpPr>
          <p:cNvPr id="3" name="内容占位符 2"/>
          <p:cNvSpPr>
            <a:spLocks noGrp="1"/>
          </p:cNvSpPr>
          <p:nvPr>
            <p:ph idx="1"/>
          </p:nvPr>
        </p:nvSpPr>
        <p:spPr>
          <a:xfrm>
            <a:off x="838200" y="1557020"/>
            <a:ext cx="10938510" cy="4850765"/>
          </a:xfrm>
          <a:ln w="28575">
            <a:solidFill>
              <a:schemeClr val="accent2">
                <a:lumMod val="75000"/>
              </a:schemeClr>
            </a:solidFill>
          </a:ln>
        </p:spPr>
        <p:txBody>
          <a:bodyPr>
            <a:normAutofit lnSpcReduction="10000"/>
          </a:bodyPr>
          <a:lstStyle/>
          <a:p>
            <a:pPr fontAlgn="auto">
              <a:lnSpc>
                <a:spcPct val="150000"/>
              </a:lnSpc>
              <a:buNone/>
            </a:pPr>
            <a:r>
              <a:rPr lang="en-US" altLang="zh-CN" b="1" dirty="0">
                <a:solidFill>
                  <a:schemeClr val="accent2">
                    <a:lumMod val="75000"/>
                  </a:schemeClr>
                </a:solidFill>
                <a:latin typeface="Times New Roman" panose="02020603050405020304" charset="0"/>
                <a:cs typeface="Times New Roman" panose="02020603050405020304" charset="0"/>
                <a:sym typeface="+mn-ea"/>
              </a:rPr>
              <a:t>3.1 Results</a:t>
            </a:r>
            <a:endParaRPr lang="en-US" altLang="zh-CN" b="1" dirty="0">
              <a:solidFill>
                <a:schemeClr val="accent2">
                  <a:lumMod val="75000"/>
                </a:schemeClr>
              </a:solidFill>
              <a:latin typeface="Times New Roman" panose="02020603050405020304" charset="0"/>
              <a:cs typeface="Times New Roman" panose="02020603050405020304" charset="0"/>
            </a:endParaRPr>
          </a:p>
          <a:p>
            <a:pPr fontAlgn="auto">
              <a:lnSpc>
                <a:spcPct val="150000"/>
              </a:lnSpc>
              <a:buNone/>
            </a:pPr>
            <a:r>
              <a:rPr lang="en-US" altLang="zh-CN" dirty="0">
                <a:latin typeface="Times New Roman" panose="02020603050405020304" charset="0"/>
                <a:cs typeface="Times New Roman" panose="02020603050405020304" charset="0"/>
                <a:sym typeface="+mn-ea"/>
              </a:rPr>
              <a:t>---The function is to summarize general trends in the data without comment, bias, or interpretation;</a:t>
            </a:r>
            <a:endParaRPr lang="en-US" altLang="zh-CN" dirty="0">
              <a:latin typeface="Times New Roman" panose="02020603050405020304" charset="0"/>
              <a:cs typeface="Times New Roman" panose="02020603050405020304" charset="0"/>
            </a:endParaRPr>
          </a:p>
          <a:p>
            <a:pPr fontAlgn="auto">
              <a:lnSpc>
                <a:spcPct val="150000"/>
              </a:lnSpc>
              <a:buNone/>
            </a:pPr>
            <a:r>
              <a:rPr lang="en-US" altLang="zh-CN" dirty="0">
                <a:latin typeface="Times New Roman" panose="02020603050405020304" charset="0"/>
                <a:cs typeface="Times New Roman" panose="02020603050405020304" charset="0"/>
                <a:sym typeface="+mn-ea"/>
              </a:rPr>
              <a:t>---Data may be presented in figures and tables, but this may not substitute for a verbal summary of the findings.</a:t>
            </a:r>
          </a:p>
          <a:p>
            <a:pPr fontAlgn="auto">
              <a:lnSpc>
                <a:spcPct val="150000"/>
              </a:lnSpc>
              <a:buNone/>
            </a:pPr>
            <a:r>
              <a:rPr lang="en-US" altLang="zh-CN" b="1" dirty="0">
                <a:solidFill>
                  <a:srgbClr val="FF0000"/>
                </a:solidFill>
                <a:latin typeface="Gungsuh" panose="02030600000101010101" charset="-127"/>
                <a:ea typeface="Gungsuh" panose="02030600000101010101" charset="-127"/>
                <a:cs typeface="Times New Roman" panose="02020603050405020304" charset="0"/>
                <a:sym typeface="+mn-ea"/>
              </a:rPr>
              <a:t>Incorrect:</a:t>
            </a:r>
            <a:r>
              <a:rPr lang="en-US" altLang="zh-CN" dirty="0">
                <a:solidFill>
                  <a:schemeClr val="tx1"/>
                </a:solidFill>
                <a:latin typeface="Times New Roman" panose="02020603050405020304" charset="0"/>
                <a:cs typeface="Times New Roman" panose="02020603050405020304" charset="0"/>
                <a:sym typeface="+mn-ea"/>
              </a:rPr>
              <a:t> The results are given in Figure 1.</a:t>
            </a:r>
          </a:p>
          <a:p>
            <a:pPr fontAlgn="auto">
              <a:lnSpc>
                <a:spcPct val="150000"/>
              </a:lnSpc>
              <a:buNone/>
            </a:pPr>
            <a:r>
              <a:rPr lang="en-US" altLang="zh-CN" b="1" dirty="0">
                <a:solidFill>
                  <a:srgbClr val="00B050"/>
                </a:solidFill>
                <a:latin typeface="Gungsuh" panose="02030600000101010101" charset="-127"/>
                <a:ea typeface="Gungsuh" panose="02030600000101010101" charset="-127"/>
                <a:cs typeface="Times New Roman" panose="02020603050405020304" charset="0"/>
                <a:sym typeface="+mn-ea"/>
              </a:rPr>
              <a:t>Correct:</a:t>
            </a:r>
            <a:r>
              <a:rPr lang="en-US" altLang="zh-CN" dirty="0">
                <a:solidFill>
                  <a:schemeClr val="tx1"/>
                </a:solidFill>
                <a:latin typeface="Times New Roman" panose="02020603050405020304" charset="0"/>
                <a:cs typeface="Times New Roman" panose="02020603050405020304" charset="0"/>
                <a:sym typeface="+mn-ea"/>
              </a:rPr>
              <a:t> Temperature was directly </a:t>
            </a:r>
            <a:r>
              <a:rPr lang="en-US" altLang="zh-CN" dirty="0" err="1">
                <a:solidFill>
                  <a:schemeClr val="tx1"/>
                </a:solidFill>
                <a:latin typeface="Times New Roman" panose="02020603050405020304" charset="0"/>
                <a:cs typeface="Times New Roman" panose="02020603050405020304" charset="0"/>
                <a:sym typeface="+mn-ea"/>
              </a:rPr>
              <a:t>propotional</a:t>
            </a:r>
            <a:r>
              <a:rPr lang="en-US" altLang="zh-CN" dirty="0">
                <a:solidFill>
                  <a:schemeClr val="tx1"/>
                </a:solidFill>
                <a:latin typeface="Times New Roman" panose="02020603050405020304" charset="0"/>
                <a:cs typeface="Times New Roman" panose="02020603050405020304" charset="0"/>
                <a:sym typeface="+mn-ea"/>
              </a:rPr>
              <a:t> to metabolic rate (Fig. 1).</a:t>
            </a: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6</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11" name="矩形 10"/>
          <p:cNvSpPr/>
          <p:nvPr>
            <p:custDataLst>
              <p:tags r:id="rId4"/>
            </p:custDataLst>
          </p:nvPr>
        </p:nvSpPr>
        <p:spPr>
          <a:xfrm>
            <a:off x="8723630" y="626110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Chapter 6 Plagiarism</a:t>
            </a:r>
          </a:p>
        </p:txBody>
      </p:sp>
      <p:sp>
        <p:nvSpPr>
          <p:cNvPr id="13" name="文本框 12"/>
          <p:cNvSpPr txBox="1"/>
          <p:nvPr/>
        </p:nvSpPr>
        <p:spPr>
          <a:xfrm>
            <a:off x="6430645" y="216535"/>
            <a:ext cx="4064000" cy="368300"/>
          </a:xfrm>
          <a:prstGeom prst="rect">
            <a:avLst/>
          </a:prstGeom>
          <a:noFill/>
        </p:spPr>
        <p:txBody>
          <a:bodyPr wrap="square" rtlCol="0">
            <a:spAutoFit/>
          </a:bodyPr>
          <a:lstStyle/>
          <a:p>
            <a:endParaRPr lang="zh-CN" alt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zh-CN" altLang="en-US" sz="2800" b="1" i="1">
                <a:latin typeface="Times New Roman" panose="02020603050405020304" charset="0"/>
                <a:cs typeface="Times New Roman" panose="02020603050405020304" charset="0"/>
                <a:sym typeface="+mn-ea"/>
              </a:rPr>
              <a:t>Writing the First Draft</a:t>
            </a:r>
            <a:r>
              <a:rPr lang="en-US" altLang="zh-CN" sz="2800" b="1" i="1">
                <a:latin typeface="Times New Roman" panose="02020603050405020304" charset="0"/>
                <a:cs typeface="Times New Roman" panose="02020603050405020304" charset="0"/>
                <a:sym typeface="+mn-ea"/>
              </a:rPr>
              <a:t>-- </a:t>
            </a:r>
            <a:r>
              <a:rPr lang="en-US" altLang="zh-CN" sz="2800" b="1" i="1">
                <a:solidFill>
                  <a:schemeClr val="accent2">
                    <a:lumMod val="75000"/>
                  </a:schemeClr>
                </a:solidFill>
                <a:latin typeface="Times New Roman" panose="02020603050405020304" charset="0"/>
                <a:cs typeface="Times New Roman" panose="02020603050405020304" charset="0"/>
                <a:sym typeface="+mn-ea"/>
              </a:rPr>
              <a:t>3.</a:t>
            </a:r>
            <a:r>
              <a:rPr lang="en-US" altLang="zh-CN" sz="2800">
                <a:latin typeface="Times New Roman" panose="02020603050405020304" charset="0"/>
                <a:cs typeface="Times New Roman" panose="02020603050405020304" charset="0"/>
                <a:sym typeface="+mn-ea"/>
              </a:rPr>
              <a:t> Results and Discussion</a:t>
            </a:r>
            <a:endParaRPr lang="en-US" altLang="zh-CN" sz="2800" i="1">
              <a:solidFill>
                <a:schemeClr val="tx1"/>
              </a:solidFill>
              <a:latin typeface="Times New Roman" panose="02020603050405020304" charset="0"/>
              <a:cs typeface="Times New Roman" panose="02020603050405020304" charset="0"/>
              <a:sym typeface="+mn-ea"/>
            </a:endParaRPr>
          </a:p>
        </p:txBody>
      </p:sp>
      <p:sp>
        <p:nvSpPr>
          <p:cNvPr id="3" name="内容占位符 2"/>
          <p:cNvSpPr>
            <a:spLocks noGrp="1"/>
          </p:cNvSpPr>
          <p:nvPr>
            <p:ph idx="1"/>
          </p:nvPr>
        </p:nvSpPr>
        <p:spPr>
          <a:xfrm>
            <a:off x="838200" y="1557020"/>
            <a:ext cx="10938510" cy="4850765"/>
          </a:xfrm>
          <a:ln w="28575">
            <a:solidFill>
              <a:schemeClr val="accent2">
                <a:lumMod val="75000"/>
              </a:schemeClr>
            </a:solidFill>
          </a:ln>
        </p:spPr>
        <p:txBody>
          <a:bodyPr>
            <a:normAutofit fontScale="90000"/>
          </a:bodyPr>
          <a:lstStyle/>
          <a:p>
            <a:pPr marL="0" fontAlgn="auto">
              <a:lnSpc>
                <a:spcPct val="150000"/>
              </a:lnSpc>
              <a:spcBef>
                <a:spcPts val="0"/>
              </a:spcBef>
              <a:buNone/>
            </a:pPr>
            <a:r>
              <a:rPr lang="en-US" altLang="zh-CN" b="1">
                <a:solidFill>
                  <a:schemeClr val="accent2">
                    <a:lumMod val="75000"/>
                  </a:schemeClr>
                </a:solidFill>
                <a:latin typeface="Times New Roman" panose="02020603050405020304" charset="0"/>
                <a:cs typeface="Times New Roman" panose="02020603050405020304" charset="0"/>
                <a:sym typeface="+mn-ea"/>
              </a:rPr>
              <a:t>3.2 Discussion</a:t>
            </a:r>
            <a:endParaRPr lang="en-US" altLang="zh-CN" b="1">
              <a:solidFill>
                <a:schemeClr val="accent2">
                  <a:lumMod val="75000"/>
                </a:schemeClr>
              </a:solidFill>
              <a:latin typeface="Times New Roman" panose="02020603050405020304" charset="0"/>
              <a:cs typeface="Times New Roman" panose="02020603050405020304" charset="0"/>
            </a:endParaRPr>
          </a:p>
          <a:p>
            <a:pPr marL="0" fontAlgn="auto">
              <a:lnSpc>
                <a:spcPct val="150000"/>
              </a:lnSpc>
              <a:spcBef>
                <a:spcPts val="0"/>
              </a:spcBef>
              <a:buNone/>
            </a:pPr>
            <a:r>
              <a:rPr lang="en-US" altLang="zh-CN">
                <a:latin typeface="Times New Roman" panose="02020603050405020304" charset="0"/>
                <a:cs typeface="Times New Roman" panose="02020603050405020304" charset="0"/>
                <a:sym typeface="+mn-ea"/>
              </a:rPr>
              <a:t>---the relationship between the results and the original hypothesis, i.e., whether they </a:t>
            </a:r>
          </a:p>
          <a:p>
            <a:pPr marL="0" fontAlgn="auto">
              <a:lnSpc>
                <a:spcPct val="150000"/>
              </a:lnSpc>
              <a:spcBef>
                <a:spcPts val="0"/>
              </a:spcBef>
              <a:buNone/>
            </a:pPr>
            <a:r>
              <a:rPr lang="en-US" altLang="zh-CN">
                <a:latin typeface="Times New Roman" panose="02020603050405020304" charset="0"/>
                <a:cs typeface="Times New Roman" panose="02020603050405020304" charset="0"/>
                <a:sym typeface="+mn-ea"/>
              </a:rPr>
              <a:t>    support the hypothesis;</a:t>
            </a:r>
          </a:p>
          <a:p>
            <a:pPr marL="0" fontAlgn="auto">
              <a:lnSpc>
                <a:spcPct val="150000"/>
              </a:lnSpc>
              <a:spcBef>
                <a:spcPts val="0"/>
              </a:spcBef>
              <a:buNone/>
            </a:pPr>
            <a:r>
              <a:rPr lang="en-US" altLang="zh-CN">
                <a:latin typeface="Times New Roman" panose="02020603050405020304" charset="0"/>
                <a:cs typeface="Times New Roman" panose="02020603050405020304" charset="0"/>
                <a:sym typeface="+mn-ea"/>
              </a:rPr>
              <a:t>---an integration of your results with those of the previous studies in order to arrive </a:t>
            </a:r>
          </a:p>
          <a:p>
            <a:pPr marL="0" fontAlgn="auto">
              <a:lnSpc>
                <a:spcPct val="150000"/>
              </a:lnSpc>
              <a:spcBef>
                <a:spcPts val="0"/>
              </a:spcBef>
              <a:buNone/>
            </a:pPr>
            <a:r>
              <a:rPr lang="en-US" altLang="zh-CN">
                <a:latin typeface="Times New Roman" panose="02020603050405020304" charset="0"/>
                <a:cs typeface="Times New Roman" panose="02020603050405020304" charset="0"/>
                <a:sym typeface="+mn-ea"/>
              </a:rPr>
              <a:t>    at explanations for the observed phenomena;</a:t>
            </a:r>
            <a:endParaRPr lang="en-US" altLang="zh-CN">
              <a:latin typeface="Times New Roman" panose="02020603050405020304" charset="0"/>
              <a:cs typeface="Times New Roman" panose="02020603050405020304" charset="0"/>
            </a:endParaRPr>
          </a:p>
          <a:p>
            <a:pPr marL="0" fontAlgn="auto">
              <a:lnSpc>
                <a:spcPct val="150000"/>
              </a:lnSpc>
              <a:spcBef>
                <a:spcPts val="0"/>
              </a:spcBef>
              <a:buNone/>
            </a:pPr>
            <a:r>
              <a:rPr lang="en-US" altLang="zh-CN">
                <a:latin typeface="Times New Roman" panose="02020603050405020304" charset="0"/>
                <a:cs typeface="Times New Roman" panose="02020603050405020304" charset="0"/>
                <a:sym typeface="+mn-ea"/>
              </a:rPr>
              <a:t>---possible explanations for unexpected results and observations;</a:t>
            </a:r>
            <a:endParaRPr lang="en-US" altLang="zh-CN">
              <a:latin typeface="Times New Roman" panose="02020603050405020304" charset="0"/>
              <a:cs typeface="Times New Roman" panose="02020603050405020304" charset="0"/>
            </a:endParaRPr>
          </a:p>
          <a:p>
            <a:pPr marL="0" fontAlgn="auto">
              <a:lnSpc>
                <a:spcPct val="150000"/>
              </a:lnSpc>
              <a:spcBef>
                <a:spcPts val="0"/>
              </a:spcBef>
              <a:buNone/>
            </a:pPr>
            <a:r>
              <a:rPr lang="en-US" altLang="zh-CN">
                <a:latin typeface="Times New Roman" panose="02020603050405020304" charset="0"/>
                <a:cs typeface="Times New Roman" panose="02020603050405020304" charset="0"/>
                <a:sym typeface="+mn-ea"/>
              </a:rPr>
              <a:t>---end the discussion with a summary of the principle points you want the reader to </a:t>
            </a:r>
          </a:p>
          <a:p>
            <a:pPr marL="0" fontAlgn="auto">
              <a:lnSpc>
                <a:spcPct val="150000"/>
              </a:lnSpc>
              <a:spcBef>
                <a:spcPts val="0"/>
              </a:spcBef>
              <a:buNone/>
            </a:pPr>
            <a:r>
              <a:rPr lang="en-US" altLang="zh-CN">
                <a:latin typeface="Times New Roman" panose="02020603050405020304" charset="0"/>
                <a:cs typeface="Times New Roman" panose="02020603050405020304" charset="0"/>
                <a:sym typeface="+mn-ea"/>
              </a:rPr>
              <a:t>    remember.</a:t>
            </a:r>
            <a:endParaRPr lang="en-US" altLang="zh-CN">
              <a:latin typeface="Times New Roman" panose="02020603050405020304" charset="0"/>
              <a:cs typeface="Times New Roman" panose="02020603050405020304" charset="0"/>
            </a:endParaRPr>
          </a:p>
          <a:p>
            <a:pPr eaLnBrk="1" hangingPunct="1">
              <a:buNone/>
            </a:pPr>
            <a:endParaRPr lang="en-US" altLang="zh-CN">
              <a:solidFill>
                <a:schemeClr val="tx1"/>
              </a:solidFill>
              <a:latin typeface="Times New Roman" panose="02020603050405020304" charset="0"/>
              <a:cs typeface="Times New Roman" panose="02020603050405020304" charset="0"/>
              <a:sym typeface="+mn-ea"/>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6</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11" name="矩形 10"/>
          <p:cNvSpPr/>
          <p:nvPr>
            <p:custDataLst>
              <p:tags r:id="rId4"/>
            </p:custDataLst>
          </p:nvPr>
        </p:nvSpPr>
        <p:spPr>
          <a:xfrm>
            <a:off x="8723630" y="626110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Chapter 6 Plagiarism</a:t>
            </a:r>
          </a:p>
        </p:txBody>
      </p:sp>
      <p:sp>
        <p:nvSpPr>
          <p:cNvPr id="13" name="文本框 12"/>
          <p:cNvSpPr txBox="1"/>
          <p:nvPr/>
        </p:nvSpPr>
        <p:spPr>
          <a:xfrm>
            <a:off x="6430645" y="216535"/>
            <a:ext cx="4064000" cy="368300"/>
          </a:xfrm>
          <a:prstGeom prst="rect">
            <a:avLst/>
          </a:prstGeom>
          <a:noFill/>
        </p:spPr>
        <p:txBody>
          <a:bodyPr wrap="square" rtlCol="0">
            <a:spAutoFit/>
          </a:bodyPr>
          <a:lstStyle/>
          <a:p>
            <a:endParaRPr lang="zh-CN" alt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zh-CN" altLang="en-US" sz="2800" b="1" i="1">
                <a:latin typeface="Times New Roman" panose="02020603050405020304" charset="0"/>
                <a:cs typeface="Times New Roman" panose="02020603050405020304" charset="0"/>
                <a:sym typeface="+mn-ea"/>
              </a:rPr>
              <a:t>Writing the First Draft</a:t>
            </a:r>
            <a:r>
              <a:rPr lang="en-US" altLang="zh-CN" sz="2800" b="1" i="1">
                <a:latin typeface="Times New Roman" panose="02020603050405020304" charset="0"/>
                <a:cs typeface="Times New Roman" panose="02020603050405020304" charset="0"/>
                <a:sym typeface="+mn-ea"/>
              </a:rPr>
              <a:t>-- </a:t>
            </a:r>
            <a:r>
              <a:rPr lang="en-US" altLang="zh-CN" sz="2800" b="1" i="1">
                <a:solidFill>
                  <a:schemeClr val="accent2">
                    <a:lumMod val="75000"/>
                  </a:schemeClr>
                </a:solidFill>
                <a:latin typeface="Times New Roman" panose="02020603050405020304" charset="0"/>
                <a:cs typeface="Times New Roman" panose="02020603050405020304" charset="0"/>
                <a:sym typeface="+mn-ea"/>
              </a:rPr>
              <a:t>3.</a:t>
            </a:r>
            <a:r>
              <a:rPr lang="en-US" altLang="zh-CN" sz="2800">
                <a:latin typeface="Times New Roman" panose="02020603050405020304" charset="0"/>
                <a:cs typeface="Times New Roman" panose="02020603050405020304" charset="0"/>
                <a:sym typeface="+mn-ea"/>
              </a:rPr>
              <a:t> Results and Discussion</a:t>
            </a:r>
            <a:endParaRPr lang="en-US" altLang="zh-CN" sz="2800" i="1">
              <a:solidFill>
                <a:schemeClr val="tx1"/>
              </a:solidFill>
              <a:latin typeface="Times New Roman" panose="02020603050405020304" charset="0"/>
              <a:cs typeface="Times New Roman" panose="02020603050405020304" charset="0"/>
              <a:sym typeface="+mn-ea"/>
            </a:endParaRPr>
          </a:p>
        </p:txBody>
      </p:sp>
      <p:sp>
        <p:nvSpPr>
          <p:cNvPr id="3" name="内容占位符 2"/>
          <p:cNvSpPr>
            <a:spLocks noGrp="1"/>
          </p:cNvSpPr>
          <p:nvPr>
            <p:ph idx="1"/>
          </p:nvPr>
        </p:nvSpPr>
        <p:spPr>
          <a:xfrm>
            <a:off x="838200" y="1557020"/>
            <a:ext cx="10938510" cy="4850765"/>
          </a:xfrm>
          <a:ln w="28575">
            <a:solidFill>
              <a:schemeClr val="accent2">
                <a:lumMod val="75000"/>
              </a:schemeClr>
            </a:solidFill>
          </a:ln>
        </p:spPr>
        <p:txBody>
          <a:bodyPr>
            <a:normAutofit fontScale="97500" lnSpcReduction="10000"/>
          </a:bodyPr>
          <a:lstStyle/>
          <a:p>
            <a:pPr marL="0" fontAlgn="auto">
              <a:lnSpc>
                <a:spcPct val="150000"/>
              </a:lnSpc>
              <a:spcBef>
                <a:spcPts val="0"/>
              </a:spcBef>
              <a:buNone/>
            </a:pPr>
            <a:r>
              <a:rPr lang="en-US" altLang="zh-CN" b="1">
                <a:solidFill>
                  <a:schemeClr val="accent2">
                    <a:lumMod val="75000"/>
                  </a:schemeClr>
                </a:solidFill>
                <a:latin typeface="Times New Roman" panose="02020603050405020304" charset="0"/>
                <a:cs typeface="Times New Roman" panose="02020603050405020304" charset="0"/>
                <a:sym typeface="+mn-ea"/>
              </a:rPr>
              <a:t>Common sentence patterns for results and discussion:</a:t>
            </a:r>
          </a:p>
          <a:p>
            <a:pPr marL="0" fontAlgn="auto">
              <a:lnSpc>
                <a:spcPct val="150000"/>
              </a:lnSpc>
              <a:spcBef>
                <a:spcPts val="0"/>
              </a:spcBef>
              <a:buNone/>
            </a:pPr>
            <a:r>
              <a:rPr lang="en-US" altLang="zh-CN">
                <a:solidFill>
                  <a:schemeClr val="tx1"/>
                </a:solidFill>
                <a:latin typeface="Times New Roman" panose="02020603050405020304" charset="0"/>
                <a:cs typeface="Times New Roman" panose="02020603050405020304" charset="0"/>
                <a:sym typeface="+mn-ea"/>
              </a:rPr>
              <a:t>1. Based on the experimental data, it can be concluded that the A ring in Halb is dispensable and that the C and D rings are important but not essential.</a:t>
            </a:r>
          </a:p>
          <a:p>
            <a:pPr marL="0" fontAlgn="auto">
              <a:lnSpc>
                <a:spcPct val="150000"/>
              </a:lnSpc>
              <a:spcBef>
                <a:spcPts val="0"/>
              </a:spcBef>
              <a:buNone/>
            </a:pPr>
            <a:r>
              <a:rPr lang="en-US" altLang="zh-CN">
                <a:solidFill>
                  <a:schemeClr val="tx1"/>
                </a:solidFill>
                <a:latin typeface="Times New Roman" panose="02020603050405020304" charset="0"/>
                <a:cs typeface="Times New Roman" panose="02020603050405020304" charset="0"/>
                <a:sym typeface="+mn-ea"/>
              </a:rPr>
              <a:t>2. This study also provides some additional insights into proteolytic processing of haloduracin.</a:t>
            </a:r>
          </a:p>
          <a:p>
            <a:pPr marL="0" fontAlgn="auto">
              <a:lnSpc>
                <a:spcPct val="150000"/>
              </a:lnSpc>
              <a:spcBef>
                <a:spcPts val="0"/>
              </a:spcBef>
              <a:buNone/>
            </a:pPr>
            <a:r>
              <a:rPr lang="en-US" altLang="zh-CN">
                <a:solidFill>
                  <a:schemeClr val="tx1"/>
                </a:solidFill>
                <a:latin typeface="Times New Roman" panose="02020603050405020304" charset="0"/>
                <a:cs typeface="Times New Roman" panose="02020603050405020304" charset="0"/>
                <a:sym typeface="+mn-ea"/>
              </a:rPr>
              <a:t>3. Taken together, these results provide support for the main effects of test anxiety and self- regulation on students' motivation, use of cognitive strategies and performance.</a:t>
            </a:r>
          </a:p>
          <a:p>
            <a:pPr marL="0" fontAlgn="auto">
              <a:lnSpc>
                <a:spcPct val="150000"/>
              </a:lnSpc>
              <a:spcBef>
                <a:spcPts val="0"/>
              </a:spcBef>
              <a:buNone/>
            </a:pPr>
            <a:endParaRPr lang="en-US" altLang="zh-CN">
              <a:solidFill>
                <a:schemeClr val="tx1"/>
              </a:solidFill>
              <a:latin typeface="Times New Roman" panose="02020603050405020304" charset="0"/>
              <a:cs typeface="Times New Roman" panose="02020603050405020304" charset="0"/>
              <a:sym typeface="+mn-ea"/>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6</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11" name="矩形 10"/>
          <p:cNvSpPr/>
          <p:nvPr>
            <p:custDataLst>
              <p:tags r:id="rId4"/>
            </p:custDataLst>
          </p:nvPr>
        </p:nvSpPr>
        <p:spPr>
          <a:xfrm>
            <a:off x="8723630" y="626110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Chapter 6 Plagiarism</a:t>
            </a:r>
          </a:p>
        </p:txBody>
      </p:sp>
      <p:sp>
        <p:nvSpPr>
          <p:cNvPr id="13" name="文本框 12"/>
          <p:cNvSpPr txBox="1"/>
          <p:nvPr/>
        </p:nvSpPr>
        <p:spPr>
          <a:xfrm>
            <a:off x="6430645" y="216535"/>
            <a:ext cx="4064000" cy="368300"/>
          </a:xfrm>
          <a:prstGeom prst="rect">
            <a:avLst/>
          </a:prstGeom>
          <a:noFill/>
        </p:spPr>
        <p:txBody>
          <a:bodyPr wrap="square" rtlCol="0">
            <a:spAutoFit/>
          </a:bodyPr>
          <a:lstStyle/>
          <a:p>
            <a:endParaRPr lang="zh-CN" alt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zh-CN" altLang="en-US" sz="2800" b="1" i="1">
                <a:latin typeface="Times New Roman" panose="02020603050405020304" charset="0"/>
                <a:cs typeface="Times New Roman" panose="02020603050405020304" charset="0"/>
                <a:sym typeface="+mn-ea"/>
              </a:rPr>
              <a:t>Writing the First Draft</a:t>
            </a:r>
            <a:r>
              <a:rPr lang="en-US" altLang="zh-CN" sz="2800" b="1" i="1">
                <a:latin typeface="Times New Roman" panose="02020603050405020304" charset="0"/>
                <a:cs typeface="Times New Roman" panose="02020603050405020304" charset="0"/>
                <a:sym typeface="+mn-ea"/>
              </a:rPr>
              <a:t>-- </a:t>
            </a:r>
            <a:r>
              <a:rPr lang="en-US" altLang="zh-CN" sz="2800" b="1" i="1">
                <a:solidFill>
                  <a:schemeClr val="accent2">
                    <a:lumMod val="75000"/>
                  </a:schemeClr>
                </a:solidFill>
                <a:latin typeface="Times New Roman" panose="02020603050405020304" charset="0"/>
                <a:cs typeface="Times New Roman" panose="02020603050405020304" charset="0"/>
                <a:sym typeface="+mn-ea"/>
              </a:rPr>
              <a:t>3.</a:t>
            </a:r>
            <a:r>
              <a:rPr lang="en-US" altLang="zh-CN" sz="2800">
                <a:latin typeface="Times New Roman" panose="02020603050405020304" charset="0"/>
                <a:cs typeface="Times New Roman" panose="02020603050405020304" charset="0"/>
                <a:sym typeface="+mn-ea"/>
              </a:rPr>
              <a:t> Results and Discussion</a:t>
            </a:r>
            <a:endParaRPr lang="en-US" altLang="zh-CN" sz="2800" i="1">
              <a:solidFill>
                <a:schemeClr val="tx1"/>
              </a:solidFill>
              <a:latin typeface="Times New Roman" panose="02020603050405020304" charset="0"/>
              <a:cs typeface="Times New Roman" panose="02020603050405020304" charset="0"/>
              <a:sym typeface="+mn-ea"/>
            </a:endParaRPr>
          </a:p>
        </p:txBody>
      </p:sp>
      <p:sp>
        <p:nvSpPr>
          <p:cNvPr id="3" name="内容占位符 2"/>
          <p:cNvSpPr>
            <a:spLocks noGrp="1"/>
          </p:cNvSpPr>
          <p:nvPr>
            <p:ph idx="1"/>
          </p:nvPr>
        </p:nvSpPr>
        <p:spPr>
          <a:xfrm>
            <a:off x="838200" y="1557020"/>
            <a:ext cx="10938510" cy="4850765"/>
          </a:xfrm>
          <a:ln w="28575">
            <a:solidFill>
              <a:schemeClr val="accent2">
                <a:lumMod val="75000"/>
              </a:schemeClr>
            </a:solidFill>
          </a:ln>
        </p:spPr>
        <p:txBody>
          <a:bodyPr>
            <a:normAutofit/>
          </a:bodyPr>
          <a:lstStyle/>
          <a:p>
            <a:pPr marL="0" fontAlgn="auto">
              <a:lnSpc>
                <a:spcPct val="150000"/>
              </a:lnSpc>
              <a:spcBef>
                <a:spcPts val="0"/>
              </a:spcBef>
              <a:buNone/>
            </a:pPr>
            <a:r>
              <a:rPr lang="en-US" altLang="zh-CN">
                <a:solidFill>
                  <a:schemeClr val="tx1"/>
                </a:solidFill>
                <a:latin typeface="Times New Roman" panose="02020603050405020304" charset="0"/>
                <a:cs typeface="Times New Roman" panose="02020603050405020304" charset="0"/>
                <a:sym typeface="+mn-ea"/>
              </a:rPr>
              <a:t>4. The present findings are consistent with the proposition that worry minimizes cognitive capacity in such a way that less capacity remains for remembering and thinking.</a:t>
            </a:r>
          </a:p>
          <a:p>
            <a:pPr marL="0" fontAlgn="auto">
              <a:lnSpc>
                <a:spcPct val="150000"/>
              </a:lnSpc>
              <a:spcBef>
                <a:spcPts val="0"/>
              </a:spcBef>
              <a:buNone/>
            </a:pPr>
            <a:r>
              <a:rPr lang="en-US" altLang="zh-CN">
                <a:solidFill>
                  <a:schemeClr val="tx1"/>
                </a:solidFill>
                <a:latin typeface="Times New Roman" panose="02020603050405020304" charset="0"/>
                <a:cs typeface="Times New Roman" panose="02020603050405020304" charset="0"/>
                <a:sym typeface="+mn-ea"/>
              </a:rPr>
              <a:t>5. These findings illustrate the danger of reaching conclusions regarding the importance of certain residues for bioactivity on the basis of mutagenesis studies without confirming that the mutation did not interfere with ring formation. </a:t>
            </a: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6</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11" name="矩形 10"/>
          <p:cNvSpPr/>
          <p:nvPr>
            <p:custDataLst>
              <p:tags r:id="rId4"/>
            </p:custDataLst>
          </p:nvPr>
        </p:nvSpPr>
        <p:spPr>
          <a:xfrm>
            <a:off x="8723630" y="626110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Chapter 6 Plagiarism</a:t>
            </a:r>
          </a:p>
        </p:txBody>
      </p:sp>
      <p:sp>
        <p:nvSpPr>
          <p:cNvPr id="13" name="文本框 12"/>
          <p:cNvSpPr txBox="1"/>
          <p:nvPr/>
        </p:nvSpPr>
        <p:spPr>
          <a:xfrm>
            <a:off x="6430645" y="216535"/>
            <a:ext cx="4064000" cy="368300"/>
          </a:xfrm>
          <a:prstGeom prst="rect">
            <a:avLst/>
          </a:prstGeom>
          <a:noFill/>
        </p:spPr>
        <p:txBody>
          <a:bodyPr wrap="square" rtlCol="0">
            <a:spAutoFit/>
          </a:bodyPr>
          <a:lstStyle/>
          <a:p>
            <a:endParaRPr lang="zh-CN" alt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zh-CN" altLang="en-US" sz="2800" b="1" i="1">
                <a:latin typeface="Times New Roman" panose="02020603050405020304" charset="0"/>
                <a:cs typeface="Times New Roman" panose="02020603050405020304" charset="0"/>
                <a:sym typeface="+mn-ea"/>
              </a:rPr>
              <a:t>Writing the First Draft</a:t>
            </a:r>
            <a:endParaRPr lang="en-US" altLang="zh-CN" sz="2800" b="1" i="1">
              <a:solidFill>
                <a:schemeClr val="tx1"/>
              </a:solidFill>
              <a:latin typeface="Times New Roman" panose="02020603050405020304" charset="0"/>
              <a:cs typeface="Times New Roman" panose="02020603050405020304" charset="0"/>
              <a:sym typeface="+mn-ea"/>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6</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11" name="矩形 10"/>
          <p:cNvSpPr/>
          <p:nvPr>
            <p:custDataLst>
              <p:tags r:id="rId4"/>
            </p:custDataLst>
          </p:nvPr>
        </p:nvSpPr>
        <p:spPr>
          <a:xfrm>
            <a:off x="8723630" y="626110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Chapter 6 Plagiarism</a:t>
            </a:r>
          </a:p>
        </p:txBody>
      </p:sp>
      <p:sp>
        <p:nvSpPr>
          <p:cNvPr id="12" name="标题 1"/>
          <p:cNvSpPr>
            <a:spLocks noGrp="1"/>
          </p:cNvSpPr>
          <p:nvPr>
            <p:custDataLst>
              <p:tags r:id="rId5"/>
            </p:custDataLst>
          </p:nvPr>
        </p:nvSpPr>
        <p:spPr>
          <a:xfrm>
            <a:off x="5972175" y="1745615"/>
            <a:ext cx="5642610" cy="382778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indent="0" algn="ctr" fontAlgn="auto">
              <a:lnSpc>
                <a:spcPct val="150000"/>
              </a:lnSpc>
            </a:pPr>
            <a:r>
              <a:rPr lang="en-US" altLang="zh-CN" sz="3200" b="1" i="1">
                <a:solidFill>
                  <a:schemeClr val="accent2">
                    <a:lumMod val="75000"/>
                  </a:schemeClr>
                </a:solidFill>
                <a:latin typeface="Times New Roman" panose="02020603050405020304" charset="0"/>
                <a:cs typeface="Times New Roman" panose="02020603050405020304" charset="0"/>
                <a:sym typeface="+mn-ea"/>
              </a:rPr>
              <a:t>4.</a:t>
            </a:r>
            <a:r>
              <a:rPr lang="en-US" altLang="zh-CN" sz="3200">
                <a:latin typeface="Times New Roman" panose="02020603050405020304" charset="0"/>
                <a:cs typeface="Times New Roman" panose="02020603050405020304" charset="0"/>
                <a:sym typeface="+mn-ea"/>
              </a:rPr>
              <a:t> Conclusion </a:t>
            </a:r>
          </a:p>
          <a:p>
            <a:pPr marL="0" indent="0" algn="ctr" fontAlgn="auto">
              <a:lnSpc>
                <a:spcPct val="150000"/>
              </a:lnSpc>
            </a:pPr>
            <a:r>
              <a:rPr lang="en-US" altLang="zh-CN" sz="3200">
                <a:latin typeface="Times New Roman" panose="02020603050405020304" charset="0"/>
                <a:cs typeface="Times New Roman" panose="02020603050405020304" charset="0"/>
                <a:sym typeface="+mn-ea"/>
              </a:rPr>
              <a:t>&amp;</a:t>
            </a:r>
          </a:p>
          <a:p>
            <a:pPr marL="0" indent="0" algn="ctr" fontAlgn="auto">
              <a:lnSpc>
                <a:spcPct val="150000"/>
              </a:lnSpc>
            </a:pPr>
            <a:r>
              <a:rPr lang="en-US" altLang="zh-CN" sz="3200">
                <a:latin typeface="Times New Roman" panose="02020603050405020304" charset="0"/>
                <a:cs typeface="Times New Roman" panose="02020603050405020304" charset="0"/>
                <a:sym typeface="+mn-ea"/>
              </a:rPr>
              <a:t>Recommendation</a:t>
            </a:r>
            <a:endParaRPr lang="en-US" altLang="zh-CN" sz="3200">
              <a:latin typeface="Times New Roman" panose="02020603050405020304" charset="0"/>
              <a:cs typeface="Times New Roman" panose="02020603050405020304" charset="0"/>
            </a:endParaRPr>
          </a:p>
          <a:p>
            <a:pPr marL="0" indent="0" fontAlgn="auto">
              <a:lnSpc>
                <a:spcPct val="150000"/>
              </a:lnSpc>
            </a:pPr>
            <a:endParaRPr lang="en-US" altLang="zh-CN" sz="3200">
              <a:latin typeface="Times New Roman" panose="02020603050405020304" charset="0"/>
              <a:cs typeface="Times New Roman" panose="02020603050405020304" charset="0"/>
            </a:endParaRPr>
          </a:p>
          <a:p>
            <a:pPr marL="0" indent="0" fontAlgn="auto">
              <a:lnSpc>
                <a:spcPct val="150000"/>
              </a:lnSpc>
            </a:pPr>
            <a:r>
              <a:rPr lang="en-US" altLang="zh-CN" sz="3200">
                <a:latin typeface="Times New Roman" panose="02020603050405020304" charset="0"/>
                <a:cs typeface="Times New Roman" panose="02020603050405020304" charset="0"/>
                <a:sym typeface="+mn-ea"/>
              </a:rPr>
              <a:t> </a:t>
            </a:r>
            <a:endParaRPr lang="en-US" altLang="zh-CN" sz="3200">
              <a:latin typeface="Times New Roman" panose="02020603050405020304" charset="0"/>
              <a:cs typeface="Times New Roman" panose="02020603050405020304" charset="0"/>
            </a:endParaRPr>
          </a:p>
        </p:txBody>
      </p:sp>
      <p:pic>
        <p:nvPicPr>
          <p:cNvPr id="104" name="图片 103"/>
          <p:cNvPicPr/>
          <p:nvPr/>
        </p:nvPicPr>
        <p:blipFill>
          <a:blip r:embed="rId7"/>
          <a:stretch>
            <a:fillRect/>
          </a:stretch>
        </p:blipFill>
        <p:spPr>
          <a:xfrm>
            <a:off x="1393190" y="2422525"/>
            <a:ext cx="4298950" cy="2493645"/>
          </a:xfrm>
          <a:prstGeom prst="rect">
            <a:avLst/>
          </a:prstGeom>
          <a:noFill/>
          <a:ln w="9525">
            <a:noFill/>
          </a:ln>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fontScale="90000"/>
          </a:bodyPr>
          <a:lstStyle/>
          <a:p>
            <a:r>
              <a:rPr lang="zh-CN" altLang="en-US" sz="2800" b="1" i="1">
                <a:latin typeface="Times New Roman" panose="02020603050405020304" charset="0"/>
                <a:cs typeface="Times New Roman" panose="02020603050405020304" charset="0"/>
                <a:sym typeface="+mn-ea"/>
              </a:rPr>
              <a:t>Writing the First Draft</a:t>
            </a:r>
            <a:r>
              <a:rPr lang="en-US" altLang="zh-CN" sz="2800" b="1" i="1">
                <a:latin typeface="Times New Roman" panose="02020603050405020304" charset="0"/>
                <a:cs typeface="Times New Roman" panose="02020603050405020304" charset="0"/>
                <a:sym typeface="+mn-ea"/>
              </a:rPr>
              <a:t>-- </a:t>
            </a:r>
            <a:r>
              <a:rPr lang="en-US" altLang="zh-CN" sz="2800" b="1" i="1">
                <a:solidFill>
                  <a:srgbClr val="C00000"/>
                </a:solidFill>
                <a:latin typeface="Times New Roman" panose="02020603050405020304" charset="0"/>
                <a:cs typeface="Times New Roman" panose="02020603050405020304" charset="0"/>
                <a:sym typeface="+mn-ea"/>
              </a:rPr>
              <a:t>4</a:t>
            </a:r>
            <a:r>
              <a:rPr lang="en-US" altLang="zh-CN" sz="2800" b="1" i="1">
                <a:solidFill>
                  <a:schemeClr val="accent2">
                    <a:lumMod val="75000"/>
                  </a:schemeClr>
                </a:solidFill>
                <a:latin typeface="Times New Roman" panose="02020603050405020304" charset="0"/>
                <a:cs typeface="Times New Roman" panose="02020603050405020304" charset="0"/>
                <a:sym typeface="+mn-ea"/>
              </a:rPr>
              <a:t>.</a:t>
            </a:r>
            <a:r>
              <a:rPr lang="en-US" altLang="zh-CN" sz="2800">
                <a:latin typeface="Times New Roman" panose="02020603050405020304" charset="0"/>
                <a:cs typeface="Times New Roman" panose="02020603050405020304" charset="0"/>
                <a:sym typeface="+mn-ea"/>
              </a:rPr>
              <a:t> Coclusions and Recommendations</a:t>
            </a:r>
            <a:endParaRPr lang="en-US" altLang="zh-CN" sz="2800" i="1">
              <a:solidFill>
                <a:schemeClr val="tx1"/>
              </a:solidFill>
              <a:latin typeface="Times New Roman" panose="02020603050405020304" charset="0"/>
              <a:cs typeface="Times New Roman" panose="02020603050405020304" charset="0"/>
              <a:sym typeface="+mn-ea"/>
            </a:endParaRPr>
          </a:p>
        </p:txBody>
      </p:sp>
      <p:sp>
        <p:nvSpPr>
          <p:cNvPr id="3" name="内容占位符 2"/>
          <p:cNvSpPr>
            <a:spLocks noGrp="1"/>
          </p:cNvSpPr>
          <p:nvPr>
            <p:ph idx="1"/>
          </p:nvPr>
        </p:nvSpPr>
        <p:spPr>
          <a:xfrm>
            <a:off x="838200" y="1557020"/>
            <a:ext cx="10938510" cy="4850765"/>
          </a:xfrm>
          <a:ln w="28575">
            <a:solidFill>
              <a:schemeClr val="accent2">
                <a:lumMod val="75000"/>
              </a:schemeClr>
            </a:solidFill>
          </a:ln>
        </p:spPr>
        <p:txBody>
          <a:bodyPr>
            <a:normAutofit fontScale="92500"/>
          </a:bodyPr>
          <a:lstStyle/>
          <a:p>
            <a:pPr marL="0" indent="0" fontAlgn="auto">
              <a:lnSpc>
                <a:spcPct val="150000"/>
              </a:lnSpc>
              <a:spcBef>
                <a:spcPts val="0"/>
              </a:spcBef>
              <a:buNone/>
            </a:pPr>
            <a:r>
              <a:rPr lang="en-US" altLang="zh-CN">
                <a:latin typeface="Times New Roman" panose="02020603050405020304" charset="0"/>
                <a:cs typeface="Times New Roman" panose="02020603050405020304" charset="0"/>
                <a:sym typeface="+mn-ea"/>
              </a:rPr>
              <a:t>--The conclusion is a highly condensed summary of the paper, not a simple list of the research results, but rather reasonable inferences. It tests the author’s comprehensive ability, theoretical skills and logical thinking ability.</a:t>
            </a:r>
          </a:p>
          <a:p>
            <a:pPr marL="0" indent="0" fontAlgn="auto">
              <a:lnSpc>
                <a:spcPct val="150000"/>
              </a:lnSpc>
              <a:spcBef>
                <a:spcPts val="0"/>
              </a:spcBef>
              <a:buNone/>
            </a:pPr>
            <a:r>
              <a:rPr lang="en-US" altLang="zh-CN">
                <a:latin typeface="Times New Roman" panose="02020603050405020304" charset="0"/>
                <a:cs typeface="Times New Roman" panose="02020603050405020304" charset="0"/>
                <a:sym typeface="+mn-ea"/>
              </a:rPr>
              <a:t>--Recommendations often discuss the subject of further study, research programs, future prospects and directions.</a:t>
            </a:r>
            <a:endParaRPr lang="en-US" altLang="zh-CN">
              <a:solidFill>
                <a:schemeClr val="tx1"/>
              </a:solidFill>
              <a:latin typeface="Times New Roman" panose="02020603050405020304" charset="0"/>
              <a:cs typeface="Times New Roman" panose="02020603050405020304" charset="0"/>
              <a:sym typeface="+mn-ea"/>
            </a:endParaRPr>
          </a:p>
          <a:p>
            <a:pPr marL="0" indent="0" fontAlgn="auto">
              <a:lnSpc>
                <a:spcPct val="150000"/>
              </a:lnSpc>
              <a:spcBef>
                <a:spcPts val="0"/>
              </a:spcBef>
              <a:buNone/>
            </a:pPr>
            <a:r>
              <a:rPr lang="en-US" altLang="zh-CN">
                <a:latin typeface="Times New Roman" panose="02020603050405020304" charset="0"/>
                <a:cs typeface="Times New Roman" panose="02020603050405020304" charset="0"/>
                <a:sym typeface="+mn-ea"/>
              </a:rPr>
              <a:t>--Conclusions are useful insights drawn from the study; recommendations are further research projects based on the study.</a:t>
            </a:r>
            <a:endParaRPr lang="en-US" altLang="zh-CN">
              <a:solidFill>
                <a:schemeClr val="tx1"/>
              </a:solidFill>
              <a:latin typeface="Times New Roman" panose="02020603050405020304" charset="0"/>
              <a:cs typeface="Times New Roman" panose="02020603050405020304" charset="0"/>
              <a:sym typeface="+mn-ea"/>
            </a:endParaRPr>
          </a:p>
          <a:p>
            <a:pPr marL="0" indent="0" fontAlgn="auto">
              <a:lnSpc>
                <a:spcPct val="150000"/>
              </a:lnSpc>
              <a:spcBef>
                <a:spcPts val="0"/>
              </a:spcBef>
              <a:buNone/>
            </a:pPr>
            <a:endParaRPr lang="en-US" altLang="zh-CN">
              <a:solidFill>
                <a:schemeClr val="tx1"/>
              </a:solidFill>
              <a:latin typeface="Times New Roman" panose="02020603050405020304" charset="0"/>
              <a:cs typeface="Times New Roman" panose="02020603050405020304" charset="0"/>
              <a:sym typeface="+mn-ea"/>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6</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11" name="矩形 10"/>
          <p:cNvSpPr/>
          <p:nvPr>
            <p:custDataLst>
              <p:tags r:id="rId4"/>
            </p:custDataLst>
          </p:nvPr>
        </p:nvSpPr>
        <p:spPr>
          <a:xfrm>
            <a:off x="8723630" y="626110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Chapter 6 Plagiarism</a:t>
            </a:r>
          </a:p>
        </p:txBody>
      </p:sp>
      <p:sp>
        <p:nvSpPr>
          <p:cNvPr id="13" name="文本框 12"/>
          <p:cNvSpPr txBox="1"/>
          <p:nvPr/>
        </p:nvSpPr>
        <p:spPr>
          <a:xfrm>
            <a:off x="6430645" y="216535"/>
            <a:ext cx="4064000" cy="368300"/>
          </a:xfrm>
          <a:prstGeom prst="rect">
            <a:avLst/>
          </a:prstGeom>
          <a:noFill/>
        </p:spPr>
        <p:txBody>
          <a:bodyPr wrap="square" rtlCol="0">
            <a:spAutoFit/>
          </a:bodyPr>
          <a:lstStyle/>
          <a:p>
            <a:endParaRPr lang="zh-CN" alt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fontScale="90000"/>
          </a:bodyPr>
          <a:lstStyle/>
          <a:p>
            <a:r>
              <a:rPr lang="zh-CN" altLang="en-US" sz="2800" b="1" i="1">
                <a:latin typeface="Times New Roman" panose="02020603050405020304" charset="0"/>
                <a:cs typeface="Times New Roman" panose="02020603050405020304" charset="0"/>
                <a:sym typeface="+mn-ea"/>
              </a:rPr>
              <a:t>Writing the First Draft</a:t>
            </a:r>
            <a:r>
              <a:rPr lang="en-US" altLang="zh-CN" sz="2800" b="1" i="1">
                <a:latin typeface="Times New Roman" panose="02020603050405020304" charset="0"/>
                <a:cs typeface="Times New Roman" panose="02020603050405020304" charset="0"/>
                <a:sym typeface="+mn-ea"/>
              </a:rPr>
              <a:t>-- </a:t>
            </a:r>
            <a:r>
              <a:rPr lang="en-US" altLang="zh-CN" sz="2800" b="1" i="1">
                <a:solidFill>
                  <a:schemeClr val="accent2">
                    <a:lumMod val="75000"/>
                  </a:schemeClr>
                </a:solidFill>
                <a:latin typeface="Times New Roman" panose="02020603050405020304" charset="0"/>
                <a:cs typeface="Times New Roman" panose="02020603050405020304" charset="0"/>
                <a:sym typeface="+mn-ea"/>
              </a:rPr>
              <a:t>4.</a:t>
            </a:r>
            <a:r>
              <a:rPr lang="en-US" altLang="zh-CN" sz="2800">
                <a:solidFill>
                  <a:schemeClr val="accent2">
                    <a:lumMod val="75000"/>
                  </a:schemeClr>
                </a:solidFill>
                <a:latin typeface="Times New Roman" panose="02020603050405020304" charset="0"/>
                <a:cs typeface="Times New Roman" panose="02020603050405020304" charset="0"/>
                <a:sym typeface="+mn-ea"/>
              </a:rPr>
              <a:t> </a:t>
            </a:r>
            <a:r>
              <a:rPr lang="en-US" altLang="zh-CN" sz="2800">
                <a:latin typeface="Times New Roman" panose="02020603050405020304" charset="0"/>
                <a:cs typeface="Times New Roman" panose="02020603050405020304" charset="0"/>
                <a:sym typeface="+mn-ea"/>
              </a:rPr>
              <a:t>Coclusions and Recommendations</a:t>
            </a:r>
            <a:endParaRPr lang="en-US" altLang="zh-CN" sz="2800" i="1">
              <a:solidFill>
                <a:schemeClr val="tx1"/>
              </a:solidFill>
              <a:latin typeface="Times New Roman" panose="02020603050405020304" charset="0"/>
              <a:cs typeface="Times New Roman" panose="02020603050405020304" charset="0"/>
              <a:sym typeface="+mn-ea"/>
            </a:endParaRPr>
          </a:p>
        </p:txBody>
      </p:sp>
      <p:sp>
        <p:nvSpPr>
          <p:cNvPr id="3" name="内容占位符 2"/>
          <p:cNvSpPr>
            <a:spLocks noGrp="1"/>
          </p:cNvSpPr>
          <p:nvPr>
            <p:ph idx="1"/>
          </p:nvPr>
        </p:nvSpPr>
        <p:spPr>
          <a:xfrm>
            <a:off x="838200" y="1557020"/>
            <a:ext cx="10938510" cy="4850765"/>
          </a:xfrm>
          <a:ln w="28575">
            <a:solidFill>
              <a:schemeClr val="accent2">
                <a:lumMod val="75000"/>
              </a:schemeClr>
            </a:solidFill>
          </a:ln>
        </p:spPr>
        <p:txBody>
          <a:bodyPr>
            <a:normAutofit fontScale="90000" lnSpcReduction="10000"/>
          </a:bodyPr>
          <a:lstStyle/>
          <a:p>
            <a:pPr marL="0" indent="0" algn="l" fontAlgn="auto">
              <a:lnSpc>
                <a:spcPct val="150000"/>
              </a:lnSpc>
              <a:spcBef>
                <a:spcPts val="0"/>
              </a:spcBef>
              <a:buNone/>
            </a:pPr>
            <a:r>
              <a:rPr lang="en-US" altLang="zh-CN">
                <a:solidFill>
                  <a:schemeClr val="accent2">
                    <a:lumMod val="75000"/>
                  </a:schemeClr>
                </a:solidFill>
                <a:latin typeface="Times New Roman" panose="02020603050405020304" charset="0"/>
                <a:cs typeface="Times New Roman" panose="02020603050405020304" charset="0"/>
                <a:sym typeface="+mn-ea"/>
              </a:rPr>
              <a:t>e.g.</a:t>
            </a:r>
          </a:p>
          <a:p>
            <a:pPr marL="0" indent="0" algn="l" fontAlgn="auto">
              <a:lnSpc>
                <a:spcPct val="150000"/>
              </a:lnSpc>
              <a:spcBef>
                <a:spcPts val="0"/>
              </a:spcBef>
              <a:buNone/>
            </a:pPr>
            <a:r>
              <a:rPr lang="en-US" altLang="zh-CN">
                <a:solidFill>
                  <a:schemeClr val="tx1"/>
                </a:solidFill>
                <a:latin typeface="Times New Roman" panose="02020603050405020304" charset="0"/>
                <a:cs typeface="Times New Roman" panose="02020603050405020304" charset="0"/>
                <a:sym typeface="+mn-ea"/>
              </a:rPr>
              <a:t>In conclusion,the result shows that...</a:t>
            </a:r>
          </a:p>
          <a:p>
            <a:pPr marL="0" indent="0" algn="l" fontAlgn="auto">
              <a:lnSpc>
                <a:spcPct val="150000"/>
              </a:lnSpc>
              <a:spcBef>
                <a:spcPts val="0"/>
              </a:spcBef>
              <a:buNone/>
            </a:pPr>
            <a:r>
              <a:rPr lang="en-US" altLang="zh-CN">
                <a:solidFill>
                  <a:schemeClr val="tx1"/>
                </a:solidFill>
                <a:latin typeface="Times New Roman" panose="02020603050405020304" charset="0"/>
                <a:cs typeface="Times New Roman" panose="02020603050405020304" charset="0"/>
                <a:sym typeface="+mn-ea"/>
              </a:rPr>
              <a:t>To sum up, we have revealed that.</a:t>
            </a:r>
          </a:p>
          <a:p>
            <a:pPr marL="0" indent="0" algn="l" fontAlgn="auto">
              <a:lnSpc>
                <a:spcPct val="150000"/>
              </a:lnSpc>
              <a:spcBef>
                <a:spcPts val="0"/>
              </a:spcBef>
              <a:buNone/>
            </a:pPr>
            <a:r>
              <a:rPr lang="en-US" altLang="zh-CN">
                <a:solidFill>
                  <a:schemeClr val="tx1"/>
                </a:solidFill>
                <a:latin typeface="Times New Roman" panose="02020603050405020304" charset="0"/>
                <a:cs typeface="Times New Roman" panose="02020603050405020304" charset="0"/>
                <a:sym typeface="+mn-ea"/>
              </a:rPr>
              <a:t>Finally, a summary is given of...</a:t>
            </a:r>
          </a:p>
          <a:p>
            <a:pPr marL="0" indent="0" algn="l" fontAlgn="auto">
              <a:lnSpc>
                <a:spcPct val="150000"/>
              </a:lnSpc>
              <a:spcBef>
                <a:spcPts val="0"/>
              </a:spcBef>
              <a:buNone/>
            </a:pPr>
            <a:r>
              <a:rPr lang="en-US" altLang="zh-CN">
                <a:solidFill>
                  <a:schemeClr val="tx1"/>
                </a:solidFill>
                <a:latin typeface="Times New Roman" panose="02020603050405020304" charset="0"/>
                <a:cs typeface="Times New Roman" panose="02020603050405020304" charset="0"/>
                <a:sym typeface="+mn-ea"/>
              </a:rPr>
              <a:t>We have demonstrated in this paper that...</a:t>
            </a:r>
          </a:p>
          <a:p>
            <a:pPr marL="0" indent="0" algn="l" fontAlgn="auto">
              <a:lnSpc>
                <a:spcPct val="150000"/>
              </a:lnSpc>
              <a:spcBef>
                <a:spcPts val="0"/>
              </a:spcBef>
              <a:buNone/>
            </a:pPr>
            <a:r>
              <a:rPr lang="en-US" altLang="zh-CN">
                <a:solidFill>
                  <a:schemeClr val="tx1"/>
                </a:solidFill>
                <a:latin typeface="Times New Roman" panose="02020603050405020304" charset="0"/>
                <a:cs typeface="Times New Roman" panose="02020603050405020304" charset="0"/>
                <a:sym typeface="+mn-ea"/>
              </a:rPr>
              <a:t>The results of the experiment indicate that.</a:t>
            </a:r>
          </a:p>
          <a:p>
            <a:pPr marL="0" indent="0" algn="l" fontAlgn="auto">
              <a:lnSpc>
                <a:spcPct val="150000"/>
              </a:lnSpc>
              <a:spcBef>
                <a:spcPts val="0"/>
              </a:spcBef>
              <a:buNone/>
            </a:pPr>
            <a:r>
              <a:rPr lang="en-US" altLang="zh-CN">
                <a:solidFill>
                  <a:schemeClr val="tx1"/>
                </a:solidFill>
                <a:latin typeface="Times New Roman" panose="02020603050405020304" charset="0"/>
                <a:cs typeface="Times New Roman" panose="02020603050405020304" charset="0"/>
                <a:sym typeface="+mn-ea"/>
              </a:rPr>
              <a:t>In this paper, we have described/discussed/found that..</a:t>
            </a:r>
          </a:p>
          <a:p>
            <a:pPr marL="0" indent="0" algn="l" fontAlgn="auto">
              <a:lnSpc>
                <a:spcPct val="150000"/>
              </a:lnSpc>
              <a:spcBef>
                <a:spcPts val="0"/>
              </a:spcBef>
              <a:buNone/>
            </a:pPr>
            <a:r>
              <a:rPr lang="en-US" altLang="zh-CN">
                <a:solidFill>
                  <a:schemeClr val="tx1"/>
                </a:solidFill>
                <a:latin typeface="Times New Roman" panose="02020603050405020304" charset="0"/>
                <a:cs typeface="Times New Roman" panose="02020603050405020304" charset="0"/>
                <a:sym typeface="+mn-ea"/>
              </a:rPr>
              <a:t>These findings of the research have led the author to the conclusion that.</a:t>
            </a:r>
          </a:p>
          <a:p>
            <a:pPr marL="0" indent="0" algn="l" fontAlgn="auto">
              <a:lnSpc>
                <a:spcPct val="150000"/>
              </a:lnSpc>
              <a:spcBef>
                <a:spcPts val="0"/>
              </a:spcBef>
              <a:buNone/>
            </a:pPr>
            <a:r>
              <a:rPr lang="en-US" altLang="zh-CN">
                <a:solidFill>
                  <a:schemeClr val="tx1"/>
                </a:solidFill>
                <a:latin typeface="Times New Roman" panose="02020603050405020304" charset="0"/>
                <a:cs typeface="Times New Roman" panose="02020603050405020304" charset="0"/>
                <a:sym typeface="+mn-ea"/>
              </a:rPr>
              <a:t>On the basis of..., the following conclusions can be drawn...</a:t>
            </a: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6</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11" name="矩形 10"/>
          <p:cNvSpPr/>
          <p:nvPr>
            <p:custDataLst>
              <p:tags r:id="rId4"/>
            </p:custDataLst>
          </p:nvPr>
        </p:nvSpPr>
        <p:spPr>
          <a:xfrm>
            <a:off x="8723630" y="626110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Chapter 6 Plagiarism</a:t>
            </a:r>
          </a:p>
        </p:txBody>
      </p:sp>
      <p:sp>
        <p:nvSpPr>
          <p:cNvPr id="13" name="文本框 12"/>
          <p:cNvSpPr txBox="1"/>
          <p:nvPr/>
        </p:nvSpPr>
        <p:spPr>
          <a:xfrm>
            <a:off x="6430645" y="216535"/>
            <a:ext cx="4064000" cy="368300"/>
          </a:xfrm>
          <a:prstGeom prst="rect">
            <a:avLst/>
          </a:prstGeom>
          <a:noFill/>
        </p:spPr>
        <p:txBody>
          <a:bodyPr wrap="square" rtlCol="0">
            <a:spAutoFit/>
          </a:bodyPr>
          <a:lstStyle/>
          <a:p>
            <a:endParaRPr lang="zh-CN" alt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fontScale="90000"/>
          </a:bodyPr>
          <a:lstStyle/>
          <a:p>
            <a:r>
              <a:rPr lang="zh-CN" altLang="en-US" sz="2800" b="1" i="1">
                <a:latin typeface="Times New Roman" panose="02020603050405020304" charset="0"/>
                <a:cs typeface="Times New Roman" panose="02020603050405020304" charset="0"/>
                <a:sym typeface="+mn-ea"/>
              </a:rPr>
              <a:t>Writing the First Draft</a:t>
            </a:r>
            <a:r>
              <a:rPr lang="en-US" altLang="zh-CN" sz="2800" b="1" i="1">
                <a:latin typeface="Times New Roman" panose="02020603050405020304" charset="0"/>
                <a:cs typeface="Times New Roman" panose="02020603050405020304" charset="0"/>
                <a:sym typeface="+mn-ea"/>
              </a:rPr>
              <a:t>-- </a:t>
            </a:r>
            <a:r>
              <a:rPr lang="en-US" altLang="zh-CN" sz="2800" b="1" i="1">
                <a:solidFill>
                  <a:schemeClr val="accent2">
                    <a:lumMod val="75000"/>
                  </a:schemeClr>
                </a:solidFill>
                <a:latin typeface="Times New Roman" panose="02020603050405020304" charset="0"/>
                <a:cs typeface="Times New Roman" panose="02020603050405020304" charset="0"/>
                <a:sym typeface="+mn-ea"/>
              </a:rPr>
              <a:t>4.</a:t>
            </a:r>
            <a:r>
              <a:rPr lang="en-US" altLang="zh-CN" sz="2800">
                <a:solidFill>
                  <a:schemeClr val="accent2">
                    <a:lumMod val="75000"/>
                  </a:schemeClr>
                </a:solidFill>
                <a:latin typeface="Times New Roman" panose="02020603050405020304" charset="0"/>
                <a:cs typeface="Times New Roman" panose="02020603050405020304" charset="0"/>
                <a:sym typeface="+mn-ea"/>
              </a:rPr>
              <a:t> </a:t>
            </a:r>
            <a:r>
              <a:rPr lang="en-US" altLang="zh-CN" sz="2800">
                <a:latin typeface="Times New Roman" panose="02020603050405020304" charset="0"/>
                <a:cs typeface="Times New Roman" panose="02020603050405020304" charset="0"/>
                <a:sym typeface="+mn-ea"/>
              </a:rPr>
              <a:t>Coclusions and Recommendations</a:t>
            </a:r>
            <a:endParaRPr lang="en-US" altLang="zh-CN" sz="2800" i="1">
              <a:solidFill>
                <a:schemeClr val="tx1"/>
              </a:solidFill>
              <a:latin typeface="Times New Roman" panose="02020603050405020304" charset="0"/>
              <a:cs typeface="Times New Roman" panose="02020603050405020304" charset="0"/>
              <a:sym typeface="+mn-ea"/>
            </a:endParaRPr>
          </a:p>
        </p:txBody>
      </p:sp>
      <p:sp>
        <p:nvSpPr>
          <p:cNvPr id="3" name="内容占位符 2"/>
          <p:cNvSpPr>
            <a:spLocks noGrp="1"/>
          </p:cNvSpPr>
          <p:nvPr>
            <p:ph idx="1"/>
          </p:nvPr>
        </p:nvSpPr>
        <p:spPr>
          <a:xfrm>
            <a:off x="838200" y="1557020"/>
            <a:ext cx="10938510" cy="4850765"/>
          </a:xfrm>
          <a:ln w="28575">
            <a:solidFill>
              <a:schemeClr val="accent2">
                <a:lumMod val="75000"/>
              </a:schemeClr>
            </a:solidFill>
          </a:ln>
        </p:spPr>
        <p:txBody>
          <a:bodyPr>
            <a:normAutofit/>
          </a:bodyPr>
          <a:lstStyle/>
          <a:p>
            <a:pPr marL="0" indent="0" algn="l" fontAlgn="auto">
              <a:lnSpc>
                <a:spcPct val="150000"/>
              </a:lnSpc>
              <a:spcBef>
                <a:spcPts val="0"/>
              </a:spcBef>
              <a:buNone/>
            </a:pPr>
            <a:r>
              <a:rPr lang="en-US" altLang="zh-CN">
                <a:solidFill>
                  <a:schemeClr val="tx1"/>
                </a:solidFill>
                <a:latin typeface="Times New Roman" panose="02020603050405020304" charset="0"/>
                <a:cs typeface="Times New Roman" panose="02020603050405020304" charset="0"/>
                <a:sym typeface="+mn-ea"/>
              </a:rPr>
              <a:t>There are three main types of conclusions:</a:t>
            </a:r>
          </a:p>
          <a:p>
            <a:pPr marL="0" indent="0" algn="l" fontAlgn="auto">
              <a:lnSpc>
                <a:spcPct val="150000"/>
              </a:lnSpc>
              <a:spcBef>
                <a:spcPts val="0"/>
              </a:spcBef>
            </a:pPr>
            <a:r>
              <a:rPr lang="en-US" altLang="zh-CN">
                <a:solidFill>
                  <a:schemeClr val="tx1"/>
                </a:solidFill>
                <a:latin typeface="Times New Roman" panose="02020603050405020304" charset="0"/>
                <a:cs typeface="Times New Roman" panose="02020603050405020304" charset="0"/>
                <a:sym typeface="+mn-ea"/>
              </a:rPr>
              <a:t> Summary</a:t>
            </a:r>
          </a:p>
          <a:p>
            <a:pPr marL="0" indent="0" algn="l" fontAlgn="auto">
              <a:lnSpc>
                <a:spcPct val="150000"/>
              </a:lnSpc>
              <a:spcBef>
                <a:spcPts val="0"/>
              </a:spcBef>
            </a:pPr>
            <a:r>
              <a:rPr lang="en-US" altLang="zh-CN">
                <a:solidFill>
                  <a:schemeClr val="tx1"/>
                </a:solidFill>
                <a:latin typeface="Times New Roman" panose="02020603050405020304" charset="0"/>
                <a:cs typeface="Times New Roman" panose="02020603050405020304" charset="0"/>
                <a:sym typeface="+mn-ea"/>
              </a:rPr>
              <a:t> Evaluation</a:t>
            </a:r>
          </a:p>
          <a:p>
            <a:pPr marL="0" indent="0" algn="l" fontAlgn="auto">
              <a:lnSpc>
                <a:spcPct val="150000"/>
              </a:lnSpc>
              <a:spcBef>
                <a:spcPts val="0"/>
              </a:spcBef>
            </a:pPr>
            <a:r>
              <a:rPr lang="en-US" altLang="zh-CN">
                <a:solidFill>
                  <a:schemeClr val="tx1"/>
                </a:solidFill>
                <a:latin typeface="Times New Roman" panose="02020603050405020304" charset="0"/>
                <a:cs typeface="Times New Roman" panose="02020603050405020304" charset="0"/>
                <a:sym typeface="+mn-ea"/>
              </a:rPr>
              <a:t> Recommendation</a:t>
            </a: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6</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11" name="矩形 10"/>
          <p:cNvSpPr/>
          <p:nvPr>
            <p:custDataLst>
              <p:tags r:id="rId4"/>
            </p:custDataLst>
          </p:nvPr>
        </p:nvSpPr>
        <p:spPr>
          <a:xfrm>
            <a:off x="8723630" y="626110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Chapter 6 Plagiarism</a:t>
            </a:r>
          </a:p>
        </p:txBody>
      </p:sp>
      <p:sp>
        <p:nvSpPr>
          <p:cNvPr id="13" name="文本框 12"/>
          <p:cNvSpPr txBox="1"/>
          <p:nvPr/>
        </p:nvSpPr>
        <p:spPr>
          <a:xfrm>
            <a:off x="6430645" y="216535"/>
            <a:ext cx="4064000" cy="368300"/>
          </a:xfrm>
          <a:prstGeom prst="rect">
            <a:avLst/>
          </a:prstGeom>
          <a:noFill/>
        </p:spPr>
        <p:txBody>
          <a:bodyPr wrap="square" rtlCol="0">
            <a:spAutoFit/>
          </a:bodyPr>
          <a:lstStyle/>
          <a:p>
            <a:endParaRPr lang="zh-CN" alt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fontScale="90000"/>
          </a:bodyPr>
          <a:lstStyle/>
          <a:p>
            <a:r>
              <a:rPr lang="zh-CN" altLang="en-US" sz="2800" b="1" i="1">
                <a:latin typeface="Times New Roman" panose="02020603050405020304" charset="0"/>
                <a:cs typeface="Times New Roman" panose="02020603050405020304" charset="0"/>
                <a:sym typeface="+mn-ea"/>
              </a:rPr>
              <a:t>Writing the First Draft</a:t>
            </a:r>
            <a:r>
              <a:rPr lang="en-US" altLang="zh-CN" sz="2800" b="1" i="1">
                <a:latin typeface="Times New Roman" panose="02020603050405020304" charset="0"/>
                <a:cs typeface="Times New Roman" panose="02020603050405020304" charset="0"/>
                <a:sym typeface="+mn-ea"/>
              </a:rPr>
              <a:t>-- </a:t>
            </a:r>
            <a:r>
              <a:rPr lang="en-US" altLang="zh-CN" sz="2800" b="1" i="1">
                <a:solidFill>
                  <a:schemeClr val="accent2">
                    <a:lumMod val="75000"/>
                  </a:schemeClr>
                </a:solidFill>
                <a:latin typeface="Times New Roman" panose="02020603050405020304" charset="0"/>
                <a:cs typeface="Times New Roman" panose="02020603050405020304" charset="0"/>
                <a:sym typeface="+mn-ea"/>
              </a:rPr>
              <a:t>4.</a:t>
            </a:r>
            <a:r>
              <a:rPr lang="en-US" altLang="zh-CN" sz="2800">
                <a:solidFill>
                  <a:schemeClr val="accent2">
                    <a:lumMod val="75000"/>
                  </a:schemeClr>
                </a:solidFill>
                <a:latin typeface="Times New Roman" panose="02020603050405020304" charset="0"/>
                <a:cs typeface="Times New Roman" panose="02020603050405020304" charset="0"/>
                <a:sym typeface="+mn-ea"/>
              </a:rPr>
              <a:t> </a:t>
            </a:r>
            <a:r>
              <a:rPr lang="en-US" altLang="zh-CN" sz="2800">
                <a:latin typeface="Times New Roman" panose="02020603050405020304" charset="0"/>
                <a:cs typeface="Times New Roman" panose="02020603050405020304" charset="0"/>
                <a:sym typeface="+mn-ea"/>
              </a:rPr>
              <a:t>Coclusions and Recommendations</a:t>
            </a:r>
            <a:endParaRPr lang="en-US" altLang="zh-CN" sz="2800" i="1">
              <a:solidFill>
                <a:schemeClr val="tx1"/>
              </a:solidFill>
              <a:latin typeface="Times New Roman" panose="02020603050405020304" charset="0"/>
              <a:cs typeface="Times New Roman" panose="02020603050405020304" charset="0"/>
              <a:sym typeface="+mn-ea"/>
            </a:endParaRPr>
          </a:p>
        </p:txBody>
      </p:sp>
      <p:sp>
        <p:nvSpPr>
          <p:cNvPr id="3" name="内容占位符 2"/>
          <p:cNvSpPr>
            <a:spLocks noGrp="1"/>
          </p:cNvSpPr>
          <p:nvPr>
            <p:ph idx="1"/>
          </p:nvPr>
        </p:nvSpPr>
        <p:spPr>
          <a:xfrm>
            <a:off x="838200" y="1557020"/>
            <a:ext cx="10938510" cy="4850765"/>
          </a:xfrm>
          <a:ln w="28575">
            <a:solidFill>
              <a:schemeClr val="accent2">
                <a:lumMod val="75000"/>
              </a:schemeClr>
            </a:solidFill>
          </a:ln>
        </p:spPr>
        <p:txBody>
          <a:bodyPr>
            <a:normAutofit/>
          </a:bodyPr>
          <a:lstStyle/>
          <a:p>
            <a:pPr marL="0" indent="0" algn="l" fontAlgn="auto">
              <a:lnSpc>
                <a:spcPct val="150000"/>
              </a:lnSpc>
              <a:spcBef>
                <a:spcPts val="0"/>
              </a:spcBef>
              <a:buNone/>
            </a:pPr>
            <a:r>
              <a:rPr lang="en-US" altLang="zh-CN">
                <a:solidFill>
                  <a:schemeClr val="accent2">
                    <a:lumMod val="75000"/>
                  </a:schemeClr>
                </a:solidFill>
                <a:latin typeface="Times New Roman" panose="02020603050405020304" charset="0"/>
                <a:cs typeface="Times New Roman" panose="02020603050405020304" charset="0"/>
                <a:sym typeface="+mn-ea"/>
              </a:rPr>
              <a:t>The summary type conclusion</a:t>
            </a:r>
            <a:r>
              <a:rPr lang="en-US" altLang="zh-CN">
                <a:solidFill>
                  <a:schemeClr val="tx1"/>
                </a:solidFill>
                <a:latin typeface="Times New Roman" panose="02020603050405020304" charset="0"/>
                <a:cs typeface="Times New Roman" panose="02020603050405020304" charset="0"/>
                <a:sym typeface="+mn-ea"/>
              </a:rPr>
              <a:t> summarizes the main contents of the paper, clarifies once again the central idea, or stresses the research and its results. From a writing point of view, it echoes the theme of the paper in the introduction by repeating and re-emphasizing it at the end of the paper. </a:t>
            </a: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6</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11" name="矩形 10"/>
          <p:cNvSpPr/>
          <p:nvPr>
            <p:custDataLst>
              <p:tags r:id="rId4"/>
            </p:custDataLst>
          </p:nvPr>
        </p:nvSpPr>
        <p:spPr>
          <a:xfrm>
            <a:off x="8723630" y="626110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Chapter 6 Plagiarism</a:t>
            </a:r>
          </a:p>
        </p:txBody>
      </p:sp>
      <p:sp>
        <p:nvSpPr>
          <p:cNvPr id="13" name="文本框 12"/>
          <p:cNvSpPr txBox="1"/>
          <p:nvPr/>
        </p:nvSpPr>
        <p:spPr>
          <a:xfrm>
            <a:off x="6430645" y="216535"/>
            <a:ext cx="4064000" cy="368300"/>
          </a:xfrm>
          <a:prstGeom prst="rect">
            <a:avLst/>
          </a:prstGeom>
          <a:noFill/>
        </p:spPr>
        <p:txBody>
          <a:bodyPr wrap="square" rtlCol="0">
            <a:spAutoFit/>
          </a:bodyPr>
          <a:lstStyle/>
          <a:p>
            <a:endParaRPr lang="zh-CN" alt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fontScale="90000"/>
          </a:bodyPr>
          <a:lstStyle/>
          <a:p>
            <a:r>
              <a:rPr lang="zh-CN" altLang="en-US" sz="2800" b="1" i="1">
                <a:latin typeface="Times New Roman" panose="02020603050405020304" charset="0"/>
                <a:cs typeface="Times New Roman" panose="02020603050405020304" charset="0"/>
                <a:sym typeface="+mn-ea"/>
              </a:rPr>
              <a:t>Writing the First Draft</a:t>
            </a:r>
            <a:r>
              <a:rPr lang="en-US" altLang="zh-CN" sz="2800" b="1" i="1">
                <a:latin typeface="Times New Roman" panose="02020603050405020304" charset="0"/>
                <a:cs typeface="Times New Roman" panose="02020603050405020304" charset="0"/>
                <a:sym typeface="+mn-ea"/>
              </a:rPr>
              <a:t>-- </a:t>
            </a:r>
            <a:r>
              <a:rPr lang="en-US" altLang="zh-CN" sz="2800" b="1" i="1">
                <a:solidFill>
                  <a:schemeClr val="accent2">
                    <a:lumMod val="75000"/>
                  </a:schemeClr>
                </a:solidFill>
                <a:latin typeface="Times New Roman" panose="02020603050405020304" charset="0"/>
                <a:cs typeface="Times New Roman" panose="02020603050405020304" charset="0"/>
                <a:sym typeface="+mn-ea"/>
              </a:rPr>
              <a:t>4.</a:t>
            </a:r>
            <a:r>
              <a:rPr lang="en-US" altLang="zh-CN" sz="2800">
                <a:solidFill>
                  <a:schemeClr val="accent2">
                    <a:lumMod val="75000"/>
                  </a:schemeClr>
                </a:solidFill>
                <a:latin typeface="Times New Roman" panose="02020603050405020304" charset="0"/>
                <a:cs typeface="Times New Roman" panose="02020603050405020304" charset="0"/>
                <a:sym typeface="+mn-ea"/>
              </a:rPr>
              <a:t> </a:t>
            </a:r>
            <a:r>
              <a:rPr lang="en-US" altLang="zh-CN" sz="2800">
                <a:latin typeface="Times New Roman" panose="02020603050405020304" charset="0"/>
                <a:cs typeface="Times New Roman" panose="02020603050405020304" charset="0"/>
                <a:sym typeface="+mn-ea"/>
              </a:rPr>
              <a:t>Coclusions and Recommendations</a:t>
            </a:r>
            <a:endParaRPr lang="en-US" altLang="zh-CN" sz="2800" i="1">
              <a:solidFill>
                <a:schemeClr val="tx1"/>
              </a:solidFill>
              <a:latin typeface="Times New Roman" panose="02020603050405020304" charset="0"/>
              <a:cs typeface="Times New Roman" panose="02020603050405020304" charset="0"/>
              <a:sym typeface="+mn-ea"/>
            </a:endParaRPr>
          </a:p>
        </p:txBody>
      </p:sp>
      <p:sp>
        <p:nvSpPr>
          <p:cNvPr id="3" name="内容占位符 2"/>
          <p:cNvSpPr>
            <a:spLocks noGrp="1"/>
          </p:cNvSpPr>
          <p:nvPr>
            <p:ph idx="1"/>
          </p:nvPr>
        </p:nvSpPr>
        <p:spPr>
          <a:xfrm>
            <a:off x="838200" y="1557020"/>
            <a:ext cx="10938510" cy="4850765"/>
          </a:xfrm>
          <a:ln w="28575">
            <a:solidFill>
              <a:schemeClr val="accent2">
                <a:lumMod val="75000"/>
              </a:schemeClr>
            </a:solidFill>
          </a:ln>
        </p:spPr>
        <p:txBody>
          <a:bodyPr>
            <a:normAutofit/>
          </a:bodyPr>
          <a:lstStyle/>
          <a:p>
            <a:pPr marL="0" indent="0" algn="l" fontAlgn="auto">
              <a:lnSpc>
                <a:spcPct val="150000"/>
              </a:lnSpc>
              <a:spcBef>
                <a:spcPts val="0"/>
              </a:spcBef>
              <a:buNone/>
            </a:pPr>
            <a:endParaRPr lang="en-US" altLang="zh-CN">
              <a:solidFill>
                <a:schemeClr val="accent2">
                  <a:lumMod val="75000"/>
                </a:schemeClr>
              </a:solidFill>
              <a:latin typeface="Times New Roman" panose="02020603050405020304" charset="0"/>
              <a:cs typeface="Times New Roman" panose="02020603050405020304" charset="0"/>
              <a:sym typeface="+mn-ea"/>
            </a:endParaRPr>
          </a:p>
          <a:p>
            <a:pPr marL="0" indent="0" algn="l" fontAlgn="auto">
              <a:lnSpc>
                <a:spcPct val="150000"/>
              </a:lnSpc>
              <a:spcBef>
                <a:spcPts val="0"/>
              </a:spcBef>
              <a:buNone/>
            </a:pPr>
            <a:endParaRPr lang="en-US" altLang="zh-CN">
              <a:solidFill>
                <a:schemeClr val="accent2">
                  <a:lumMod val="75000"/>
                </a:schemeClr>
              </a:solidFill>
              <a:latin typeface="Times New Roman" panose="02020603050405020304" charset="0"/>
              <a:cs typeface="Times New Roman" panose="02020603050405020304" charset="0"/>
              <a:sym typeface="+mn-ea"/>
            </a:endParaRPr>
          </a:p>
          <a:p>
            <a:pPr marL="0" indent="0" algn="l" fontAlgn="auto">
              <a:lnSpc>
                <a:spcPct val="150000"/>
              </a:lnSpc>
              <a:spcBef>
                <a:spcPts val="0"/>
              </a:spcBef>
              <a:buNone/>
            </a:pPr>
            <a:r>
              <a:rPr lang="en-US" altLang="zh-CN">
                <a:solidFill>
                  <a:schemeClr val="accent2">
                    <a:lumMod val="75000"/>
                  </a:schemeClr>
                </a:solidFill>
                <a:latin typeface="Times New Roman" panose="02020603050405020304" charset="0"/>
                <a:cs typeface="Times New Roman" panose="02020603050405020304" charset="0"/>
                <a:sym typeface="+mn-ea"/>
              </a:rPr>
              <a:t>The evaluation type conclusion</a:t>
            </a:r>
            <a:r>
              <a:rPr lang="en-US" altLang="zh-CN">
                <a:solidFill>
                  <a:schemeClr val="tx1"/>
                </a:solidFill>
                <a:latin typeface="Times New Roman" panose="02020603050405020304" charset="0"/>
                <a:cs typeface="Times New Roman" panose="02020603050405020304" charset="0"/>
                <a:sym typeface="+mn-ea"/>
              </a:rPr>
              <a:t> is relatively simple, evaluating the findings and significance of the study. </a:t>
            </a: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6</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11" name="矩形 10"/>
          <p:cNvSpPr/>
          <p:nvPr>
            <p:custDataLst>
              <p:tags r:id="rId4"/>
            </p:custDataLst>
          </p:nvPr>
        </p:nvSpPr>
        <p:spPr>
          <a:xfrm>
            <a:off x="8723630" y="626110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Chapter 6 Plagiarism</a:t>
            </a:r>
          </a:p>
        </p:txBody>
      </p:sp>
      <p:sp>
        <p:nvSpPr>
          <p:cNvPr id="13" name="文本框 12"/>
          <p:cNvSpPr txBox="1"/>
          <p:nvPr/>
        </p:nvSpPr>
        <p:spPr>
          <a:xfrm>
            <a:off x="6430645" y="216535"/>
            <a:ext cx="4064000" cy="368300"/>
          </a:xfrm>
          <a:prstGeom prst="rect">
            <a:avLst/>
          </a:prstGeom>
          <a:noFill/>
        </p:spPr>
        <p:txBody>
          <a:bodyPr wrap="square" rtlCol="0">
            <a:spAutoFit/>
          </a:bodyPr>
          <a:lstStyle/>
          <a:p>
            <a:endParaRPr lang="zh-CN" alt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fontScale="90000"/>
          </a:bodyPr>
          <a:lstStyle/>
          <a:p>
            <a:r>
              <a:rPr lang="zh-CN" altLang="en-US" sz="2800" b="1" i="1">
                <a:latin typeface="Times New Roman" panose="02020603050405020304" charset="0"/>
                <a:cs typeface="Times New Roman" panose="02020603050405020304" charset="0"/>
                <a:sym typeface="+mn-ea"/>
              </a:rPr>
              <a:t>Writing the First Draft</a:t>
            </a:r>
            <a:r>
              <a:rPr lang="en-US" altLang="zh-CN" sz="2800" b="1" i="1">
                <a:latin typeface="Times New Roman" panose="02020603050405020304" charset="0"/>
                <a:cs typeface="Times New Roman" panose="02020603050405020304" charset="0"/>
                <a:sym typeface="+mn-ea"/>
              </a:rPr>
              <a:t>-- </a:t>
            </a:r>
            <a:r>
              <a:rPr lang="en-US" altLang="zh-CN" sz="2800" b="1" i="1">
                <a:solidFill>
                  <a:schemeClr val="accent2">
                    <a:lumMod val="75000"/>
                  </a:schemeClr>
                </a:solidFill>
                <a:latin typeface="Times New Roman" panose="02020603050405020304" charset="0"/>
                <a:cs typeface="Times New Roman" panose="02020603050405020304" charset="0"/>
                <a:sym typeface="+mn-ea"/>
              </a:rPr>
              <a:t>4.</a:t>
            </a:r>
            <a:r>
              <a:rPr lang="en-US" altLang="zh-CN" sz="2800">
                <a:solidFill>
                  <a:schemeClr val="accent2">
                    <a:lumMod val="75000"/>
                  </a:schemeClr>
                </a:solidFill>
                <a:latin typeface="Times New Roman" panose="02020603050405020304" charset="0"/>
                <a:cs typeface="Times New Roman" panose="02020603050405020304" charset="0"/>
                <a:sym typeface="+mn-ea"/>
              </a:rPr>
              <a:t> </a:t>
            </a:r>
            <a:r>
              <a:rPr lang="en-US" altLang="zh-CN" sz="2800">
                <a:latin typeface="Times New Roman" panose="02020603050405020304" charset="0"/>
                <a:cs typeface="Times New Roman" panose="02020603050405020304" charset="0"/>
                <a:sym typeface="+mn-ea"/>
              </a:rPr>
              <a:t>Coclusions and Recommendations</a:t>
            </a:r>
            <a:endParaRPr lang="en-US" altLang="zh-CN" sz="2800" i="1">
              <a:solidFill>
                <a:schemeClr val="tx1"/>
              </a:solidFill>
              <a:latin typeface="Times New Roman" panose="02020603050405020304" charset="0"/>
              <a:cs typeface="Times New Roman" panose="02020603050405020304" charset="0"/>
              <a:sym typeface="+mn-ea"/>
            </a:endParaRPr>
          </a:p>
        </p:txBody>
      </p:sp>
      <p:sp>
        <p:nvSpPr>
          <p:cNvPr id="3" name="内容占位符 2"/>
          <p:cNvSpPr>
            <a:spLocks noGrp="1"/>
          </p:cNvSpPr>
          <p:nvPr>
            <p:ph idx="1"/>
          </p:nvPr>
        </p:nvSpPr>
        <p:spPr>
          <a:xfrm>
            <a:off x="838200" y="1557020"/>
            <a:ext cx="10938510" cy="4850765"/>
          </a:xfrm>
          <a:ln w="28575">
            <a:solidFill>
              <a:schemeClr val="accent2">
                <a:lumMod val="75000"/>
              </a:schemeClr>
            </a:solidFill>
          </a:ln>
        </p:spPr>
        <p:txBody>
          <a:bodyPr>
            <a:normAutofit/>
          </a:bodyPr>
          <a:lstStyle/>
          <a:p>
            <a:pPr marL="0" indent="0" algn="l" fontAlgn="auto">
              <a:lnSpc>
                <a:spcPct val="150000"/>
              </a:lnSpc>
              <a:spcBef>
                <a:spcPts val="0"/>
              </a:spcBef>
              <a:buNone/>
            </a:pPr>
            <a:endParaRPr lang="en-US" altLang="zh-CN">
              <a:solidFill>
                <a:schemeClr val="accent2">
                  <a:lumMod val="75000"/>
                </a:schemeClr>
              </a:solidFill>
              <a:latin typeface="Times New Roman" panose="02020603050405020304" charset="0"/>
              <a:cs typeface="Times New Roman" panose="02020603050405020304" charset="0"/>
              <a:sym typeface="+mn-ea"/>
            </a:endParaRPr>
          </a:p>
          <a:p>
            <a:pPr marL="0" indent="0" algn="l" fontAlgn="auto">
              <a:lnSpc>
                <a:spcPct val="150000"/>
              </a:lnSpc>
              <a:spcBef>
                <a:spcPts val="0"/>
              </a:spcBef>
              <a:buNone/>
            </a:pPr>
            <a:endParaRPr lang="en-US" altLang="zh-CN">
              <a:solidFill>
                <a:schemeClr val="accent2">
                  <a:lumMod val="75000"/>
                </a:schemeClr>
              </a:solidFill>
              <a:latin typeface="Times New Roman" panose="02020603050405020304" charset="0"/>
              <a:cs typeface="Times New Roman" panose="02020603050405020304" charset="0"/>
              <a:sym typeface="+mn-ea"/>
            </a:endParaRPr>
          </a:p>
          <a:p>
            <a:pPr marL="0" indent="0" algn="l" fontAlgn="auto">
              <a:lnSpc>
                <a:spcPct val="150000"/>
              </a:lnSpc>
              <a:spcBef>
                <a:spcPts val="0"/>
              </a:spcBef>
              <a:buNone/>
            </a:pPr>
            <a:r>
              <a:rPr lang="en-US" altLang="zh-CN">
                <a:solidFill>
                  <a:schemeClr val="accent2">
                    <a:lumMod val="75000"/>
                  </a:schemeClr>
                </a:solidFill>
                <a:latin typeface="Times New Roman" panose="02020603050405020304" charset="0"/>
                <a:cs typeface="Times New Roman" panose="02020603050405020304" charset="0"/>
                <a:sym typeface="+mn-ea"/>
              </a:rPr>
              <a:t>The recommendation type conclusion</a:t>
            </a:r>
            <a:r>
              <a:rPr lang="en-US" altLang="zh-CN">
                <a:solidFill>
                  <a:schemeClr val="tx1"/>
                </a:solidFill>
                <a:latin typeface="Times New Roman" panose="02020603050405020304" charset="0"/>
                <a:cs typeface="Times New Roman" panose="02020603050405020304" charset="0"/>
                <a:sym typeface="+mn-ea"/>
              </a:rPr>
              <a:t> focuses on the inadequacies in the present study, further studies of the suject or suggestions for the use of reasearch result. </a:t>
            </a: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6</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11" name="矩形 10"/>
          <p:cNvSpPr/>
          <p:nvPr>
            <p:custDataLst>
              <p:tags r:id="rId4"/>
            </p:custDataLst>
          </p:nvPr>
        </p:nvSpPr>
        <p:spPr>
          <a:xfrm>
            <a:off x="8723630" y="626110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Chapter 6 Plagiarism</a:t>
            </a:r>
          </a:p>
        </p:txBody>
      </p:sp>
      <p:sp>
        <p:nvSpPr>
          <p:cNvPr id="13" name="文本框 12"/>
          <p:cNvSpPr txBox="1"/>
          <p:nvPr/>
        </p:nvSpPr>
        <p:spPr>
          <a:xfrm>
            <a:off x="6430645" y="216535"/>
            <a:ext cx="4064000" cy="368300"/>
          </a:xfrm>
          <a:prstGeom prst="rect">
            <a:avLst/>
          </a:prstGeom>
          <a:noFill/>
        </p:spPr>
        <p:txBody>
          <a:bodyPr wrap="square" rtlCol="0">
            <a:spAutoFit/>
          </a:bodyPr>
          <a:lstStyle/>
          <a:p>
            <a:endParaRPr lang="zh-CN" alt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zh-CN" altLang="en-US" sz="2800" b="1" i="1">
                <a:latin typeface="Times New Roman" panose="02020603050405020304" charset="0"/>
                <a:cs typeface="Times New Roman" panose="02020603050405020304" charset="0"/>
                <a:sym typeface="+mn-ea"/>
              </a:rPr>
              <a:t>Writing the First Draft</a:t>
            </a:r>
            <a:endParaRPr lang="en-US" altLang="zh-CN" sz="2800" b="1" i="1">
              <a:solidFill>
                <a:schemeClr val="tx1"/>
              </a:solidFill>
              <a:latin typeface="Times New Roman" panose="02020603050405020304" charset="0"/>
              <a:cs typeface="Times New Roman" panose="02020603050405020304" charset="0"/>
              <a:sym typeface="+mn-ea"/>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6</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11" name="矩形 10"/>
          <p:cNvSpPr/>
          <p:nvPr>
            <p:custDataLst>
              <p:tags r:id="rId4"/>
            </p:custDataLst>
          </p:nvPr>
        </p:nvSpPr>
        <p:spPr>
          <a:xfrm>
            <a:off x="8723630" y="626110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Chapter 6 Plagiarism</a:t>
            </a:r>
          </a:p>
        </p:txBody>
      </p:sp>
      <p:sp>
        <p:nvSpPr>
          <p:cNvPr id="12" name="标题 1"/>
          <p:cNvSpPr>
            <a:spLocks noGrp="1"/>
          </p:cNvSpPr>
          <p:nvPr>
            <p:custDataLst>
              <p:tags r:id="rId5"/>
            </p:custDataLst>
          </p:nvPr>
        </p:nvSpPr>
        <p:spPr>
          <a:xfrm>
            <a:off x="5972175" y="1745615"/>
            <a:ext cx="5642610" cy="382778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indent="0" algn="ctr" fontAlgn="auto">
              <a:lnSpc>
                <a:spcPct val="150000"/>
              </a:lnSpc>
            </a:pPr>
            <a:r>
              <a:rPr lang="en-US" altLang="zh-CN" sz="3200" b="1" i="1">
                <a:solidFill>
                  <a:schemeClr val="accent2">
                    <a:lumMod val="75000"/>
                  </a:schemeClr>
                </a:solidFill>
                <a:latin typeface="Times New Roman" panose="02020603050405020304" charset="0"/>
                <a:cs typeface="Times New Roman" panose="02020603050405020304" charset="0"/>
                <a:sym typeface="+mn-ea"/>
              </a:rPr>
              <a:t>5.</a:t>
            </a:r>
            <a:r>
              <a:rPr lang="en-US" altLang="zh-CN" sz="3200">
                <a:latin typeface="Times New Roman" panose="02020603050405020304" charset="0"/>
                <a:cs typeface="Times New Roman" panose="02020603050405020304" charset="0"/>
                <a:sym typeface="+mn-ea"/>
              </a:rPr>
              <a:t> Acknowledgements</a:t>
            </a:r>
            <a:endParaRPr lang="en-US" altLang="zh-CN" sz="3200">
              <a:latin typeface="Times New Roman" panose="02020603050405020304" charset="0"/>
              <a:cs typeface="Times New Roman" panose="02020603050405020304" charset="0"/>
            </a:endParaRPr>
          </a:p>
          <a:p>
            <a:pPr marL="0" indent="0" fontAlgn="auto">
              <a:lnSpc>
                <a:spcPct val="150000"/>
              </a:lnSpc>
            </a:pPr>
            <a:r>
              <a:rPr lang="en-US" altLang="zh-CN" sz="3200">
                <a:latin typeface="Times New Roman" panose="02020603050405020304" charset="0"/>
                <a:cs typeface="Times New Roman" panose="02020603050405020304" charset="0"/>
                <a:sym typeface="+mn-ea"/>
              </a:rPr>
              <a:t> </a:t>
            </a:r>
            <a:endParaRPr lang="en-US" altLang="zh-CN" sz="3200">
              <a:latin typeface="Times New Roman" panose="02020603050405020304" charset="0"/>
              <a:cs typeface="Times New Roman" panose="02020603050405020304" charset="0"/>
            </a:endParaRPr>
          </a:p>
        </p:txBody>
      </p:sp>
      <p:pic>
        <p:nvPicPr>
          <p:cNvPr id="105" name="图片 104"/>
          <p:cNvPicPr/>
          <p:nvPr/>
        </p:nvPicPr>
        <p:blipFill>
          <a:blip r:embed="rId7"/>
          <a:stretch>
            <a:fillRect/>
          </a:stretch>
        </p:blipFill>
        <p:spPr>
          <a:xfrm>
            <a:off x="1984375" y="1745615"/>
            <a:ext cx="4380865" cy="3288030"/>
          </a:xfrm>
          <a:prstGeom prst="rect">
            <a:avLst/>
          </a:prstGeom>
          <a:noFill/>
          <a:ln w="9525">
            <a:noFill/>
          </a:ln>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zh-CN" altLang="en-US" sz="2800" b="1" i="1">
                <a:latin typeface="Times New Roman" panose="02020603050405020304" charset="0"/>
                <a:cs typeface="Times New Roman" panose="02020603050405020304" charset="0"/>
                <a:sym typeface="+mn-ea"/>
              </a:rPr>
              <a:t>Writing the First Draft</a:t>
            </a:r>
            <a:r>
              <a:rPr lang="en-US" altLang="zh-CN" sz="2800" b="1" i="1">
                <a:latin typeface="Times New Roman" panose="02020603050405020304" charset="0"/>
                <a:cs typeface="Times New Roman" panose="02020603050405020304" charset="0"/>
                <a:sym typeface="+mn-ea"/>
              </a:rPr>
              <a:t>-- </a:t>
            </a:r>
            <a:r>
              <a:rPr lang="en-US" altLang="zh-CN" sz="2800" b="1" i="1">
                <a:solidFill>
                  <a:schemeClr val="accent2">
                    <a:lumMod val="75000"/>
                  </a:schemeClr>
                </a:solidFill>
                <a:latin typeface="Times New Roman" panose="02020603050405020304" charset="0"/>
                <a:cs typeface="Times New Roman" panose="02020603050405020304" charset="0"/>
                <a:sym typeface="+mn-ea"/>
              </a:rPr>
              <a:t>5.</a:t>
            </a:r>
            <a:r>
              <a:rPr lang="en-US" altLang="zh-CN" sz="2800">
                <a:solidFill>
                  <a:schemeClr val="accent2">
                    <a:lumMod val="75000"/>
                  </a:schemeClr>
                </a:solidFill>
                <a:latin typeface="Times New Roman" panose="02020603050405020304" charset="0"/>
                <a:cs typeface="Times New Roman" panose="02020603050405020304" charset="0"/>
                <a:sym typeface="+mn-ea"/>
              </a:rPr>
              <a:t> </a:t>
            </a:r>
            <a:r>
              <a:rPr lang="en-US" altLang="zh-CN" sz="2800">
                <a:latin typeface="Times New Roman" panose="02020603050405020304" charset="0"/>
                <a:cs typeface="Times New Roman" panose="02020603050405020304" charset="0"/>
                <a:sym typeface="+mn-ea"/>
              </a:rPr>
              <a:t>Acknowledgement</a:t>
            </a:r>
            <a:endParaRPr lang="en-US" altLang="zh-CN" sz="2800" i="1">
              <a:solidFill>
                <a:schemeClr val="tx1"/>
              </a:solidFill>
              <a:latin typeface="Times New Roman" panose="02020603050405020304" charset="0"/>
              <a:cs typeface="Times New Roman" panose="02020603050405020304" charset="0"/>
              <a:sym typeface="+mn-ea"/>
            </a:endParaRPr>
          </a:p>
        </p:txBody>
      </p:sp>
      <p:sp>
        <p:nvSpPr>
          <p:cNvPr id="3" name="内容占位符 2"/>
          <p:cNvSpPr>
            <a:spLocks noGrp="1"/>
          </p:cNvSpPr>
          <p:nvPr>
            <p:ph idx="1"/>
          </p:nvPr>
        </p:nvSpPr>
        <p:spPr>
          <a:xfrm>
            <a:off x="838200" y="1557020"/>
            <a:ext cx="10938510" cy="4850765"/>
          </a:xfrm>
          <a:ln w="28575">
            <a:solidFill>
              <a:schemeClr val="accent2">
                <a:lumMod val="75000"/>
              </a:schemeClr>
            </a:solidFill>
          </a:ln>
        </p:spPr>
        <p:txBody>
          <a:bodyPr>
            <a:normAutofit fontScale="90000"/>
          </a:bodyPr>
          <a:lstStyle/>
          <a:p>
            <a:pPr marL="0" indent="0" fontAlgn="auto">
              <a:lnSpc>
                <a:spcPct val="150000"/>
              </a:lnSpc>
              <a:spcBef>
                <a:spcPts val="0"/>
              </a:spcBef>
              <a:buNone/>
            </a:pPr>
            <a:r>
              <a:rPr lang="en-US" altLang="zh-CN" b="1">
                <a:solidFill>
                  <a:schemeClr val="accent2">
                    <a:lumMod val="75000"/>
                  </a:schemeClr>
                </a:solidFill>
                <a:latin typeface="Times New Roman" panose="02020603050405020304" charset="0"/>
                <a:cs typeface="Times New Roman" panose="02020603050405020304" charset="0"/>
                <a:sym typeface="+mn-ea"/>
              </a:rPr>
              <a:t>Acknowledgement</a:t>
            </a:r>
          </a:p>
          <a:p>
            <a:pPr marL="0" indent="0" fontAlgn="auto">
              <a:lnSpc>
                <a:spcPct val="150000"/>
              </a:lnSpc>
              <a:spcBef>
                <a:spcPts val="0"/>
              </a:spcBef>
              <a:buNone/>
            </a:pPr>
            <a:r>
              <a:rPr lang="en-US" altLang="zh-CN">
                <a:latin typeface="Times New Roman" panose="02020603050405020304" charset="0"/>
                <a:cs typeface="Times New Roman" panose="02020603050405020304" charset="0"/>
                <a:sym typeface="+mn-ea"/>
              </a:rPr>
              <a:t>---an optional item in the paper</a:t>
            </a:r>
            <a:endParaRPr lang="en-US" altLang="zh-CN">
              <a:latin typeface="Times New Roman" panose="02020603050405020304" charset="0"/>
              <a:cs typeface="Times New Roman" panose="02020603050405020304" charset="0"/>
            </a:endParaRPr>
          </a:p>
          <a:p>
            <a:pPr marL="0" indent="0" fontAlgn="auto">
              <a:lnSpc>
                <a:spcPct val="150000"/>
              </a:lnSpc>
              <a:spcBef>
                <a:spcPts val="0"/>
              </a:spcBef>
              <a:buNone/>
            </a:pPr>
            <a:r>
              <a:rPr lang="en-US" altLang="zh-CN">
                <a:latin typeface="Times New Roman" panose="02020603050405020304" charset="0"/>
                <a:cs typeface="Times New Roman" panose="02020603050405020304" charset="0"/>
                <a:sym typeface="+mn-ea"/>
              </a:rPr>
              <a:t>---If the author has received help from someone else in the course of the study, </a:t>
            </a:r>
          </a:p>
          <a:p>
            <a:pPr marL="0" indent="0" fontAlgn="auto">
              <a:lnSpc>
                <a:spcPct val="150000"/>
              </a:lnSpc>
              <a:spcBef>
                <a:spcPts val="0"/>
              </a:spcBef>
              <a:buNone/>
            </a:pPr>
            <a:r>
              <a:rPr lang="en-US" altLang="zh-CN">
                <a:latin typeface="Times New Roman" panose="02020603050405020304" charset="0"/>
                <a:cs typeface="Times New Roman" panose="02020603050405020304" charset="0"/>
                <a:sym typeface="+mn-ea"/>
              </a:rPr>
              <a:t>    he/she should acknowledge this.</a:t>
            </a:r>
            <a:endParaRPr lang="en-US" altLang="zh-CN">
              <a:latin typeface="Times New Roman" panose="02020603050405020304" charset="0"/>
              <a:cs typeface="Times New Roman" panose="02020603050405020304" charset="0"/>
            </a:endParaRPr>
          </a:p>
          <a:p>
            <a:pPr marL="0" indent="0" fontAlgn="auto">
              <a:lnSpc>
                <a:spcPct val="150000"/>
              </a:lnSpc>
              <a:spcBef>
                <a:spcPts val="0"/>
              </a:spcBef>
              <a:buNone/>
            </a:pPr>
            <a:r>
              <a:rPr lang="en-US" altLang="zh-CN">
                <a:latin typeface="Times New Roman" panose="02020603050405020304" charset="0"/>
                <a:cs typeface="Times New Roman" panose="02020603050405020304" charset="0"/>
                <a:sym typeface="+mn-ea"/>
              </a:rPr>
              <a:t>---should be short and sincere. Usually only a short sentence, but there are also very </a:t>
            </a:r>
          </a:p>
          <a:p>
            <a:pPr marL="0" indent="0" fontAlgn="auto">
              <a:lnSpc>
                <a:spcPct val="150000"/>
              </a:lnSpc>
              <a:spcBef>
                <a:spcPts val="0"/>
              </a:spcBef>
              <a:buNone/>
            </a:pPr>
            <a:r>
              <a:rPr lang="en-US" altLang="zh-CN">
                <a:latin typeface="Times New Roman" panose="02020603050405020304" charset="0"/>
                <a:cs typeface="Times New Roman" panose="02020603050405020304" charset="0"/>
                <a:sym typeface="+mn-ea"/>
              </a:rPr>
              <a:t>    long acknowledgements.</a:t>
            </a:r>
            <a:endParaRPr lang="en-US" altLang="zh-CN">
              <a:latin typeface="Times New Roman" panose="02020603050405020304" charset="0"/>
              <a:cs typeface="Times New Roman" panose="02020603050405020304" charset="0"/>
            </a:endParaRPr>
          </a:p>
          <a:p>
            <a:pPr marL="0" indent="0" fontAlgn="auto">
              <a:lnSpc>
                <a:spcPct val="150000"/>
              </a:lnSpc>
              <a:spcBef>
                <a:spcPts val="0"/>
              </a:spcBef>
              <a:buNone/>
            </a:pPr>
            <a:r>
              <a:rPr lang="en-US" altLang="zh-CN">
                <a:latin typeface="Times New Roman" panose="02020603050405020304" charset="0"/>
                <a:cs typeface="Times New Roman" panose="02020603050405020304" charset="0"/>
                <a:sym typeface="+mn-ea"/>
              </a:rPr>
              <a:t>---often located after the conclusion.</a:t>
            </a:r>
            <a:endParaRPr lang="en-US" altLang="zh-CN">
              <a:latin typeface="Times New Roman" panose="02020603050405020304" charset="0"/>
              <a:cs typeface="Times New Roman" panose="02020603050405020304" charset="0"/>
            </a:endParaRPr>
          </a:p>
          <a:p>
            <a:pPr marL="0" indent="0" fontAlgn="auto">
              <a:lnSpc>
                <a:spcPct val="150000"/>
              </a:lnSpc>
              <a:spcBef>
                <a:spcPts val="0"/>
              </a:spcBef>
              <a:buNone/>
            </a:pPr>
            <a:r>
              <a:rPr lang="en-US" altLang="zh-CN">
                <a:latin typeface="Times New Roman" panose="02020603050405020304" charset="0"/>
                <a:cs typeface="Times New Roman" panose="02020603050405020304" charset="0"/>
                <a:sym typeface="+mn-ea"/>
              </a:rPr>
              <a:t>---necessary to list the project number if it is funded by a foundation or institution.</a:t>
            </a:r>
            <a:endParaRPr lang="en-US" altLang="zh-CN">
              <a:solidFill>
                <a:schemeClr val="tx1"/>
              </a:solidFill>
              <a:latin typeface="Times New Roman" panose="02020603050405020304" charset="0"/>
              <a:cs typeface="Times New Roman" panose="02020603050405020304" charset="0"/>
              <a:sym typeface="+mn-ea"/>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6</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11" name="矩形 10"/>
          <p:cNvSpPr/>
          <p:nvPr>
            <p:custDataLst>
              <p:tags r:id="rId4"/>
            </p:custDataLst>
          </p:nvPr>
        </p:nvSpPr>
        <p:spPr>
          <a:xfrm>
            <a:off x="8723630" y="626110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Chapter 6 Plagiarism</a:t>
            </a:r>
          </a:p>
        </p:txBody>
      </p:sp>
      <p:sp>
        <p:nvSpPr>
          <p:cNvPr id="13" name="文本框 12"/>
          <p:cNvSpPr txBox="1"/>
          <p:nvPr/>
        </p:nvSpPr>
        <p:spPr>
          <a:xfrm>
            <a:off x="6430645" y="216535"/>
            <a:ext cx="4064000" cy="368300"/>
          </a:xfrm>
          <a:prstGeom prst="rect">
            <a:avLst/>
          </a:prstGeom>
          <a:noFill/>
        </p:spPr>
        <p:txBody>
          <a:bodyPr wrap="square" rtlCol="0">
            <a:spAutoFit/>
          </a:bodyPr>
          <a:lstStyle/>
          <a:p>
            <a:endParaRPr lang="zh-CN" alt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对角圆角矩形 4"/>
          <p:cNvSpPr/>
          <p:nvPr>
            <p:custDataLst>
              <p:tags r:id="rId1"/>
            </p:custDataLst>
          </p:nvPr>
        </p:nvSpPr>
        <p:spPr>
          <a:xfrm rot="720000">
            <a:off x="807720" y="646430"/>
            <a:ext cx="1245870" cy="570865"/>
          </a:xfrm>
          <a:prstGeom prst="round2Diag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a:xfrm>
            <a:off x="2235835" y="658495"/>
            <a:ext cx="8908415" cy="507365"/>
          </a:xfrm>
        </p:spPr>
        <p:txBody>
          <a:bodyPr>
            <a:normAutofit/>
          </a:bodyPr>
          <a:lstStyle/>
          <a:p>
            <a:r>
              <a:rPr lang="zh-CN" altLang="en-US" sz="2800" b="1" i="1">
                <a:latin typeface="Times New Roman" panose="02020603050405020304" charset="0"/>
                <a:cs typeface="Times New Roman" panose="02020603050405020304" charset="0"/>
                <a:sym typeface="+mn-ea"/>
              </a:rPr>
              <a:t>Writing the First Draft</a:t>
            </a:r>
            <a:r>
              <a:rPr lang="en-US" altLang="zh-CN" sz="2800" b="1" i="1">
                <a:latin typeface="Times New Roman" panose="02020603050405020304" charset="0"/>
                <a:cs typeface="Times New Roman" panose="02020603050405020304" charset="0"/>
                <a:sym typeface="+mn-ea"/>
              </a:rPr>
              <a:t>-- </a:t>
            </a:r>
            <a:r>
              <a:rPr lang="en-US" altLang="zh-CN" sz="2800" b="1" i="1">
                <a:solidFill>
                  <a:schemeClr val="accent2">
                    <a:lumMod val="75000"/>
                  </a:schemeClr>
                </a:solidFill>
                <a:latin typeface="Times New Roman" panose="02020603050405020304" charset="0"/>
                <a:cs typeface="Times New Roman" panose="02020603050405020304" charset="0"/>
                <a:sym typeface="+mn-ea"/>
              </a:rPr>
              <a:t>5.</a:t>
            </a:r>
            <a:r>
              <a:rPr lang="en-US" altLang="zh-CN" sz="2800">
                <a:solidFill>
                  <a:schemeClr val="accent2">
                    <a:lumMod val="75000"/>
                  </a:schemeClr>
                </a:solidFill>
                <a:latin typeface="Times New Roman" panose="02020603050405020304" charset="0"/>
                <a:cs typeface="Times New Roman" panose="02020603050405020304" charset="0"/>
                <a:sym typeface="+mn-ea"/>
              </a:rPr>
              <a:t> </a:t>
            </a:r>
            <a:r>
              <a:rPr lang="en-US" altLang="zh-CN" sz="2800">
                <a:latin typeface="Times New Roman" panose="02020603050405020304" charset="0"/>
                <a:cs typeface="Times New Roman" panose="02020603050405020304" charset="0"/>
                <a:sym typeface="+mn-ea"/>
              </a:rPr>
              <a:t>Acknowledgement</a:t>
            </a:r>
            <a:endParaRPr lang="en-US" altLang="zh-CN" sz="2800" i="1">
              <a:solidFill>
                <a:schemeClr val="tx1"/>
              </a:solidFill>
              <a:latin typeface="Times New Roman" panose="02020603050405020304" charset="0"/>
              <a:cs typeface="Times New Roman" panose="02020603050405020304" charset="0"/>
              <a:sym typeface="+mn-ea"/>
            </a:endParaRPr>
          </a:p>
        </p:txBody>
      </p:sp>
      <p:sp>
        <p:nvSpPr>
          <p:cNvPr id="3" name="内容占位符 2"/>
          <p:cNvSpPr>
            <a:spLocks noGrp="1"/>
          </p:cNvSpPr>
          <p:nvPr>
            <p:ph idx="1"/>
          </p:nvPr>
        </p:nvSpPr>
        <p:spPr>
          <a:xfrm>
            <a:off x="838200" y="1557020"/>
            <a:ext cx="10415905" cy="4850765"/>
          </a:xfrm>
          <a:ln w="28575">
            <a:solidFill>
              <a:schemeClr val="accent2">
                <a:lumMod val="75000"/>
              </a:schemeClr>
            </a:solidFill>
          </a:ln>
        </p:spPr>
        <p:txBody>
          <a:bodyPr>
            <a:normAutofit fontScale="90000" lnSpcReduction="20000"/>
          </a:bodyPr>
          <a:lstStyle/>
          <a:p>
            <a:pPr fontAlgn="auto">
              <a:lnSpc>
                <a:spcPct val="120000"/>
              </a:lnSpc>
              <a:spcBef>
                <a:spcPts val="0"/>
              </a:spcBef>
              <a:buNone/>
            </a:pPr>
            <a:r>
              <a:rPr lang="en-US" altLang="zh-CN">
                <a:latin typeface="Times New Roman" panose="02020603050405020304" charset="0"/>
                <a:cs typeface="Times New Roman" panose="02020603050405020304" charset="0"/>
                <a:sym typeface="+mn-ea"/>
              </a:rPr>
              <a:t>Eg:</a:t>
            </a:r>
            <a:endParaRPr lang="en-US" altLang="zh-CN">
              <a:latin typeface="Times New Roman" panose="02020603050405020304" charset="0"/>
              <a:cs typeface="Times New Roman" panose="02020603050405020304" charset="0"/>
            </a:endParaRPr>
          </a:p>
          <a:p>
            <a:pPr fontAlgn="auto">
              <a:lnSpc>
                <a:spcPct val="120000"/>
              </a:lnSpc>
              <a:spcBef>
                <a:spcPts val="0"/>
              </a:spcBef>
              <a:buNone/>
            </a:pPr>
            <a:r>
              <a:rPr lang="en-US" altLang="zh-CN">
                <a:latin typeface="Times New Roman" panose="02020603050405020304" charset="0"/>
                <a:cs typeface="Times New Roman" panose="02020603050405020304" charset="0"/>
                <a:sym typeface="+mn-ea"/>
              </a:rPr>
              <a:t>We thank… for…</a:t>
            </a:r>
            <a:endParaRPr lang="en-US" altLang="zh-CN">
              <a:latin typeface="Times New Roman" panose="02020603050405020304" charset="0"/>
              <a:cs typeface="Times New Roman" panose="02020603050405020304" charset="0"/>
            </a:endParaRPr>
          </a:p>
          <a:p>
            <a:pPr fontAlgn="auto">
              <a:lnSpc>
                <a:spcPct val="120000"/>
              </a:lnSpc>
              <a:spcBef>
                <a:spcPts val="0"/>
              </a:spcBef>
              <a:buNone/>
            </a:pPr>
            <a:r>
              <a:rPr lang="en-US" altLang="zh-CN">
                <a:latin typeface="Times New Roman" panose="02020603050405020304" charset="0"/>
                <a:cs typeface="Times New Roman" panose="02020603050405020304" charset="0"/>
                <a:sym typeface="+mn-ea"/>
              </a:rPr>
              <a:t>We are grateful to… for…</a:t>
            </a:r>
            <a:endParaRPr lang="en-US" altLang="zh-CN">
              <a:latin typeface="Times New Roman" panose="02020603050405020304" charset="0"/>
              <a:cs typeface="Times New Roman" panose="02020603050405020304" charset="0"/>
            </a:endParaRPr>
          </a:p>
          <a:p>
            <a:pPr fontAlgn="auto">
              <a:lnSpc>
                <a:spcPct val="120000"/>
              </a:lnSpc>
              <a:spcBef>
                <a:spcPts val="0"/>
              </a:spcBef>
              <a:buNone/>
            </a:pPr>
            <a:r>
              <a:rPr lang="en-US" altLang="zh-CN">
                <a:latin typeface="Times New Roman" panose="02020603050405020304" charset="0"/>
                <a:cs typeface="Times New Roman" panose="02020603050405020304" charset="0"/>
                <a:sym typeface="+mn-ea"/>
              </a:rPr>
              <a:t>Special thanks are due to…</a:t>
            </a:r>
            <a:endParaRPr lang="en-US" altLang="zh-CN">
              <a:latin typeface="Times New Roman" panose="02020603050405020304" charset="0"/>
              <a:cs typeface="Times New Roman" panose="02020603050405020304" charset="0"/>
            </a:endParaRPr>
          </a:p>
          <a:p>
            <a:pPr fontAlgn="auto">
              <a:lnSpc>
                <a:spcPct val="120000"/>
              </a:lnSpc>
              <a:spcBef>
                <a:spcPts val="0"/>
              </a:spcBef>
              <a:buNone/>
            </a:pPr>
            <a:r>
              <a:rPr lang="en-US" altLang="zh-CN">
                <a:latin typeface="Times New Roman" panose="02020603050405020304" charset="0"/>
                <a:cs typeface="Times New Roman" panose="02020603050405020304" charset="0"/>
                <a:sym typeface="+mn-ea"/>
              </a:rPr>
              <a:t>We appreciate the support and efforts of…</a:t>
            </a:r>
            <a:endParaRPr lang="en-US" altLang="zh-CN">
              <a:latin typeface="Times New Roman" panose="02020603050405020304" charset="0"/>
              <a:cs typeface="Times New Roman" panose="02020603050405020304" charset="0"/>
            </a:endParaRPr>
          </a:p>
          <a:p>
            <a:pPr fontAlgn="auto">
              <a:lnSpc>
                <a:spcPct val="120000"/>
              </a:lnSpc>
              <a:spcBef>
                <a:spcPts val="0"/>
              </a:spcBef>
              <a:buNone/>
            </a:pPr>
            <a:r>
              <a:rPr lang="en-US" altLang="zh-CN">
                <a:latin typeface="Times New Roman" panose="02020603050405020304" charset="0"/>
                <a:cs typeface="Times New Roman" panose="02020603050405020304" charset="0"/>
                <a:sym typeface="+mn-ea"/>
              </a:rPr>
              <a:t>This study was partly funded by…</a:t>
            </a:r>
            <a:endParaRPr lang="en-US" altLang="zh-CN">
              <a:latin typeface="Times New Roman" panose="02020603050405020304" charset="0"/>
              <a:cs typeface="Times New Roman" panose="02020603050405020304" charset="0"/>
            </a:endParaRPr>
          </a:p>
          <a:p>
            <a:pPr fontAlgn="auto">
              <a:lnSpc>
                <a:spcPct val="120000"/>
              </a:lnSpc>
              <a:spcBef>
                <a:spcPts val="0"/>
              </a:spcBef>
              <a:buNone/>
            </a:pPr>
            <a:r>
              <a:rPr lang="en-US" altLang="zh-CN">
                <a:latin typeface="Times New Roman" panose="02020603050405020304" charset="0"/>
                <a:cs typeface="Times New Roman" panose="02020603050405020304" charset="0"/>
                <a:sym typeface="+mn-ea"/>
              </a:rPr>
              <a:t>This work was financially supported by grants </a:t>
            </a:r>
            <a:endParaRPr lang="en-US" altLang="zh-CN">
              <a:latin typeface="Times New Roman" panose="02020603050405020304" charset="0"/>
              <a:cs typeface="Times New Roman" panose="02020603050405020304" charset="0"/>
            </a:endParaRPr>
          </a:p>
          <a:p>
            <a:pPr fontAlgn="auto">
              <a:lnSpc>
                <a:spcPct val="120000"/>
              </a:lnSpc>
              <a:spcBef>
                <a:spcPts val="0"/>
              </a:spcBef>
              <a:buNone/>
            </a:pPr>
            <a:r>
              <a:rPr lang="en-US" altLang="zh-CN">
                <a:latin typeface="Times New Roman" panose="02020603050405020304" charset="0"/>
                <a:cs typeface="Times New Roman" panose="02020603050405020304" charset="0"/>
                <a:sym typeface="+mn-ea"/>
              </a:rPr>
              <a:t>from…</a:t>
            </a:r>
            <a:endParaRPr lang="en-US" altLang="zh-CN">
              <a:latin typeface="Times New Roman" panose="02020603050405020304" charset="0"/>
              <a:cs typeface="Times New Roman" panose="02020603050405020304" charset="0"/>
            </a:endParaRPr>
          </a:p>
          <a:p>
            <a:pPr fontAlgn="auto">
              <a:lnSpc>
                <a:spcPct val="120000"/>
              </a:lnSpc>
              <a:spcBef>
                <a:spcPts val="0"/>
              </a:spcBef>
              <a:buNone/>
            </a:pPr>
            <a:r>
              <a:rPr lang="en-US" altLang="zh-CN">
                <a:solidFill>
                  <a:schemeClr val="accent2"/>
                </a:solidFill>
                <a:latin typeface="Times New Roman" panose="02020603050405020304" charset="0"/>
                <a:cs typeface="Times New Roman" panose="02020603050405020304" charset="0"/>
                <a:sym typeface="+mn-ea"/>
              </a:rPr>
              <a:t>Exercise</a:t>
            </a:r>
            <a:endParaRPr lang="en-US" altLang="zh-CN">
              <a:solidFill>
                <a:schemeClr val="accent2"/>
              </a:solidFill>
              <a:latin typeface="Times New Roman" panose="02020603050405020304" charset="0"/>
              <a:cs typeface="Times New Roman" panose="02020603050405020304" charset="0"/>
            </a:endParaRPr>
          </a:p>
          <a:p>
            <a:pPr fontAlgn="auto">
              <a:lnSpc>
                <a:spcPct val="120000"/>
              </a:lnSpc>
              <a:spcBef>
                <a:spcPts val="0"/>
              </a:spcBef>
              <a:buNone/>
            </a:pPr>
            <a:r>
              <a:rPr lang="en-US" altLang="zh-CN">
                <a:latin typeface="Times New Roman" panose="02020603050405020304" charset="0"/>
                <a:cs typeface="Times New Roman" panose="02020603050405020304" charset="0"/>
                <a:sym typeface="+mn-ea"/>
              </a:rPr>
              <a:t>  Suppose your research is supported by NSF of Shannxi Province and the project number is BK205062. Write an acknowledgement to acknowledge their support.</a:t>
            </a:r>
            <a:endParaRPr lang="en-US" altLang="zh-CN">
              <a:solidFill>
                <a:schemeClr val="tx1"/>
              </a:solidFill>
              <a:latin typeface="Times New Roman" panose="02020603050405020304" charset="0"/>
              <a:cs typeface="Times New Roman" panose="02020603050405020304" charset="0"/>
              <a:sym typeface="+mn-ea"/>
            </a:endParaRPr>
          </a:p>
        </p:txBody>
      </p:sp>
      <p:sp>
        <p:nvSpPr>
          <p:cNvPr id="4" name="对角圆角矩形 3"/>
          <p:cNvSpPr/>
          <p:nvPr/>
        </p:nvSpPr>
        <p:spPr>
          <a:xfrm>
            <a:off x="807720" y="646430"/>
            <a:ext cx="1245870" cy="570865"/>
          </a:xfrm>
          <a:prstGeom prst="round2Diag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a:latin typeface="Times New Roman" panose="02020603050405020304" charset="0"/>
                <a:cs typeface="Times New Roman" panose="02020603050405020304" charset="0"/>
              </a:rPr>
              <a:t>Chapter 6</a:t>
            </a:r>
          </a:p>
        </p:txBody>
      </p:sp>
      <p:cxnSp>
        <p:nvCxnSpPr>
          <p:cNvPr id="6" name="直接连接符 5"/>
          <p:cNvCxnSpPr/>
          <p:nvPr/>
        </p:nvCxnSpPr>
        <p:spPr>
          <a:xfrm>
            <a:off x="2053590" y="1166495"/>
            <a:ext cx="8910955" cy="28575"/>
          </a:xfrm>
          <a:prstGeom prst="line">
            <a:avLst/>
          </a:prstGeom>
          <a:ln w="3175">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custDataLst>
              <p:tags r:id="rId2"/>
            </p:custDataLst>
          </p:nvPr>
        </p:nvCxnSpPr>
        <p:spPr>
          <a:xfrm>
            <a:off x="2072640" y="1239520"/>
            <a:ext cx="8910955" cy="28575"/>
          </a:xfrm>
          <a:prstGeom prst="line">
            <a:avLst/>
          </a:prstGeom>
          <a:ln w="38100">
            <a:solidFill>
              <a:schemeClr val="accent2"/>
            </a:solidFill>
            <a:prstDash val="solid"/>
          </a:ln>
        </p:spPr>
        <p:style>
          <a:lnRef idx="1">
            <a:schemeClr val="accent1"/>
          </a:lnRef>
          <a:fillRef idx="0">
            <a:schemeClr val="accent1"/>
          </a:fillRef>
          <a:effectRef idx="0">
            <a:schemeClr val="accent1"/>
          </a:effectRef>
          <a:fontRef idx="minor">
            <a:schemeClr val="tx1"/>
          </a:fontRef>
        </p:style>
      </p:cxnSp>
      <p:sp>
        <p:nvSpPr>
          <p:cNvPr id="10" name="矩形 9"/>
          <p:cNvSpPr/>
          <p:nvPr>
            <p:custDataLst>
              <p:tags r:id="rId3"/>
            </p:custDataLst>
          </p:nvPr>
        </p:nvSpPr>
        <p:spPr>
          <a:xfrm>
            <a:off x="8723630" y="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Writing Research Papers</a:t>
            </a:r>
          </a:p>
        </p:txBody>
      </p:sp>
      <p:sp>
        <p:nvSpPr>
          <p:cNvPr id="11" name="矩形 10"/>
          <p:cNvSpPr/>
          <p:nvPr>
            <p:custDataLst>
              <p:tags r:id="rId4"/>
            </p:custDataLst>
          </p:nvPr>
        </p:nvSpPr>
        <p:spPr>
          <a:xfrm>
            <a:off x="8723630" y="6261100"/>
            <a:ext cx="3565525" cy="469900"/>
          </a:xfrm>
          <a:prstGeom prst="rect">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solidFill>
                  <a:schemeClr val="bg1">
                    <a:lumMod val="85000"/>
                  </a:schemeClr>
                </a:solidFill>
                <a:latin typeface="Times New Roman" panose="02020603050405020304" charset="0"/>
                <a:cs typeface="Times New Roman" panose="02020603050405020304" charset="0"/>
              </a:rPr>
              <a:t>Chapter 6 Plagiarism</a:t>
            </a:r>
          </a:p>
        </p:txBody>
      </p:sp>
      <p:sp>
        <p:nvSpPr>
          <p:cNvPr id="13" name="文本框 12"/>
          <p:cNvSpPr txBox="1"/>
          <p:nvPr/>
        </p:nvSpPr>
        <p:spPr>
          <a:xfrm>
            <a:off x="6430645" y="216535"/>
            <a:ext cx="4064000" cy="368300"/>
          </a:xfrm>
          <a:prstGeom prst="rect">
            <a:avLst/>
          </a:prstGeom>
          <a:noFill/>
        </p:spPr>
        <p:txBody>
          <a:bodyPr wrap="square" rtlCol="0">
            <a:spAutoFit/>
          </a:bodyPr>
          <a:lstStyle/>
          <a:p>
            <a:endParaRPr lang="zh-CN" alt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362585"/>
            <a:ext cx="9144000" cy="817880"/>
          </a:xfrm>
        </p:spPr>
        <p:txBody>
          <a:bodyPr>
            <a:normAutofit/>
          </a:bodyPr>
          <a:lstStyle/>
          <a:p>
            <a:r>
              <a:rPr lang="en-US" sz="4445" b="1">
                <a:latin typeface="Times New Roman" panose="02020603050405020304" charset="0"/>
                <a:cs typeface="Times New Roman" panose="02020603050405020304" charset="0"/>
              </a:rPr>
              <a:t>The End</a:t>
            </a:r>
          </a:p>
        </p:txBody>
      </p:sp>
      <p:pic>
        <p:nvPicPr>
          <p:cNvPr id="100" name="图片 99"/>
          <p:cNvPicPr/>
          <p:nvPr/>
        </p:nvPicPr>
        <p:blipFill>
          <a:blip r:embed="rId2"/>
          <a:stretch>
            <a:fillRect/>
          </a:stretch>
        </p:blipFill>
        <p:spPr>
          <a:xfrm>
            <a:off x="744220" y="1694180"/>
            <a:ext cx="10975340" cy="3810000"/>
          </a:xfrm>
          <a:prstGeom prst="rect">
            <a:avLst/>
          </a:prstGeom>
          <a:noFill/>
          <a:ln w="9525">
            <a:noFill/>
          </a:ln>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YWE1YjkyNTI0OGY5ZTY5YTFjYmVjM2U0M2U1MGM5YjQifQ=="/>
  <p:tag name="KSO_WPP_MARK_KEY" val="a525ded9-58a2-4326-ad77-56909c515cb2"/>
</p:tagLst>
</file>

<file path=ppt/tags/tag2.xml><?xml version="1.0" encoding="utf-8"?>
<p:tagLst xmlns:a="http://schemas.openxmlformats.org/drawingml/2006/main" xmlns:r="http://schemas.openxmlformats.org/officeDocument/2006/relationships" xmlns:p="http://schemas.openxmlformats.org/presentationml/2006/main">
  <p:tag name="KSO_WM_SLIDE_ID" val="diagram20213293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TAG_VERSION" val="1.0"/>
  <p:tag name="KSO_WM_BEAUTIFY_FLAG" val="#wm#"/>
  <p:tag name="KSO_WM_TEMPLATE_CATEGORY" val="diagram"/>
  <p:tag name="KSO_WM_TEMPLATE_INDEX" val="20213293"/>
  <p:tag name="KSO_WM_SLIDE_LAYOUT" val="a_d_f"/>
  <p:tag name="KSO_WM_SLIDE_LAYOUT_CNT" val="1_1_1"/>
  <p:tag name="KSO_WM_TEMPLATE_THUMBS_INDEX" val="1、4、7、12、13、14、15、16、17、18、20、24、25、28、33、36、40、43、44"/>
  <p:tag name="KSO_WM_SLIDE_LAYOUT_INFO" val="{&quot;backgroundInfo&quot;:[{&quot;bottom&quot;:0,&quot;bottomAbs&quot;:false,&quot;left&quot;:0,&quot;leftAbs&quot;:false,&quot;right&quot;:0,&quot;rightAbs&quot;:false,&quot;top&quot;:0,&quot;topAbs&quot;:false,&quot;type&quot;:&quot;general&quot;}],&quot;id&quot;:&quot;2022-12-15T22:40:38&quot;,&quot;maxSize&quot;:{&quot;size1&quot;:30},&quot;minSize&quot;:{&quot;size1&quot;:17.8},&quot;normalSize&quot;:{&quot;size1&quot;:25.33314814814815},&quot;subLayout&quot;:[{&quot;id&quot;:&quot;2022-12-15T22:40:38&quot;,&quot;margin&quot;:{&quot;bottom&quot;:0,&quot;left&quot;:1.6929999589920044,&quot;right&quot;:1.6929999589920044,&quot;top&quot;:1.6929999589920044},&quot;type&quot;:0},{&quot;id&quot;:&quot;2022-12-15T22:40:38&quot;,&quot;maxSize&quot;:{&quot;size1&quot;:66.7},&quot;minSize&quot;:{&quot;size1&quot;:38.9},&quot;normalSize&quot;:{&quot;size1&quot;:62.423426850370916},&quot;subLayout&quot;:[{&quot;id&quot;:&quot;2022-12-15T22:40:38&quot;,&quot;margin&quot;:{&quot;bottom&quot;:0.02600000612437725,&quot;left&quot;:1.6929999589920044,&quot;right&quot;:1.6929999589920044,&quot;top&quot;:0.847000002861023},&quot;type&quot;:0},{&quot;id&quot;:&quot;2022-12-15T22:40:38&quot;,&quot;margin&quot;:{&quot;bottom&quot;:1.6929999589920044,&quot;left&quot;:1.6929999589920044,&quot;right&quot;:1.6929999589920044,&quot;top&quot;:0.8199999928474426},&quot;type&quot;:0}],&quot;type&quot;:0}],&quot;type&quot;:0}"/>
  <p:tag name="KSO_WM_SLIDE_BACKGROUND" val="[&quot;general&quot;]"/>
  <p:tag name="KSO_WM_SLIDE_RATIO" val="1.777778"/>
  <p:tag name="KSO_WM_CHIP_INFOS" val="{&quot;type&quot;:0,&quot;layout_type&quot;:&quot;topbottom&quot;,&quot;layout_feature&quot;:1,&quot;aspect_ratio&quot;:&quot;16:9&quot;,&quot;same_font_size&quot;:false,&quot;diagram&quot;:{&quot;type&quot;:[],&quot;direction&quot;:0,&quot;isSupportDecBetweenItems&quot;:false},&quot;tags&quot;:{&quot;style&quot;:[&quot;商务&quot;,&quot;简约&quot;,&quot;文艺清新&quot;,&quot;中国风&quot;,&quot;卡通&quot;,&quot;欧美风&quot;,&quot;黑板风&quot;,&quot;渐变风&quot;,&quot;党政风&quot;]},&quot;slide_type&quot;:[&quot;text&quot;]}"/>
  <p:tag name="KSO_WM_CHIP_XID" val="5f69675c553136823a5e61e7"/>
  <p:tag name="KSO_WM_CHIP_FILLPROP" val="[[{&quot;text_align&quot;:&quot;ct&quot;,&quot;text_direction&quot;:&quot;horizontal&quot;,&quot;support_big_font&quot;:false,&quot;picture_toward&quot;:0,&quot;picture_dockside&quot;:[],&quot;fill_id&quot;:&quot;42bdfa4a24a64d988a6191cecd716896&quot;,&quot;fill_align&quot;:&quot;ct&quot;,&quot;chip_types&quot;:[&quot;header&quot;]},{&quot;text_align&quot;:&quot;lm&quot;,&quot;text_direction&quot;:&quot;horizontal&quot;,&quot;support_features&quot;:[&quot;collage&quot;,&quot;carousel&quot;],&quot;support_big_font&quot;:false,&quot;picture_toward&quot;:0,&quot;picture_dockside&quot;:[],&quot;fill_id&quot;:&quot;c7f405b535bb49fd9c504e13d5a436be&quot;,&quot;fill_align&quot;:&quot;cm&quot;,&quot;chip_types&quot;:[&quot;diagram&quot;,&quot;pictext&quot;,&quot;picture&quot;,&quot;chart&quot;,&quot;table&quot;,&quot;video&quot;]},{&quot;text_align&quot;:&quot;cm&quot;,&quot;text_direction&quot;:&quot;horizontal&quot;,&quot;support_big_font&quot;:false,&quot;picture_toward&quot;:0,&quot;picture_dockside&quot;:[],&quot;fill_id&quot;:&quot;af7019ab30b54b018c2fc8ea2401cac8&quot;,&quot;fill_align&quot;:&quot;cm&quot;,&quot;chip_types&quot;:[&quot;text&quot;]}],[{&quot;text_align&quot;:&quot;cm&quot;,&quot;text_direction&quot;:&quot;horizontal&quot;,&quot;support_big_font&quot;:false,&quot;picture_toward&quot;:0,&quot;picture_dockside&quot;:[],&quot;fill_id&quot;:&quot;42bdfa4a24a64d988a6191cecd716896&quot;,&quot;fill_align&quot;:&quot;cm&quot;,&quot;chip_types&quot;:[&quot;header&quot;]},{&quot;text_align&quot;:&quot;lm&quot;,&quot;text_direction&quot;:&quot;horizontal&quot;,&quot;support_big_font&quot;:false,&quot;picture_toward&quot;:0,&quot;picture_dockside&quot;:[],&quot;fill_id&quot;:&quot;c7f405b535bb49fd9c504e13d5a436be&quot;,&quot;fill_align&quot;:&quot;cm&quot;,&quot;chip_types&quot;:[&quot;diagram&quot;,&quot;pictext&quot;,&quot;picture&quot;,&quot;chart&quot;,&quot;table&quot;]},{&quot;text_align&quot;:&quot;cm&quot;,&quot;text_direction&quot;:&quot;horizontal&quot;,&quot;support_big_font&quot;:false,&quot;picture_toward&quot;:0,&quot;picture_dockside&quot;:[],&quot;fill_id&quot;:&quot;af7019ab30b54b018c2fc8ea2401cac8&quot;,&quot;fill_align&quot;:&quot;cm&quot;,&quot;chip_types&quot;:[&quot;text&quot;,&quot;picture&quot;]}],[{&quot;text_align&quot;:&quot;lm&quot;,&quot;text_direction&quot;:&quot;horizontal&quot;,&quot;support_big_font&quot;:false,&quot;picture_toward&quot;:0,&quot;picture_dockside&quot;:[],&quot;fill_id&quot;:&quot;42bdfa4a24a64d988a6191cecd716896&quot;,&quot;fill_align&quot;:&quot;lm&quot;,&quot;chip_types&quot;:[&quot;text&quot;,&quot;header&quot;]},{&quot;text_align&quot;:&quot;lm&quot;,&quot;text_direction&quot;:&quot;horizontal&quot;,&quot;support_features&quot;:[&quot;collage&quot;,&quot;carousel&quot;],&quot;support_big_font&quot;:false,&quot;picture_toward&quot;:0,&quot;picture_dockside&quot;:[],&quot;fill_id&quot;:&quot;c7f405b535bb49fd9c504e13d5a436be&quot;,&quot;fill_align&quot;:&quot;cm&quot;,&quot;chip_types&quot;:[&quot;diagram&quot;,&quot;pictext&quot;,&quot;picture&quot;,&quot;chart&quot;,&quot;table&quot;]},{&quot;text_align&quot;:&quot;lm&quot;,&quot;text_direction&quot;:&quot;horizontal&quot;,&quot;support_big_font&quot;:false,&quot;picture_toward&quot;:0,&quot;picture_dockside&quot;:[],&quot;fill_id&quot;:&quot;af7019ab30b54b018c2fc8ea2401cac8&quot;,&quot;fill_align&quot;:&quot;lm&quot;,&quot;chip_types&quot;:[&quot;text&quot;,&quot;picture&quot;]}]]"/>
  <p:tag name="KSO_WM_SLIDE_SIZE" val="865*444"/>
  <p:tag name="KSO_WM_SLIDE_POSITION" val="47*48"/>
  <p:tag name="FIXED_XID_TMP" val="5f5ee1ca4d6848d78f644aed"/>
  <p:tag name="KSO_WM_CHIP_DECFILLPROP" val="[]"/>
  <p:tag name="KSO_WM_CHIP_GROUPID" val="5f5ee1ca4d6848d78f644aed"/>
  <p:tag name="KSO_WM_SLIDE_BK_DARK_LIGHT" val="2"/>
  <p:tag name="KSO_WM_SLIDE_BACKGROUND_TYPE" val="general"/>
  <p:tag name="KSO_WM_SLIDE_SUPPORT_FEATURE_TYPE" val="3"/>
  <p:tag name="KSO_WM_TEMPLATE_ASSEMBLE_XID" val="639b31e60c9383becdeaa802"/>
  <p:tag name="KSO_WM_TEMPLATE_ASSEMBLE_GROUPID" val="639b31e60c9383becdeaa802"/>
</p:tagLst>
</file>

<file path=ppt/tags/tag3.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27"/>
  <p:tag name="KSO_WM_UNIT_HIGHLIGHT" val="0"/>
  <p:tag name="KSO_WM_UNIT_COMPATIBLE" val="0"/>
  <p:tag name="KSO_WM_UNIT_DIAGRAM_ISNUMVISUAL" val="0"/>
  <p:tag name="KSO_WM_UNIT_DIAGRAM_ISREFERUNIT" val="0"/>
  <p:tag name="KSO_WM_UNIT_TYPE" val="a"/>
  <p:tag name="KSO_WM_UNIT_INDEX" val="1"/>
  <p:tag name="KSO_WM_UNIT_ID" val="diagram20213293_1*a*1"/>
  <p:tag name="KSO_WM_TEMPLATE_CATEGORY" val="diagram"/>
  <p:tag name="KSO_WM_TEMPLATE_INDEX" val="20213293"/>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UNIT_DEC_AREA_ID" val="eac46169eb2b460bb4a610ed53a67e22"/>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t&quot;,&quot;fill_mode&quot;:&quot;full&quot;,&quot;sacle_strategy&quot;:&quot;smart&quot;}"/>
  <p:tag name="KSO_WM_ASSEMBLE_CHIP_INDEX" val="c12c141ff192434a81f8ec7859d8d7f3"/>
  <p:tag name="KSO_WM_UNIT_TEXT_FILL_FORE_SCHEMECOLOR_INDEX_BRIGHTNESS" val="0"/>
  <p:tag name="KSO_WM_UNIT_TEXT_FILL_FORE_SCHEMECOLOR_INDEX" val="13"/>
  <p:tag name="KSO_WM_UNIT_TEXT_FILL_TYPE" val="1"/>
  <p:tag name="KSO_WM_TEMPLATE_ASSEMBLE_XID" val="639b31e60c9383becdeaa802"/>
  <p:tag name="KSO_WM_TEMPLATE_ASSEMBLE_GROUPID" val="639b31e60c9383becdeaa802"/>
</p:tagLst>
</file>

<file path=ppt/tags/tag4.xml><?xml version="1.0" encoding="utf-8"?>
<p:tagLst xmlns:a="http://schemas.openxmlformats.org/drawingml/2006/main" xmlns:r="http://schemas.openxmlformats.org/officeDocument/2006/relationships" xmlns:p="http://schemas.openxmlformats.org/presentationml/2006/main">
  <p:tag name="KSO_WM_UNIT_VALUE" val="761*3046"/>
  <p:tag name="KSO_WM_UNIT_HIGHLIGHT" val="0"/>
  <p:tag name="KSO_WM_UNIT_COMPATIBLE" val="0"/>
  <p:tag name="KSO_WM_UNIT_DIAGRAM_ISNUMVISUAL" val="0"/>
  <p:tag name="KSO_WM_UNIT_DIAGRAM_ISREFERUNIT" val="0"/>
  <p:tag name="KSO_WM_UNIT_TYPE" val="d"/>
  <p:tag name="KSO_WM_UNIT_INDEX" val="1"/>
  <p:tag name="KSO_WM_UNIT_ID" val="diagram20213293_1*d*1"/>
  <p:tag name="KSO_WM_TEMPLATE_CATEGORY" val="diagram"/>
  <p:tag name="KSO_WM_TEMPLATE_INDEX" val="20213293"/>
  <p:tag name="KSO_WM_UNIT_LAYERLEVEL" val="1"/>
  <p:tag name="KSO_WM_TAG_VERSION" val="1.0"/>
  <p:tag name="KSO_WM_BEAUTIFY_FLAG" val="#wm#"/>
  <p:tag name="KSO_WM_CHIP_GROUPID" val="5e7310da9a230a26b9e88a19"/>
  <p:tag name="KSO_WM_CHIP_XID" val="5e7310da9a230a26b9e88a1a"/>
  <p:tag name="KSO_WM_UNIT_DEC_AREA_ID" val="d39d48b01a0a4808a05868f443a94083"/>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128373cf9a1d42b2ad4400f46103fc14"/>
  <p:tag name="KSO_WM_UNIT_SUPPORT_UNIT_TYPE" val="[&quot;l&quot;,&quot;m&quot;,&quot;n&quot;,&quot;o&quot;,&quot;p&quot;,&quot;q&quot;,&quot;r&quot;,&quot;δ&quot;,&quot;ε&quot;,&quot;ζ&quot;,&quot;η&quot;,&quot;d&quot;,&quot;α&quot;,&quot;β&quot;,&quot;θ&quot;]"/>
  <p:tag name="KSO_WM_TEMPLATE_ASSEMBLE_XID" val="639b31e60c9383becdeaa802"/>
  <p:tag name="KSO_WM_TEMPLATE_ASSEMBLE_GROUPID" val="639b31e60c9383becdeaa802"/>
  <p:tag name="KSO_WM_UNIT_PICTURE_CLIP_FLAG" val="0"/>
</p:tagLst>
</file>

<file path=ppt/tags/tag5.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地阐述您的观点。您的内容已经简明扼要，字字珠玑，但信息却千丝万缕、错综复杂，需要用更多的文字来表述；但请您尽可能提炼思想的精髓，否则容易造成观者的阅读压力，适得其反。"/>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3293_1*f*1"/>
  <p:tag name="KSO_WM_TEMPLATE_CATEGORY" val="diagram"/>
  <p:tag name="KSO_WM_TEMPLATE_INDEX" val="20213293"/>
  <p:tag name="KSO_WM_UNIT_LAYERLEVEL" val="1"/>
  <p:tag name="KSO_WM_TAG_VERSION" val="1.0"/>
  <p:tag name="KSO_WM_BEAUTIFY_FLAG" val="#wm#"/>
  <p:tag name="KSO_WM_UNIT_DEFAULT_FONT" val="14;20;2"/>
  <p:tag name="KSO_WM_UNIT_BLOCK" val="0"/>
  <p:tag name="KSO_WM_UNIT_VALUE" val="172"/>
  <p:tag name="KSO_WM_UNIT_SHOW_EDIT_AREA_INDICATION" val="1"/>
  <p:tag name="KSO_WM_CHIP_GROUPID" val="5e6b05596848fb12bee65ac8"/>
  <p:tag name="KSO_WM_CHIP_XID" val="5e6b05596848fb12bee65aca"/>
  <p:tag name="KSO_WM_UNIT_DEC_AREA_ID" val="f3ba6b55ee6d4aec98d86b43aa728f7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7bdb306efbae44b9a7ac00fd1cb9e337"/>
  <p:tag name="KSO_WM_UNIT_TEXT_FILL_FORE_SCHEMECOLOR_INDEX_BRIGHTNESS" val="0.25"/>
  <p:tag name="KSO_WM_UNIT_TEXT_FILL_FORE_SCHEMECOLOR_INDEX" val="13"/>
  <p:tag name="KSO_WM_UNIT_TEXT_FILL_TYPE" val="1"/>
  <p:tag name="KSO_WM_TEMPLATE_ASSEMBLE_XID" val="639b31e60c9383becdeaa802"/>
  <p:tag name="KSO_WM_TEMPLATE_ASSEMBLE_GROUPID" val="639b31e60c9383becdeaa802"/>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5.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243</TotalTime>
  <Words>2953</Words>
  <Application>Microsoft Office PowerPoint</Application>
  <PresentationFormat>宽屏</PresentationFormat>
  <Paragraphs>373</Paragraphs>
  <Slides>48</Slides>
  <Notes>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48</vt:i4>
      </vt:variant>
    </vt:vector>
  </HeadingPairs>
  <TitlesOfParts>
    <vt:vector size="54" baseType="lpstr">
      <vt:lpstr>Gungsuh</vt:lpstr>
      <vt:lpstr>微软雅黑</vt:lpstr>
      <vt:lpstr>Arial</vt:lpstr>
      <vt:lpstr>Calibri</vt:lpstr>
      <vt:lpstr>Times New Roman</vt:lpstr>
      <vt:lpstr>Office 主题</vt:lpstr>
      <vt:lpstr>PowerPoint 演示文稿</vt:lpstr>
      <vt:lpstr>Chapter 6 Writing the First Draft</vt:lpstr>
      <vt:lpstr>Writing the First Draft</vt:lpstr>
      <vt:lpstr>Writing the First Draft</vt:lpstr>
      <vt:lpstr>Writing the First Draft</vt:lpstr>
      <vt:lpstr>Writing the First Draft</vt:lpstr>
      <vt:lpstr>Writing the First Draft</vt:lpstr>
      <vt:lpstr>Writing the First Draft</vt:lpstr>
      <vt:lpstr>Writing the First Draft</vt:lpstr>
      <vt:lpstr>Writing the First Draft-- 1. Introduction</vt:lpstr>
      <vt:lpstr>Writing the First Draft-- 1. Introduction</vt:lpstr>
      <vt:lpstr>Writing the First Draft-- 1. Introduction</vt:lpstr>
      <vt:lpstr>Writing the First Draft-- 1. Introduction</vt:lpstr>
      <vt:lpstr>Writing the First Draft-- 1. Introduction</vt:lpstr>
      <vt:lpstr>Writing the First Draft-- 1. Introduction</vt:lpstr>
      <vt:lpstr>Writing the First Draft-- 1. Introduction</vt:lpstr>
      <vt:lpstr>Writing the First Draft-- 1. Introduction</vt:lpstr>
      <vt:lpstr>Writing the First Draft-- 1. Introduction</vt:lpstr>
      <vt:lpstr>Writing the First Draft-- 1. Introduction</vt:lpstr>
      <vt:lpstr>Writing the First Draft-- 1. Introduction</vt:lpstr>
      <vt:lpstr>Writing the First Draft-- 1. Introduction</vt:lpstr>
      <vt:lpstr>Writing the First Draft-- 1. Introduction</vt:lpstr>
      <vt:lpstr>Writing the First Draft-- 1. Introduction</vt:lpstr>
      <vt:lpstr>Writing the First Draft</vt:lpstr>
      <vt:lpstr>Writing the First Draft-- 2. Research Methods</vt:lpstr>
      <vt:lpstr>Writing the First Draft-- 2. Research Methods</vt:lpstr>
      <vt:lpstr>Writing the First Draft-- 2. Research Methods</vt:lpstr>
      <vt:lpstr>Writing the First Draft-- 2. Research Methods</vt:lpstr>
      <vt:lpstr>Writing the First Draft-- 2. Research Methods</vt:lpstr>
      <vt:lpstr>Writing the First Draft-- 2. Research Methods</vt:lpstr>
      <vt:lpstr>Writing the First Draft-- 2. Research Methods</vt:lpstr>
      <vt:lpstr>Writing the First Draft-- 2. Research Methods</vt:lpstr>
      <vt:lpstr>Writing the First Draft</vt:lpstr>
      <vt:lpstr>Writing the First Draft-- 3. Results and Discussion</vt:lpstr>
      <vt:lpstr>Writing the First Draft-- 3. Results and Discussion</vt:lpstr>
      <vt:lpstr>Writing the First Draft-- 3. Results and Discussion</vt:lpstr>
      <vt:lpstr>Writing the First Draft-- 3. Results and Discussion</vt:lpstr>
      <vt:lpstr>Writing the First Draft</vt:lpstr>
      <vt:lpstr>Writing the First Draft-- 4. Coclusions and Recommendations</vt:lpstr>
      <vt:lpstr>Writing the First Draft-- 4. Coclusions and Recommendations</vt:lpstr>
      <vt:lpstr>Writing the First Draft-- 4. Coclusions and Recommendations</vt:lpstr>
      <vt:lpstr>Writing the First Draft-- 4. Coclusions and Recommendations</vt:lpstr>
      <vt:lpstr>Writing the First Draft-- 4. Coclusions and Recommendations</vt:lpstr>
      <vt:lpstr>Writing the First Draft-- 4. Coclusions and Recommendations</vt:lpstr>
      <vt:lpstr>Writing the First Draft</vt:lpstr>
      <vt:lpstr>Writing the First Draft-- 5. Acknowledgement</vt:lpstr>
      <vt:lpstr>Writing the First Draft-- 5. Acknowledgement</vt:lpstr>
      <vt:lpstr>The End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SY</dc:creator>
  <cp:lastModifiedBy>SY</cp:lastModifiedBy>
  <cp:revision>24</cp:revision>
  <dcterms:created xsi:type="dcterms:W3CDTF">2023-05-17T04:37:00Z</dcterms:created>
  <dcterms:modified xsi:type="dcterms:W3CDTF">2026-06-18T13:11:19Z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37DA736BD5D5438E889F834B676955BC_12</vt:lpwstr>
  </property>
  <property fmtid="{D5CDD505-2E9C-101B-9397-08002B2CF9AE}" pid="3" name="KSOProductBuildVer">
    <vt:lpwstr>2052-12.1.0.21171</vt:lpwstr>
  </property>
</Properties>
</file>