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57" r:id="rId5"/>
    <p:sldId id="282" r:id="rId6"/>
    <p:sldId id="283" r:id="rId7"/>
    <p:sldId id="284" r:id="rId8"/>
    <p:sldId id="285" r:id="rId9"/>
    <p:sldId id="287" r:id="rId10"/>
    <p:sldId id="288" r:id="rId11"/>
    <p:sldId id="29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2"/>
          <p:cNvSpPr txBox="1"/>
          <p:nvPr>
            <p:custDataLst>
              <p:tags r:id="rId1"/>
            </p:custDataLst>
          </p:nvPr>
        </p:nvSpPr>
        <p:spPr>
          <a:xfrm>
            <a:off x="609600" y="410845"/>
            <a:ext cx="10972800" cy="1326515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 lnSpcReduction="20000"/>
          </a:bodyPr>
          <a:p>
            <a:pPr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>
                <a:solidFill>
                  <a:schemeClr val="accent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Writing English Papers</a:t>
            </a:r>
            <a:endParaRPr lang="en-US" altLang="zh-CN" sz="3200" b="1">
              <a:solidFill>
                <a:schemeClr val="accent1"/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zh-CN" sz="3200" b="1" spc="170">
                <a:solidFill>
                  <a:schemeClr val="accent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《学术英语论文写作》</a:t>
            </a:r>
            <a:endParaRPr lang="zh-CN" altLang="zh-CN" sz="3200" b="1" spc="170">
              <a:solidFill>
                <a:schemeClr val="accent1"/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t="26602" b="26602"/>
          <a:stretch>
            <a:fillRect/>
          </a:stretch>
        </p:blipFill>
        <p:spPr>
          <a:xfrm>
            <a:off x="609562" y="2042160"/>
            <a:ext cx="10972876" cy="28892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80" h="4320">
                <a:moveTo>
                  <a:pt x="0" y="0"/>
                </a:moveTo>
                <a:lnTo>
                  <a:pt x="17280" y="0"/>
                </a:lnTo>
                <a:lnTo>
                  <a:pt x="17280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accent2">
                <a:lumMod val="20000"/>
                <a:lumOff val="80000"/>
              </a:schemeClr>
            </a:solidFill>
          </a:ln>
        </p:spPr>
      </p:pic>
      <p:sp>
        <p:nvSpPr>
          <p:cNvPr id="11" name="Title 6"/>
          <p:cNvSpPr txBox="1"/>
          <p:nvPr>
            <p:custDataLst>
              <p:tags r:id="rId4"/>
            </p:custDataLst>
          </p:nvPr>
        </p:nvSpPr>
        <p:spPr>
          <a:xfrm>
            <a:off x="609562" y="5236196"/>
            <a:ext cx="10972800" cy="85980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n-US" altLang="zh-CN" sz="2400" kern="0" spc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Lecturer: Liu Xindan</a:t>
            </a:r>
            <a:endParaRPr lang="en-US" altLang="zh-CN" sz="2400" kern="0" spc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9200" y="5028565"/>
            <a:ext cx="9752965" cy="1655445"/>
          </a:xfrm>
        </p:spPr>
        <p:txBody>
          <a:bodyPr/>
          <a:p>
            <a:r>
              <a:rPr lang="en-US" altLang="zh-CN" sz="3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Chapter 8 </a:t>
            </a:r>
            <a:r>
              <a:rPr lang="en-US" altLang="zh-CN" sz="3600" b="1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Research Subjects</a:t>
            </a:r>
            <a:endParaRPr lang="en-US" altLang="zh-CN" sz="3600" b="1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219200" y="219075"/>
            <a:ext cx="9753600" cy="4743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8410" y="594360"/>
            <a:ext cx="10093960" cy="5358765"/>
          </a:xfrm>
        </p:spPr>
        <p:txBody>
          <a:bodyPr>
            <a:noAutofit/>
          </a:bodyPr>
          <a:p>
            <a:pPr marL="0" indent="0" eaLnBrk="1" hangingPunct="1"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8.1 Studies of English and American Literature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/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8.1.1 Methods of literature studies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/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---Explication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/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---Analysis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/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---Comparison and contrast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endParaRPr kumimoji="1" lang="en-US" altLang="zh-CN" sz="3200" b="0" i="0" kern="0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8410" y="594360"/>
            <a:ext cx="10093960" cy="5358765"/>
          </a:xfrm>
        </p:spPr>
        <p:txBody>
          <a:bodyPr>
            <a:noAutofit/>
          </a:bodyPr>
          <a:p>
            <a:pPr marL="0" indent="0" eaLnBrk="1" hangingPunct="1"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8.1.2 Methods of literary criticism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/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---formalist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/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---biographical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/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---psychoanalytic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endParaRPr kumimoji="1" lang="en-US" altLang="zh-CN" sz="3200" b="0" i="0" kern="0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8410" y="594360"/>
            <a:ext cx="10093960" cy="5358765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8.1.3 Other methods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----Historical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----Sociological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----Feminist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---Mythological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---Reader-response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---Deconstructionist strategies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endParaRPr kumimoji="1" lang="en-US" altLang="zh-CN" sz="3200" b="0" i="0" kern="0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8410" y="594360"/>
            <a:ext cx="10093960" cy="5358765"/>
          </a:xfrm>
        </p:spPr>
        <p:txBody>
          <a:bodyPr>
            <a:noAutofit/>
          </a:bodyPr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8.2 Studies of the English language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8.2.1 studies of English linguistics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8.2.1.1 studies of English Phoetics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---English rhythm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---Voice rhetoric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---Onomatopoeia</a:t>
            </a:r>
            <a:endParaRPr kumimoji="1" lang="en-US" altLang="zh-CN" sz="3200" b="0" i="0" kern="0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8410" y="594360"/>
            <a:ext cx="10093960" cy="5358765"/>
          </a:xfrm>
        </p:spPr>
        <p:txBody>
          <a:bodyPr>
            <a:noAutofit/>
          </a:bodyPr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8.2.1.2 studies of English vocabulary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---British English and American English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---Comparison between English and Chinese vocabularies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8.2.2.3 studies of pragmatics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8.2.2.4 studies of language and culture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endParaRPr kumimoji="1" lang="en-US" altLang="zh-CN" sz="3200" b="0" i="0" kern="0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8410" y="594360"/>
            <a:ext cx="10093960" cy="5358765"/>
          </a:xfrm>
        </p:spPr>
        <p:txBody>
          <a:bodyPr>
            <a:noAutofit/>
          </a:bodyPr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3200" kern="0" spc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8.2.2 studies of English Teaching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---studies of teaching methods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---studies of mother tongue interference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endParaRPr kumimoji="1" lang="en-US" altLang="zh-CN" sz="3200" b="0" i="0" kern="0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8410" y="594360"/>
            <a:ext cx="10093960" cy="5358765"/>
          </a:xfrm>
        </p:spPr>
        <p:txBody>
          <a:bodyPr>
            <a:noAutofit/>
          </a:bodyPr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8.3 Studies of Translation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---studies of translation history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---studies of translation techniques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---studies of different translation versions</a:t>
            </a:r>
            <a:endParaRPr lang="en-US" altLang="zh-CN" sz="3200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838995"/>
              </a:buClr>
              <a:buSzTx/>
              <a:buFontTx/>
              <a:buNone/>
              <a:defRPr/>
            </a:pPr>
            <a:endParaRPr kumimoji="1" lang="en-US" altLang="zh-CN" sz="3200" b="0" i="0" kern="0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5345" y="35179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826770" y="37084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64845" y="189865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10184130" y="6177280"/>
            <a:ext cx="116967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 flipH="1">
            <a:off x="11353800" y="5283200"/>
            <a:ext cx="9525" cy="89408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1186795" y="5996940"/>
            <a:ext cx="342900" cy="361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9200" y="5028565"/>
            <a:ext cx="9752965" cy="1655445"/>
          </a:xfrm>
        </p:spPr>
        <p:txBody>
          <a:bodyPr/>
          <a:p>
            <a:r>
              <a:rPr lang="en-US" altLang="zh-CN" sz="3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Chapter 8 </a:t>
            </a:r>
            <a:r>
              <a:rPr lang="en-US" altLang="zh-CN" sz="3600" b="1" kern="0" spc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Research Subjects</a:t>
            </a:r>
            <a:endParaRPr lang="en-US" altLang="zh-CN" sz="3600" b="1" kern="0" spc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219200" y="219075"/>
            <a:ext cx="9753600" cy="4743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293_1*a*1"/>
  <p:tag name="KSO_WM_TEMPLATE_CATEGORY" val="diagram"/>
  <p:tag name="KSO_WM_TEMPLATE_INDEX" val="2021329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eac46169eb2b460bb4a610ed53a67e2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c12c141ff192434a81f8ec7859d8d7f3"/>
  <p:tag name="KSO_WM_UNIT_TEXT_FILL_FORE_SCHEMECOLOR_INDEX_BRIGHTNESS" val="0"/>
  <p:tag name="KSO_WM_UNIT_TEXT_FILL_FORE_SCHEMECOLOR_INDEX" val="13"/>
  <p:tag name="KSO_WM_UNIT_TEXT_FILL_TYPE" val="1"/>
  <p:tag name="KSO_WM_TEMPLATE_ASSEMBLE_XID" val="639b31e60c9383becdeaa802"/>
  <p:tag name="KSO_WM_TEMPLATE_ASSEMBLE_GROUPID" val="639b31e60c9383becdeaa802"/>
</p:tagLst>
</file>

<file path=ppt/tags/tag64.xml><?xml version="1.0" encoding="utf-8"?>
<p:tagLst xmlns:p="http://schemas.openxmlformats.org/presentationml/2006/main">
  <p:tag name="KSO_WM_UNIT_VALUE" val="761*304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3293_1*d*1"/>
  <p:tag name="KSO_WM_TEMPLATE_CATEGORY" val="diagram"/>
  <p:tag name="KSO_WM_TEMPLATE_INDEX" val="20213293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d39d48b01a0a4808a05868f443a9408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128373cf9a1d42b2ad4400f46103fc1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39b31e60c9383becdeaa802"/>
  <p:tag name="KSO_WM_TEMPLATE_ASSEMBLE_GROUPID" val="639b31e60c9383becdeaa802"/>
  <p:tag name="KSO_WM_UNIT_PICTURE_CLIP_FLAG" val="0"/>
</p:tagLst>
</file>

<file path=ppt/tags/tag6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293_1*f*1"/>
  <p:tag name="KSO_WM_TEMPLATE_CATEGORY" val="diagram"/>
  <p:tag name="KSO_WM_TEMPLATE_INDEX" val="2021329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72"/>
  <p:tag name="KSO_WM_UNIT_SHOW_EDIT_AREA_INDICATION" val="1"/>
  <p:tag name="KSO_WM_CHIP_GROUPID" val="5e6b05596848fb12bee65ac8"/>
  <p:tag name="KSO_WM_CHIP_XID" val="5e6b05596848fb12bee65aca"/>
  <p:tag name="KSO_WM_UNIT_DEC_AREA_ID" val="f3ba6b55ee6d4aec98d86b43aa728f7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7bdb306efbae44b9a7ac00fd1cb9e337"/>
  <p:tag name="KSO_WM_UNIT_TEXT_FILL_FORE_SCHEMECOLOR_INDEX_BRIGHTNESS" val="0.25"/>
  <p:tag name="KSO_WM_UNIT_TEXT_FILL_FORE_SCHEMECOLOR_INDEX" val="13"/>
  <p:tag name="KSO_WM_UNIT_TEXT_FILL_TYPE" val="1"/>
  <p:tag name="KSO_WM_TEMPLATE_ASSEMBLE_XID" val="639b31e60c9383becdeaa802"/>
  <p:tag name="KSO_WM_TEMPLATE_ASSEMBLE_GROUPID" val="639b31e60c9383becdeaa802"/>
</p:tagLst>
</file>

<file path=ppt/tags/tag66.xml><?xml version="1.0" encoding="utf-8"?>
<p:tagLst xmlns:p="http://schemas.openxmlformats.org/presentationml/2006/main">
  <p:tag name="KSO_WM_SLIDE_ID" val="diagram2021329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293"/>
  <p:tag name="KSO_WM_SLIDE_LAYOUT" val="a_d_f"/>
  <p:tag name="KSO_WM_SLIDE_LAYOUT_CNT" val="1_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2-12-15T22:40:38&quot;,&quot;maxSize&quot;:{&quot;size1&quot;:30},&quot;minSize&quot;:{&quot;size1&quot;:17.8},&quot;normalSize&quot;:{&quot;size1&quot;:25.33314814814815},&quot;subLayout&quot;:[{&quot;id&quot;:&quot;2022-12-15T22:40:38&quot;,&quot;margin&quot;:{&quot;bottom&quot;:0,&quot;left&quot;:1.6929999589920044,&quot;right&quot;:1.6929999589920044,&quot;top&quot;:1.6929999589920044},&quot;type&quot;:0},{&quot;id&quot;:&quot;2022-12-15T22:40:38&quot;,&quot;maxSize&quot;:{&quot;size1&quot;:66.7},&quot;minSize&quot;:{&quot;size1&quot;:38.9},&quot;normalSize&quot;:{&quot;size1&quot;:62.423426850370916},&quot;subLayout&quot;:[{&quot;id&quot;:&quot;2022-12-15T22:40:38&quot;,&quot;margin&quot;:{&quot;bottom&quot;:0.02600000612437725,&quot;left&quot;:1.6929999589920044,&quot;right&quot;:1.6929999589920044,&quot;top&quot;:0.847000002861023},&quot;type&quot;:0},{&quot;id&quot;:&quot;2022-12-15T22:40:38&quot;,&quot;margin&quot;:{&quot;bottom&quot;:1.6929999589920044,&quot;left&quot;:1.6929999589920044,&quot;right&quot;:1.6929999589920044,&quot;top&quot;:0.8199999928474426}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c553136823a5e61e7"/>
  <p:tag name="KSO_WM_CHIP_FILLPROP" val="[[{&quot;text_align&quot;:&quot;ct&quot;,&quot;text_direction&quot;:&quot;horizontal&quot;,&quot;support_big_font&quot;:false,&quot;picture_toward&quot;:0,&quot;picture_dockside&quot;:[],&quot;fill_id&quot;:&quot;42bdfa4a24a64d988a6191cecd716896&quot;,&quot;fill_align&quot;:&quot;c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,&quot;video&quot;]},{&quot;text_align&quot;:&quot;cm&quot;,&quot;text_direction&quot;:&quot;horizontal&quot;,&quot;support_big_font&quot;:false,&quot;picture_toward&quot;:0,&quot;picture_dockside&quot;:[],&quot;fill_id&quot;:&quot;af7019ab30b54b018c2fc8ea2401cac8&quot;,&quot;fill_align&quot;:&quot;cm&quot;,&quot;chip_types&quot;:[&quot;text&quot;]}],[{&quot;text_align&quot;:&quot;cm&quot;,&quot;text_direction&quot;:&quot;horizontal&quot;,&quot;support_big_font&quot;:false,&quot;picture_toward&quot;:0,&quot;picture_dockside&quot;:[],&quot;fill_id&quot;:&quot;42bdfa4a24a64d988a6191cecd716896&quot;,&quot;fill_align&quot;:&quot;cm&quot;,&quot;chip_types&quot;:[&quot;header&quot;]},{&quot;text_align&quot;:&quot;lm&quot;,&quot;text_direction&quot;:&quot;horizontal&quot;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]},{&quot;text_align&quot;:&quot;cm&quot;,&quot;text_direction&quot;:&quot;horizontal&quot;,&quot;support_big_font&quot;:false,&quot;picture_toward&quot;:0,&quot;picture_dockside&quot;:[],&quot;fill_id&quot;:&quot;af7019ab30b54b018c2fc8ea2401cac8&quot;,&quot;fill_align&quot;:&quot;cm&quot;,&quot;chip_types&quot;:[&quot;text&quot;,&quot;picture&quot;]}],[{&quot;text_align&quot;:&quot;lm&quot;,&quot;text_direction&quot;:&quot;horizontal&quot;,&quot;support_big_font&quot;:false,&quot;picture_toward&quot;:0,&quot;picture_dockside&quot;:[],&quot;fill_id&quot;:&quot;42bdfa4a24a64d988a6191cecd716896&quot;,&quot;fill_align&quot;:&quot;lm&quot;,&quot;chip_types&quot;:[&quot;text&quot;,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c7f405b535bb49fd9c504e13d5a436be&quot;,&quot;fill_align&quot;:&quot;cm&quot;,&quot;chip_types&quot;:[&quot;diagram&quot;,&quot;pictext&quot;,&quot;picture&quot;,&quot;chart&quot;,&quot;table&quot;]},{&quot;text_align&quot;:&quot;lm&quot;,&quot;text_direction&quot;:&quot;horizontal&quot;,&quot;support_big_font&quot;:false,&quot;picture_toward&quot;:0,&quot;picture_dockside&quot;:[],&quot;fill_id&quot;:&quot;af7019ab30b54b018c2fc8ea2401cac8&quot;,&quot;fill_align&quot;:&quot;lm&quot;,&quot;chip_types&quot;:[&quot;text&quot;,&quot;picture&quot;]}]]"/>
  <p:tag name="KSO_WM_SLIDE_SIZE" val="865*444"/>
  <p:tag name="KSO_WM_SLIDE_POSITION" val="47*48"/>
  <p:tag name="FIXED_XID_TMP" val="5f5ee1ca4d6848d78f644aed"/>
  <p:tag name="KSO_WM_CHIP_DECFILLPROP" val="[]"/>
  <p:tag name="KSO_WM_CHIP_GROUPID" val="5f5ee1ca4d6848d78f644aed"/>
  <p:tag name="KSO_WM_SLIDE_BK_DARK_LIGHT" val="2"/>
  <p:tag name="KSO_WM_SLIDE_BACKGROUND_TYPE" val="general"/>
  <p:tag name="KSO_WM_SLIDE_SUPPORT_FEATURE_TYPE" val="3"/>
  <p:tag name="KSO_WM_TEMPLATE_ASSEMBLE_XID" val="639b31e60c9383becdeaa802"/>
  <p:tag name="KSO_WM_TEMPLATE_ASSEMBLE_GROUPID" val="639b31e60c9383becdeaa802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#wm#"/>
  <p:tag name="KSO_WM_TEMPLATE_CATEGORY" val="diagram"/>
  <p:tag name="KSO_WM_TEMPLATE_INDEX" val="2021202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WPS 演示</Application>
  <PresentationFormat>宽屏</PresentationFormat>
  <Paragraphs>56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Times New Roman</vt:lpstr>
      <vt:lpstr>微软雅黑</vt:lpstr>
      <vt:lpstr>Segoe UI</vt:lpstr>
      <vt:lpstr>Wingdings</vt:lpstr>
      <vt:lpstr>Arial Unicode MS</vt:lpstr>
      <vt:lpstr>Calibri</vt:lpstr>
      <vt:lpstr>Wingdings 2</vt:lpstr>
      <vt:lpstr>Gungsuh</vt:lpstr>
      <vt:lpstr>HP Simplified Hans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WPS_1636274968</cp:lastModifiedBy>
  <cp:revision>163</cp:revision>
  <dcterms:created xsi:type="dcterms:W3CDTF">2019-06-19T02:08:00Z</dcterms:created>
  <dcterms:modified xsi:type="dcterms:W3CDTF">2025-05-19T13:14:41Z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ADE11A2D3F6C48A496C66CB65C41C353_11</vt:lpwstr>
  </property>
</Properties>
</file>