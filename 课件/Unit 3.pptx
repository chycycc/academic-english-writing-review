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handoutMasterIdLst>
    <p:handoutMasterId r:id="rId38"/>
  </p:handoutMasterIdLst>
  <p:sldIdLst>
    <p:sldId id="257" r:id="rId2"/>
    <p:sldId id="258" r:id="rId3"/>
    <p:sldId id="261" r:id="rId4"/>
    <p:sldId id="264" r:id="rId5"/>
    <p:sldId id="344" r:id="rId6"/>
    <p:sldId id="345" r:id="rId7"/>
    <p:sldId id="346" r:id="rId8"/>
    <p:sldId id="347" r:id="rId9"/>
    <p:sldId id="348" r:id="rId10"/>
    <p:sldId id="349" r:id="rId11"/>
    <p:sldId id="350"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363" r:id="rId25"/>
    <p:sldId id="365" r:id="rId26"/>
    <p:sldId id="366" r:id="rId27"/>
    <p:sldId id="274" r:id="rId28"/>
    <p:sldId id="275" r:id="rId29"/>
    <p:sldId id="276" r:id="rId30"/>
    <p:sldId id="277" r:id="rId31"/>
    <p:sldId id="278" r:id="rId32"/>
    <p:sldId id="279" r:id="rId33"/>
    <p:sldId id="280" r:id="rId34"/>
    <p:sldId id="282" r:id="rId35"/>
    <p:sldId id="368" r:id="rId36"/>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179A8"/>
    <a:srgbClr val="FF9E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2026/3/22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2026/3/22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2026/3/22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9.xml"/><Relationship Id="rId1" Type="http://schemas.openxmlformats.org/officeDocument/2006/relationships/tags" Target="../tags/tag3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image" Target="../media/image4.jpeg"/></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63.xml"/><Relationship Id="rId7" Type="http://schemas.openxmlformats.org/officeDocument/2006/relationships/tags" Target="../tags/tag6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77.xml"/><Relationship Id="rId7" Type="http://schemas.openxmlformats.org/officeDocument/2006/relationships/tags" Target="../tags/tag81.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p:cNvSpPr txBox="1"/>
          <p:nvPr>
            <p:custDataLst>
              <p:tags r:id="rId2"/>
            </p:custDataLst>
          </p:nvPr>
        </p:nvSpPr>
        <p:spPr>
          <a:xfrm>
            <a:off x="609600" y="410845"/>
            <a:ext cx="10972800" cy="1326515"/>
          </a:xfrm>
          <a:prstGeom prst="rect">
            <a:avLst/>
          </a:prstGeom>
          <a:noFill/>
        </p:spPr>
        <p:txBody>
          <a:bodyPr wrap="square" lIns="63500" tIns="25400" rIns="63500" bIns="25400" rtlCol="0" anchor="t" anchorCtr="0">
            <a:normAutofit lnSpcReduction="20000"/>
          </a:bodyPr>
          <a:lstStyle/>
          <a:p>
            <a:pPr indent="0" algn="ctr" fontAlgn="auto">
              <a:lnSpc>
                <a:spcPct val="150000"/>
              </a:lnSpc>
              <a:spcBef>
                <a:spcPts val="0"/>
              </a:spcBef>
              <a:spcAft>
                <a:spcPts val="0"/>
              </a:spcAft>
              <a:buSzPct val="100000"/>
              <a:buNone/>
            </a:pPr>
            <a:r>
              <a:rPr lang="en-US" altLang="zh-CN" sz="3200" b="1">
                <a:solidFill>
                  <a:schemeClr val="accent1"/>
                </a:solidFill>
                <a:uFillTx/>
                <a:latin typeface="Times New Roman" panose="02020603050405020304" charset="0"/>
                <a:ea typeface="微软雅黑" panose="020B0503020204020204" charset="-122"/>
                <a:cs typeface="Times New Roman" panose="02020603050405020304" charset="0"/>
                <a:sym typeface="+mn-ea"/>
              </a:rPr>
              <a:t>Writing English Papers</a:t>
            </a:r>
          </a:p>
          <a:p>
            <a:pPr indent="0" algn="ctr" fontAlgn="auto">
              <a:lnSpc>
                <a:spcPct val="150000"/>
              </a:lnSpc>
              <a:spcBef>
                <a:spcPts val="0"/>
              </a:spcBef>
              <a:spcAft>
                <a:spcPts val="0"/>
              </a:spcAft>
              <a:buSzPct val="100000"/>
              <a:buNone/>
            </a:pPr>
            <a:r>
              <a:rPr lang="zh-CN"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《学术英语论文写作》</a:t>
            </a:r>
          </a:p>
        </p:txBody>
      </p:sp>
      <p:pic>
        <p:nvPicPr>
          <p:cNvPr id="7" name="图片 3"/>
          <p:cNvPicPr>
            <a:picLocks noChangeAspect="1"/>
          </p:cNvPicPr>
          <p:nvPr>
            <p:custDataLst>
              <p:tags r:id="rId3"/>
            </p:custDataLst>
          </p:nvPr>
        </p:nvPicPr>
        <p:blipFill rotWithShape="1">
          <a:blip r:embed="rId6"/>
          <a:srcRect t="26602" b="26602"/>
          <a:stretch>
            <a:fillRect/>
          </a:stretch>
        </p:blipFill>
        <p:spPr>
          <a:xfrm>
            <a:off x="609562" y="2042160"/>
            <a:ext cx="10972876" cy="2889261"/>
          </a:xfrm>
          <a:custGeom>
            <a:avLst/>
            <a:gdLst/>
            <a:ahLst/>
            <a:cxnLst>
              <a:cxn ang="3">
                <a:pos x="hc" y="t"/>
              </a:cxn>
              <a:cxn ang="cd2">
                <a:pos x="l" y="vc"/>
              </a:cxn>
              <a:cxn ang="cd4">
                <a:pos x="hc" y="b"/>
              </a:cxn>
              <a:cxn ang="0">
                <a:pos x="r" y="vc"/>
              </a:cxn>
            </a:cxnLst>
            <a:rect l="l" t="t" r="r" b="b"/>
            <a:pathLst>
              <a:path w="17280" h="4320">
                <a:moveTo>
                  <a:pt x="0" y="0"/>
                </a:moveTo>
                <a:lnTo>
                  <a:pt x="17280" y="0"/>
                </a:lnTo>
                <a:lnTo>
                  <a:pt x="17280" y="4320"/>
                </a:lnTo>
                <a:lnTo>
                  <a:pt x="0" y="4320"/>
                </a:lnTo>
                <a:lnTo>
                  <a:pt x="0" y="0"/>
                </a:lnTo>
                <a:close/>
              </a:path>
            </a:pathLst>
          </a:custGeom>
          <a:ln>
            <a:solidFill>
              <a:schemeClr val="accent2">
                <a:lumMod val="20000"/>
                <a:lumOff val="80000"/>
              </a:schemeClr>
            </a:solidFill>
          </a:ln>
        </p:spPr>
      </p:pic>
      <p:sp>
        <p:nvSpPr>
          <p:cNvPr id="11" name="Title 6"/>
          <p:cNvSpPr txBox="1"/>
          <p:nvPr>
            <p:custDataLst>
              <p:tags r:id="rId4"/>
            </p:custDataLst>
          </p:nvPr>
        </p:nvSpPr>
        <p:spPr>
          <a:xfrm>
            <a:off x="609562" y="5236196"/>
            <a:ext cx="10972800" cy="85980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100000"/>
              </a:lnSpc>
              <a:spcBef>
                <a:spcPts val="0"/>
              </a:spcBef>
              <a:spcAft>
                <a:spcPts val="800"/>
              </a:spcAft>
              <a:buSzPct val="100000"/>
              <a:buNone/>
            </a:pPr>
            <a:r>
              <a:rPr lang="en-US" altLang="zh-CN" sz="2400" kern="0" spc="0">
                <a:ln w="3175">
                  <a:noFill/>
                  <a:prstDash val="dash"/>
                </a:ln>
                <a:solidFill>
                  <a:schemeClr val="tx1">
                    <a:lumMod val="75000"/>
                    <a:lumOff val="25000"/>
                  </a:schemeClr>
                </a:solidFill>
                <a:uFillTx/>
                <a:latin typeface="Times New Roman" panose="02020603050405020304" charset="0"/>
                <a:ea typeface="宋体" panose="02010600030101010101" pitchFamily="2" charset="-122"/>
                <a:cs typeface="Times New Roman" panose="02020603050405020304" charset="0"/>
                <a:sym typeface="+mn-ea"/>
              </a:rPr>
              <a:t>Lecturer: Liu Xindan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83920" y="503555"/>
            <a:ext cx="1911350" cy="941705"/>
          </a:xfrm>
          <a:prstGeom prst="rect">
            <a:avLst/>
          </a:prstGeom>
          <a:solidFill>
            <a:srgbClr val="3179A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t>Chapter 3</a:t>
            </a:r>
          </a:p>
        </p:txBody>
      </p:sp>
      <p:cxnSp>
        <p:nvCxnSpPr>
          <p:cNvPr id="13" name="直接连接符 12"/>
          <p:cNvCxnSpPr/>
          <p:nvPr/>
        </p:nvCxnSpPr>
        <p:spPr>
          <a:xfrm flipV="1">
            <a:off x="874395" y="466090"/>
            <a:ext cx="1920875" cy="9525"/>
          </a:xfrm>
          <a:prstGeom prst="line">
            <a:avLst/>
          </a:prstGeom>
          <a:ln w="57150">
            <a:solidFill>
              <a:srgbClr val="FF9E9E"/>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795270" y="1445260"/>
            <a:ext cx="6767830" cy="4539615"/>
          </a:xfrm>
          <a:prstGeom prst="rect">
            <a:avLst/>
          </a:prstGeom>
          <a:solidFill>
            <a:srgbClr val="3179A8"/>
          </a:solidFill>
          <a:ln>
            <a:solidFill>
              <a:schemeClr val="accent1"/>
            </a:solidFill>
          </a:ln>
        </p:spPr>
        <p:txBody>
          <a:bodyPr>
            <a:noAutofit/>
            <a:extLst>
              <a:ext uri="{4A0BC546-FE56-4ADE-93B0-CB8AF2F6F144}">
                <wpsdc:textFrameExt xmlns:wpsdc="http://www.wps.cn/officeDocument/2022/drawingmlCustomData" xmlns="" type="text"/>
              </a:ext>
            </a:extLst>
          </a:bodyPr>
          <a:lstStyle/>
          <a:p>
            <a:pPr algn="l"/>
            <a:endParaRPr lang="en-US" altLang="zh-CN" sz="4800">
              <a:latin typeface="Arial" panose="020B0604020202020204" pitchFamily="34" charset="0"/>
              <a:ea typeface="微软雅黑" panose="020B0503020204020204" charset="-122"/>
            </a:endParaRPr>
          </a:p>
          <a:p>
            <a:pPr algn="l"/>
            <a:endParaRPr lang="en-US" altLang="zh-CN" sz="4800">
              <a:latin typeface="Arial" panose="020B0604020202020204" pitchFamily="34" charset="0"/>
              <a:ea typeface="微软雅黑" panose="020B0503020204020204" charset="-122"/>
            </a:endParaRPr>
          </a:p>
          <a:p>
            <a:pPr algn="l"/>
            <a:r>
              <a:rPr lang="en-US" altLang="zh-CN" sz="4800">
                <a:latin typeface="Arial" panose="020B0604020202020204" pitchFamily="34" charset="0"/>
                <a:ea typeface="微软雅黑" panose="020B0503020204020204" charset="-122"/>
              </a:rPr>
              <a:t>   </a:t>
            </a:r>
            <a:r>
              <a:rPr lang="en-US" altLang="zh-CN" sz="4800">
                <a:solidFill>
                  <a:schemeClr val="bg1"/>
                </a:solidFill>
                <a:latin typeface="Arial" panose="020B0604020202020204" pitchFamily="34" charset="0"/>
                <a:ea typeface="微软雅黑" panose="020B0503020204020204" charset="-122"/>
              </a:rPr>
              <a:t> Thesis Proposal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1768475" y="2263775"/>
            <a:ext cx="2472690" cy="2330450"/>
          </a:xfrm>
          <a:prstGeom prst="ellipse">
            <a:avLst/>
          </a:prstGeom>
          <a:blipFill rotWithShape="1">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254125" y="4706620"/>
            <a:ext cx="3214370" cy="583565"/>
          </a:xfrm>
          <a:prstGeom prst="rect">
            <a:avLst/>
          </a:prstGeom>
          <a:noFill/>
        </p:spPr>
        <p:txBody>
          <a:bodyPr wrap="square" rtlCol="0">
            <a:spAutoFit/>
          </a:bodyPr>
          <a:lstStyle/>
          <a:p>
            <a:pPr algn="ctr"/>
            <a:r>
              <a:rPr lang="en-US" altLang="zh-CN" sz="3200">
                <a:solidFill>
                  <a:schemeClr val="accent2">
                    <a:lumMod val="75000"/>
                  </a:schemeClr>
                </a:solidFill>
                <a:latin typeface="Times New Roman" panose="02020603050405020304" charset="0"/>
                <a:cs typeface="Times New Roman" panose="02020603050405020304" charset="0"/>
              </a:rPr>
              <a:t>Content</a:t>
            </a:r>
          </a:p>
        </p:txBody>
      </p:sp>
      <p:sp>
        <p:nvSpPr>
          <p:cNvPr id="8" name="文本框 7"/>
          <p:cNvSpPr txBox="1"/>
          <p:nvPr/>
        </p:nvSpPr>
        <p:spPr>
          <a:xfrm>
            <a:off x="5474335" y="1906270"/>
            <a:ext cx="5490210" cy="3765550"/>
          </a:xfrm>
          <a:prstGeom prst="rect">
            <a:avLst/>
          </a:prstGeom>
          <a:noFill/>
        </p:spPr>
        <p:txBody>
          <a:bodyPr wrap="square" rtlCol="0">
            <a:noAutofit/>
          </a:bodyPr>
          <a:lstStyle/>
          <a:p>
            <a:pPr indent="0" fontAlgn="auto">
              <a:lnSpc>
                <a:spcPct val="200000"/>
              </a:lnSpc>
            </a:pPr>
            <a:r>
              <a:rPr lang="en-US" altLang="zh-CN" sz="2400" b="1" i="1">
                <a:solidFill>
                  <a:schemeClr val="accent2">
                    <a:lumMod val="75000"/>
                  </a:schemeClr>
                </a:solidFill>
                <a:latin typeface="Times New Roman" panose="02020603050405020304" charset="0"/>
                <a:cs typeface="Times New Roman" panose="02020603050405020304" charset="0"/>
              </a:rPr>
              <a:t>3.1</a:t>
            </a:r>
            <a:r>
              <a:rPr lang="en-US" altLang="zh-CN" sz="2400">
                <a:latin typeface="Times New Roman" panose="02020603050405020304" charset="0"/>
                <a:cs typeface="Times New Roman" panose="02020603050405020304" charset="0"/>
              </a:rPr>
              <a:t> Definition of </a:t>
            </a:r>
            <a:r>
              <a:rPr lang="en-US" altLang="zh-CN" sz="2400" noProof="0" dirty="0">
                <a:ln w="3175" cmpd="sng">
                  <a:noFill/>
                </a:ln>
                <a:effectLst/>
                <a:uLnTx/>
                <a:uFillTx/>
                <a:latin typeface="Times New Roman" panose="02020603050405020304" charset="0"/>
                <a:ea typeface="+mj-ea"/>
                <a:cs typeface="Times New Roman" panose="02020603050405020304" charset="0"/>
                <a:sym typeface="+mn-ea"/>
              </a:rPr>
              <a:t>Thesis Proposal</a:t>
            </a:r>
            <a:endParaRPr lang="en-US" altLang="zh-CN" sz="2400">
              <a:latin typeface="Times New Roman" panose="02020603050405020304" charset="0"/>
              <a:cs typeface="Times New Roman" panose="02020603050405020304" charset="0"/>
            </a:endParaRPr>
          </a:p>
          <a:p>
            <a:pPr indent="0" fontAlgn="auto">
              <a:lnSpc>
                <a:spcPct val="200000"/>
              </a:lnSpc>
            </a:pPr>
            <a:r>
              <a:rPr lang="en-US" altLang="zh-CN" sz="2400" b="1" i="1">
                <a:solidFill>
                  <a:schemeClr val="accent2">
                    <a:lumMod val="75000"/>
                  </a:schemeClr>
                </a:solidFill>
                <a:latin typeface="Times New Roman" panose="02020603050405020304" charset="0"/>
                <a:cs typeface="Times New Roman" panose="02020603050405020304" charset="0"/>
              </a:rPr>
              <a:t>3.2</a:t>
            </a:r>
            <a:r>
              <a:rPr lang="en-US" altLang="zh-CN" sz="2400">
                <a:latin typeface="Times New Roman" panose="02020603050405020304" charset="0"/>
                <a:cs typeface="Times New Roman" panose="02020603050405020304" charset="0"/>
              </a:rPr>
              <a:t> Content of a Thesis Proposal</a:t>
            </a:r>
          </a:p>
          <a:p>
            <a:pPr indent="0" fontAlgn="auto">
              <a:lnSpc>
                <a:spcPct val="200000"/>
              </a:lnSpc>
            </a:pPr>
            <a:r>
              <a:rPr lang="en-US" altLang="zh-CN" sz="2400" b="1" i="1">
                <a:solidFill>
                  <a:schemeClr val="accent2">
                    <a:lumMod val="75000"/>
                  </a:schemeClr>
                </a:solidFill>
                <a:latin typeface="Times New Roman" panose="02020603050405020304" charset="0"/>
                <a:cs typeface="Times New Roman" panose="02020603050405020304" charset="0"/>
              </a:rPr>
              <a:t>3.3 </a:t>
            </a:r>
            <a:r>
              <a:rPr lang="en-US" altLang="zh-CN" sz="2400">
                <a:latin typeface="Times New Roman" panose="02020603050405020304" charset="0"/>
                <a:cs typeface="Times New Roman" panose="02020603050405020304" charset="0"/>
                <a:sym typeface="+mn-ea"/>
              </a:rPr>
              <a:t> Formulation of Thesis Statement</a:t>
            </a:r>
            <a:endParaRPr lang="en-US" altLang="zh-CN" sz="2400">
              <a:latin typeface="Times New Roman" panose="02020603050405020304" charset="0"/>
              <a:cs typeface="Times New Roman" panose="02020603050405020304" charset="0"/>
            </a:endParaRPr>
          </a:p>
          <a:p>
            <a:pPr indent="0" fontAlgn="auto">
              <a:lnSpc>
                <a:spcPct val="200000"/>
              </a:lnSpc>
            </a:pPr>
            <a:r>
              <a:rPr lang="en-US" altLang="zh-CN" sz="2400" b="1" i="1">
                <a:solidFill>
                  <a:schemeClr val="accent2">
                    <a:lumMod val="75000"/>
                  </a:schemeClr>
                </a:solidFill>
                <a:latin typeface="Times New Roman" panose="02020603050405020304" charset="0"/>
                <a:cs typeface="Times New Roman" panose="02020603050405020304" charset="0"/>
              </a:rPr>
              <a:t>3.4 </a:t>
            </a:r>
            <a:r>
              <a:rPr lang="en-US" altLang="zh-CN" sz="2400">
                <a:latin typeface="Times New Roman" panose="02020603050405020304" charset="0"/>
                <a:cs typeface="Times New Roman" panose="02020603050405020304" charset="0"/>
              </a:rPr>
              <a:t>The Process of Writing a Dissertation</a:t>
            </a:r>
          </a:p>
          <a:p>
            <a:pPr indent="0" fontAlgn="auto">
              <a:lnSpc>
                <a:spcPct val="200000"/>
              </a:lnSpc>
            </a:pPr>
            <a:r>
              <a:rPr lang="en-US" altLang="zh-CN" sz="2400" b="1" i="1">
                <a:solidFill>
                  <a:schemeClr val="accent2">
                    <a:lumMod val="75000"/>
                  </a:schemeClr>
                </a:solidFill>
                <a:latin typeface="Times New Roman" panose="02020603050405020304" charset="0"/>
                <a:cs typeface="Times New Roman" panose="02020603050405020304" charset="0"/>
              </a:rPr>
              <a:t>3.5</a:t>
            </a:r>
            <a:r>
              <a:rPr lang="en-US" altLang="zh-CN" sz="2400">
                <a:latin typeface="Times New Roman" panose="02020603050405020304" charset="0"/>
                <a:cs typeface="Times New Roman" panose="02020603050405020304" charset="0"/>
              </a:rPr>
              <a:t> </a:t>
            </a:r>
            <a:r>
              <a:rPr lang="en-US" altLang="zh-CN" sz="2400">
                <a:latin typeface="Times New Roman" panose="02020603050405020304" charset="0"/>
                <a:cs typeface="Times New Roman" panose="02020603050405020304" charset="0"/>
                <a:sym typeface="+mn-ea"/>
              </a:rPr>
              <a:t>Writing an Outline</a:t>
            </a:r>
          </a:p>
          <a:p>
            <a:pPr indent="0" fontAlgn="auto">
              <a:lnSpc>
                <a:spcPct val="200000"/>
              </a:lnSpc>
            </a:pPr>
            <a:r>
              <a:rPr lang="en-US" altLang="zh-CN" sz="2400" b="1" i="1">
                <a:solidFill>
                  <a:schemeClr val="accent2">
                    <a:lumMod val="75000"/>
                  </a:schemeClr>
                </a:solidFill>
                <a:latin typeface="Times New Roman" panose="02020603050405020304" charset="0"/>
                <a:cs typeface="Times New Roman" panose="02020603050405020304" charset="0"/>
                <a:sym typeface="+mn-ea"/>
              </a:rPr>
              <a:t>3.6 </a:t>
            </a:r>
            <a:r>
              <a:rPr lang="en-US" altLang="zh-CN" sz="2400">
                <a:latin typeface="Times New Roman" panose="02020603050405020304" charset="0"/>
                <a:cs typeface="Times New Roman" panose="02020603050405020304" charset="0"/>
                <a:sym typeface="+mn-ea"/>
              </a:rPr>
              <a:t>Common Mistakes in Proposal Writing</a:t>
            </a:r>
            <a:endParaRPr lang="en-US" altLang="zh-CN" sz="2400">
              <a:latin typeface="Times New Roman" panose="02020603050405020304" charset="0"/>
              <a:cs typeface="Times New Roman" panose="02020603050405020304" charset="0"/>
            </a:endParaRPr>
          </a:p>
          <a:p>
            <a:pPr indent="0" fontAlgn="auto">
              <a:lnSpc>
                <a:spcPct val="200000"/>
              </a:lnSpc>
            </a:pPr>
            <a:endParaRPr lang="en-US" altLang="zh-CN" sz="2400">
              <a:latin typeface="Times New Roman" panose="02020603050405020304" charset="0"/>
              <a:cs typeface="Times New Roman" panose="02020603050405020304" charset="0"/>
            </a:endParaRPr>
          </a:p>
          <a:p>
            <a:pPr indent="0" fontAlgn="auto">
              <a:lnSpc>
                <a:spcPct val="200000"/>
              </a:lnSpc>
            </a:pPr>
            <a:r>
              <a:rPr lang="en-US" altLang="zh-CN" sz="2400">
                <a:latin typeface="Times New Roman" panose="02020603050405020304" charset="0"/>
                <a:cs typeface="Times New Roman" panose="02020603050405020304" charset="0"/>
              </a:rPr>
              <a:t>     </a:t>
            </a:r>
          </a:p>
          <a:p>
            <a:pPr indent="0" fontAlgn="auto">
              <a:lnSpc>
                <a:spcPct val="200000"/>
              </a:lnSpc>
            </a:pPr>
            <a:endParaRPr lang="en-US" altLang="zh-CN" sz="240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p:bldP spid="10"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3" name="内容占位符 2"/>
          <p:cNvSpPr>
            <a:spLocks noGrp="1"/>
          </p:cNvSpPr>
          <p:nvPr>
            <p:ph idx="1"/>
          </p:nvPr>
        </p:nvSpPr>
        <p:spPr>
          <a:xfrm>
            <a:off x="1441450" y="1825625"/>
            <a:ext cx="9644380" cy="4351655"/>
          </a:xfrm>
          <a:ln w="38100">
            <a:solidFill>
              <a:schemeClr val="accent2">
                <a:lumMod val="75000"/>
              </a:schemeClr>
            </a:solidFill>
            <a:prstDash val="sysDash"/>
          </a:ln>
        </p:spPr>
        <p:txBody>
          <a:bodyPr>
            <a:normAutofit/>
          </a:bodyPr>
          <a:lstStyle/>
          <a:p>
            <a:pPr marL="0" indent="0" fontAlgn="auto">
              <a:lnSpc>
                <a:spcPct val="150000"/>
              </a:lnSpc>
              <a:spcBef>
                <a:spcPts val="0"/>
              </a:spcBef>
              <a:buNone/>
            </a:pPr>
            <a:r>
              <a:rPr lang="en-US" altLang="zh-CN" sz="2400" b="1" i="1">
                <a:solidFill>
                  <a:schemeClr val="accent2">
                    <a:lumMod val="75000"/>
                  </a:schemeClr>
                </a:solidFill>
                <a:latin typeface="Times New Roman" panose="02020603050405020304" charset="0"/>
                <a:cs typeface="Times New Roman" panose="02020603050405020304" charset="0"/>
                <a:sym typeface="+mn-ea"/>
              </a:rPr>
              <a:t>3.1</a:t>
            </a:r>
            <a:r>
              <a:rPr lang="en-US" altLang="zh-CN" sz="2400">
                <a:latin typeface="Times New Roman" panose="02020603050405020304" charset="0"/>
                <a:cs typeface="Times New Roman" panose="02020603050405020304" charset="0"/>
                <a:sym typeface="+mn-ea"/>
              </a:rPr>
              <a:t> Definition of </a:t>
            </a:r>
            <a:r>
              <a:rPr lang="en-US" altLang="zh-CN" sz="2400" noProof="0" dirty="0">
                <a:ln w="3175" cmpd="sng">
                  <a:noFill/>
                </a:ln>
                <a:effectLst/>
                <a:uLnTx/>
                <a:uFillTx/>
                <a:latin typeface="Times New Roman" panose="02020603050405020304" charset="0"/>
                <a:ea typeface="+mj-ea"/>
                <a:cs typeface="Times New Roman" panose="02020603050405020304" charset="0"/>
                <a:sym typeface="+mn-ea"/>
              </a:rPr>
              <a:t>Thesis Proposal</a:t>
            </a:r>
            <a:r>
              <a:rPr lang="en-US" altLang="zh-CN" sz="2400">
                <a:latin typeface="Times New Roman" panose="02020603050405020304" charset="0"/>
                <a:cs typeface="Times New Roman" panose="02020603050405020304" charset="0"/>
                <a:sym typeface="+mn-ea"/>
              </a:rPr>
              <a:t> </a:t>
            </a:r>
          </a:p>
          <a:p>
            <a:pPr fontAlgn="auto">
              <a:lnSpc>
                <a:spcPct val="150000"/>
              </a:lnSpc>
              <a:spcBef>
                <a:spcPts val="0"/>
              </a:spcBef>
            </a:pPr>
            <a:r>
              <a:rPr lang="en-US" altLang="zh-CN" sz="2400">
                <a:latin typeface="Times New Roman" panose="02020603050405020304" charset="0"/>
                <a:cs typeface="Times New Roman" panose="02020603050405020304" charset="0"/>
                <a:sym typeface="+mn-ea"/>
              </a:rPr>
              <a:t>Thesis proposal or thesis prospectus is sth you use to convince your advisor what you plan to research on and write about. It is an important step which bridge the selection and approval of the thesis topic and the writing of the thesis.</a:t>
            </a:r>
            <a:endParaRPr lang="en-US" altLang="zh-CN" sz="2400">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807720" y="1165860"/>
            <a:ext cx="979995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eaLnBrk="1" hangingPunct="1">
              <a:lnSpc>
                <a:spcPct val="90000"/>
              </a:lnSpc>
              <a:buNone/>
            </a:pPr>
            <a:r>
              <a:rPr lang="en-US" altLang="zh-CN">
                <a:solidFill>
                  <a:schemeClr val="accent2">
                    <a:lumMod val="75000"/>
                  </a:schemeClr>
                </a:solidFill>
                <a:latin typeface="Times New Roman" panose="02020603050405020304" charset="0"/>
                <a:cs typeface="Times New Roman" panose="02020603050405020304" charset="0"/>
              </a:rPr>
              <a:t>3.2  Content</a:t>
            </a:r>
          </a:p>
          <a:p>
            <a:pPr marL="0" indent="0" eaLnBrk="1" hangingPunct="1">
              <a:lnSpc>
                <a:spcPct val="90000"/>
              </a:lnSpc>
              <a:buNone/>
            </a:pPr>
            <a:r>
              <a:rPr lang="en-US" altLang="zh-CN">
                <a:latin typeface="Times New Roman" panose="02020603050405020304" charset="0"/>
                <a:cs typeface="Times New Roman" panose="02020603050405020304" charset="0"/>
              </a:rPr>
              <a:t>3.2.1 Introduction                                                             </a:t>
            </a:r>
          </a:p>
          <a:p>
            <a:pPr marL="0" indent="0" eaLnBrk="1" hangingPunct="1">
              <a:lnSpc>
                <a:spcPct val="90000"/>
              </a:lnSpc>
              <a:buNone/>
            </a:pPr>
            <a:r>
              <a:rPr lang="en-US" altLang="zh-CN">
                <a:latin typeface="Times New Roman" panose="02020603050405020304" charset="0"/>
                <a:cs typeface="Times New Roman" panose="02020603050405020304" charset="0"/>
              </a:rPr>
              <a:t>  What is the problem or subject?                                        </a:t>
            </a:r>
          </a:p>
          <a:p>
            <a:pPr marL="0" indent="0" eaLnBrk="1" hangingPunct="1">
              <a:lnSpc>
                <a:spcPct val="90000"/>
              </a:lnSpc>
              <a:buNone/>
            </a:pPr>
            <a:r>
              <a:rPr lang="en-US" altLang="zh-CN">
                <a:latin typeface="Times New Roman" panose="02020603050405020304" charset="0"/>
                <a:cs typeface="Times New Roman" panose="02020603050405020304" charset="0"/>
              </a:rPr>
              <a:t>  Why do you want to investigate it?</a:t>
            </a:r>
          </a:p>
          <a:p>
            <a:pPr marL="0" indent="0" eaLnBrk="1" hangingPunct="1">
              <a:lnSpc>
                <a:spcPct val="90000"/>
              </a:lnSpc>
              <a:buNone/>
            </a:pPr>
            <a:r>
              <a:rPr lang="en-US" altLang="zh-CN">
                <a:latin typeface="Times New Roman" panose="02020603050405020304" charset="0"/>
                <a:cs typeface="Times New Roman" panose="02020603050405020304" charset="0"/>
              </a:rPr>
              <a:t>3.2.2 Methods                                                                     </a:t>
            </a:r>
          </a:p>
          <a:p>
            <a:pPr marL="0" indent="0" eaLnBrk="1" hangingPunct="1">
              <a:lnSpc>
                <a:spcPct val="90000"/>
              </a:lnSpc>
              <a:buNone/>
            </a:pPr>
            <a:r>
              <a:rPr lang="en-US" altLang="zh-CN">
                <a:latin typeface="Times New Roman" panose="02020603050405020304" charset="0"/>
                <a:cs typeface="Times New Roman" panose="02020603050405020304" charset="0"/>
              </a:rPr>
              <a:t>  How do you plan to do your research?                                  </a:t>
            </a:r>
          </a:p>
          <a:p>
            <a:pPr marL="0" indent="0" eaLnBrk="1" hangingPunct="1">
              <a:lnSpc>
                <a:spcPct val="90000"/>
              </a:lnSpc>
              <a:buNone/>
            </a:pPr>
            <a:r>
              <a:rPr lang="en-US" altLang="zh-CN">
                <a:latin typeface="Times New Roman" panose="02020603050405020304" charset="0"/>
                <a:cs typeface="Times New Roman" panose="02020603050405020304" charset="0"/>
              </a:rPr>
              <a:t>  What procedure do you intend to follow?</a:t>
            </a:r>
          </a:p>
          <a:p>
            <a:pPr marL="0" indent="0" eaLnBrk="1" hangingPunct="1">
              <a:lnSpc>
                <a:spcPct val="90000"/>
              </a:lnSpc>
              <a:buNone/>
            </a:pPr>
            <a:r>
              <a:rPr lang="en-US" altLang="zh-CN">
                <a:latin typeface="Times New Roman" panose="02020603050405020304" charset="0"/>
                <a:cs typeface="Times New Roman" panose="02020603050405020304" charset="0"/>
              </a:rPr>
              <a:t>3.2.3 Materials                                                                  </a:t>
            </a:r>
          </a:p>
          <a:p>
            <a:pPr marL="0" indent="0" eaLnBrk="1" hangingPunct="1">
              <a:lnSpc>
                <a:spcPct val="90000"/>
              </a:lnSpc>
              <a:buNone/>
            </a:pPr>
            <a:r>
              <a:rPr lang="en-US" altLang="zh-CN">
                <a:latin typeface="Times New Roman" panose="02020603050405020304" charset="0"/>
                <a:cs typeface="Times New Roman" panose="02020603050405020304" charset="0"/>
              </a:rPr>
              <a:t>  What resources do you plan to use?                                 </a:t>
            </a:r>
          </a:p>
          <a:p>
            <a:pPr marL="0" indent="0" eaLnBrk="1" hangingPunct="1">
              <a:lnSpc>
                <a:spcPct val="90000"/>
              </a:lnSpc>
              <a:buNone/>
            </a:pPr>
            <a:r>
              <a:rPr lang="en-US" altLang="zh-CN">
                <a:latin typeface="Times New Roman" panose="02020603050405020304" charset="0"/>
                <a:cs typeface="Times New Roman" panose="02020603050405020304" charset="0"/>
              </a:rPr>
              <a:t>  What analytical tools will you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807720" y="1165860"/>
            <a:ext cx="10021570"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eaLnBrk="1" hangingPunct="1">
              <a:lnSpc>
                <a:spcPct val="150000"/>
              </a:lnSpc>
              <a:buNone/>
            </a:pPr>
            <a:r>
              <a:rPr lang="en-US" altLang="zh-CN">
                <a:latin typeface="Times New Roman" panose="02020603050405020304" charset="0"/>
                <a:cs typeface="Times New Roman" panose="02020603050405020304" charset="0"/>
                <a:sym typeface="+mn-ea"/>
              </a:rPr>
              <a:t>3.2.4 Discussion                                                                  What is the anticipated relationship of your proposed results to previous work by others?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What are the anticipated limitations of your methods and materials?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Are there any anticipated difficulties?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Of what practical or theoretical value is the research?</a:t>
            </a: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807720" y="1165860"/>
            <a:ext cx="10701020"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eaLnBrk="1" hangingPunct="1">
              <a:lnSpc>
                <a:spcPct val="150000"/>
              </a:lnSpc>
              <a:buNone/>
            </a:pPr>
            <a:r>
              <a:rPr lang="en-US" altLang="zh-CN">
                <a:latin typeface="Times New Roman" panose="02020603050405020304" charset="0"/>
                <a:cs typeface="Times New Roman" panose="02020603050405020304" charset="0"/>
                <a:sym typeface="+mn-ea"/>
              </a:rPr>
              <a:t>3.3 Formulation of thesis statement</a:t>
            </a:r>
            <a:endParaRPr lang="en-US" altLang="zh-CN">
              <a:latin typeface="Times New Roman" panose="02020603050405020304" charset="0"/>
              <a:cs typeface="Times New Roman" panose="02020603050405020304" charset="0"/>
            </a:endParaRPr>
          </a:p>
          <a:p>
            <a:pPr marL="0" indent="0" eaLnBrk="1" hangingPunct="1">
              <a:lnSpc>
                <a:spcPct val="150000"/>
              </a:lnSpc>
              <a:buNone/>
            </a:pPr>
            <a:r>
              <a:rPr lang="en-US" altLang="zh-CN">
                <a:latin typeface="Times New Roman" panose="02020603050405020304" charset="0"/>
                <a:cs typeface="Times New Roman" panose="02020603050405020304" charset="0"/>
                <a:sym typeface="+mn-ea"/>
              </a:rPr>
              <a:t>3.3.1 Definition</a:t>
            </a:r>
            <a:endParaRPr lang="en-US" altLang="zh-CN">
              <a:latin typeface="Times New Roman" panose="02020603050405020304" charset="0"/>
              <a:cs typeface="Times New Roman" panose="02020603050405020304" charset="0"/>
            </a:endParaRPr>
          </a:p>
          <a:p>
            <a:pPr marL="0" indent="0" eaLnBrk="1" hangingPunct="1">
              <a:lnSpc>
                <a:spcPct val="150000"/>
              </a:lnSpc>
              <a:buNone/>
            </a:pPr>
            <a:r>
              <a:rPr lang="en-US" altLang="zh-CN">
                <a:latin typeface="Times New Roman" panose="02020603050405020304" charset="0"/>
                <a:cs typeface="Times New Roman" panose="02020603050405020304" charset="0"/>
                <a:sym typeface="+mn-ea"/>
              </a:rPr>
              <a:t>The thesis statement is a single sentence that clearly describes your point of view towards it. It is customary for the thesis sentence to be the last sentence of the first, introductory paragraph of a paper. It clearly defines the target you are trying to hit.</a:t>
            </a: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04013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eaLnBrk="1" hangingPunct="1">
              <a:lnSpc>
                <a:spcPct val="150000"/>
              </a:lnSpc>
              <a:buNone/>
            </a:pPr>
            <a:r>
              <a:rPr lang="en-US" altLang="zh-CN">
                <a:latin typeface="Times New Roman" panose="02020603050405020304" charset="0"/>
                <a:cs typeface="Times New Roman" panose="02020603050405020304" charset="0"/>
                <a:sym typeface="+mn-ea"/>
              </a:rPr>
              <a:t>3.3.2 Functions of thesis statement</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It establishes a boundary around your subject and discourages you from wandering aimlessly.</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The well-rounded thesis can chart an orderly course for the paper, making it easier to write.</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The thesis gives the readers an idea of what to expect, making the paper easier to read</a:t>
            </a: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04013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eaLnBrk="1" hangingPunct="1">
              <a:lnSpc>
                <a:spcPct val="150000"/>
              </a:lnSpc>
              <a:buNone/>
            </a:pPr>
            <a:r>
              <a:rPr lang="en-US" altLang="zh-CN">
                <a:latin typeface="Times New Roman" panose="02020603050405020304" charset="0"/>
                <a:cs typeface="Times New Roman" panose="02020603050405020304" charset="0"/>
                <a:sym typeface="+mn-ea"/>
              </a:rPr>
              <a:t>3.3.3 Rules for wording the thesis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Be clear, comprehensible, and direct.</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Predict major divisions in the structure of the paper.</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Commit you to an unmistakable course, argument, or point of view.</a:t>
            </a:r>
            <a:endParaRPr lang="en-US" altLang="zh-CN">
              <a:latin typeface="Times New Roman" panose="02020603050405020304" charset="0"/>
              <a:cs typeface="Times New Roman" panose="02020603050405020304" charset="0"/>
            </a:endParaRPr>
          </a:p>
          <a:p>
            <a:pPr eaLnBrk="1" hangingPunct="1"/>
            <a:endParaRPr lang="en-US" altLang="zh-CN">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04013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285750" marR="0" lvl="0" indent="-28575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Char char=""/>
              <a:defRPr/>
            </a:pPr>
            <a:r>
              <a:rPr lang="en-US" altLang="zh-CN" noProof="0" dirty="0">
                <a:ln>
                  <a:noFill/>
                </a:ln>
                <a:effectLst/>
                <a:uLnTx/>
                <a:uFillTx/>
                <a:latin typeface="Times New Roman" panose="02020603050405020304" charset="0"/>
                <a:cs typeface="Times New Roman" panose="02020603050405020304" charset="0"/>
                <a:sym typeface="+mn-ea"/>
              </a:rPr>
              <a:t> Rules for wording the thesis</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a:t>
            </a:r>
            <a:r>
              <a:rPr lang="en-US" altLang="zh-CN"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 The thesis should commit you to a single line of argument.</a:t>
            </a:r>
            <a:endParaRPr kumimoji="0" lang="en-US" altLang="zh-CN" b="0" i="0"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err="1">
                <a:ln>
                  <a:noFill/>
                </a:ln>
                <a:solidFill>
                  <a:schemeClr val="accent2">
                    <a:lumMod val="75000"/>
                  </a:schemeClr>
                </a:solidFill>
                <a:effectLst/>
                <a:uLnTx/>
                <a:uFillTx/>
                <a:latin typeface="Times New Roman" panose="02020603050405020304" charset="0"/>
                <a:cs typeface="Times New Roman" panose="02020603050405020304" charset="0"/>
                <a:sym typeface="+mn-ea"/>
              </a:rPr>
              <a:t>Eg</a:t>
            </a:r>
            <a:r>
              <a:rPr lang="en-US" altLang="zh-CN"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a:t>
            </a:r>
            <a:r>
              <a:rPr lang="en-US" altLang="zh-CN" noProof="0" dirty="0">
                <a:ln>
                  <a:noFill/>
                </a:ln>
                <a:effectLst/>
                <a:uLnTx/>
                <a:uFillTx/>
                <a:latin typeface="Times New Roman" panose="02020603050405020304" charset="0"/>
                <a:cs typeface="Times New Roman" panose="02020603050405020304" charset="0"/>
                <a:sym typeface="+mn-ea"/>
              </a:rPr>
              <a:t> The Roman theater was inspired by the Greek theater, which it imitated and eventually the romans produced great plays in their theaters, such as those by Plautus, who was the best Roman comic writer because of his robustness and inventiveness.</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04013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285750" marR="0" lvl="0" indent="-28575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Char char=""/>
              <a:defRPr/>
            </a:pPr>
            <a:r>
              <a:rPr lang="en-US" altLang="zh-CN" noProof="0" dirty="0">
                <a:ln>
                  <a:noFill/>
                </a:ln>
                <a:effectLst/>
                <a:uLnTx/>
                <a:uFillTx/>
                <a:latin typeface="Times New Roman" panose="02020603050405020304" charset="0"/>
                <a:cs typeface="Times New Roman" panose="02020603050405020304" charset="0"/>
                <a:sym typeface="+mn-ea"/>
              </a:rPr>
              <a:t>Better:</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0"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Because of his robust language and novel comic plots, Plautus can be considered the best Roman comic playwright, and his plays are still successfully staged today.</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a:t>
            </a:r>
            <a:r>
              <a:rPr lang="en-US" altLang="zh-CN" b="1"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The thesis should not be figurative language.</a:t>
            </a:r>
            <a:endParaRPr kumimoji="0" lang="en-US" altLang="zh-CN" b="1" i="0"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a:t>
            </a:r>
            <a:r>
              <a:rPr lang="en-US" altLang="zh-CN" noProof="0" dirty="0" err="1">
                <a:ln>
                  <a:noFill/>
                </a:ln>
                <a:solidFill>
                  <a:schemeClr val="accent2">
                    <a:lumMod val="75000"/>
                  </a:schemeClr>
                </a:solidFill>
                <a:effectLst/>
                <a:uLnTx/>
                <a:uFillTx/>
                <a:latin typeface="Times New Roman" panose="02020603050405020304" charset="0"/>
                <a:cs typeface="Times New Roman" panose="02020603050405020304" charset="0"/>
                <a:sym typeface="+mn-ea"/>
              </a:rPr>
              <a:t>Eg</a:t>
            </a:r>
            <a:r>
              <a:rPr lang="en-US" altLang="zh-CN" noProof="0" dirty="0">
                <a:ln>
                  <a:noFill/>
                </a:ln>
                <a:effectLst/>
                <a:uLnTx/>
                <a:uFillTx/>
                <a:latin typeface="Times New Roman" panose="02020603050405020304" charset="0"/>
                <a:cs typeface="Times New Roman" panose="02020603050405020304" charset="0"/>
                <a:sym typeface="+mn-ea"/>
              </a:rPr>
              <a:t>. Henry James is the Frank Lloyd Wright of the American novel.</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04013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285750" marR="0" lvl="0" indent="-28575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Char char=""/>
              <a:defRPr/>
            </a:pPr>
            <a:r>
              <a:rPr lang="en-US" altLang="zh-CN" noProof="0" dirty="0">
                <a:ln>
                  <a:noFill/>
                </a:ln>
                <a:effectLst/>
                <a:uLnTx/>
                <a:uFillTx/>
                <a:latin typeface="Times New Roman" panose="02020603050405020304" charset="0"/>
                <a:cs typeface="Times New Roman" panose="02020603050405020304" charset="0"/>
                <a:sym typeface="+mn-ea"/>
              </a:rPr>
              <a:t>Better:</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The novel of Henry James have internal consistency because of the way he unifies his themes, patterns his episodes, and orders his images.</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a:t>
            </a:r>
            <a:r>
              <a:rPr lang="en-US" altLang="zh-CN" b="1"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The thesis should not be worded vaguely.</a:t>
            </a:r>
            <a:endParaRPr kumimoji="0" lang="en-US" altLang="zh-CN" b="0" i="0"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err="1">
                <a:ln>
                  <a:noFill/>
                </a:ln>
                <a:solidFill>
                  <a:schemeClr val="accent2">
                    <a:lumMod val="75000"/>
                  </a:schemeClr>
                </a:solidFill>
                <a:effectLst/>
                <a:uLnTx/>
                <a:uFillTx/>
                <a:latin typeface="Times New Roman" panose="02020603050405020304" charset="0"/>
                <a:cs typeface="Times New Roman" panose="02020603050405020304" charset="0"/>
                <a:sym typeface="+mn-ea"/>
              </a:rPr>
              <a:t>Eg</a:t>
            </a:r>
            <a:r>
              <a:rPr lang="en-US" altLang="zh-CN"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a:t>
            </a:r>
            <a:r>
              <a:rPr lang="en-US" altLang="zh-CN" noProof="0" dirty="0">
                <a:ln>
                  <a:noFill/>
                </a:ln>
                <a:effectLst/>
                <a:uLnTx/>
                <a:uFillTx/>
                <a:latin typeface="Times New Roman" panose="02020603050405020304" charset="0"/>
                <a:cs typeface="Times New Roman" panose="02020603050405020304" charset="0"/>
                <a:sym typeface="+mn-ea"/>
              </a:rPr>
              <a:t> Cigarette smoking wreaks havoc on the body.</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341755"/>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285750" marR="0" lvl="0" indent="-28575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Char char=""/>
              <a:defRPr/>
            </a:pPr>
            <a:r>
              <a:rPr lang="en-US" altLang="zh-CN" noProof="0" dirty="0">
                <a:ln>
                  <a:noFill/>
                </a:ln>
                <a:effectLst/>
                <a:uLnTx/>
                <a:uFillTx/>
                <a:latin typeface="Times New Roman" panose="02020603050405020304" charset="0"/>
                <a:cs typeface="Times New Roman" panose="02020603050405020304" charset="0"/>
                <a:sym typeface="+mn-ea"/>
              </a:rPr>
              <a:t>Better:</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Cigarette smoking harms the body by constricting the blood vessel, accelerating the heart beat, paralyzing the cilia in the bronchial tubes, and activating excessive gastric secretions in the stomach.</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a:t>
            </a:r>
            <a:r>
              <a:rPr lang="en-US" altLang="zh-CN" b="1"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The thesis should not be worded as a question.</a:t>
            </a:r>
            <a:endParaRPr kumimoji="0" lang="en-US" altLang="zh-CN" b="1" i="0"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err="1">
                <a:ln>
                  <a:noFill/>
                </a:ln>
                <a:solidFill>
                  <a:schemeClr val="accent2">
                    <a:lumMod val="75000"/>
                  </a:schemeClr>
                </a:solidFill>
                <a:effectLst/>
                <a:uLnTx/>
                <a:uFillTx/>
                <a:latin typeface="Times New Roman" panose="02020603050405020304" charset="0"/>
                <a:cs typeface="Times New Roman" panose="02020603050405020304" charset="0"/>
                <a:sym typeface="+mn-ea"/>
              </a:rPr>
              <a:t>Eg</a:t>
            </a:r>
            <a:r>
              <a:rPr lang="en-US" altLang="zh-CN"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a:t>
            </a:r>
            <a:r>
              <a:rPr lang="en-US" altLang="zh-CN" noProof="0" dirty="0">
                <a:ln>
                  <a:noFill/>
                </a:ln>
                <a:effectLst/>
                <a:uLnTx/>
                <a:uFillTx/>
                <a:latin typeface="Times New Roman" panose="02020603050405020304" charset="0"/>
                <a:cs typeface="Times New Roman" panose="02020603050405020304" charset="0"/>
                <a:sym typeface="+mn-ea"/>
              </a:rPr>
              <a:t> Who makes the key decision in U.S cities?</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341755"/>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285750" marR="0" lvl="0" indent="-28575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Char char=""/>
              <a:defRPr/>
            </a:pPr>
            <a:r>
              <a:rPr lang="en-US" altLang="zh-CN" noProof="0" dirty="0">
                <a:ln>
                  <a:noFill/>
                </a:ln>
                <a:effectLst/>
                <a:uLnTx/>
                <a:uFillTx/>
                <a:latin typeface="Times New Roman" panose="02020603050405020304" charset="0"/>
                <a:cs typeface="Times New Roman" panose="02020603050405020304" charset="0"/>
                <a:sym typeface="+mn-ea"/>
              </a:rPr>
              <a:t>Better:</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Key decisions in large U.S cities are made by a handful of individuals, drawn largely from business, industrial, and municipal circles, who occupy the top of the power hierarchy.</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36195" marR="0" lvl="0" indent="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buNone/>
              <a:defRPr/>
            </a:pPr>
            <a:r>
              <a:rPr lang="en-US" altLang="zh-CN" noProof="0" dirty="0">
                <a:ln>
                  <a:noFill/>
                </a:ln>
                <a:effectLst/>
                <a:uLnTx/>
                <a:uFillTx/>
                <a:latin typeface="Times New Roman" panose="02020603050405020304" charset="0"/>
                <a:cs typeface="Times New Roman" panose="02020603050405020304" charset="0"/>
                <a:sym typeface="+mn-ea"/>
              </a:rPr>
              <a:t>  </a:t>
            </a:r>
            <a:r>
              <a:rPr lang="en-US" altLang="zh-CN" i="1" noProof="0" dirty="0">
                <a:ln>
                  <a:noFill/>
                </a:ln>
                <a:solidFill>
                  <a:schemeClr val="accent2">
                    <a:lumMod val="75000"/>
                  </a:schemeClr>
                </a:solidFill>
                <a:effectLst/>
                <a:uLnTx/>
                <a:uFillTx/>
                <a:latin typeface="Times New Roman" panose="02020603050405020304" charset="0"/>
                <a:cs typeface="Times New Roman" panose="02020603050405020304" charset="0"/>
                <a:sym typeface="+mn-ea"/>
              </a:rPr>
              <a:t>The thesis should be a single, concise, easily understood sentence. A muddled, incoherent thesis will generate an equally muddled and incoherent paper.</a:t>
            </a: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341755"/>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marR="0" lvl="0" indent="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a:buNone/>
              <a:defRPr/>
            </a:pPr>
            <a:r>
              <a:rPr lang="en-US" altLang="zh-CN" b="1" noProof="0" dirty="0">
                <a:ln>
                  <a:noFill/>
                </a:ln>
                <a:effectLst/>
                <a:uLnTx/>
                <a:uFillTx/>
                <a:latin typeface="Times New Roman" panose="02020603050405020304" charset="0"/>
                <a:cs typeface="Times New Roman" panose="02020603050405020304" charset="0"/>
                <a:sym typeface="+mn-ea"/>
              </a:rPr>
              <a:t>3.4 The Process of Writing a Dissertation</a:t>
            </a:r>
            <a:endParaRPr kumimoji="0" lang="en-US" altLang="zh-CN" b="1"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latin typeface="Times New Roman" panose="02020603050405020304" charset="0"/>
                <a:cs typeface="Times New Roman" panose="02020603050405020304" charset="0"/>
                <a:sym typeface="+mn-ea"/>
              </a:rPr>
              <a:t>     </a:t>
            </a:r>
            <a:endParaRPr kumimoji="0" lang="en-US" altLang="zh-CN" b="1"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latin typeface="Times New Roman" panose="02020603050405020304" charset="0"/>
                <a:cs typeface="Times New Roman" panose="02020603050405020304" charset="0"/>
                <a:sym typeface="+mn-ea"/>
              </a:rPr>
              <a:t>1. Prewriting</a:t>
            </a:r>
            <a:endParaRPr kumimoji="0" lang="en-US" altLang="zh-CN" b="1"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411480" algn="l" defTabSz="457200" rtl="0" eaLnBrk="1" fontAlgn="auto" latinLnBrk="0" hangingPunct="1">
              <a:lnSpc>
                <a:spcPct val="150000"/>
              </a:lnSpc>
              <a:spcBef>
                <a:spcPts val="0"/>
              </a:spcBef>
              <a:spcAft>
                <a:spcPts val="0"/>
              </a:spcAft>
              <a:buClr>
                <a:schemeClr val="tx1">
                  <a:shade val="95000"/>
                </a:schemeClr>
              </a:buClr>
              <a:buSzPct val="100000"/>
              <a:buFont typeface="Wingdings" panose="05000000000000000000"/>
              <a:buChar char=""/>
              <a:defRPr/>
            </a:pPr>
            <a:r>
              <a:rPr lang="en-US" altLang="zh-CN" noProof="0" dirty="0">
                <a:ln>
                  <a:noFill/>
                </a:ln>
                <a:effectLst/>
                <a:uLnTx/>
                <a:uFillTx/>
                <a:latin typeface="Times New Roman" panose="02020603050405020304" charset="0"/>
                <a:cs typeface="Times New Roman" panose="02020603050405020304" charset="0"/>
                <a:sym typeface="+mn-ea"/>
              </a:rPr>
              <a:t>Managing your time</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411480" algn="l" defTabSz="457200" rtl="0" eaLnBrk="1" fontAlgn="auto" latinLnBrk="0" hangingPunct="1">
              <a:lnSpc>
                <a:spcPct val="150000"/>
              </a:lnSpc>
              <a:spcBef>
                <a:spcPts val="0"/>
              </a:spcBef>
              <a:spcAft>
                <a:spcPts val="0"/>
              </a:spcAft>
              <a:buClr>
                <a:schemeClr val="tx1">
                  <a:shade val="95000"/>
                </a:schemeClr>
              </a:buClr>
              <a:buSzPct val="100000"/>
              <a:buFont typeface="Wingdings" panose="05000000000000000000"/>
              <a:buChar char=""/>
              <a:defRPr/>
            </a:pPr>
            <a:r>
              <a:rPr lang="en-US" altLang="zh-CN" noProof="0" dirty="0">
                <a:ln>
                  <a:noFill/>
                </a:ln>
                <a:effectLst/>
                <a:uLnTx/>
                <a:uFillTx/>
                <a:latin typeface="Times New Roman" panose="02020603050405020304" charset="0"/>
                <a:cs typeface="Times New Roman" panose="02020603050405020304" charset="0"/>
                <a:sym typeface="+mn-ea"/>
              </a:rPr>
              <a:t>Locating your interest</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411480" algn="l" defTabSz="457200" rtl="0" eaLnBrk="1" fontAlgn="auto" latinLnBrk="0" hangingPunct="1">
              <a:lnSpc>
                <a:spcPct val="150000"/>
              </a:lnSpc>
              <a:spcBef>
                <a:spcPts val="0"/>
              </a:spcBef>
              <a:spcAft>
                <a:spcPts val="0"/>
              </a:spcAft>
              <a:buClr>
                <a:schemeClr val="tx1">
                  <a:shade val="95000"/>
                </a:schemeClr>
              </a:buClr>
              <a:buSzPct val="100000"/>
              <a:buFont typeface="Wingdings" panose="05000000000000000000"/>
              <a:buChar char=""/>
              <a:defRPr/>
            </a:pPr>
            <a:r>
              <a:rPr lang="en-US" altLang="zh-CN" noProof="0" dirty="0">
                <a:ln>
                  <a:noFill/>
                </a:ln>
                <a:effectLst/>
                <a:uLnTx/>
                <a:uFillTx/>
                <a:latin typeface="Times New Roman" panose="02020603050405020304" charset="0"/>
                <a:cs typeface="Times New Roman" panose="02020603050405020304" charset="0"/>
                <a:sym typeface="+mn-ea"/>
              </a:rPr>
              <a:t>Selecting a topic</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L="411480" marR="0" lvl="0" indent="-411480" algn="l" defTabSz="457200" rtl="0" eaLnBrk="1" fontAlgn="auto" latinLnBrk="0" hangingPunct="1">
              <a:lnSpc>
                <a:spcPct val="150000"/>
              </a:lnSpc>
              <a:spcBef>
                <a:spcPts val="0"/>
              </a:spcBef>
              <a:spcAft>
                <a:spcPts val="0"/>
              </a:spcAft>
              <a:buClr>
                <a:schemeClr val="tx1">
                  <a:shade val="95000"/>
                </a:schemeClr>
              </a:buClr>
              <a:buSzPct val="100000"/>
              <a:buFont typeface="Wingdings" panose="05000000000000000000"/>
              <a:buChar char=""/>
              <a:defRPr/>
            </a:pPr>
            <a:r>
              <a:rPr lang="en-US" altLang="zh-CN" noProof="0" dirty="0">
                <a:ln>
                  <a:noFill/>
                </a:ln>
                <a:effectLst/>
                <a:uLnTx/>
                <a:uFillTx/>
                <a:latin typeface="Times New Roman" panose="02020603050405020304" charset="0"/>
                <a:cs typeface="Times New Roman" panose="02020603050405020304" charset="0"/>
                <a:sym typeface="+mn-ea"/>
              </a:rPr>
              <a:t>Familiarizing yourself with the research background</a:t>
            </a:r>
            <a:endParaRPr kumimoji="0" lang="en-US" altLang="zh-CN" b="0" i="0" u="none" strike="noStrike" kern="1200" cap="none" spc="0" normalizeH="0" baseline="0" noProof="0" dirty="0">
              <a:ln>
                <a:noFill/>
              </a:ln>
              <a:solidFill>
                <a:schemeClr val="tx1"/>
              </a:solidFill>
              <a:effectLst/>
              <a:uLnTx/>
              <a:uFillTx/>
              <a:latin typeface="Times New Roman" panose="02020603050405020304" charset="0"/>
              <a:ea typeface="+mn-ea"/>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341755"/>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eaLnBrk="1" hangingPunct="1">
              <a:lnSpc>
                <a:spcPct val="150000"/>
              </a:lnSpc>
            </a:pPr>
            <a:r>
              <a:rPr lang="en-US" altLang="zh-CN">
                <a:latin typeface="Times New Roman" panose="02020603050405020304" charset="0"/>
                <a:cs typeface="Times New Roman" panose="02020603050405020304" charset="0"/>
                <a:sym typeface="+mn-ea"/>
              </a:rPr>
              <a:t>Discovering existing studies and ideas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Reading the relevant literature</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Taking notes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Discovering questions and problems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Focusing on your research</a:t>
            </a:r>
            <a:endParaRPr lang="en-US" altLang="zh-CN">
              <a:latin typeface="Times New Roman" panose="02020603050405020304" charset="0"/>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341755"/>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eaLnBrk="1" hangingPunct="1">
              <a:lnSpc>
                <a:spcPct val="150000"/>
              </a:lnSpc>
            </a:pPr>
            <a:r>
              <a:rPr lang="en-US" altLang="zh-CN">
                <a:latin typeface="Times New Roman" panose="02020603050405020304" charset="0"/>
                <a:cs typeface="Times New Roman" panose="02020603050405020304" charset="0"/>
                <a:sym typeface="+mn-ea"/>
              </a:rPr>
              <a:t>Preparing a preliminary bibliography </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Formulating the thesis statement</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Asking the research question</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Identifying the appropriate research method</a:t>
            </a:r>
            <a:endParaRPr lang="en-US" altLang="zh-CN">
              <a:latin typeface="Times New Roman" panose="02020603050405020304" charset="0"/>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341755"/>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eaLnBrk="1" hangingPunct="1">
              <a:lnSpc>
                <a:spcPct val="150000"/>
              </a:lnSpc>
            </a:pPr>
            <a:r>
              <a:rPr lang="en-US" altLang="zh-CN">
                <a:latin typeface="Times New Roman" panose="02020603050405020304" charset="0"/>
                <a:cs typeface="Times New Roman" panose="02020603050405020304" charset="0"/>
                <a:sym typeface="+mn-ea"/>
              </a:rPr>
              <a:t>Looking for theoretical support</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Collecting data</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Doing experiments and statistical analysis</a:t>
            </a:r>
            <a:endParaRPr lang="en-US" altLang="zh-CN">
              <a:latin typeface="Times New Roman" panose="02020603050405020304" charset="0"/>
              <a:cs typeface="Times New Roman" panose="02020603050405020304" charset="0"/>
            </a:endParaRPr>
          </a:p>
          <a:p>
            <a:pPr eaLnBrk="1" hangingPunct="1">
              <a:lnSpc>
                <a:spcPct val="150000"/>
              </a:lnSpc>
            </a:pPr>
            <a:r>
              <a:rPr lang="en-US" altLang="zh-CN">
                <a:latin typeface="Times New Roman" panose="02020603050405020304" charset="0"/>
                <a:cs typeface="Times New Roman" panose="02020603050405020304" charset="0"/>
                <a:sym typeface="+mn-ea"/>
              </a:rPr>
              <a:t>Conducting interviews and surveys</a:t>
            </a:r>
            <a:endParaRPr lang="en-US" altLang="zh-CN">
              <a:latin typeface="Times New Roman" panose="02020603050405020304" charset="0"/>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341755"/>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Classifying types of outline</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Creating the final plan</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Developing the first draft</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Revising the first draft</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Learning how to avoid plagiarism</a:t>
            </a:r>
            <a:endParaRPr lang="en-US" altLang="zh-CN">
              <a:latin typeface="Times New Roman" panose="02020603050405020304" charset="0"/>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1075690" y="1273810"/>
            <a:ext cx="10372090"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algn="l" eaLnBrk="1" hangingPunct="1">
              <a:buNone/>
            </a:pPr>
            <a:r>
              <a:rPr lang="en-US" altLang="zh-CN" b="1">
                <a:latin typeface="Times New Roman" panose="02020603050405020304" charset="0"/>
                <a:cs typeface="Times New Roman" panose="02020603050405020304" charset="0"/>
                <a:sym typeface="+mn-ea"/>
              </a:rPr>
              <a:t>3.5 Writing an Outline</a:t>
            </a:r>
            <a:endParaRPr lang="en-US" altLang="zh-CN">
              <a:latin typeface="Times New Roman" panose="02020603050405020304" charset="0"/>
              <a:cs typeface="Times New Roman" panose="02020603050405020304" charset="0"/>
            </a:endParaRPr>
          </a:p>
          <a:p>
            <a:pPr marL="0" indent="0" eaLnBrk="1" hangingPunct="1">
              <a:lnSpc>
                <a:spcPct val="150000"/>
              </a:lnSpc>
              <a:buNone/>
            </a:pPr>
            <a:r>
              <a:rPr lang="en-US" altLang="zh-CN">
                <a:latin typeface="Times New Roman" panose="02020603050405020304" charset="0"/>
                <a:cs typeface="Times New Roman" panose="02020603050405020304" charset="0"/>
                <a:sym typeface="+mn-ea"/>
              </a:rPr>
              <a:t>Before you write an outline, make a list of the </a:t>
            </a:r>
            <a:r>
              <a:rPr lang="en-US" altLang="zh-CN" b="1">
                <a:latin typeface="Times New Roman" panose="02020603050405020304" charset="0"/>
                <a:cs typeface="Times New Roman" panose="02020603050405020304" charset="0"/>
                <a:sym typeface="+mn-ea"/>
              </a:rPr>
              <a:t>main questions</a:t>
            </a:r>
            <a:r>
              <a:rPr lang="en-US" altLang="zh-CN">
                <a:latin typeface="Times New Roman" panose="02020603050405020304" charset="0"/>
                <a:cs typeface="Times New Roman" panose="02020603050405020304" charset="0"/>
                <a:sym typeface="+mn-ea"/>
              </a:rPr>
              <a:t> you plan to answer and the important facts you have discovered as you have gone through your sources.</a:t>
            </a:r>
            <a:endParaRPr lang="en-US" altLang="zh-CN">
              <a:latin typeface="Times New Roman" panose="02020603050405020304" charset="0"/>
              <a:cs typeface="Times New Roman" panose="02020603050405020304" charset="0"/>
            </a:endParaRPr>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27381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eaLnBrk="1" hangingPunct="1">
              <a:buNone/>
            </a:pPr>
            <a:r>
              <a:rPr lang="en-US" altLang="zh-CN">
                <a:solidFill>
                  <a:schemeClr val="accent2">
                    <a:lumMod val="75000"/>
                  </a:schemeClr>
                </a:solidFill>
                <a:latin typeface="Times New Roman" panose="02020603050405020304" charset="0"/>
                <a:cs typeface="Times New Roman" panose="02020603050405020304" charset="0"/>
                <a:sym typeface="+mn-ea"/>
              </a:rPr>
              <a:t>Example:</a:t>
            </a:r>
            <a:r>
              <a:rPr lang="en-US" altLang="zh-CN">
                <a:latin typeface="Times New Roman" panose="02020603050405020304" charset="0"/>
                <a:cs typeface="Times New Roman" panose="02020603050405020304" charset="0"/>
                <a:sym typeface="+mn-ea"/>
              </a:rPr>
              <a:t> Jack London’s “Buck” from </a:t>
            </a:r>
            <a:r>
              <a:rPr lang="en-US" altLang="zh-CN" i="1">
                <a:latin typeface="Times New Roman" panose="02020603050405020304" charset="0"/>
                <a:cs typeface="Times New Roman" panose="02020603050405020304" charset="0"/>
                <a:sym typeface="+mn-ea"/>
              </a:rPr>
              <a:t>The Call of the Wild</a:t>
            </a:r>
            <a:r>
              <a:rPr lang="en-US" altLang="zh-CN">
                <a:latin typeface="Times New Roman" panose="02020603050405020304" charset="0"/>
                <a:cs typeface="Times New Roman" panose="02020603050405020304" charset="0"/>
                <a:sym typeface="+mn-ea"/>
              </a:rPr>
              <a:t>—a reflection of the life of American working class in mid-19th century</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Questions to answer: </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What is the story about Buck like? </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What is the social background of the story?</a:t>
            </a:r>
            <a:endParaRPr lang="en-US" altLang="zh-CN">
              <a:latin typeface="Times New Roman" panose="02020603050405020304" charset="0"/>
              <a:cs typeface="Times New Roman" panose="02020603050405020304" charset="0"/>
            </a:endParaRPr>
          </a:p>
          <a:p>
            <a:pPr eaLnBrk="1" hangingPunct="1"/>
            <a:endParaRPr lang="zh-CN" altLang="en-US"/>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27381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How do others comment on the book? </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What was the working class like in America of mid-19th century?</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What is the correlation of the dog “Buck” and the working class?</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What conclusion do I wish to draw?</a:t>
            </a:r>
            <a:endParaRPr lang="en-US" altLang="zh-CN">
              <a:latin typeface="Times New Roman" panose="02020603050405020304" charset="0"/>
              <a:cs typeface="Times New Roman" panose="02020603050405020304" charset="0"/>
            </a:endParaRPr>
          </a:p>
          <a:p>
            <a:pPr eaLnBrk="1" hangingPunct="1"/>
            <a:endParaRPr lang="zh-CN" altLang="en-US"/>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273810"/>
            <a:ext cx="11359515" cy="574548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Then, give a serious thought on</a:t>
            </a:r>
            <a:r>
              <a:rPr lang="en-US" altLang="zh-CN" b="1">
                <a:latin typeface="Times New Roman" panose="02020603050405020304" charset="0"/>
                <a:cs typeface="Times New Roman" panose="02020603050405020304" charset="0"/>
                <a:sym typeface="+mn-ea"/>
              </a:rPr>
              <a:t> how you plan to organize your paper</a:t>
            </a:r>
            <a:r>
              <a:rPr lang="en-US" altLang="zh-CN">
                <a:latin typeface="Times New Roman" panose="02020603050405020304" charset="0"/>
                <a:cs typeface="Times New Roman" panose="02020603050405020304" charset="0"/>
                <a:sym typeface="+mn-ea"/>
              </a:rPr>
              <a:t>. There are some basic ways to go about it.</a:t>
            </a:r>
            <a:endParaRPr lang="en-US" altLang="zh-CN">
              <a:latin typeface="Times New Roman" panose="02020603050405020304" charset="0"/>
              <a:cs typeface="Times New Roman" panose="02020603050405020304" charset="0"/>
            </a:endParaRPr>
          </a:p>
          <a:p>
            <a:pPr eaLnBrk="1" hangingPunct="1">
              <a:buFont typeface="Wingdings" panose="05000000000000000000" pitchFamily="2" charset="2"/>
              <a:buNone/>
            </a:pPr>
            <a:r>
              <a:rPr lang="en-US" altLang="zh-CN">
                <a:latin typeface="Times New Roman" panose="02020603050405020304" charset="0"/>
                <a:cs typeface="Times New Roman" panose="02020603050405020304" charset="0"/>
                <a:sym typeface="+mn-ea"/>
              </a:rPr>
              <a:t>    </a:t>
            </a:r>
            <a:endParaRPr lang="en-US" altLang="zh-CN">
              <a:latin typeface="Times New Roman" panose="02020603050405020304" charset="0"/>
              <a:cs typeface="Times New Roman" panose="02020603050405020304" charset="0"/>
            </a:endParaRPr>
          </a:p>
          <a:p>
            <a:pPr eaLnBrk="1" hangingPunct="1">
              <a:buFont typeface="Wingdings" panose="05000000000000000000" pitchFamily="2" charset="2"/>
              <a:buNone/>
            </a:pPr>
            <a:r>
              <a:rPr lang="en-US" altLang="zh-CN">
                <a:latin typeface="Times New Roman" panose="02020603050405020304" charset="0"/>
                <a:cs typeface="Times New Roman" panose="02020603050405020304" charset="0"/>
                <a:sym typeface="+mn-ea"/>
              </a:rPr>
              <a:t>1.  Cause and effect:  </a:t>
            </a:r>
            <a:endParaRPr lang="en-US" altLang="zh-CN">
              <a:latin typeface="Times New Roman" panose="02020603050405020304" charset="0"/>
              <a:cs typeface="Times New Roman" panose="02020603050405020304" charset="0"/>
            </a:endParaRPr>
          </a:p>
          <a:p>
            <a:pPr eaLnBrk="1" hangingPunct="1">
              <a:buFont typeface="Wingdings" panose="05000000000000000000" pitchFamily="2" charset="2"/>
              <a:buNone/>
            </a:pPr>
            <a:r>
              <a:rPr lang="en-US" altLang="zh-CN">
                <a:latin typeface="Times New Roman" panose="02020603050405020304" charset="0"/>
                <a:cs typeface="Times New Roman" panose="02020603050405020304" charset="0"/>
                <a:sym typeface="+mn-ea"/>
              </a:rPr>
              <a:t> gun violence on American campus </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endParaRPr lang="zh-CN" altLang="en-US"/>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Thesis Proposal</a:t>
            </a:r>
            <a:endParaRPr lang="en-US" altLang="zh-CN" sz="2800" b="1">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529" name="Rectangle 3"/>
          <p:cNvSpPr>
            <a:spLocks noGrp="1"/>
          </p:cNvSpPr>
          <p:nvPr/>
        </p:nvSpPr>
        <p:spPr>
          <a:xfrm>
            <a:off x="507365" y="1807210"/>
            <a:ext cx="11359515" cy="5231765"/>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2. Order of importance: </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comparison of Obama’s new stimulus plan and Franklin Roosevelt’s New Deal</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3. Categorical order: </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r>
              <a:rPr lang="en-US" altLang="zh-CN">
                <a:latin typeface="Times New Roman" panose="02020603050405020304" charset="0"/>
                <a:cs typeface="Times New Roman" panose="02020603050405020304" charset="0"/>
                <a:sym typeface="+mn-ea"/>
              </a:rPr>
              <a:t>   the differences of mainstream wedding ceremonies in US and China </a:t>
            </a:r>
            <a:endParaRPr lang="en-US" altLang="zh-CN">
              <a:latin typeface="Times New Roman" panose="02020603050405020304" charset="0"/>
              <a:cs typeface="Times New Roman" panose="02020603050405020304" charset="0"/>
            </a:endParaRPr>
          </a:p>
          <a:p>
            <a:pPr eaLnBrk="1" hangingPunct="1">
              <a:lnSpc>
                <a:spcPct val="150000"/>
              </a:lnSpc>
              <a:buFont typeface="Wingdings" panose="05000000000000000000" pitchFamily="2" charset="2"/>
              <a:buNone/>
            </a:pPr>
            <a:endParaRPr lang="zh-CN" altLang="en-US"/>
          </a:p>
          <a:p>
            <a:pPr marR="0" lvl="0" algn="l" defTabSz="457200" rtl="0" eaLnBrk="1" fontAlgn="auto" hangingPunct="1">
              <a:lnSpc>
                <a:spcPct val="150000"/>
              </a:lnSpc>
              <a:spcBef>
                <a:spcPts val="0"/>
              </a:spcBef>
              <a:spcAft>
                <a:spcPts val="1000"/>
              </a:spcAft>
              <a:buClr>
                <a:schemeClr val="tx1"/>
              </a:buClr>
              <a:buSzPct val="100000"/>
              <a:buFont typeface="Wingdings 2" panose="05020102010507070707" pitchFamily="18" charset="2"/>
            </a:pPr>
            <a:endParaRPr kumimoji="0" lang="en-US" altLang="zh-CN" b="0" i="1" u="none" strike="noStrike" kern="1200" cap="none" spc="0" normalizeH="0" baseline="0" noProof="0" dirty="0">
              <a:ln>
                <a:noFill/>
              </a:ln>
              <a:solidFill>
                <a:schemeClr val="accent2">
                  <a:lumMod val="75000"/>
                </a:schemeClr>
              </a:solidFill>
              <a:effectLst/>
              <a:uLnTx/>
              <a:uFillTx/>
              <a:latin typeface="Times New Roman" panose="02020603050405020304" charset="0"/>
              <a:ea typeface="+mn-ea"/>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52425"/>
            <a:ext cx="10515600" cy="5824855"/>
          </a:xfrm>
        </p:spPr>
        <p:txBody>
          <a:bodyPr>
            <a:normAutofit lnSpcReduction="20000"/>
          </a:bodyPr>
          <a:lstStyle/>
          <a:p>
            <a:pPr marL="411480" marR="0" lvl="0" indent="-411480" algn="ctr"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Pattern.</a:t>
            </a:r>
            <a:r>
              <a:rPr lang="en-US" altLang="zh-CN" noProof="0" dirty="0">
                <a:ln>
                  <a:noFill/>
                </a:ln>
                <a:effectLst/>
                <a:uLnTx/>
                <a:uFillTx/>
                <a:sym typeface="+mn-ea"/>
              </a:rPr>
              <a:t> You should make as many divisions as you feel are necessary. </a:t>
            </a:r>
          </a:p>
          <a:p>
            <a:pPr marL="411480" marR="0" lvl="0" indent="-411480" algn="ctr"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endParaRPr kumimoji="0" lang="en-US" altLang="zh-CN" b="0"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1.</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1.1</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1.2 the influence of American slangs to the society</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150 words or so</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1.2.1 daily life</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………………..2-3 pages</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1.2.2 politics</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………………..2-3 pages</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1.3</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1.3.1</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1.3.1.1</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1.3.1.2</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1.3.2</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1.4</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2. </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2.1</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2.2</a:t>
            </a:r>
            <a:endParaRPr kumimoji="0" lang="en-US" altLang="zh-CN" b="1" i="0" u="none" strike="noStrike" kern="1200" cap="none" spc="0" normalizeH="0" baseline="0" noProof="0" dirty="0">
              <a:ln>
                <a:noFill/>
              </a:ln>
              <a:solidFill>
                <a:schemeClr val="tx1"/>
              </a:solidFill>
              <a:effectLst/>
              <a:uLnTx/>
              <a:uFillTx/>
              <a:latin typeface="+mn-lt"/>
              <a:ea typeface="+mn-ea"/>
              <a:cs typeface="+mn-cs"/>
            </a:endParaRPr>
          </a:p>
          <a:p>
            <a:pPr marL="411480" marR="0" lvl="0" indent="-411480" algn="l" defTabSz="457200" rtl="0" eaLnBrk="1" fontAlgn="auto" latinLnBrk="0" hangingPunct="1">
              <a:lnSpc>
                <a:spcPct val="80000"/>
              </a:lnSpc>
              <a:spcBef>
                <a:spcPts val="0"/>
              </a:spcBef>
              <a:spcAft>
                <a:spcPts val="0"/>
              </a:spcAft>
              <a:buClr>
                <a:schemeClr val="tx1">
                  <a:shade val="95000"/>
                </a:schemeClr>
              </a:buClr>
              <a:buSzPct val="100000"/>
              <a:buFont typeface="Wingdings" panose="05000000000000000000" pitchFamily="2" charset="2"/>
              <a:buNone/>
              <a:defRPr/>
            </a:pPr>
            <a:r>
              <a:rPr lang="en-US" altLang="zh-CN" b="1" noProof="0" dirty="0">
                <a:ln>
                  <a:noFill/>
                </a:ln>
                <a:effectLst/>
                <a:uLnTx/>
                <a:uFillTx/>
                <a:sym typeface="+mn-ea"/>
              </a:rPr>
              <a:t>        </a:t>
            </a:r>
            <a:r>
              <a:rPr lang="en-US" altLang="zh-CN" b="1" noProof="0" dirty="0">
                <a:ln>
                  <a:noFill/>
                </a:ln>
                <a:effectLst/>
                <a:uLnTx/>
                <a:uFillTx/>
                <a:latin typeface="Arial" panose="020B0604020202020204"/>
                <a:sym typeface="+mn-ea"/>
              </a:rPr>
              <a:t>…</a:t>
            </a:r>
            <a:r>
              <a:rPr lang="en-US" altLang="zh-CN" noProof="0" dirty="0">
                <a:ln>
                  <a:noFill/>
                </a:ln>
                <a:effectLst/>
                <a:uLnTx/>
                <a:uFillTx/>
                <a:sym typeface="+mn-ea"/>
              </a:rPr>
              <a:t> </a:t>
            </a:r>
            <a:endParaRPr kumimoji="0" lang="en-US" altLang="zh-CN" b="0" i="0" u="none" strike="noStrike" kern="1200" cap="none" spc="0" normalizeH="0" baseline="0" noProof="0" dirty="0">
              <a:ln>
                <a:noFill/>
              </a:ln>
              <a:solidFill>
                <a:schemeClr val="tx1"/>
              </a:solidFill>
              <a:effectLst/>
              <a:uLnTx/>
              <a:uFillTx/>
              <a:latin typeface="+mn-lt"/>
              <a:ea typeface="+mn-ea"/>
              <a:cs typeface="+mn-cs"/>
            </a:endParaRPr>
          </a:p>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Grp="1"/>
          </p:cNvSpPr>
          <p:nvPr/>
        </p:nvSpPr>
        <p:spPr>
          <a:xfrm>
            <a:off x="457200" y="228600"/>
            <a:ext cx="10293985" cy="6629400"/>
          </a:xfrm>
          <a:prstGeom prst="rect">
            <a:avLst/>
          </a:prstGeom>
          <a:noFill/>
          <a:ln w="9525">
            <a:noFill/>
          </a:ln>
        </p:spPr>
        <p:txBody>
          <a:bodyPr vert="horz" wrap="square" lIns="91440" tIns="45720" rIns="91440" bIns="45720" anchor="ctr" anchorCtr="0"/>
          <a:lstStyle>
            <a:lvl1pPr marL="2857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3200"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panose="020B0604020202020204" pitchFamily="34"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panose="020B0604020202020204" pitchFamily="34"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panose="020B0604020202020204"/>
              <a:buChar char="•"/>
              <a:defRPr sz="1200" kern="1200" cap="none">
                <a:solidFill>
                  <a:schemeClr val="tx1"/>
                </a:solidFill>
                <a:effectLst/>
                <a:latin typeface="+mn-lt"/>
                <a:ea typeface="+mn-ea"/>
                <a:cs typeface="+mn-cs"/>
              </a:defRPr>
            </a:lvl9pPr>
          </a:lstStyle>
          <a:p>
            <a:pPr marL="0" indent="0" algn="ctr" eaLnBrk="1" hangingPunct="1">
              <a:lnSpc>
                <a:spcPct val="90000"/>
              </a:lnSpc>
              <a:buNone/>
            </a:pPr>
            <a:r>
              <a:rPr lang="en-US" altLang="zh-CN" sz="2800" b="1"/>
              <a:t>A Study on Semantic and Culture Features of American Slang</a:t>
            </a:r>
            <a:endParaRPr lang="en-US" altLang="zh-CN" sz="2800"/>
          </a:p>
          <a:p>
            <a:pPr marL="0" indent="0" eaLnBrk="1" hangingPunct="1">
              <a:lnSpc>
                <a:spcPct val="90000"/>
              </a:lnSpc>
              <a:buNone/>
            </a:pPr>
            <a:r>
              <a:rPr lang="en-US" altLang="zh-CN" sz="2800"/>
              <a:t> 1. Introduction</a:t>
            </a:r>
          </a:p>
          <a:p>
            <a:pPr marL="0" indent="0" eaLnBrk="1" hangingPunct="1">
              <a:lnSpc>
                <a:spcPct val="90000"/>
              </a:lnSpc>
              <a:buNone/>
            </a:pPr>
            <a:r>
              <a:rPr lang="en-US" altLang="zh-CN" sz="2800"/>
              <a:t>        1.1 The Definition of Slang</a:t>
            </a:r>
          </a:p>
          <a:p>
            <a:pPr marL="0" indent="0" eaLnBrk="1" hangingPunct="1">
              <a:lnSpc>
                <a:spcPct val="90000"/>
              </a:lnSpc>
              <a:buNone/>
            </a:pPr>
            <a:r>
              <a:rPr lang="en-US" altLang="zh-CN" sz="2800"/>
              <a:t>        1.2 The Development of American Slang</a:t>
            </a:r>
          </a:p>
          <a:p>
            <a:pPr marL="0" indent="0" eaLnBrk="1" hangingPunct="1">
              <a:lnSpc>
                <a:spcPct val="90000"/>
              </a:lnSpc>
              <a:buNone/>
            </a:pPr>
            <a:r>
              <a:rPr lang="en-US" altLang="zh-CN" sz="2800"/>
              <a:t>             1.2.1 The Background and The History</a:t>
            </a:r>
          </a:p>
          <a:p>
            <a:pPr marL="0" indent="0" eaLnBrk="1" hangingPunct="1">
              <a:lnSpc>
                <a:spcPct val="90000"/>
              </a:lnSpc>
              <a:buNone/>
            </a:pPr>
            <a:r>
              <a:rPr lang="en-US" altLang="zh-CN" sz="2800"/>
              <a:t>             1.2.2  The Social Influence</a:t>
            </a:r>
          </a:p>
          <a:p>
            <a:pPr marL="0" indent="0" eaLnBrk="1" hangingPunct="1">
              <a:lnSpc>
                <a:spcPct val="90000"/>
              </a:lnSpc>
              <a:buNone/>
            </a:pPr>
            <a:r>
              <a:rPr lang="en-US" altLang="zh-CN" sz="2800"/>
              <a:t> 2. The American Slang Influence the Social Culture</a:t>
            </a:r>
          </a:p>
          <a:p>
            <a:pPr marL="609600" indent="-609600" eaLnBrk="1" hangingPunct="1">
              <a:lnSpc>
                <a:spcPct val="90000"/>
              </a:lnSpc>
              <a:buFont typeface="Wingdings" panose="05000000000000000000" pitchFamily="2" charset="2"/>
              <a:buNone/>
            </a:pPr>
            <a:r>
              <a:rPr lang="en-US" altLang="zh-CN" sz="2800"/>
              <a:t>         2.1 Daily Life </a:t>
            </a:r>
          </a:p>
          <a:p>
            <a:pPr marL="609600" indent="-609600" eaLnBrk="1" hangingPunct="1">
              <a:lnSpc>
                <a:spcPct val="90000"/>
              </a:lnSpc>
              <a:buFont typeface="Wingdings" panose="05000000000000000000" pitchFamily="2" charset="2"/>
              <a:buNone/>
            </a:pPr>
            <a:r>
              <a:rPr lang="en-US" altLang="zh-CN" sz="2800"/>
              <a:t>          </a:t>
            </a:r>
            <a:r>
              <a:rPr lang="en-US" altLang="zh-CN" sz="2800">
                <a:latin typeface="Arial" panose="020B0604020202020204" pitchFamily="34" charset="0"/>
              </a:rPr>
              <a:t>…</a:t>
            </a:r>
            <a:endParaRPr lang="en-US" altLang="zh-CN" sz="2800"/>
          </a:p>
          <a:p>
            <a:pPr marL="609600" indent="-609600" eaLnBrk="1" hangingPunct="1">
              <a:lnSpc>
                <a:spcPct val="90000"/>
              </a:lnSpc>
              <a:buFont typeface="Wingdings" panose="05000000000000000000" pitchFamily="2" charset="2"/>
              <a:buNone/>
            </a:pPr>
            <a:r>
              <a:rPr lang="en-US" altLang="zh-CN" sz="2800"/>
              <a:t>              2.2.1 The American Slang Could Adjust the Relationship </a:t>
            </a:r>
          </a:p>
          <a:p>
            <a:pPr marL="609600" indent="-609600" eaLnBrk="1" hangingPunct="1">
              <a:lnSpc>
                <a:spcPct val="90000"/>
              </a:lnSpc>
              <a:buFont typeface="Wingdings" panose="05000000000000000000" pitchFamily="2" charset="2"/>
              <a:buNone/>
            </a:pPr>
            <a:r>
              <a:rPr lang="en-US" altLang="zh-CN" sz="2800" b="1" i="1"/>
              <a:t>What is irrational with this outline?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4966335" y="2599055"/>
            <a:ext cx="6673215" cy="953135"/>
          </a:xfrm>
          <a:prstGeom prst="rect">
            <a:avLst/>
          </a:prstGeom>
          <a:noFill/>
        </p:spPr>
        <p:txBody>
          <a:bodyPr wrap="square" rtlCol="0">
            <a:spAutoFit/>
          </a:bodyPr>
          <a:lstStyle/>
          <a:p>
            <a:pPr indent="0" fontAlgn="auto">
              <a:lnSpc>
                <a:spcPct val="200000"/>
              </a:lnSpc>
            </a:pPr>
            <a:r>
              <a:rPr lang="en-US" altLang="zh-CN" sz="2800" b="1" i="1">
                <a:solidFill>
                  <a:schemeClr val="accent2">
                    <a:lumMod val="75000"/>
                  </a:schemeClr>
                </a:solidFill>
                <a:latin typeface="Times New Roman" panose="02020603050405020304" charset="0"/>
                <a:cs typeface="Times New Roman" panose="02020603050405020304" charset="0"/>
                <a:sym typeface="+mn-ea"/>
              </a:rPr>
              <a:t>3.6 </a:t>
            </a:r>
            <a:r>
              <a:rPr lang="en-US" altLang="zh-CN" sz="2800">
                <a:latin typeface="Times New Roman" panose="02020603050405020304" charset="0"/>
                <a:cs typeface="Times New Roman" panose="02020603050405020304" charset="0"/>
                <a:sym typeface="+mn-ea"/>
              </a:rPr>
              <a:t>Common Mistakes in Proposal Writing </a:t>
            </a:r>
            <a:endParaRPr lang="en-US" altLang="zh-CN" sz="2800">
              <a:latin typeface="Times New Roman" panose="02020603050405020304" charset="0"/>
              <a:cs typeface="Times New Roman" panose="02020603050405020304" charset="0"/>
            </a:endParaRPr>
          </a:p>
        </p:txBody>
      </p:sp>
      <p:sp>
        <p:nvSpPr>
          <p:cNvPr id="14" name="文本框 13"/>
          <p:cNvSpPr txBox="1"/>
          <p:nvPr/>
        </p:nvSpPr>
        <p:spPr>
          <a:xfrm>
            <a:off x="2740025" y="2986405"/>
            <a:ext cx="1399540" cy="922020"/>
          </a:xfrm>
          <a:prstGeom prst="rect">
            <a:avLst/>
          </a:prstGeom>
          <a:noFill/>
        </p:spPr>
        <p:txBody>
          <a:bodyPr wrap="square" rtlCol="0">
            <a:spAutoFit/>
          </a:bodyPr>
          <a:lstStyle/>
          <a:p>
            <a:r>
              <a:rPr lang="en-US" altLang="zh-CN" sz="5400">
                <a:solidFill>
                  <a:schemeClr val="bg1"/>
                </a:solidFill>
              </a:rPr>
              <a:t>01</a:t>
            </a:r>
          </a:p>
        </p:txBody>
      </p:sp>
      <p:sp>
        <p:nvSpPr>
          <p:cNvPr id="9" name="六边形 8"/>
          <p:cNvSpPr/>
          <p:nvPr/>
        </p:nvSpPr>
        <p:spPr>
          <a:xfrm>
            <a:off x="1188085" y="2426970"/>
            <a:ext cx="3105150" cy="2453640"/>
          </a:xfrm>
          <a:prstGeom prst="hexagon">
            <a:avLst/>
          </a:prstGeom>
          <a:blipFill rotWithShape="1">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单圆角矩形 7"/>
          <p:cNvSpPr/>
          <p:nvPr/>
        </p:nvSpPr>
        <p:spPr>
          <a:xfrm>
            <a:off x="2481580" y="1312545"/>
            <a:ext cx="978535" cy="344805"/>
          </a:xfrm>
          <a:prstGeom prst="round1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1</a:t>
            </a:r>
          </a:p>
        </p:txBody>
      </p:sp>
      <p:sp>
        <p:nvSpPr>
          <p:cNvPr id="12" name="单圆角矩形 11"/>
          <p:cNvSpPr/>
          <p:nvPr/>
        </p:nvSpPr>
        <p:spPr>
          <a:xfrm>
            <a:off x="3900170" y="1312545"/>
            <a:ext cx="978535" cy="344805"/>
          </a:xfrm>
          <a:prstGeom prst="round1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2</a:t>
            </a:r>
          </a:p>
        </p:txBody>
      </p:sp>
      <p:sp>
        <p:nvSpPr>
          <p:cNvPr id="13" name="单圆角矩形 12"/>
          <p:cNvSpPr/>
          <p:nvPr/>
        </p:nvSpPr>
        <p:spPr>
          <a:xfrm>
            <a:off x="5203190" y="1312545"/>
            <a:ext cx="978535" cy="344805"/>
          </a:xfrm>
          <a:prstGeom prst="round1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3</a:t>
            </a:r>
          </a:p>
        </p:txBody>
      </p:sp>
      <p:sp>
        <p:nvSpPr>
          <p:cNvPr id="14" name="单圆角矩形 13"/>
          <p:cNvSpPr/>
          <p:nvPr/>
        </p:nvSpPr>
        <p:spPr>
          <a:xfrm>
            <a:off x="6593205" y="1337945"/>
            <a:ext cx="978535" cy="344805"/>
          </a:xfrm>
          <a:prstGeom prst="round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4</a:t>
            </a:r>
          </a:p>
        </p:txBody>
      </p:sp>
      <p:sp>
        <p:nvSpPr>
          <p:cNvPr id="15" name="单圆角矩形 14"/>
          <p:cNvSpPr/>
          <p:nvPr/>
        </p:nvSpPr>
        <p:spPr>
          <a:xfrm>
            <a:off x="7983220" y="1337945"/>
            <a:ext cx="978535" cy="344805"/>
          </a:xfrm>
          <a:prstGeom prst="round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5</a:t>
            </a:r>
          </a:p>
        </p:txBody>
      </p:sp>
      <p:sp>
        <p:nvSpPr>
          <p:cNvPr id="16" name="单圆角矩形 15"/>
          <p:cNvSpPr/>
          <p:nvPr/>
        </p:nvSpPr>
        <p:spPr>
          <a:xfrm>
            <a:off x="9285605" y="1312545"/>
            <a:ext cx="978535" cy="344805"/>
          </a:xfrm>
          <a:prstGeom prst="round1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6</a:t>
            </a:r>
          </a:p>
        </p:txBody>
      </p:sp>
      <p:pic>
        <p:nvPicPr>
          <p:cNvPr id="101" name="图片 100"/>
          <p:cNvPicPr/>
          <p:nvPr/>
        </p:nvPicPr>
        <p:blipFill>
          <a:blip r:embed="rId4"/>
          <a:stretch>
            <a:fillRect/>
          </a:stretch>
        </p:blipFill>
        <p:spPr>
          <a:xfrm>
            <a:off x="1955800" y="2004060"/>
            <a:ext cx="8643620" cy="47790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12" grpId="0" animBg="1"/>
      <p:bldP spid="12" grpId="1" animBg="1"/>
      <p:bldP spid="13" grpId="0" animBg="1"/>
      <p:bldP spid="13" grpId="1" animBg="1"/>
      <p:bldP spid="14" grpId="0" animBg="1"/>
      <p:bldP spid="14" grpId="1" animBg="1"/>
      <p:bldP spid="15" grpId="0" animBg="1"/>
      <p:bldP spid="15" grpId="1" animBg="1"/>
      <p:bldP spid="16" grpId="0" bldLvl="0" animBg="1"/>
      <p:bldP spid="16"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3" name="内容占位符 2"/>
          <p:cNvSpPr>
            <a:spLocks noGrp="1"/>
          </p:cNvSpPr>
          <p:nvPr>
            <p:ph idx="1"/>
          </p:nvPr>
        </p:nvSpPr>
        <p:spPr>
          <a:xfrm>
            <a:off x="1441450" y="1825625"/>
            <a:ext cx="9644380" cy="4351655"/>
          </a:xfrm>
          <a:ln w="38100">
            <a:solidFill>
              <a:schemeClr val="accent2">
                <a:lumMod val="75000"/>
              </a:schemeClr>
            </a:solidFill>
            <a:prstDash val="sysDash"/>
          </a:ln>
        </p:spPr>
        <p:txBody>
          <a:bodyPr>
            <a:normAutofit lnSpcReduction="20000"/>
          </a:bodyPr>
          <a:lstStyle/>
          <a:p>
            <a:pPr marL="0" indent="0" fontAlgn="auto">
              <a:lnSpc>
                <a:spcPct val="200000"/>
              </a:lnSpc>
              <a:buNone/>
            </a:pPr>
            <a:r>
              <a:rPr lang="en-US" altLang="zh-CN" b="1">
                <a:solidFill>
                  <a:schemeClr val="accent4"/>
                </a:solidFill>
                <a:latin typeface="Times New Roman" panose="02020603050405020304" charset="0"/>
                <a:cs typeface="Times New Roman" panose="02020603050405020304" charset="0"/>
              </a:rPr>
              <a:t>Proposals that are too long.</a:t>
            </a:r>
            <a:r>
              <a:rPr lang="en-US" altLang="zh-CN">
                <a:latin typeface="Times New Roman" panose="02020603050405020304" charset="0"/>
                <a:cs typeface="Times New Roman" panose="02020603050405020304" charset="0"/>
              </a:rPr>
              <a:t> Stay to the point when you write thesis Proposals. Make your document concise and specific. Be sure not to diverge into off-topic discussions.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单圆角矩形 7"/>
          <p:cNvSpPr/>
          <p:nvPr/>
        </p:nvSpPr>
        <p:spPr>
          <a:xfrm>
            <a:off x="2487295" y="1165860"/>
            <a:ext cx="978535" cy="344805"/>
          </a:xfrm>
          <a:prstGeom prst="round1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1</a:t>
            </a:r>
          </a:p>
        </p:txBody>
      </p:sp>
      <p:sp>
        <p:nvSpPr>
          <p:cNvPr id="12" name="单圆角矩形 11"/>
          <p:cNvSpPr/>
          <p:nvPr>
            <p:custDataLst>
              <p:tags r:id="rId3"/>
            </p:custDataLst>
          </p:nvPr>
        </p:nvSpPr>
        <p:spPr>
          <a:xfrm>
            <a:off x="3900170" y="1312545"/>
            <a:ext cx="978535" cy="344805"/>
          </a:xfrm>
          <a:prstGeom prst="round1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2</a:t>
            </a:r>
          </a:p>
        </p:txBody>
      </p:sp>
      <p:sp>
        <p:nvSpPr>
          <p:cNvPr id="13" name="单圆角矩形 12"/>
          <p:cNvSpPr/>
          <p:nvPr>
            <p:custDataLst>
              <p:tags r:id="rId4"/>
            </p:custDataLst>
          </p:nvPr>
        </p:nvSpPr>
        <p:spPr>
          <a:xfrm>
            <a:off x="5203190" y="1312545"/>
            <a:ext cx="978535" cy="344805"/>
          </a:xfrm>
          <a:prstGeom prst="round1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3</a:t>
            </a:r>
          </a:p>
        </p:txBody>
      </p:sp>
      <p:sp>
        <p:nvSpPr>
          <p:cNvPr id="14" name="单圆角矩形 13"/>
          <p:cNvSpPr/>
          <p:nvPr>
            <p:custDataLst>
              <p:tags r:id="rId5"/>
            </p:custDataLst>
          </p:nvPr>
        </p:nvSpPr>
        <p:spPr>
          <a:xfrm>
            <a:off x="6593205" y="1337945"/>
            <a:ext cx="978535" cy="344805"/>
          </a:xfrm>
          <a:prstGeom prst="round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4</a:t>
            </a:r>
          </a:p>
        </p:txBody>
      </p:sp>
      <p:sp>
        <p:nvSpPr>
          <p:cNvPr id="15" name="单圆角矩形 14"/>
          <p:cNvSpPr/>
          <p:nvPr>
            <p:custDataLst>
              <p:tags r:id="rId6"/>
            </p:custDataLst>
          </p:nvPr>
        </p:nvSpPr>
        <p:spPr>
          <a:xfrm>
            <a:off x="7983220" y="1337945"/>
            <a:ext cx="978535" cy="344805"/>
          </a:xfrm>
          <a:prstGeom prst="round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5</a:t>
            </a:r>
          </a:p>
        </p:txBody>
      </p:sp>
      <p:sp>
        <p:nvSpPr>
          <p:cNvPr id="16" name="单圆角矩形 15"/>
          <p:cNvSpPr/>
          <p:nvPr>
            <p:custDataLst>
              <p:tags r:id="rId7"/>
            </p:custDataLst>
          </p:nvPr>
        </p:nvSpPr>
        <p:spPr>
          <a:xfrm>
            <a:off x="9286240" y="1341755"/>
            <a:ext cx="978535" cy="344805"/>
          </a:xfrm>
          <a:prstGeom prst="round1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3" name="内容占位符 2"/>
          <p:cNvSpPr>
            <a:spLocks noGrp="1"/>
          </p:cNvSpPr>
          <p:nvPr>
            <p:ph idx="1"/>
          </p:nvPr>
        </p:nvSpPr>
        <p:spPr>
          <a:xfrm>
            <a:off x="1441450" y="1825625"/>
            <a:ext cx="9644380" cy="4351655"/>
          </a:xfrm>
          <a:ln w="38100">
            <a:solidFill>
              <a:schemeClr val="accent2">
                <a:lumMod val="75000"/>
              </a:schemeClr>
            </a:solidFill>
            <a:prstDash val="sysDash"/>
          </a:ln>
        </p:spPr>
        <p:txBody>
          <a:bodyPr>
            <a:normAutofit lnSpcReduction="20000"/>
          </a:bodyPr>
          <a:lstStyle/>
          <a:p>
            <a:pPr marL="0" indent="0" fontAlgn="auto">
              <a:lnSpc>
                <a:spcPct val="200000"/>
              </a:lnSpc>
              <a:buNone/>
            </a:pPr>
            <a:r>
              <a:rPr lang="en-US" altLang="zh-CN" b="1">
                <a:solidFill>
                  <a:schemeClr val="accent6"/>
                </a:solidFill>
                <a:latin typeface="Times New Roman" panose="02020603050405020304" charset="0"/>
                <a:cs typeface="Times New Roman" panose="02020603050405020304" charset="0"/>
              </a:rPr>
              <a:t>Taking up too much research time.</a:t>
            </a:r>
            <a:r>
              <a:rPr lang="en-US" altLang="zh-CN">
                <a:latin typeface="Times New Roman" panose="02020603050405020304" charset="0"/>
                <a:cs typeface="Times New Roman" panose="02020603050405020304" charset="0"/>
              </a:rPr>
              <a:t> Many students struggle to delineate the context of their studies, regardless of the topic, time, or location. In order to explain the methodology of the study clearly to the reader, the proposal must clearly state what the study will focus on.</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单圆角矩形 7"/>
          <p:cNvSpPr/>
          <p:nvPr/>
        </p:nvSpPr>
        <p:spPr>
          <a:xfrm>
            <a:off x="2487295" y="1323340"/>
            <a:ext cx="978535" cy="344805"/>
          </a:xfrm>
          <a:prstGeom prst="round1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1</a:t>
            </a:r>
          </a:p>
        </p:txBody>
      </p:sp>
      <p:sp>
        <p:nvSpPr>
          <p:cNvPr id="12" name="单圆角矩形 11"/>
          <p:cNvSpPr/>
          <p:nvPr>
            <p:custDataLst>
              <p:tags r:id="rId3"/>
            </p:custDataLst>
          </p:nvPr>
        </p:nvSpPr>
        <p:spPr>
          <a:xfrm>
            <a:off x="3900805" y="1165860"/>
            <a:ext cx="978535" cy="344805"/>
          </a:xfrm>
          <a:prstGeom prst="round1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2</a:t>
            </a:r>
          </a:p>
        </p:txBody>
      </p:sp>
      <p:sp>
        <p:nvSpPr>
          <p:cNvPr id="13" name="单圆角矩形 12"/>
          <p:cNvSpPr/>
          <p:nvPr>
            <p:custDataLst>
              <p:tags r:id="rId4"/>
            </p:custDataLst>
          </p:nvPr>
        </p:nvSpPr>
        <p:spPr>
          <a:xfrm>
            <a:off x="5203190" y="1312545"/>
            <a:ext cx="978535" cy="344805"/>
          </a:xfrm>
          <a:prstGeom prst="round1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3</a:t>
            </a:r>
          </a:p>
        </p:txBody>
      </p:sp>
      <p:sp>
        <p:nvSpPr>
          <p:cNvPr id="14" name="单圆角矩形 13"/>
          <p:cNvSpPr/>
          <p:nvPr>
            <p:custDataLst>
              <p:tags r:id="rId5"/>
            </p:custDataLst>
          </p:nvPr>
        </p:nvSpPr>
        <p:spPr>
          <a:xfrm>
            <a:off x="6593205" y="1337945"/>
            <a:ext cx="978535" cy="344805"/>
          </a:xfrm>
          <a:prstGeom prst="round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4</a:t>
            </a:r>
          </a:p>
        </p:txBody>
      </p:sp>
      <p:sp>
        <p:nvSpPr>
          <p:cNvPr id="15" name="单圆角矩形 14"/>
          <p:cNvSpPr/>
          <p:nvPr>
            <p:custDataLst>
              <p:tags r:id="rId6"/>
            </p:custDataLst>
          </p:nvPr>
        </p:nvSpPr>
        <p:spPr>
          <a:xfrm>
            <a:off x="7983220" y="1337945"/>
            <a:ext cx="978535" cy="344805"/>
          </a:xfrm>
          <a:prstGeom prst="round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5</a:t>
            </a:r>
          </a:p>
        </p:txBody>
      </p:sp>
      <p:sp>
        <p:nvSpPr>
          <p:cNvPr id="16" name="单圆角矩形 15"/>
          <p:cNvSpPr/>
          <p:nvPr>
            <p:custDataLst>
              <p:tags r:id="rId7"/>
            </p:custDataLst>
          </p:nvPr>
        </p:nvSpPr>
        <p:spPr>
          <a:xfrm>
            <a:off x="9285605" y="1346200"/>
            <a:ext cx="978535" cy="344805"/>
          </a:xfrm>
          <a:prstGeom prst="round1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3" name="内容占位符 2"/>
          <p:cNvSpPr>
            <a:spLocks noGrp="1"/>
          </p:cNvSpPr>
          <p:nvPr>
            <p:ph idx="1"/>
          </p:nvPr>
        </p:nvSpPr>
        <p:spPr>
          <a:xfrm>
            <a:off x="1441450" y="1825625"/>
            <a:ext cx="9644380" cy="4351655"/>
          </a:xfrm>
          <a:ln w="38100">
            <a:solidFill>
              <a:schemeClr val="accent2">
                <a:lumMod val="75000"/>
              </a:schemeClr>
            </a:solidFill>
            <a:prstDash val="sysDash"/>
          </a:ln>
        </p:spPr>
        <p:txBody>
          <a:bodyPr>
            <a:normAutofit lnSpcReduction="20000"/>
          </a:bodyPr>
          <a:lstStyle/>
          <a:p>
            <a:pPr marL="0" indent="0" fontAlgn="auto">
              <a:lnSpc>
                <a:spcPct val="200000"/>
              </a:lnSpc>
              <a:buNone/>
            </a:pPr>
            <a:r>
              <a:rPr lang="en-US" altLang="zh-CN" b="1">
                <a:solidFill>
                  <a:schemeClr val="accent5">
                    <a:lumMod val="75000"/>
                  </a:schemeClr>
                </a:solidFill>
                <a:latin typeface="Times New Roman" panose="02020603050405020304" charset="0"/>
                <a:cs typeface="Times New Roman" panose="02020603050405020304" charset="0"/>
              </a:rPr>
              <a:t>Leaving out significant works from a literature review.</a:t>
            </a:r>
            <a:r>
              <a:rPr lang="en-US" altLang="zh-CN" b="1">
                <a:solidFill>
                  <a:schemeClr val="tx2"/>
                </a:solidFill>
                <a:latin typeface="Times New Roman" panose="02020603050405020304" charset="0"/>
                <a:cs typeface="Times New Roman" panose="02020603050405020304" charset="0"/>
              </a:rPr>
              <a:t> </a:t>
            </a:r>
            <a:r>
              <a:rPr lang="en-US" altLang="zh-CN">
                <a:latin typeface="Times New Roman" panose="02020603050405020304" charset="0"/>
                <a:cs typeface="Times New Roman" panose="02020603050405020304" charset="0"/>
              </a:rPr>
              <a:t>Though everything in the proposal should be kept at a minimum, key research studies must need to be included. To understand the scope and growth of the issue, proposals should be based on significant studies.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单圆角矩形 7"/>
          <p:cNvSpPr/>
          <p:nvPr/>
        </p:nvSpPr>
        <p:spPr>
          <a:xfrm>
            <a:off x="2487295" y="1323340"/>
            <a:ext cx="978535" cy="344805"/>
          </a:xfrm>
          <a:prstGeom prst="round1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1</a:t>
            </a:r>
          </a:p>
        </p:txBody>
      </p:sp>
      <p:sp>
        <p:nvSpPr>
          <p:cNvPr id="12" name="单圆角矩形 11"/>
          <p:cNvSpPr/>
          <p:nvPr>
            <p:custDataLst>
              <p:tags r:id="rId3"/>
            </p:custDataLst>
          </p:nvPr>
        </p:nvSpPr>
        <p:spPr>
          <a:xfrm>
            <a:off x="3900805" y="1341755"/>
            <a:ext cx="978535" cy="344805"/>
          </a:xfrm>
          <a:prstGeom prst="round1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2</a:t>
            </a:r>
          </a:p>
        </p:txBody>
      </p:sp>
      <p:sp>
        <p:nvSpPr>
          <p:cNvPr id="13" name="单圆角矩形 12"/>
          <p:cNvSpPr/>
          <p:nvPr>
            <p:custDataLst>
              <p:tags r:id="rId4"/>
            </p:custDataLst>
          </p:nvPr>
        </p:nvSpPr>
        <p:spPr>
          <a:xfrm>
            <a:off x="5203190" y="1165860"/>
            <a:ext cx="978535" cy="344805"/>
          </a:xfrm>
          <a:prstGeom prst="round1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3</a:t>
            </a:r>
          </a:p>
        </p:txBody>
      </p:sp>
      <p:sp>
        <p:nvSpPr>
          <p:cNvPr id="14" name="单圆角矩形 13"/>
          <p:cNvSpPr/>
          <p:nvPr>
            <p:custDataLst>
              <p:tags r:id="rId5"/>
            </p:custDataLst>
          </p:nvPr>
        </p:nvSpPr>
        <p:spPr>
          <a:xfrm>
            <a:off x="6593205" y="1337945"/>
            <a:ext cx="978535" cy="344805"/>
          </a:xfrm>
          <a:prstGeom prst="round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4</a:t>
            </a:r>
          </a:p>
        </p:txBody>
      </p:sp>
      <p:sp>
        <p:nvSpPr>
          <p:cNvPr id="15" name="单圆角矩形 14"/>
          <p:cNvSpPr/>
          <p:nvPr>
            <p:custDataLst>
              <p:tags r:id="rId6"/>
            </p:custDataLst>
          </p:nvPr>
        </p:nvSpPr>
        <p:spPr>
          <a:xfrm>
            <a:off x="7983220" y="1337945"/>
            <a:ext cx="978535" cy="344805"/>
          </a:xfrm>
          <a:prstGeom prst="round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5</a:t>
            </a:r>
          </a:p>
        </p:txBody>
      </p:sp>
      <p:sp>
        <p:nvSpPr>
          <p:cNvPr id="16" name="单圆角矩形 15"/>
          <p:cNvSpPr/>
          <p:nvPr>
            <p:custDataLst>
              <p:tags r:id="rId7"/>
            </p:custDataLst>
          </p:nvPr>
        </p:nvSpPr>
        <p:spPr>
          <a:xfrm>
            <a:off x="9285605" y="1337945"/>
            <a:ext cx="978535" cy="344805"/>
          </a:xfrm>
          <a:prstGeom prst="round1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3" name="内容占位符 2"/>
          <p:cNvSpPr>
            <a:spLocks noGrp="1"/>
          </p:cNvSpPr>
          <p:nvPr>
            <p:ph idx="1"/>
          </p:nvPr>
        </p:nvSpPr>
        <p:spPr>
          <a:xfrm>
            <a:off x="1441450" y="1825625"/>
            <a:ext cx="9644380" cy="4351655"/>
          </a:xfrm>
          <a:ln w="38100">
            <a:solidFill>
              <a:schemeClr val="accent2">
                <a:lumMod val="75000"/>
              </a:schemeClr>
            </a:solidFill>
            <a:prstDash val="sysDash"/>
          </a:ln>
        </p:spPr>
        <p:txBody>
          <a:bodyPr>
            <a:normAutofit lnSpcReduction="20000"/>
          </a:bodyPr>
          <a:lstStyle/>
          <a:p>
            <a:pPr marL="0" indent="0" fontAlgn="auto">
              <a:lnSpc>
                <a:spcPct val="200000"/>
              </a:lnSpc>
              <a:buNone/>
            </a:pPr>
            <a:r>
              <a:rPr lang="en-US" altLang="zh-CN" b="1">
                <a:solidFill>
                  <a:schemeClr val="accent1">
                    <a:lumMod val="75000"/>
                  </a:schemeClr>
                </a:solidFill>
                <a:latin typeface="Times New Roman" panose="02020603050405020304" charset="0"/>
                <a:cs typeface="Times New Roman" panose="02020603050405020304" charset="0"/>
              </a:rPr>
              <a:t>Major topics are too rarely discussed, and too much attention is paid to minor details.</a:t>
            </a:r>
            <a:r>
              <a:rPr lang="en-US" altLang="zh-CN">
                <a:latin typeface="Times New Roman" panose="02020603050405020304" charset="0"/>
                <a:cs typeface="Times New Roman" panose="02020603050405020304" charset="0"/>
              </a:rPr>
              <a:t> To persuasively argue for a study, a proposal should focus on just a few key research questions. Minor details should be noted, but should not overshadow the thesis.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单圆角矩形 7"/>
          <p:cNvSpPr/>
          <p:nvPr/>
        </p:nvSpPr>
        <p:spPr>
          <a:xfrm>
            <a:off x="2487295" y="1323340"/>
            <a:ext cx="978535" cy="344805"/>
          </a:xfrm>
          <a:prstGeom prst="round1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1</a:t>
            </a:r>
          </a:p>
        </p:txBody>
      </p:sp>
      <p:sp>
        <p:nvSpPr>
          <p:cNvPr id="12" name="单圆角矩形 11"/>
          <p:cNvSpPr/>
          <p:nvPr>
            <p:custDataLst>
              <p:tags r:id="rId3"/>
            </p:custDataLst>
          </p:nvPr>
        </p:nvSpPr>
        <p:spPr>
          <a:xfrm>
            <a:off x="3900805" y="1341755"/>
            <a:ext cx="978535" cy="344805"/>
          </a:xfrm>
          <a:prstGeom prst="round1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2</a:t>
            </a:r>
          </a:p>
        </p:txBody>
      </p:sp>
      <p:sp>
        <p:nvSpPr>
          <p:cNvPr id="13" name="单圆角矩形 12"/>
          <p:cNvSpPr/>
          <p:nvPr>
            <p:custDataLst>
              <p:tags r:id="rId4"/>
            </p:custDataLst>
          </p:nvPr>
        </p:nvSpPr>
        <p:spPr>
          <a:xfrm>
            <a:off x="5203190" y="1337945"/>
            <a:ext cx="978535" cy="344805"/>
          </a:xfrm>
          <a:prstGeom prst="round1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3</a:t>
            </a:r>
          </a:p>
        </p:txBody>
      </p:sp>
      <p:sp>
        <p:nvSpPr>
          <p:cNvPr id="14" name="单圆角矩形 13"/>
          <p:cNvSpPr/>
          <p:nvPr>
            <p:custDataLst>
              <p:tags r:id="rId5"/>
            </p:custDataLst>
          </p:nvPr>
        </p:nvSpPr>
        <p:spPr>
          <a:xfrm>
            <a:off x="6593205" y="1165860"/>
            <a:ext cx="978535" cy="344805"/>
          </a:xfrm>
          <a:prstGeom prst="round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4</a:t>
            </a:r>
          </a:p>
        </p:txBody>
      </p:sp>
      <p:sp>
        <p:nvSpPr>
          <p:cNvPr id="15" name="单圆角矩形 14"/>
          <p:cNvSpPr/>
          <p:nvPr>
            <p:custDataLst>
              <p:tags r:id="rId6"/>
            </p:custDataLst>
          </p:nvPr>
        </p:nvSpPr>
        <p:spPr>
          <a:xfrm>
            <a:off x="7983220" y="1337945"/>
            <a:ext cx="978535" cy="344805"/>
          </a:xfrm>
          <a:prstGeom prst="round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5</a:t>
            </a:r>
          </a:p>
        </p:txBody>
      </p:sp>
      <p:sp>
        <p:nvSpPr>
          <p:cNvPr id="16" name="单圆角矩形 15"/>
          <p:cNvSpPr/>
          <p:nvPr>
            <p:custDataLst>
              <p:tags r:id="rId7"/>
            </p:custDataLst>
          </p:nvPr>
        </p:nvSpPr>
        <p:spPr>
          <a:xfrm>
            <a:off x="9285605" y="1350645"/>
            <a:ext cx="978535" cy="344805"/>
          </a:xfrm>
          <a:prstGeom prst="round1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3" name="内容占位符 2"/>
          <p:cNvSpPr>
            <a:spLocks noGrp="1"/>
          </p:cNvSpPr>
          <p:nvPr>
            <p:ph idx="1"/>
          </p:nvPr>
        </p:nvSpPr>
        <p:spPr>
          <a:xfrm>
            <a:off x="1441450" y="1825625"/>
            <a:ext cx="9644380" cy="4351655"/>
          </a:xfrm>
          <a:ln w="38100">
            <a:solidFill>
              <a:schemeClr val="accent2">
                <a:lumMod val="75000"/>
              </a:schemeClr>
            </a:solidFill>
            <a:prstDash val="sysDash"/>
          </a:ln>
        </p:spPr>
        <p:txBody>
          <a:bodyPr>
            <a:normAutofit lnSpcReduction="20000"/>
          </a:bodyPr>
          <a:lstStyle/>
          <a:p>
            <a:pPr marL="0" indent="0" fontAlgn="auto">
              <a:lnSpc>
                <a:spcPct val="200000"/>
              </a:lnSpc>
              <a:buNone/>
            </a:pPr>
            <a:r>
              <a:rPr lang="en-US" altLang="zh-CN" b="1">
                <a:solidFill>
                  <a:srgbClr val="C00000"/>
                </a:solidFill>
                <a:latin typeface="Times New Roman" panose="02020603050405020304" charset="0"/>
                <a:cs typeface="Times New Roman" panose="02020603050405020304" charset="0"/>
              </a:rPr>
              <a:t>The proposal does not have a compelling and well-supported argument.</a:t>
            </a:r>
            <a:r>
              <a:rPr lang="en-US" altLang="zh-CN">
                <a:latin typeface="Times New Roman" panose="02020603050405020304" charset="0"/>
                <a:cs typeface="Times New Roman" panose="02020603050405020304" charset="0"/>
              </a:rPr>
              <a:t> To prove that a study should be approved or funded, the thesis proposal must outline its purpose.</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单圆角矩形 7"/>
          <p:cNvSpPr/>
          <p:nvPr/>
        </p:nvSpPr>
        <p:spPr>
          <a:xfrm>
            <a:off x="2487295" y="1323340"/>
            <a:ext cx="978535" cy="344805"/>
          </a:xfrm>
          <a:prstGeom prst="round1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1</a:t>
            </a:r>
          </a:p>
        </p:txBody>
      </p:sp>
      <p:sp>
        <p:nvSpPr>
          <p:cNvPr id="12" name="单圆角矩形 11"/>
          <p:cNvSpPr/>
          <p:nvPr>
            <p:custDataLst>
              <p:tags r:id="rId3"/>
            </p:custDataLst>
          </p:nvPr>
        </p:nvSpPr>
        <p:spPr>
          <a:xfrm>
            <a:off x="3900805" y="1341755"/>
            <a:ext cx="978535" cy="344805"/>
          </a:xfrm>
          <a:prstGeom prst="round1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2</a:t>
            </a:r>
          </a:p>
        </p:txBody>
      </p:sp>
      <p:sp>
        <p:nvSpPr>
          <p:cNvPr id="13" name="单圆角矩形 12"/>
          <p:cNvSpPr/>
          <p:nvPr>
            <p:custDataLst>
              <p:tags r:id="rId4"/>
            </p:custDataLst>
          </p:nvPr>
        </p:nvSpPr>
        <p:spPr>
          <a:xfrm>
            <a:off x="5203190" y="1337945"/>
            <a:ext cx="978535" cy="344805"/>
          </a:xfrm>
          <a:prstGeom prst="round1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3</a:t>
            </a:r>
          </a:p>
        </p:txBody>
      </p:sp>
      <p:sp>
        <p:nvSpPr>
          <p:cNvPr id="14" name="单圆角矩形 13"/>
          <p:cNvSpPr/>
          <p:nvPr>
            <p:custDataLst>
              <p:tags r:id="rId5"/>
            </p:custDataLst>
          </p:nvPr>
        </p:nvSpPr>
        <p:spPr>
          <a:xfrm>
            <a:off x="6593205" y="1347470"/>
            <a:ext cx="978535" cy="344805"/>
          </a:xfrm>
          <a:prstGeom prst="round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4</a:t>
            </a:r>
          </a:p>
        </p:txBody>
      </p:sp>
      <p:sp>
        <p:nvSpPr>
          <p:cNvPr id="15" name="单圆角矩形 14"/>
          <p:cNvSpPr/>
          <p:nvPr>
            <p:custDataLst>
              <p:tags r:id="rId6"/>
            </p:custDataLst>
          </p:nvPr>
        </p:nvSpPr>
        <p:spPr>
          <a:xfrm>
            <a:off x="7983220" y="1195705"/>
            <a:ext cx="978535" cy="344805"/>
          </a:xfrm>
          <a:prstGeom prst="round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5</a:t>
            </a:r>
          </a:p>
        </p:txBody>
      </p:sp>
      <p:sp>
        <p:nvSpPr>
          <p:cNvPr id="16" name="单圆角矩形 15"/>
          <p:cNvSpPr/>
          <p:nvPr>
            <p:custDataLst>
              <p:tags r:id="rId7"/>
            </p:custDataLst>
          </p:nvPr>
        </p:nvSpPr>
        <p:spPr>
          <a:xfrm>
            <a:off x="9285605" y="1323340"/>
            <a:ext cx="978535" cy="344805"/>
          </a:xfrm>
          <a:prstGeom prst="round1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rPr>
              <a:t>Thesis Proposal</a:t>
            </a:r>
          </a:p>
        </p:txBody>
      </p:sp>
      <p:sp>
        <p:nvSpPr>
          <p:cNvPr id="3" name="内容占位符 2"/>
          <p:cNvSpPr>
            <a:spLocks noGrp="1"/>
          </p:cNvSpPr>
          <p:nvPr>
            <p:ph idx="1"/>
          </p:nvPr>
        </p:nvSpPr>
        <p:spPr>
          <a:xfrm>
            <a:off x="1441450" y="1873885"/>
            <a:ext cx="9644380" cy="4351655"/>
          </a:xfrm>
          <a:ln w="38100">
            <a:solidFill>
              <a:schemeClr val="accent2">
                <a:lumMod val="75000"/>
              </a:schemeClr>
            </a:solidFill>
            <a:prstDash val="sysDash"/>
          </a:ln>
        </p:spPr>
        <p:txBody>
          <a:bodyPr>
            <a:normAutofit lnSpcReduction="20000"/>
          </a:bodyPr>
          <a:lstStyle/>
          <a:p>
            <a:pPr marL="0" indent="0" fontAlgn="auto">
              <a:lnSpc>
                <a:spcPct val="200000"/>
              </a:lnSpc>
              <a:buNone/>
            </a:pPr>
            <a:r>
              <a:rPr lang="en-US" altLang="zh-CN" b="1">
                <a:solidFill>
                  <a:schemeClr val="tx2">
                    <a:lumMod val="75000"/>
                  </a:schemeClr>
                </a:solidFill>
                <a:latin typeface="Times New Roman" panose="02020603050405020304" charset="0"/>
                <a:cs typeface="Times New Roman" panose="02020603050405020304" charset="0"/>
              </a:rPr>
              <a:t>A typographical error, bad grammar or sloppy writing style.</a:t>
            </a:r>
            <a:r>
              <a:rPr lang="en-US" altLang="zh-CN">
                <a:latin typeface="Times New Roman" panose="02020603050405020304" charset="0"/>
                <a:cs typeface="Times New Roman" panose="02020603050405020304" charset="0"/>
              </a:rPr>
              <a:t> Even though a Thesis Proposal outlines a part of a larger project, it must conform to academic writing standards and guidelines.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3 </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单圆角矩形 7"/>
          <p:cNvSpPr/>
          <p:nvPr/>
        </p:nvSpPr>
        <p:spPr>
          <a:xfrm>
            <a:off x="2487295" y="1323340"/>
            <a:ext cx="978535" cy="344805"/>
          </a:xfrm>
          <a:prstGeom prst="round1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1</a:t>
            </a:r>
          </a:p>
        </p:txBody>
      </p:sp>
      <p:sp>
        <p:nvSpPr>
          <p:cNvPr id="12" name="单圆角矩形 11"/>
          <p:cNvSpPr/>
          <p:nvPr>
            <p:custDataLst>
              <p:tags r:id="rId3"/>
            </p:custDataLst>
          </p:nvPr>
        </p:nvSpPr>
        <p:spPr>
          <a:xfrm>
            <a:off x="3900805" y="1341755"/>
            <a:ext cx="978535" cy="344805"/>
          </a:xfrm>
          <a:prstGeom prst="round1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2</a:t>
            </a:r>
          </a:p>
        </p:txBody>
      </p:sp>
      <p:sp>
        <p:nvSpPr>
          <p:cNvPr id="13" name="单圆角矩形 12"/>
          <p:cNvSpPr/>
          <p:nvPr>
            <p:custDataLst>
              <p:tags r:id="rId4"/>
            </p:custDataLst>
          </p:nvPr>
        </p:nvSpPr>
        <p:spPr>
          <a:xfrm>
            <a:off x="5203190" y="1337945"/>
            <a:ext cx="978535" cy="344805"/>
          </a:xfrm>
          <a:prstGeom prst="round1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3</a:t>
            </a:r>
          </a:p>
        </p:txBody>
      </p:sp>
      <p:sp>
        <p:nvSpPr>
          <p:cNvPr id="14" name="单圆角矩形 13"/>
          <p:cNvSpPr/>
          <p:nvPr>
            <p:custDataLst>
              <p:tags r:id="rId5"/>
            </p:custDataLst>
          </p:nvPr>
        </p:nvSpPr>
        <p:spPr>
          <a:xfrm>
            <a:off x="6593205" y="1347470"/>
            <a:ext cx="978535" cy="344805"/>
          </a:xfrm>
          <a:prstGeom prst="round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4</a:t>
            </a:r>
          </a:p>
        </p:txBody>
      </p:sp>
      <p:sp>
        <p:nvSpPr>
          <p:cNvPr id="15" name="单圆角矩形 14"/>
          <p:cNvSpPr/>
          <p:nvPr>
            <p:custDataLst>
              <p:tags r:id="rId6"/>
            </p:custDataLst>
          </p:nvPr>
        </p:nvSpPr>
        <p:spPr>
          <a:xfrm>
            <a:off x="7983220" y="1351915"/>
            <a:ext cx="978535" cy="344805"/>
          </a:xfrm>
          <a:prstGeom prst="round1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5</a:t>
            </a:r>
          </a:p>
        </p:txBody>
      </p:sp>
      <p:sp>
        <p:nvSpPr>
          <p:cNvPr id="16" name="单圆角矩形 15"/>
          <p:cNvSpPr/>
          <p:nvPr>
            <p:custDataLst>
              <p:tags r:id="rId7"/>
            </p:custDataLst>
          </p:nvPr>
        </p:nvSpPr>
        <p:spPr>
          <a:xfrm>
            <a:off x="9285605" y="1165860"/>
            <a:ext cx="978535" cy="344805"/>
          </a:xfrm>
          <a:prstGeom prst="round1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883920" y="503555"/>
            <a:ext cx="1911350" cy="941705"/>
          </a:xfrm>
          <a:prstGeom prst="rect">
            <a:avLst/>
          </a:prstGeom>
          <a:solidFill>
            <a:srgbClr val="3179A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t>Chapter 3</a:t>
            </a:r>
          </a:p>
        </p:txBody>
      </p:sp>
      <p:cxnSp>
        <p:nvCxnSpPr>
          <p:cNvPr id="13" name="直接连接符 12"/>
          <p:cNvCxnSpPr/>
          <p:nvPr/>
        </p:nvCxnSpPr>
        <p:spPr>
          <a:xfrm flipV="1">
            <a:off x="874395" y="466090"/>
            <a:ext cx="1920875" cy="9525"/>
          </a:xfrm>
          <a:prstGeom prst="line">
            <a:avLst/>
          </a:prstGeom>
          <a:ln w="57150">
            <a:solidFill>
              <a:srgbClr val="FF9E9E"/>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2795270" y="1445260"/>
            <a:ext cx="6767830" cy="4539615"/>
          </a:xfrm>
          <a:prstGeom prst="rect">
            <a:avLst/>
          </a:prstGeom>
          <a:solidFill>
            <a:srgbClr val="3179A8"/>
          </a:solidFill>
          <a:ln>
            <a:solidFill>
              <a:schemeClr val="accent1"/>
            </a:solidFill>
          </a:ln>
        </p:spPr>
        <p:txBody>
          <a:bodyPr>
            <a:noAutofit/>
            <a:extLst>
              <a:ext uri="{4A0BC546-FE56-4ADE-93B0-CB8AF2F6F144}">
                <wpsdc:textFrameExt xmlns:wpsdc="http://www.wps.cn/officeDocument/2022/drawingmlCustomData" xmlns="" type="text"/>
              </a:ext>
            </a:extLst>
          </a:bodyPr>
          <a:lstStyle/>
          <a:p>
            <a:pPr algn="l"/>
            <a:endParaRPr lang="en-US" altLang="zh-CN" sz="4800">
              <a:latin typeface="Arial" panose="020B0604020202020204" pitchFamily="34" charset="0"/>
              <a:ea typeface="微软雅黑" panose="020B0503020204020204" charset="-122"/>
            </a:endParaRPr>
          </a:p>
          <a:p>
            <a:pPr algn="l"/>
            <a:endParaRPr lang="en-US" altLang="zh-CN" sz="4800">
              <a:latin typeface="Arial" panose="020B0604020202020204" pitchFamily="34" charset="0"/>
              <a:ea typeface="微软雅黑" panose="020B0503020204020204" charset="-122"/>
            </a:endParaRPr>
          </a:p>
          <a:p>
            <a:pPr algn="l"/>
            <a:r>
              <a:rPr lang="en-US" altLang="zh-CN" sz="4800">
                <a:latin typeface="Arial" panose="020B0604020202020204" pitchFamily="34" charset="0"/>
                <a:ea typeface="微软雅黑" panose="020B0503020204020204" charset="-122"/>
              </a:rPr>
              <a:t>   </a:t>
            </a:r>
            <a:r>
              <a:rPr lang="en-US" altLang="zh-CN" sz="4800">
                <a:solidFill>
                  <a:schemeClr val="bg1"/>
                </a:solidFill>
                <a:latin typeface="Arial" panose="020B0604020202020204" pitchFamily="34" charset="0"/>
                <a:ea typeface="微软雅黑" panose="020B0503020204020204" charset="-122"/>
              </a:rPr>
              <a:t> Thesis Proposal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2" grpId="1"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E1YjkyNTI0OGY5ZTY5YTFjYmVjM2U0M2U1MGM5YjQifQ=="/>
</p:tagLst>
</file>

<file path=ppt/tags/tag2.xml><?xml version="1.0" encoding="utf-8"?>
<p:tagLst xmlns:a="http://schemas.openxmlformats.org/drawingml/2006/main" xmlns:r="http://schemas.openxmlformats.org/officeDocument/2006/relationships" xmlns:p="http://schemas.openxmlformats.org/presentationml/2006/main">
  <p:tag name="KSO_WM_SLIDE_ID" val="diagram2021329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BEAUTIFY_FLAG" val="#wm#"/>
  <p:tag name="KSO_WM_TEMPLATE_CATEGORY" val="diagram"/>
  <p:tag name="KSO_WM_TEMPLATE_INDEX" val="20213293"/>
  <p:tag name="KSO_WM_SLIDE_LAYOUT" val="a_d_f"/>
  <p:tag name="KSO_WM_SLIDE_LAYOUT_CNT" val="1_1_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2-12-15T22:40:38&quot;,&quot;maxSize&quot;:{&quot;size1&quot;:30},&quot;minSize&quot;:{&quot;size1&quot;:17.8},&quot;normalSize&quot;:{&quot;size1&quot;:25.33314814814815},&quot;subLayout&quot;:[{&quot;id&quot;:&quot;2022-12-15T22:40:38&quot;,&quot;margin&quot;:{&quot;bottom&quot;:0,&quot;left&quot;:1.6929999589920044,&quot;right&quot;:1.6929999589920044,&quot;top&quot;:1.6929999589920044},&quot;type&quot;:0},{&quot;id&quot;:&quot;2022-12-15T22:40:38&quot;,&quot;maxSize&quot;:{&quot;size1&quot;:66.7},&quot;minSize&quot;:{&quot;size1&quot;:38.9},&quot;normalSize&quot;:{&quot;size1&quot;:62.423426850370916},&quot;subLayout&quot;:[{&quot;id&quot;:&quot;2022-12-15T22:40:38&quot;,&quot;margin&quot;:{&quot;bottom&quot;:0.02600000612437725,&quot;left&quot;:1.6929999589920044,&quot;right&quot;:1.6929999589920044,&quot;top&quot;:0.847000002861023},&quot;type&quot;:0},{&quot;id&quot;:&quot;2022-12-15T22:40:38&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9675c553136823a5e61e7"/>
  <p:tag name="KSO_WM_CHIP_FILLPROP" val="[[{&quot;text_align&quot;:&quot;ct&quot;,&quot;text_direction&quot;:&quot;horizontal&quot;,&quot;support_big_font&quot;:false,&quot;picture_toward&quot;:0,&quot;picture_dockside&quot;:[],&quot;fill_id&quot;:&quot;42bdfa4a24a64d988a6191cecd716896&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video&quot;]},{&quot;text_align&quot;:&quot;cm&quot;,&quot;text_direction&quot;:&quot;horizontal&quot;,&quot;support_big_font&quot;:false,&quot;picture_toward&quot;:0,&quot;picture_dockside&quot;:[],&quot;fill_id&quot;:&quot;af7019ab30b54b018c2fc8ea2401cac8&quot;,&quot;fill_align&quot;:&quot;cm&quot;,&quot;chip_types&quot;:[&quot;text&quot;]}],[{&quot;text_align&quot;:&quot;cm&quot;,&quot;text_direction&quot;:&quot;horizontal&quot;,&quot;support_big_font&quot;:false,&quot;picture_toward&quot;:0,&quot;picture_dockside&quot;:[],&quot;fill_id&quot;:&quot;42bdfa4a24a64d988a6191cecd716896&quot;,&quot;fill_align&quot;:&quot;cm&quot;,&quot;chip_types&quot;:[&quot;header&quot;]},{&quot;text_align&quot;:&quot;lm&quot;,&quot;text_direction&quot;:&quot;horizontal&quot;,&quot;support_big_font&quot;:false,&quot;picture_toward&quot;:0,&quot;picture_dockside&quot;:[],&quot;fill_id&quot;:&quot;c7f405b535bb49fd9c504e13d5a436be&quot;,&quot;fill_align&quot;:&quot;cm&quot;,&quot;chip_types&quot;:[&quot;diagram&quot;,&quot;pictext&quot;,&quot;picture&quot;,&quot;chart&quot;,&quot;table&quot;]},{&quot;text_align&quot;:&quot;cm&quot;,&quot;text_direction&quot;:&quot;horizontal&quot;,&quot;support_big_font&quot;:false,&quot;picture_toward&quot;:0,&quot;picture_dockside&quot;:[],&quot;fill_id&quot;:&quot;af7019ab30b54b018c2fc8ea2401cac8&quot;,&quot;fill_align&quot;:&quot;cm&quot;,&quot;chip_types&quot;:[&quot;text&quot;,&quot;picture&quot;]}],[{&quot;text_align&quot;:&quot;lm&quot;,&quot;text_direction&quot;:&quot;horizontal&quot;,&quot;support_big_font&quot;:false,&quot;picture_toward&quot;:0,&quot;picture_dockside&quot;:[],&quot;fill_id&quot;:&quot;42bdfa4a24a64d988a6191cecd716896&quot;,&quot;fill_align&quot;:&quot;lm&quot;,&quot;chip_types&quot;:[&quot;text&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text_align&quot;:&quot;lm&quot;,&quot;text_direction&quot;:&quot;horizontal&quot;,&quot;support_big_font&quot;:false,&quot;picture_toward&quot;:0,&quot;picture_dockside&quot;:[],&quot;fill_id&quot;:&quot;af7019ab30b54b018c2fc8ea2401cac8&quot;,&quot;fill_align&quot;:&quot;lm&quot;,&quot;chip_types&quot;:[&quot;text&quot;,&quot;picture&quot;]}]]"/>
  <p:tag name="KSO_WM_SLIDE_SIZE" val="865*444"/>
  <p:tag name="KSO_WM_SLIDE_POSITION" val="47*48"/>
  <p:tag name="FIXED_XID_TMP" val="5f5ee1ca4d6848d78f644aed"/>
  <p:tag name="KSO_WM_CHIP_DECFILLPROP" val="[]"/>
  <p:tag name="KSO_WM_CHIP_GROUPID" val="5f5ee1ca4d6848d78f644aed"/>
  <p:tag name="KSO_WM_SLIDE_BK_DARK_LIGHT" val="2"/>
  <p:tag name="KSO_WM_SLIDE_BACKGROUND_TYPE" val="general"/>
  <p:tag name="KSO_WM_SLIDE_SUPPORT_FEATURE_TYPE" val="3"/>
  <p:tag name="KSO_WM_TEMPLATE_ASSEMBLE_XID" val="639b31e60c9383becdeaa802"/>
  <p:tag name="KSO_WM_TEMPLATE_ASSEMBLE_GROUPID" val="639b31e60c9383becdeaa802"/>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293_1*a*1"/>
  <p:tag name="KSO_WM_TEMPLATE_CATEGORY" val="diagram"/>
  <p:tag name="KSO_WM_TEMPLATE_INDEX" val="2021329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eac46169eb2b460bb4a610ed53a67e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12c141ff192434a81f8ec7859d8d7f3"/>
  <p:tag name="KSO_WM_UNIT_TEXT_FILL_FORE_SCHEMECOLOR_INDEX_BRIGHTNESS" val="0"/>
  <p:tag name="KSO_WM_UNIT_TEXT_FILL_FORE_SCHEMECOLOR_INDEX" val="13"/>
  <p:tag name="KSO_WM_UNIT_TEXT_FILL_TYPE" val="1"/>
  <p:tag name="KSO_WM_TEMPLATE_ASSEMBLE_XID" val="639b31e60c9383becdeaa802"/>
  <p:tag name="KSO_WM_TEMPLATE_ASSEMBLE_GROUPID" val="639b31e60c9383becdeaa802"/>
</p:tagLst>
</file>

<file path=ppt/tags/tag4.xml><?xml version="1.0" encoding="utf-8"?>
<p:tagLst xmlns:a="http://schemas.openxmlformats.org/drawingml/2006/main" xmlns:r="http://schemas.openxmlformats.org/officeDocument/2006/relationships" xmlns:p="http://schemas.openxmlformats.org/presentationml/2006/main">
  <p:tag name="KSO_WM_UNIT_VALUE" val="761*3046"/>
  <p:tag name="KSO_WM_UNIT_HIGHLIGHT" val="0"/>
  <p:tag name="KSO_WM_UNIT_COMPATIBLE" val="0"/>
  <p:tag name="KSO_WM_UNIT_DIAGRAM_ISNUMVISUAL" val="0"/>
  <p:tag name="KSO_WM_UNIT_DIAGRAM_ISREFERUNIT" val="0"/>
  <p:tag name="KSO_WM_UNIT_TYPE" val="d"/>
  <p:tag name="KSO_WM_UNIT_INDEX" val="1"/>
  <p:tag name="KSO_WM_UNIT_ID" val="diagram20213293_1*d*1"/>
  <p:tag name="KSO_WM_TEMPLATE_CATEGORY" val="diagram"/>
  <p:tag name="KSO_WM_TEMPLATE_INDEX" val="20213293"/>
  <p:tag name="KSO_WM_UNIT_LAYERLEVEL" val="1"/>
  <p:tag name="KSO_WM_TAG_VERSION" val="1.0"/>
  <p:tag name="KSO_WM_BEAUTIFY_FLAG" val="#wm#"/>
  <p:tag name="KSO_WM_CHIP_GROUPID" val="5e7310da9a230a26b9e88a19"/>
  <p:tag name="KSO_WM_CHIP_XID" val="5e7310da9a230a26b9e88a1a"/>
  <p:tag name="KSO_WM_UNIT_DEC_AREA_ID" val="d39d48b01a0a4808a05868f443a940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28373cf9a1d42b2ad4400f46103fc14"/>
  <p:tag name="KSO_WM_UNIT_SUPPORT_UNIT_TYPE" val="[&quot;l&quot;,&quot;m&quot;,&quot;n&quot;,&quot;o&quot;,&quot;p&quot;,&quot;q&quot;,&quot;r&quot;,&quot;δ&quot;,&quot;ε&quot;,&quot;ζ&quot;,&quot;η&quot;,&quot;d&quot;,&quot;α&quot;,&quot;β&quot;,&quot;θ&quot;]"/>
  <p:tag name="KSO_WM_TEMPLATE_ASSEMBLE_XID" val="639b31e60c9383becdeaa802"/>
  <p:tag name="KSO_WM_TEMPLATE_ASSEMBLE_GROUPID" val="639b31e60c9383becdeaa802"/>
  <p:tag name="KSO_WM_UNIT_PICTURE_CLIP_FLAG" val="0"/>
</p:tagLst>
</file>

<file path=ppt/tags/tag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293_1*f*1"/>
  <p:tag name="KSO_WM_TEMPLATE_CATEGORY" val="diagram"/>
  <p:tag name="KSO_WM_TEMPLATE_INDEX" val="20213293"/>
  <p:tag name="KSO_WM_UNIT_LAYERLEVEL" val="1"/>
  <p:tag name="KSO_WM_TAG_VERSION" val="1.0"/>
  <p:tag name="KSO_WM_BEAUTIFY_FLAG" val="#wm#"/>
  <p:tag name="KSO_WM_UNIT_DEFAULT_FONT" val="14;20;2"/>
  <p:tag name="KSO_WM_UNIT_BLOCK" val="0"/>
  <p:tag name="KSO_WM_UNIT_VALUE" val="172"/>
  <p:tag name="KSO_WM_UNIT_SHOW_EDIT_AREA_INDICATION" val="1"/>
  <p:tag name="KSO_WM_CHIP_GROUPID" val="5e6b05596848fb12bee65ac8"/>
  <p:tag name="KSO_WM_CHIP_XID" val="5e6b05596848fb12bee65aca"/>
  <p:tag name="KSO_WM_UNIT_DEC_AREA_ID" val="f3ba6b55ee6d4aec98d86b43aa728f7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db306efbae44b9a7ac00fd1cb9e337"/>
  <p:tag name="KSO_WM_UNIT_TEXT_FILL_FORE_SCHEMECOLOR_INDEX_BRIGHTNESS" val="0.25"/>
  <p:tag name="KSO_WM_UNIT_TEXT_FILL_FORE_SCHEMECOLOR_INDEX" val="13"/>
  <p:tag name="KSO_WM_UNIT_TEXT_FILL_TYPE" val="1"/>
  <p:tag name="KSO_WM_TEMPLATE_ASSEMBLE_XID" val="639b31e60c9383becdeaa802"/>
  <p:tag name="KSO_WM_TEMPLATE_ASSEMBLE_GROUPID" val="639b31e60c9383becdeaa802"/>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1516</Words>
  <Application>Microsoft Office PowerPoint</Application>
  <PresentationFormat>宽屏</PresentationFormat>
  <Paragraphs>250</Paragraphs>
  <Slides>35</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35</vt:i4>
      </vt:variant>
    </vt:vector>
  </HeadingPairs>
  <TitlesOfParts>
    <vt:vector size="41" baseType="lpstr">
      <vt:lpstr>Arial</vt:lpstr>
      <vt:lpstr>Calibri</vt:lpstr>
      <vt:lpstr>Times New Roman</vt:lpstr>
      <vt:lpstr>Wingdings</vt:lpstr>
      <vt:lpstr>Wingdings 2</vt:lpstr>
      <vt:lpstr>Office 主题</vt:lpstr>
      <vt:lpstr>PowerPoint 演示文稿</vt:lpstr>
      <vt:lpstr>PowerPoint 演示文稿</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Thesis Proposal</vt:lpstr>
      <vt:lpstr>PowerPoint 演示文稿</vt:lpstr>
      <vt:lpstr>PowerPoint 演示文稿</vt:lpstr>
      <vt:lpstr>Thesis Proposal</vt:lpstr>
      <vt:lpstr>Thesis Proposal</vt:lpstr>
      <vt:lpstr>Thesis Proposal</vt:lpstr>
      <vt:lpstr>Thesis Proposal</vt:lpstr>
      <vt:lpstr>Thesis Proposal</vt:lpstr>
      <vt:lpstr>Thesis Proposal</vt:lpstr>
      <vt:lpstr>Thesis Proposal</vt:lpstr>
      <vt:lpstr>Thesis Proposal</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dc:creator>
  <cp:lastModifiedBy>SY</cp:lastModifiedBy>
  <cp:revision>20</cp:revision>
  <dcterms:created xsi:type="dcterms:W3CDTF">2023-03-21T12:11:00Z</dcterms:created>
  <dcterms:modified xsi:type="dcterms:W3CDTF">2026-03-22T14:24:40Z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F6235943132843E686D64E932B349DBF_12</vt:lpwstr>
  </property>
  <property fmtid="{D5CDD505-2E9C-101B-9397-08002B2CF9AE}" pid="3" name="KSOProductBuildVer">
    <vt:lpwstr>2052-12.1.0.21171</vt:lpwstr>
  </property>
</Properties>
</file>