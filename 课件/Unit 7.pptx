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0"/>
  </p:notesMasterIdLst>
  <p:handoutMasterIdLst>
    <p:handoutMasterId r:id="rId61"/>
  </p:handoutMasterIdLst>
  <p:sldIdLst>
    <p:sldId id="257" r:id="rId2"/>
    <p:sldId id="260" r:id="rId3"/>
    <p:sldId id="256" r:id="rId4"/>
    <p:sldId id="259" r:id="rId5"/>
    <p:sldId id="261" r:id="rId6"/>
    <p:sldId id="330" r:id="rId7"/>
    <p:sldId id="262" r:id="rId8"/>
    <p:sldId id="263" r:id="rId9"/>
    <p:sldId id="264" r:id="rId10"/>
    <p:sldId id="265" r:id="rId11"/>
    <p:sldId id="266" r:id="rId12"/>
    <p:sldId id="284" r:id="rId13"/>
    <p:sldId id="267" r:id="rId14"/>
    <p:sldId id="286" r:id="rId15"/>
    <p:sldId id="287" r:id="rId16"/>
    <p:sldId id="288" r:id="rId17"/>
    <p:sldId id="289" r:id="rId18"/>
    <p:sldId id="333" r:id="rId19"/>
    <p:sldId id="290" r:id="rId20"/>
    <p:sldId id="291" r:id="rId21"/>
    <p:sldId id="293" r:id="rId22"/>
    <p:sldId id="294" r:id="rId23"/>
    <p:sldId id="295" r:id="rId24"/>
    <p:sldId id="297" r:id="rId25"/>
    <p:sldId id="299" r:id="rId26"/>
    <p:sldId id="285" r:id="rId27"/>
    <p:sldId id="298" r:id="rId28"/>
    <p:sldId id="331" r:id="rId29"/>
    <p:sldId id="301" r:id="rId30"/>
    <p:sldId id="302" r:id="rId31"/>
    <p:sldId id="303" r:id="rId32"/>
    <p:sldId id="304" r:id="rId33"/>
    <p:sldId id="305" r:id="rId34"/>
    <p:sldId id="306" r:id="rId35"/>
    <p:sldId id="307" r:id="rId36"/>
    <p:sldId id="308" r:id="rId37"/>
    <p:sldId id="309" r:id="rId38"/>
    <p:sldId id="310" r:id="rId39"/>
    <p:sldId id="311" r:id="rId40"/>
    <p:sldId id="312" r:id="rId41"/>
    <p:sldId id="313" r:id="rId42"/>
    <p:sldId id="314" r:id="rId43"/>
    <p:sldId id="315" r:id="rId44"/>
    <p:sldId id="316" r:id="rId45"/>
    <p:sldId id="332" r:id="rId46"/>
    <p:sldId id="317" r:id="rId47"/>
    <p:sldId id="318" r:id="rId48"/>
    <p:sldId id="320" r:id="rId49"/>
    <p:sldId id="319" r:id="rId50"/>
    <p:sldId id="321" r:id="rId51"/>
    <p:sldId id="322" r:id="rId52"/>
    <p:sldId id="323" r:id="rId53"/>
    <p:sldId id="324" r:id="rId54"/>
    <p:sldId id="325" r:id="rId55"/>
    <p:sldId id="326" r:id="rId56"/>
    <p:sldId id="327" r:id="rId57"/>
    <p:sldId id="328" r:id="rId58"/>
    <p:sldId id="329" r:id="rId59"/>
  </p:sldIdLst>
  <p:sldSz cx="12192000" cy="6858000"/>
  <p:notesSz cx="6858000" cy="9144000"/>
  <p:custDataLst>
    <p:tags r:id="rId6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2026/6/1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2026/6/1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2026/6/1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2026/6/1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2026/6/1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2026/6/1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jpeg"/><Relationship Id="rId5" Type="http://schemas.openxmlformats.org/officeDocument/2006/relationships/slideLayout" Target="../slideLayouts/slideLayout2.xml"/><Relationship Id="rId4" Type="http://schemas.openxmlformats.org/officeDocument/2006/relationships/tags" Target="../tags/tag5.xml"/></Relationships>
</file>

<file path=ppt/slides/_rels/slide2.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slideLayout" Target="../slideLayouts/slideLayout2.xml"/><Relationship Id="rId4" Type="http://schemas.openxmlformats.org/officeDocument/2006/relationships/tags" Target="../tags/tag9.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2.xml"/><Relationship Id="rId7" Type="http://schemas.openxmlformats.org/officeDocument/2006/relationships/tags" Target="../tags/tag16.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9"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4.jpeg"/><Relationship Id="rId5" Type="http://schemas.openxmlformats.org/officeDocument/2006/relationships/slideLayout" Target="../slideLayouts/slideLayout2.xml"/><Relationship Id="rId4" Type="http://schemas.openxmlformats.org/officeDocument/2006/relationships/tags" Target="../tags/tag20.xml"/></Relationships>
</file>

<file path=ppt/slides/_rels/slide6.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slideLayout" Target="../slideLayouts/slideLayout2.xml"/><Relationship Id="rId4" Type="http://schemas.openxmlformats.org/officeDocument/2006/relationships/tags" Target="../tags/tag24.xml"/></Relationships>
</file>

<file path=ppt/slides/_rels/slide7.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slideLayout" Target="../slideLayouts/slideLayout2.xml"/><Relationship Id="rId4" Type="http://schemas.openxmlformats.org/officeDocument/2006/relationships/tags" Target="../tags/tag28.xml"/></Relationships>
</file>

<file path=ppt/slides/_rels/slide8.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slideLayout" Target="../slideLayouts/slideLayout2.xml"/><Relationship Id="rId4" Type="http://schemas.openxmlformats.org/officeDocument/2006/relationships/tags" Target="../tags/tag32.xml"/></Relationships>
</file>

<file path=ppt/slides/_rels/slide9.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 Id="rId5" Type="http://schemas.openxmlformats.org/officeDocument/2006/relationships/slideLayout" Target="../slideLayouts/slideLayout2.xml"/><Relationship Id="rId4" Type="http://schemas.openxmlformats.org/officeDocument/2006/relationships/tags" Target="../tags/tag36.xml"/></Relationships>
</file>

<file path=ppt/slides/_rels/slide10.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slideLayout" Target="../slideLayouts/slideLayout2.xml"/><Relationship Id="rId4" Type="http://schemas.openxmlformats.org/officeDocument/2006/relationships/tags" Target="../tags/tag40.xml"/></Relationships>
</file>

<file path=ppt/slides/_rels/slide11.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slideLayout" Target="../slideLayouts/slideLayout2.xml"/><Relationship Id="rId4" Type="http://schemas.openxmlformats.org/officeDocument/2006/relationships/tags" Target="../tags/tag44.xml"/></Relationships>
</file>

<file path=ppt/slides/_rels/slide12.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5" Type="http://schemas.openxmlformats.org/officeDocument/2006/relationships/slideLayout" Target="../slideLayouts/slideLayout2.xml"/><Relationship Id="rId4" Type="http://schemas.openxmlformats.org/officeDocument/2006/relationships/tags" Target="../tags/tag48.xml"/></Relationships>
</file>

<file path=ppt/slides/_rels/slide13.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slideLayout" Target="../slideLayouts/slideLayout2.xml"/><Relationship Id="rId4" Type="http://schemas.openxmlformats.org/officeDocument/2006/relationships/tags" Target="../tags/tag52.xml"/></Relationships>
</file>

<file path=ppt/slides/_rels/slide14.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5" Type="http://schemas.openxmlformats.org/officeDocument/2006/relationships/slideLayout" Target="../slideLayouts/slideLayout2.xml"/><Relationship Id="rId4" Type="http://schemas.openxmlformats.org/officeDocument/2006/relationships/tags" Target="../tags/tag56.xml"/></Relationships>
</file>

<file path=ppt/slides/_rels/slide15.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5" Type="http://schemas.openxmlformats.org/officeDocument/2006/relationships/slideLayout" Target="../slideLayouts/slideLayout2.xml"/><Relationship Id="rId4" Type="http://schemas.openxmlformats.org/officeDocument/2006/relationships/tags" Target="../tags/tag60.xml"/></Relationships>
</file>

<file path=ppt/slides/_rels/slide16.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5" Type="http://schemas.openxmlformats.org/officeDocument/2006/relationships/slideLayout" Target="../slideLayouts/slideLayout2.xml"/><Relationship Id="rId4" Type="http://schemas.openxmlformats.org/officeDocument/2006/relationships/tags" Target="../tags/tag64.xml"/></Relationships>
</file>

<file path=ppt/slides/_rels/slide17.xml.rels><?xml version="1.0" encoding="UTF-8" standalone="yes"?>
<Relationships xmlns="http://schemas.openxmlformats.org/package/2006/relationships"><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slideLayout" Target="../slideLayouts/slideLayout2.xml"/><Relationship Id="rId4" Type="http://schemas.openxmlformats.org/officeDocument/2006/relationships/tags" Target="../tags/tag68.xml"/></Relationships>
</file>

<file path=ppt/slides/_rels/slide18.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slideLayout" Target="../slideLayouts/slideLayout2.xml"/><Relationship Id="rId4" Type="http://schemas.openxmlformats.org/officeDocument/2006/relationships/tags" Target="../tags/tag72.xml"/></Relationships>
</file>

<file path=ppt/slides/_rels/slide19.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5" Type="http://schemas.openxmlformats.org/officeDocument/2006/relationships/slideLayout" Target="../slideLayouts/slideLayout2.xml"/><Relationship Id="rId4" Type="http://schemas.openxmlformats.org/officeDocument/2006/relationships/tags" Target="../tags/tag76.xml"/></Relationships>
</file>

<file path=ppt/slides/_rels/slide20.xml.rels><?xml version="1.0" encoding="UTF-8" standalone="yes"?>
<Relationships xmlns="http://schemas.openxmlformats.org/package/2006/relationships"><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 Id="rId5" Type="http://schemas.openxmlformats.org/officeDocument/2006/relationships/slideLayout" Target="../slideLayouts/slideLayout2.xml"/><Relationship Id="rId4" Type="http://schemas.openxmlformats.org/officeDocument/2006/relationships/tags" Target="../tags/tag80.xml"/></Relationships>
</file>

<file path=ppt/slides/_rels/slide21.xml.rels><?xml version="1.0" encoding="UTF-8" standalone="yes"?>
<Relationships xmlns="http://schemas.openxmlformats.org/package/2006/relationships"><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 Id="rId5" Type="http://schemas.openxmlformats.org/officeDocument/2006/relationships/slideLayout" Target="../slideLayouts/slideLayout2.xml"/><Relationship Id="rId4" Type="http://schemas.openxmlformats.org/officeDocument/2006/relationships/tags" Target="../tags/tag84.xml"/></Relationships>
</file>

<file path=ppt/slides/_rels/slide22.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5" Type="http://schemas.openxmlformats.org/officeDocument/2006/relationships/slideLayout" Target="../slideLayouts/slideLayout2.xml"/><Relationship Id="rId4" Type="http://schemas.openxmlformats.org/officeDocument/2006/relationships/tags" Target="../tags/tag88.xml"/></Relationships>
</file>

<file path=ppt/slides/_rels/slide23.xml.rels><?xml version="1.0" encoding="UTF-8" standalone="yes"?>
<Relationships xmlns="http://schemas.openxmlformats.org/package/2006/relationships"><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image" Target="../media/image5.png"/><Relationship Id="rId5" Type="http://schemas.openxmlformats.org/officeDocument/2006/relationships/slideLayout" Target="../slideLayouts/slideLayout2.xml"/><Relationship Id="rId4" Type="http://schemas.openxmlformats.org/officeDocument/2006/relationships/tags" Target="../tags/tag92.xml"/></Relationships>
</file>

<file path=ppt/slides/_rels/slide24.xml.rels><?xml version="1.0" encoding="UTF-8" standalone="yes"?>
<Relationships xmlns="http://schemas.openxmlformats.org/package/2006/relationships"><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 Id="rId5" Type="http://schemas.openxmlformats.org/officeDocument/2006/relationships/slideLayout" Target="../slideLayouts/slideLayout2.xml"/><Relationship Id="rId4" Type="http://schemas.openxmlformats.org/officeDocument/2006/relationships/tags" Target="../tags/tag9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image" Target="../media/image6.jpeg"/><Relationship Id="rId5" Type="http://schemas.openxmlformats.org/officeDocument/2006/relationships/slideLayout" Target="../slideLayouts/slideLayout2.xml"/><Relationship Id="rId4" Type="http://schemas.openxmlformats.org/officeDocument/2006/relationships/tags" Target="../tags/tag100.xml"/></Relationships>
</file>

<file path=ppt/slides/_rels/slide29.xml.rels><?xml version="1.0" encoding="UTF-8" standalone="yes"?>
<Relationships xmlns="http://schemas.openxmlformats.org/package/2006/relationships"><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tags" Target="../tags/tag101.xml"/><Relationship Id="rId5" Type="http://schemas.openxmlformats.org/officeDocument/2006/relationships/slideLayout" Target="../slideLayouts/slideLayout2.xml"/><Relationship Id="rId4" Type="http://schemas.openxmlformats.org/officeDocument/2006/relationships/tags" Target="../tags/tag104.xml"/></Relationships>
</file>

<file path=ppt/slides/_rels/slide30.xml.rels><?xml version="1.0" encoding="UTF-8" standalone="yes"?>
<Relationships xmlns="http://schemas.openxmlformats.org/package/2006/relationships"><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 Id="rId5" Type="http://schemas.openxmlformats.org/officeDocument/2006/relationships/slideLayout" Target="../slideLayouts/slideLayout2.xml"/><Relationship Id="rId4" Type="http://schemas.openxmlformats.org/officeDocument/2006/relationships/tags" Target="../tags/tag108.xml"/></Relationships>
</file>

<file path=ppt/slides/_rels/slide31.xml.rels><?xml version="1.0" encoding="UTF-8" standalone="yes"?>
<Relationships xmlns="http://schemas.openxmlformats.org/package/2006/relationships"><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 Id="rId5" Type="http://schemas.openxmlformats.org/officeDocument/2006/relationships/slideLayout" Target="../slideLayouts/slideLayout2.xml"/><Relationship Id="rId4" Type="http://schemas.openxmlformats.org/officeDocument/2006/relationships/tags" Target="../tags/tag112.xml"/></Relationships>
</file>

<file path=ppt/slides/_rels/slide32.xml.rels><?xml version="1.0" encoding="UTF-8" standalone="yes"?>
<Relationships xmlns="http://schemas.openxmlformats.org/package/2006/relationships"><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tags" Target="../tags/tag113.xml"/><Relationship Id="rId5" Type="http://schemas.openxmlformats.org/officeDocument/2006/relationships/slideLayout" Target="../slideLayouts/slideLayout2.xml"/><Relationship Id="rId4" Type="http://schemas.openxmlformats.org/officeDocument/2006/relationships/tags" Target="../tags/tag116.xml"/></Relationships>
</file>

<file path=ppt/slides/_rels/slide33.xml.rels><?xml version="1.0" encoding="UTF-8" standalone="yes"?>
<Relationships xmlns="http://schemas.openxmlformats.org/package/2006/relationships"><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 Id="rId5" Type="http://schemas.openxmlformats.org/officeDocument/2006/relationships/slideLayout" Target="../slideLayouts/slideLayout2.xml"/><Relationship Id="rId4" Type="http://schemas.openxmlformats.org/officeDocument/2006/relationships/tags" Target="../tags/tag120.xml"/></Relationships>
</file>

<file path=ppt/slides/_rels/slide34.xml.rels><?xml version="1.0" encoding="UTF-8" standalone="yes"?>
<Relationships xmlns="http://schemas.openxmlformats.org/package/2006/relationships"><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 Id="rId5" Type="http://schemas.openxmlformats.org/officeDocument/2006/relationships/slideLayout" Target="../slideLayouts/slideLayout2.xml"/><Relationship Id="rId4" Type="http://schemas.openxmlformats.org/officeDocument/2006/relationships/tags" Target="../tags/tag124.xml"/></Relationships>
</file>

<file path=ppt/slides/_rels/slide35.xml.rels><?xml version="1.0" encoding="UTF-8" standalone="yes"?>
<Relationships xmlns="http://schemas.openxmlformats.org/package/2006/relationships"><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 Id="rId5" Type="http://schemas.openxmlformats.org/officeDocument/2006/relationships/slideLayout" Target="../slideLayouts/slideLayout2.xml"/><Relationship Id="rId4" Type="http://schemas.openxmlformats.org/officeDocument/2006/relationships/tags" Target="../tags/tag128.xml"/></Relationships>
</file>

<file path=ppt/slides/_rels/slide36.xml.rels><?xml version="1.0" encoding="UTF-8" standalone="yes"?>
<Relationships xmlns="http://schemas.openxmlformats.org/package/2006/relationships"><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 Id="rId5" Type="http://schemas.openxmlformats.org/officeDocument/2006/relationships/slideLayout" Target="../slideLayouts/slideLayout2.xml"/><Relationship Id="rId4" Type="http://schemas.openxmlformats.org/officeDocument/2006/relationships/tags" Target="../tags/tag132.xml"/></Relationships>
</file>

<file path=ppt/slides/_rels/slide37.xml.rels><?xml version="1.0" encoding="UTF-8" standalone="yes"?>
<Relationships xmlns="http://schemas.openxmlformats.org/package/2006/relationships"><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 Id="rId5" Type="http://schemas.openxmlformats.org/officeDocument/2006/relationships/slideLayout" Target="../slideLayouts/slideLayout2.xml"/><Relationship Id="rId4" Type="http://schemas.openxmlformats.org/officeDocument/2006/relationships/tags" Target="../tags/tag136.xml"/></Relationships>
</file>

<file path=ppt/slides/_rels/slide38.xml.rels><?xml version="1.0" encoding="UTF-8" standalone="yes"?>
<Relationships xmlns="http://schemas.openxmlformats.org/package/2006/relationships"><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 Id="rId5" Type="http://schemas.openxmlformats.org/officeDocument/2006/relationships/slideLayout" Target="../slideLayouts/slideLayout2.xml"/><Relationship Id="rId4" Type="http://schemas.openxmlformats.org/officeDocument/2006/relationships/tags" Target="../tags/tag140.xml"/></Relationships>
</file>

<file path=ppt/slides/_rels/slide39.xml.rels><?xml version="1.0" encoding="UTF-8" standalone="yes"?>
<Relationships xmlns="http://schemas.openxmlformats.org/package/2006/relationships"><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 Id="rId5" Type="http://schemas.openxmlformats.org/officeDocument/2006/relationships/slideLayout" Target="../slideLayouts/slideLayout2.xml"/><Relationship Id="rId4" Type="http://schemas.openxmlformats.org/officeDocument/2006/relationships/tags" Target="../tags/tag144.xml"/></Relationships>
</file>

<file path=ppt/slides/_rels/slide40.xml.rels><?xml version="1.0" encoding="UTF-8" standalone="yes"?>
<Relationships xmlns="http://schemas.openxmlformats.org/package/2006/relationships"><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 Id="rId5" Type="http://schemas.openxmlformats.org/officeDocument/2006/relationships/slideLayout" Target="../slideLayouts/slideLayout2.xml"/><Relationship Id="rId4" Type="http://schemas.openxmlformats.org/officeDocument/2006/relationships/tags" Target="../tags/tag14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 Id="rId5" Type="http://schemas.openxmlformats.org/officeDocument/2006/relationships/slideLayout" Target="../slideLayouts/slideLayout2.xml"/><Relationship Id="rId4" Type="http://schemas.openxmlformats.org/officeDocument/2006/relationships/tags" Target="../tags/tag152.xml"/></Relationships>
</file>

<file path=ppt/slides/_rels/slide44.xml.rels><?xml version="1.0" encoding="UTF-8" standalone="yes"?>
<Relationships xmlns="http://schemas.openxmlformats.org/package/2006/relationships"><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tags" Target="../tags/tag153.xml"/><Relationship Id="rId5" Type="http://schemas.openxmlformats.org/officeDocument/2006/relationships/slideLayout" Target="../slideLayouts/slideLayout2.xml"/><Relationship Id="rId4" Type="http://schemas.openxmlformats.org/officeDocument/2006/relationships/tags" Target="../tags/tag156.xml"/></Relationships>
</file>

<file path=ppt/slides/_rels/slide45.xml.rels><?xml version="1.0" encoding="UTF-8" standalone="yes"?>
<Relationships xmlns="http://schemas.openxmlformats.org/package/2006/relationships"><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tags" Target="../tags/tag157.xml"/><Relationship Id="rId6" Type="http://schemas.openxmlformats.org/officeDocument/2006/relationships/image" Target="../media/image7.jpeg"/><Relationship Id="rId5" Type="http://schemas.openxmlformats.org/officeDocument/2006/relationships/slideLayout" Target="../slideLayouts/slideLayout2.xml"/><Relationship Id="rId4" Type="http://schemas.openxmlformats.org/officeDocument/2006/relationships/tags" Target="../tags/tag160.xml"/></Relationships>
</file>

<file path=ppt/slides/_rels/slide46.xml.rels><?xml version="1.0" encoding="UTF-8" standalone="yes"?>
<Relationships xmlns="http://schemas.openxmlformats.org/package/2006/relationships"><Relationship Id="rId3" Type="http://schemas.openxmlformats.org/officeDocument/2006/relationships/tags" Target="../tags/tag163.xml"/><Relationship Id="rId2" Type="http://schemas.openxmlformats.org/officeDocument/2006/relationships/tags" Target="../tags/tag162.xml"/><Relationship Id="rId1" Type="http://schemas.openxmlformats.org/officeDocument/2006/relationships/tags" Target="../tags/tag161.xml"/><Relationship Id="rId5" Type="http://schemas.openxmlformats.org/officeDocument/2006/relationships/slideLayout" Target="../slideLayouts/slideLayout2.xml"/><Relationship Id="rId4" Type="http://schemas.openxmlformats.org/officeDocument/2006/relationships/tags" Target="../tags/tag164.xml"/></Relationships>
</file>

<file path=ppt/slides/_rels/slide47.xml.rels><?xml version="1.0" encoding="UTF-8" standalone="yes"?>
<Relationships xmlns="http://schemas.openxmlformats.org/package/2006/relationships"><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 Id="rId5" Type="http://schemas.openxmlformats.org/officeDocument/2006/relationships/slideLayout" Target="../slideLayouts/slideLayout2.xml"/><Relationship Id="rId4" Type="http://schemas.openxmlformats.org/officeDocument/2006/relationships/tags" Target="../tags/tag16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 Id="rId5" Type="http://schemas.openxmlformats.org/officeDocument/2006/relationships/slideLayout" Target="../slideLayouts/slideLayout2.xml"/><Relationship Id="rId4" Type="http://schemas.openxmlformats.org/officeDocument/2006/relationships/tags" Target="../tags/tag172.xml"/></Relationships>
</file>

<file path=ppt/slides/_rels/slide50.xml.rels><?xml version="1.0" encoding="UTF-8" standalone="yes"?>
<Relationships xmlns="http://schemas.openxmlformats.org/package/2006/relationships"><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tags" Target="../tags/tag173.xml"/><Relationship Id="rId5" Type="http://schemas.openxmlformats.org/officeDocument/2006/relationships/slideLayout" Target="../slideLayouts/slideLayout2.xml"/><Relationship Id="rId4" Type="http://schemas.openxmlformats.org/officeDocument/2006/relationships/tags" Target="../tags/tag176.xml"/></Relationships>
</file>

<file path=ppt/slides/_rels/slide51.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5" Type="http://schemas.openxmlformats.org/officeDocument/2006/relationships/slideLayout" Target="../slideLayouts/slideLayout2.xml"/><Relationship Id="rId4" Type="http://schemas.openxmlformats.org/officeDocument/2006/relationships/tags" Target="../tags/tag180.xml"/></Relationships>
</file>

<file path=ppt/slides/_rels/slide52.xml.rels><?xml version="1.0" encoding="UTF-8" standalone="yes"?>
<Relationships xmlns="http://schemas.openxmlformats.org/package/2006/relationships"><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 Id="rId5" Type="http://schemas.openxmlformats.org/officeDocument/2006/relationships/slideLayout" Target="../slideLayouts/slideLayout2.xml"/><Relationship Id="rId4" Type="http://schemas.openxmlformats.org/officeDocument/2006/relationships/tags" Target="../tags/tag184.xml"/></Relationships>
</file>

<file path=ppt/slides/_rels/slide53.xml.rels><?xml version="1.0" encoding="UTF-8" standalone="yes"?>
<Relationships xmlns="http://schemas.openxmlformats.org/package/2006/relationships"><Relationship Id="rId3" Type="http://schemas.openxmlformats.org/officeDocument/2006/relationships/tags" Target="../tags/tag187.xml"/><Relationship Id="rId2" Type="http://schemas.openxmlformats.org/officeDocument/2006/relationships/tags" Target="../tags/tag186.xml"/><Relationship Id="rId1" Type="http://schemas.openxmlformats.org/officeDocument/2006/relationships/tags" Target="../tags/tag185.xml"/><Relationship Id="rId5" Type="http://schemas.openxmlformats.org/officeDocument/2006/relationships/slideLayout" Target="../slideLayouts/slideLayout2.xml"/><Relationship Id="rId4" Type="http://schemas.openxmlformats.org/officeDocument/2006/relationships/tags" Target="../tags/tag188.xml"/></Relationships>
</file>

<file path=ppt/slides/_rels/slide54.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5" Type="http://schemas.openxmlformats.org/officeDocument/2006/relationships/slideLayout" Target="../slideLayouts/slideLayout2.xml"/><Relationship Id="rId4" Type="http://schemas.openxmlformats.org/officeDocument/2006/relationships/tags" Target="../tags/tag192.xml"/></Relationships>
</file>

<file path=ppt/slides/_rels/slide55.xml.rels><?xml version="1.0" encoding="UTF-8" standalone="yes"?>
<Relationships xmlns="http://schemas.openxmlformats.org/package/2006/relationships"><Relationship Id="rId3" Type="http://schemas.openxmlformats.org/officeDocument/2006/relationships/tags" Target="../tags/tag195.xml"/><Relationship Id="rId2" Type="http://schemas.openxmlformats.org/officeDocument/2006/relationships/tags" Target="../tags/tag194.xml"/><Relationship Id="rId1" Type="http://schemas.openxmlformats.org/officeDocument/2006/relationships/tags" Target="../tags/tag193.xml"/><Relationship Id="rId5" Type="http://schemas.openxmlformats.org/officeDocument/2006/relationships/slideLayout" Target="../slideLayouts/slideLayout2.xml"/><Relationship Id="rId4" Type="http://schemas.openxmlformats.org/officeDocument/2006/relationships/tags" Target="../tags/tag196.xml"/></Relationships>
</file>

<file path=ppt/slides/_rels/slide56.xml.rels><?xml version="1.0" encoding="UTF-8" standalone="yes"?>
<Relationships xmlns="http://schemas.openxmlformats.org/package/2006/relationships"><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tags" Target="../tags/tag197.xml"/><Relationship Id="rId5" Type="http://schemas.openxmlformats.org/officeDocument/2006/relationships/slideLayout" Target="../slideLayouts/slideLayout2.xml"/><Relationship Id="rId4" Type="http://schemas.openxmlformats.org/officeDocument/2006/relationships/tags" Target="../tags/tag200.xml"/></Relationships>
</file>

<file path=ppt/slides/_rels/slide57.xml.rels><?xml version="1.0" encoding="UTF-8" standalone="yes"?>
<Relationships xmlns="http://schemas.openxmlformats.org/package/2006/relationships"><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 Id="rId5" Type="http://schemas.openxmlformats.org/officeDocument/2006/relationships/slideLayout" Target="../slideLayouts/slideLayout2.xml"/><Relationship Id="rId4" Type="http://schemas.openxmlformats.org/officeDocument/2006/relationships/tags" Target="../tags/tag204.xml"/></Relationships>
</file>

<file path=ppt/slides/_rels/slide5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2"/>
          <p:cNvSpPr txBox="1"/>
          <p:nvPr>
            <p:custDataLst>
              <p:tags r:id="rId2"/>
            </p:custDataLst>
          </p:nvPr>
        </p:nvSpPr>
        <p:spPr>
          <a:xfrm>
            <a:off x="609600" y="410845"/>
            <a:ext cx="10972800" cy="1326515"/>
          </a:xfrm>
          <a:prstGeom prst="rect">
            <a:avLst/>
          </a:prstGeom>
          <a:solidFill>
            <a:schemeClr val="bg1">
              <a:lumMod val="95000"/>
            </a:schemeClr>
          </a:solidFill>
          <a:effectLst>
            <a:innerShdw blurRad="114300">
              <a:prstClr val="black"/>
            </a:innerShdw>
            <a:softEdge rad="63500"/>
          </a:effectLst>
        </p:spPr>
        <p:txBody>
          <a:bodyPr wrap="square" lIns="63500" tIns="25400" rIns="63500" bIns="25400" rtlCol="0" anchor="t" anchorCtr="0">
            <a:normAutofit fontScale="92500" lnSpcReduction="10000"/>
          </a:bodyPr>
          <a:lstStyle/>
          <a:p>
            <a:pPr indent="0" algn="ctr" fontAlgn="auto">
              <a:lnSpc>
                <a:spcPct val="150000"/>
              </a:lnSpc>
              <a:spcBef>
                <a:spcPts val="0"/>
              </a:spcBef>
              <a:spcAft>
                <a:spcPts val="0"/>
              </a:spcAft>
              <a:buSzPct val="100000"/>
              <a:buNone/>
            </a:pPr>
            <a:r>
              <a:rPr lang="en-US" altLang="zh-CN" sz="3200" b="1">
                <a:solidFill>
                  <a:schemeClr val="accent1"/>
                </a:solidFill>
                <a:uFillTx/>
                <a:latin typeface="Times New Roman" panose="02020603050405020304" charset="0"/>
                <a:ea typeface="微软雅黑" panose="020B0503020204020204" charset="-122"/>
                <a:cs typeface="Times New Roman" panose="02020603050405020304" charset="0"/>
                <a:sym typeface="+mn-ea"/>
              </a:rPr>
              <a:t>Writing English Papers</a:t>
            </a:r>
          </a:p>
          <a:p>
            <a:pPr indent="0" algn="ctr" fontAlgn="auto">
              <a:lnSpc>
                <a:spcPct val="150000"/>
              </a:lnSpc>
              <a:spcBef>
                <a:spcPts val="0"/>
              </a:spcBef>
              <a:spcAft>
                <a:spcPts val="0"/>
              </a:spcAft>
              <a:buSzPct val="100000"/>
              <a:buNone/>
            </a:pPr>
            <a:r>
              <a:rPr lang="zh-CN" altLang="zh-CN" sz="3200" b="1" spc="170">
                <a:solidFill>
                  <a:schemeClr val="accent1"/>
                </a:solidFill>
                <a:uFillTx/>
                <a:latin typeface="Times New Roman" panose="02020603050405020304" charset="0"/>
                <a:ea typeface="微软雅黑" panose="020B0503020204020204" charset="-122"/>
                <a:cs typeface="Times New Roman" panose="02020603050405020304" charset="0"/>
                <a:sym typeface="+mn-ea"/>
              </a:rPr>
              <a:t>《学术英语论文写作》</a:t>
            </a:r>
          </a:p>
        </p:txBody>
      </p:sp>
      <p:pic>
        <p:nvPicPr>
          <p:cNvPr id="7" name="图片 3"/>
          <p:cNvPicPr>
            <a:picLocks noChangeAspect="1"/>
          </p:cNvPicPr>
          <p:nvPr>
            <p:custDataLst>
              <p:tags r:id="rId3"/>
            </p:custDataLst>
          </p:nvPr>
        </p:nvPicPr>
        <p:blipFill rotWithShape="1">
          <a:blip r:embed="rId6"/>
          <a:srcRect t="26602" b="26602"/>
          <a:stretch>
            <a:fillRect/>
          </a:stretch>
        </p:blipFill>
        <p:spPr>
          <a:xfrm>
            <a:off x="609562" y="2042160"/>
            <a:ext cx="10972876" cy="2889261"/>
          </a:xfrm>
          <a:custGeom>
            <a:avLst/>
            <a:gdLst/>
            <a:ahLst/>
            <a:cxnLst>
              <a:cxn ang="3">
                <a:pos x="hc" y="t"/>
              </a:cxn>
              <a:cxn ang="cd2">
                <a:pos x="l" y="vc"/>
              </a:cxn>
              <a:cxn ang="cd4">
                <a:pos x="hc" y="b"/>
              </a:cxn>
              <a:cxn ang="0">
                <a:pos x="r" y="vc"/>
              </a:cxn>
            </a:cxnLst>
            <a:rect l="l" t="t" r="r" b="b"/>
            <a:pathLst>
              <a:path w="17280" h="4320">
                <a:moveTo>
                  <a:pt x="0" y="0"/>
                </a:moveTo>
                <a:lnTo>
                  <a:pt x="17280" y="0"/>
                </a:lnTo>
                <a:lnTo>
                  <a:pt x="17280" y="4320"/>
                </a:lnTo>
                <a:lnTo>
                  <a:pt x="0" y="4320"/>
                </a:lnTo>
                <a:lnTo>
                  <a:pt x="0" y="0"/>
                </a:lnTo>
                <a:close/>
              </a:path>
            </a:pathLst>
          </a:custGeom>
          <a:ln>
            <a:solidFill>
              <a:schemeClr val="accent2">
                <a:lumMod val="20000"/>
                <a:lumOff val="80000"/>
              </a:schemeClr>
            </a:solidFill>
          </a:ln>
          <a:effectLst>
            <a:innerShdw blurRad="114300">
              <a:prstClr val="black"/>
            </a:innerShdw>
          </a:effectLst>
        </p:spPr>
      </p:pic>
      <p:sp>
        <p:nvSpPr>
          <p:cNvPr id="11" name="Title 6"/>
          <p:cNvSpPr txBox="1"/>
          <p:nvPr>
            <p:custDataLst>
              <p:tags r:id="rId4"/>
            </p:custDataLst>
          </p:nvPr>
        </p:nvSpPr>
        <p:spPr>
          <a:xfrm>
            <a:off x="609562" y="5236196"/>
            <a:ext cx="10972800" cy="859804"/>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ctr" fontAlgn="auto">
              <a:lnSpc>
                <a:spcPct val="100000"/>
              </a:lnSpc>
              <a:spcBef>
                <a:spcPts val="0"/>
              </a:spcBef>
              <a:spcAft>
                <a:spcPts val="800"/>
              </a:spcAft>
              <a:buSzPct val="100000"/>
              <a:buNone/>
            </a:pPr>
            <a:r>
              <a:rPr lang="en-US" altLang="zh-CN" sz="2400" kern="0" spc="0">
                <a:ln w="3175">
                  <a:noFill/>
                  <a:prstDash val="dash"/>
                </a:ln>
                <a:solidFill>
                  <a:schemeClr val="tx1">
                    <a:lumMod val="75000"/>
                    <a:lumOff val="25000"/>
                  </a:schemeClr>
                </a:solidFill>
                <a:uFillTx/>
                <a:latin typeface="Times New Roman" panose="02020603050405020304" charset="0"/>
                <a:ea typeface="宋体" panose="02010600030101010101" pitchFamily="2" charset="-122"/>
                <a:cs typeface="Times New Roman" panose="02020603050405020304" charset="0"/>
                <a:sym typeface="+mn-ea"/>
              </a:rPr>
              <a:t>Lecturer: Liu Xindan</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a:bodyPr>
          <a:lstStyle/>
          <a:p>
            <a:pPr marL="0" indent="0" fontAlgn="auto">
              <a:lnSpc>
                <a:spcPct val="150000"/>
              </a:lnSpc>
              <a:buNone/>
            </a:pPr>
            <a:r>
              <a:rPr lang="en-US" altLang="zh-CN" b="1">
                <a:latin typeface="Times New Roman" panose="02020603050405020304" charset="0"/>
                <a:cs typeface="Times New Roman" panose="02020603050405020304" charset="0"/>
                <a:sym typeface="+mn-ea"/>
              </a:rPr>
              <a:t>Drafts</a:t>
            </a:r>
          </a:p>
          <a:p>
            <a:pPr fontAlgn="auto">
              <a:lnSpc>
                <a:spcPct val="150000"/>
              </a:lnSpc>
            </a:pPr>
            <a:r>
              <a:rPr lang="en-US" altLang="zh-CN">
                <a:latin typeface="Times New Roman" panose="02020603050405020304" charset="0"/>
                <a:cs typeface="Times New Roman" panose="02020603050405020304" charset="0"/>
                <a:sym typeface="+mn-ea"/>
              </a:rPr>
              <a:t>rough draft</a:t>
            </a:r>
            <a:endParaRPr lang="en-US" altLang="zh-CN">
              <a:latin typeface="Times New Roman" panose="02020603050405020304" charset="0"/>
              <a:cs typeface="Times New Roman" panose="02020603050405020304" charset="0"/>
            </a:endParaRPr>
          </a:p>
          <a:p>
            <a:pPr fontAlgn="auto">
              <a:lnSpc>
                <a:spcPct val="150000"/>
              </a:lnSpc>
            </a:pPr>
            <a:r>
              <a:rPr lang="en-US" altLang="zh-CN">
                <a:latin typeface="Times New Roman" panose="02020603050405020304" charset="0"/>
                <a:cs typeface="Times New Roman" panose="02020603050405020304" charset="0"/>
                <a:sym typeface="+mn-ea"/>
              </a:rPr>
              <a:t>draft for your readers</a:t>
            </a:r>
            <a:endParaRPr lang="en-US" altLang="zh-CN">
              <a:latin typeface="Times New Roman" panose="02020603050405020304" charset="0"/>
              <a:cs typeface="Times New Roman" panose="02020603050405020304" charset="0"/>
            </a:endParaRPr>
          </a:p>
          <a:p>
            <a:pPr fontAlgn="auto">
              <a:lnSpc>
                <a:spcPct val="150000"/>
              </a:lnSpc>
            </a:pPr>
            <a:r>
              <a:rPr lang="en-US" altLang="zh-CN">
                <a:latin typeface="Times New Roman" panose="02020603050405020304" charset="0"/>
                <a:cs typeface="Times New Roman" panose="02020603050405020304" charset="0"/>
                <a:sym typeface="+mn-ea"/>
              </a:rPr>
              <a:t>finalizing the paper</a:t>
            </a:r>
            <a:endParaRPr lang="en-US" i="1">
              <a:solidFill>
                <a:schemeClr val="tx1"/>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
        <p:nvSpPr>
          <p:cNvPr id="8" name="文本框 7"/>
          <p:cNvSpPr txBox="1"/>
          <p:nvPr/>
        </p:nvSpPr>
        <p:spPr>
          <a:xfrm>
            <a:off x="3785235" y="552450"/>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3" name="副标题 2"/>
          <p:cNvSpPr>
            <a:spLocks noGrp="1"/>
          </p:cNvSpPr>
          <p:nvPr>
            <p:ph type="subTitle" idx="1"/>
          </p:nvPr>
        </p:nvSpPr>
        <p:spPr/>
        <p:txBody>
          <a:bodyPr/>
          <a:lstStyle/>
          <a:p>
            <a:endParaRPr lang="zh-CN" altLang="en-US"/>
          </a:p>
        </p:txBody>
      </p:sp>
      <p:pic>
        <p:nvPicPr>
          <p:cNvPr id="5" name="图片 4" descr="maxresdefault"/>
          <p:cNvPicPr>
            <a:picLocks noChangeAspect="1"/>
          </p:cNvPicPr>
          <p:nvPr/>
        </p:nvPicPr>
        <p:blipFill>
          <a:blip r:embed="rId2"/>
          <a:stretch>
            <a:fillRect/>
          </a:stretch>
        </p:blipFill>
        <p:spPr>
          <a:xfrm>
            <a:off x="1639570" y="911225"/>
            <a:ext cx="9028430" cy="5036185"/>
          </a:xfrm>
          <a:prstGeom prst="rect">
            <a:avLst/>
          </a:prstGeom>
        </p:spPr>
      </p:pic>
      <p:sp>
        <p:nvSpPr>
          <p:cNvPr id="6" name="矩形 5"/>
          <p:cNvSpPr/>
          <p:nvPr/>
        </p:nvSpPr>
        <p:spPr>
          <a:xfrm>
            <a:off x="788670" y="499110"/>
            <a:ext cx="10632440" cy="5858510"/>
          </a:xfrm>
          <a:prstGeom prst="rect">
            <a:avLst/>
          </a:prstGeom>
          <a:noFill/>
          <a:ln w="28575">
            <a:solidFill>
              <a:schemeClr val="accent2">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638935" y="1122680"/>
            <a:ext cx="9029065" cy="779780"/>
          </a:xfrm>
          <a:prstGeom prst="rect">
            <a:avLst/>
          </a:prstGeom>
          <a:solidFill>
            <a:schemeClr val="bg1"/>
          </a:solidFill>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accent1">
                    <a:lumMod val="75000"/>
                  </a:schemeClr>
                </a:solidFill>
                <a:latin typeface="Times New Roman" panose="02020603050405020304" charset="0"/>
                <a:cs typeface="Times New Roman" panose="02020603050405020304" charset="0"/>
              </a:rPr>
              <a:t>Chapter 7 Revising Your Draft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P spid="7" grpId="0" bldLvl="0" animBg="1"/>
      <p:bldP spid="7"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p>
        </p:txBody>
      </p:sp>
      <p:sp>
        <p:nvSpPr>
          <p:cNvPr id="3" name="内容占位符 2"/>
          <p:cNvSpPr>
            <a:spLocks noGrp="1"/>
          </p:cNvSpPr>
          <p:nvPr>
            <p:ph idx="1"/>
          </p:nvPr>
        </p:nvSpPr>
        <p:spPr>
          <a:xfrm>
            <a:off x="838200" y="1557020"/>
            <a:ext cx="10947400" cy="4850765"/>
          </a:xfrm>
        </p:spPr>
        <p:txBody>
          <a:bodyPr>
            <a:normAutofit/>
          </a:bodyPr>
          <a:lstStyle/>
          <a:p>
            <a:pPr marL="0" indent="0" fontAlgn="auto">
              <a:lnSpc>
                <a:spcPct val="150000"/>
              </a:lnSpc>
              <a:buNone/>
            </a:pPr>
            <a:endParaRPr lang="en-US" b="1">
              <a:solidFill>
                <a:srgbClr val="C00000"/>
              </a:solidFill>
              <a:latin typeface="Times New Roman" panose="02020603050405020304" charset="0"/>
              <a:cs typeface="Times New Roman" panose="02020603050405020304" charset="0"/>
            </a:endParaRPr>
          </a:p>
          <a:p>
            <a:pPr marL="0" indent="0" fontAlgn="auto">
              <a:lnSpc>
                <a:spcPct val="150000"/>
              </a:lnSpc>
              <a:buNone/>
            </a:pPr>
            <a:r>
              <a:rPr lang="en-US" b="1">
                <a:solidFill>
                  <a:srgbClr val="C00000"/>
                </a:solidFill>
                <a:latin typeface="Times New Roman" panose="02020603050405020304" charset="0"/>
                <a:cs typeface="Times New Roman" panose="02020603050405020304" charset="0"/>
              </a:rPr>
              <a:t>  </a:t>
            </a:r>
            <a:endParaRPr lang="en-US">
              <a:solidFill>
                <a:schemeClr val="accent2">
                  <a:lumMod val="75000"/>
                </a:schemeClr>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
        <p:nvSpPr>
          <p:cNvPr id="8" name="圆角矩形 7"/>
          <p:cNvSpPr/>
          <p:nvPr>
            <p:custDataLst>
              <p:tags r:id="rId5"/>
            </p:custDataLst>
          </p:nvPr>
        </p:nvSpPr>
        <p:spPr>
          <a:xfrm>
            <a:off x="1539875" y="1773555"/>
            <a:ext cx="3613785" cy="2625090"/>
          </a:xfrm>
          <a:prstGeom prst="roundRect">
            <a:avLst/>
          </a:prstGeom>
          <a:blipFill rotWithShape="1">
            <a:blip r:embed="rId9"/>
            <a:stretch>
              <a:fillRect/>
            </a:stretch>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内容占位符 2"/>
          <p:cNvSpPr>
            <a:spLocks noGrp="1"/>
          </p:cNvSpPr>
          <p:nvPr>
            <p:custDataLst>
              <p:tags r:id="rId6"/>
            </p:custDataLst>
          </p:nvPr>
        </p:nvSpPr>
        <p:spPr>
          <a:xfrm>
            <a:off x="1539875" y="4481195"/>
            <a:ext cx="3573780" cy="6711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a:latin typeface="Times New Roman" panose="02020603050405020304" charset="0"/>
                <a:cs typeface="Times New Roman" panose="02020603050405020304" charset="0"/>
              </a:rPr>
              <a:t>Contents</a:t>
            </a:r>
          </a:p>
        </p:txBody>
      </p:sp>
      <p:sp>
        <p:nvSpPr>
          <p:cNvPr id="12" name="标题 1"/>
          <p:cNvSpPr>
            <a:spLocks noGrp="1"/>
          </p:cNvSpPr>
          <p:nvPr>
            <p:custDataLst>
              <p:tags r:id="rId7"/>
            </p:custDataLst>
          </p:nvPr>
        </p:nvSpPr>
        <p:spPr>
          <a:xfrm>
            <a:off x="6174105" y="1468120"/>
            <a:ext cx="5179695" cy="47923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200000"/>
              </a:lnSpc>
            </a:pPr>
            <a:r>
              <a:rPr lang="en-US" altLang="zh-CN" sz="3200" b="1" i="1">
                <a:solidFill>
                  <a:schemeClr val="accent2">
                    <a:lumMod val="75000"/>
                  </a:schemeClr>
                </a:solidFill>
                <a:latin typeface="Times New Roman" panose="02020603050405020304" charset="0"/>
                <a:cs typeface="Times New Roman" panose="02020603050405020304" charset="0"/>
                <a:sym typeface="+mn-ea"/>
              </a:rPr>
              <a:t>1. </a:t>
            </a:r>
            <a:r>
              <a:rPr lang="en-US" altLang="zh-CN" sz="3200">
                <a:latin typeface="Times New Roman" panose="02020603050405020304" charset="0"/>
                <a:cs typeface="Times New Roman" panose="02020603050405020304" charset="0"/>
                <a:sym typeface="+mn-ea"/>
              </a:rPr>
              <a:t>Language Style</a:t>
            </a:r>
            <a:endParaRPr lang="en-US" altLang="zh-CN" sz="3200">
              <a:latin typeface="Times New Roman" panose="02020603050405020304" charset="0"/>
              <a:cs typeface="Times New Roman" panose="02020603050405020304" charset="0"/>
            </a:endParaRPr>
          </a:p>
          <a:p>
            <a:pPr indent="0" fontAlgn="auto">
              <a:lnSpc>
                <a:spcPct val="200000"/>
              </a:lnSpc>
            </a:pPr>
            <a:r>
              <a:rPr lang="en-US" altLang="zh-CN" sz="3200" b="1" i="1">
                <a:solidFill>
                  <a:schemeClr val="accent2">
                    <a:lumMod val="75000"/>
                  </a:schemeClr>
                </a:solidFill>
                <a:latin typeface="Times New Roman" panose="02020603050405020304" charset="0"/>
                <a:cs typeface="Times New Roman" panose="02020603050405020304" charset="0"/>
                <a:sym typeface="+mn-ea"/>
              </a:rPr>
              <a:t>2. </a:t>
            </a:r>
            <a:r>
              <a:rPr lang="en-US" altLang="zh-CN" sz="3200">
                <a:latin typeface="Times New Roman" panose="02020603050405020304" charset="0"/>
                <a:cs typeface="Times New Roman" panose="02020603050405020304" charset="0"/>
                <a:sym typeface="+mn-ea"/>
              </a:rPr>
              <a:t>Rhetorical Principles</a:t>
            </a:r>
          </a:p>
          <a:p>
            <a:pPr indent="0" fontAlgn="auto">
              <a:lnSpc>
                <a:spcPct val="200000"/>
              </a:lnSpc>
            </a:pPr>
            <a:r>
              <a:rPr lang="en-US" altLang="zh-CN" sz="3200" b="1" i="1">
                <a:solidFill>
                  <a:schemeClr val="accent2">
                    <a:lumMod val="75000"/>
                  </a:schemeClr>
                </a:solidFill>
                <a:latin typeface="Times New Roman" panose="02020603050405020304" charset="0"/>
                <a:cs typeface="Times New Roman" panose="02020603050405020304" charset="0"/>
                <a:sym typeface="+mn-ea"/>
              </a:rPr>
              <a:t>3. </a:t>
            </a:r>
            <a:r>
              <a:rPr lang="en-US" altLang="zh-CN" sz="3200">
                <a:latin typeface="Times New Roman" panose="02020603050405020304" charset="0"/>
                <a:cs typeface="Times New Roman" panose="02020603050405020304" charset="0"/>
                <a:sym typeface="+mn-ea"/>
              </a:rPr>
              <a:t>Redundancy</a:t>
            </a:r>
            <a:r>
              <a:rPr lang="zh-CN" altLang="en-US" sz="3200">
                <a:sym typeface="+mn-ea"/>
              </a:rPr>
              <a:t> </a:t>
            </a:r>
            <a:endParaRPr lang="en-US" altLang="zh-CN" sz="3200"/>
          </a:p>
          <a:p>
            <a:pPr marL="0" indent="0" fontAlgn="auto">
              <a:lnSpc>
                <a:spcPct val="150000"/>
              </a:lnSpc>
            </a:pPr>
            <a:r>
              <a:rPr lang="en-US" altLang="zh-CN" sz="3200">
                <a:sym typeface="+mn-ea"/>
              </a:rPr>
              <a:t>  </a:t>
            </a:r>
            <a:endParaRPr lang="en-US" altLang="zh-CN" sz="320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1 Language Style</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pic>
        <p:nvPicPr>
          <p:cNvPr id="9" name="图片 8"/>
          <p:cNvPicPr/>
          <p:nvPr/>
        </p:nvPicPr>
        <p:blipFill>
          <a:blip r:embed="rId6"/>
          <a:stretch>
            <a:fillRect/>
          </a:stretch>
        </p:blipFill>
        <p:spPr>
          <a:xfrm>
            <a:off x="5254625" y="1712595"/>
            <a:ext cx="4761230" cy="4237990"/>
          </a:xfrm>
          <a:prstGeom prst="rect">
            <a:avLst/>
          </a:prstGeom>
          <a:effectLst>
            <a:innerShdw blurRad="114300">
              <a:prstClr val="black"/>
            </a:innerShdw>
          </a:effectLst>
        </p:spPr>
      </p:pic>
      <p:sp>
        <p:nvSpPr>
          <p:cNvPr id="13" name="文本框 12"/>
          <p:cNvSpPr txBox="1"/>
          <p:nvPr/>
        </p:nvSpPr>
        <p:spPr>
          <a:xfrm>
            <a:off x="887095" y="3422650"/>
            <a:ext cx="4064000" cy="583565"/>
          </a:xfrm>
          <a:prstGeom prst="rect">
            <a:avLst/>
          </a:prstGeom>
          <a:noFill/>
        </p:spPr>
        <p:txBody>
          <a:bodyPr wrap="square" rtlCol="0">
            <a:spAutoFit/>
          </a:bodyPr>
          <a:lstStyle/>
          <a:p>
            <a:pPr marL="0" indent="0" eaLnBrk="1" hangingPunct="1">
              <a:buNone/>
            </a:pPr>
            <a:r>
              <a:rPr lang="en-US" altLang="zh-CN" sz="3200" b="1">
                <a:latin typeface="Times New Roman" panose="02020603050405020304" charset="0"/>
                <a:cs typeface="Times New Roman" panose="02020603050405020304" charset="0"/>
                <a:sym typeface="+mn-ea"/>
              </a:rPr>
              <a:t>1 Language Style</a:t>
            </a:r>
            <a:endParaRPr lang="zh-CN" altLang="en-US" sz="320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1 Language Style</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a:bodyPr>
          <a:lstStyle/>
          <a:p>
            <a:pPr marL="0" indent="0" eaLnBrk="1" hangingPunct="1">
              <a:buNone/>
            </a:pPr>
            <a:r>
              <a:rPr lang="en-US" altLang="zh-CN" b="1">
                <a:latin typeface="Times New Roman" panose="02020603050405020304" charset="0"/>
                <a:cs typeface="Times New Roman" panose="02020603050405020304" charset="0"/>
                <a:sym typeface="+mn-ea"/>
              </a:rPr>
              <a:t>1 Language Style</a:t>
            </a:r>
            <a:endParaRPr lang="en-US" altLang="zh-CN" b="1">
              <a:latin typeface="Times New Roman" panose="02020603050405020304" charset="0"/>
              <a:cs typeface="Times New Roman" panose="02020603050405020304" charset="0"/>
            </a:endParaRPr>
          </a:p>
          <a:p>
            <a:pPr eaLnBrk="1" hangingPunct="1">
              <a:buNone/>
            </a:pPr>
            <a:r>
              <a:rPr lang="en-US" altLang="zh-CN" b="1">
                <a:latin typeface="Times New Roman" panose="02020603050405020304" charset="0"/>
                <a:cs typeface="Times New Roman" panose="02020603050405020304" charset="0"/>
                <a:sym typeface="+mn-ea"/>
              </a:rPr>
              <a:t>Features:</a:t>
            </a:r>
            <a:endParaRPr lang="en-US" altLang="zh-CN" b="1">
              <a:latin typeface="Times New Roman" panose="02020603050405020304" charset="0"/>
              <a:cs typeface="Times New Roman" panose="02020603050405020304" charset="0"/>
            </a:endParaRPr>
          </a:p>
          <a:p>
            <a:pPr fontAlgn="auto">
              <a:lnSpc>
                <a:spcPct val="150000"/>
              </a:lnSpc>
            </a:pPr>
            <a:r>
              <a:rPr lang="en-US" altLang="zh-CN" b="1">
                <a:solidFill>
                  <a:schemeClr val="accent2"/>
                </a:solidFill>
                <a:latin typeface="Times New Roman" panose="02020603050405020304" charset="0"/>
                <a:cs typeface="Times New Roman" panose="02020603050405020304" charset="0"/>
                <a:sym typeface="+mn-ea"/>
              </a:rPr>
              <a:t>Formal</a:t>
            </a:r>
            <a:endParaRPr lang="en-US" altLang="zh-CN" b="1">
              <a:solidFill>
                <a:schemeClr val="accent2"/>
              </a:solidFill>
              <a:latin typeface="Times New Roman" panose="02020603050405020304" charset="0"/>
              <a:cs typeface="Times New Roman" panose="02020603050405020304" charset="0"/>
            </a:endParaRPr>
          </a:p>
          <a:p>
            <a:pPr fontAlgn="auto">
              <a:lnSpc>
                <a:spcPct val="150000"/>
              </a:lnSpc>
            </a:pPr>
            <a:r>
              <a:rPr lang="en-US" altLang="zh-CN" b="1">
                <a:solidFill>
                  <a:schemeClr val="accent2"/>
                </a:solidFill>
                <a:latin typeface="Times New Roman" panose="02020603050405020304" charset="0"/>
                <a:cs typeface="Times New Roman" panose="02020603050405020304" charset="0"/>
                <a:sym typeface="+mn-ea"/>
              </a:rPr>
              <a:t>Objective</a:t>
            </a:r>
            <a:endParaRPr lang="en-US" altLang="zh-CN" b="1">
              <a:solidFill>
                <a:schemeClr val="accent2"/>
              </a:solidFill>
              <a:latin typeface="Times New Roman" panose="02020603050405020304" charset="0"/>
              <a:cs typeface="Times New Roman" panose="02020603050405020304" charset="0"/>
            </a:endParaRPr>
          </a:p>
          <a:p>
            <a:pPr fontAlgn="auto">
              <a:lnSpc>
                <a:spcPct val="150000"/>
              </a:lnSpc>
            </a:pPr>
            <a:r>
              <a:rPr lang="en-US" altLang="zh-CN" b="1">
                <a:solidFill>
                  <a:schemeClr val="accent2"/>
                </a:solidFill>
                <a:latin typeface="Times New Roman" panose="02020603050405020304" charset="0"/>
                <a:cs typeface="Times New Roman" panose="02020603050405020304" charset="0"/>
                <a:sym typeface="+mn-ea"/>
              </a:rPr>
              <a:t>Concise</a:t>
            </a:r>
            <a:endParaRPr lang="en-US" altLang="zh-CN" b="1">
              <a:solidFill>
                <a:schemeClr val="accent2"/>
              </a:solidFill>
              <a:latin typeface="Times New Roman" panose="02020603050405020304" charset="0"/>
              <a:cs typeface="Times New Roman" panose="02020603050405020304" charset="0"/>
            </a:endParaRPr>
          </a:p>
          <a:p>
            <a:pPr fontAlgn="auto">
              <a:lnSpc>
                <a:spcPct val="150000"/>
              </a:lnSpc>
            </a:pPr>
            <a:r>
              <a:rPr lang="en-US" altLang="zh-CN" b="1">
                <a:solidFill>
                  <a:schemeClr val="accent2"/>
                </a:solidFill>
                <a:latin typeface="Times New Roman" panose="02020603050405020304" charset="0"/>
                <a:cs typeface="Times New Roman" panose="02020603050405020304" charset="0"/>
                <a:sym typeface="+mn-ea"/>
              </a:rPr>
              <a:t>Varied</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Formal</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1148060" cy="5173345"/>
          </a:xfrm>
          <a:ln w="28575">
            <a:solidFill>
              <a:schemeClr val="accent2">
                <a:lumMod val="75000"/>
              </a:schemeClr>
            </a:solidFill>
          </a:ln>
        </p:spPr>
        <p:txBody>
          <a:bodyPr>
            <a:noAutofit/>
          </a:bodyPr>
          <a:lstStyle/>
          <a:p>
            <a:pPr marL="0" indent="0" fontAlgn="auto">
              <a:lnSpc>
                <a:spcPct val="150000"/>
              </a:lnSpc>
              <a:spcBef>
                <a:spcPts val="0"/>
              </a:spcBef>
              <a:buClr>
                <a:srgbClr val="C55A11"/>
              </a:buClr>
              <a:buNone/>
            </a:pPr>
            <a:r>
              <a:rPr lang="en-US" b="1">
                <a:solidFill>
                  <a:schemeClr val="accent2">
                    <a:lumMod val="75000"/>
                  </a:schemeClr>
                </a:solidFill>
                <a:latin typeface="Times New Roman" panose="02020603050405020304" charset="0"/>
                <a:cs typeface="Times New Roman" panose="02020603050405020304" charset="0"/>
              </a:rPr>
              <a:t>Formality</a:t>
            </a:r>
          </a:p>
          <a:p>
            <a:pPr marL="0" indent="0" fontAlgn="auto">
              <a:lnSpc>
                <a:spcPct val="150000"/>
              </a:lnSpc>
              <a:spcBef>
                <a:spcPts val="0"/>
              </a:spcBef>
              <a:buClr>
                <a:srgbClr val="C55A11"/>
              </a:buClr>
            </a:pPr>
            <a:r>
              <a:rPr lang="en-US">
                <a:latin typeface="Times New Roman" panose="02020603050405020304" charset="0"/>
                <a:cs typeface="Times New Roman" panose="02020603050405020304" charset="0"/>
              </a:rPr>
              <a:t>Avoid slang and too-casual language, e.g. “cool” or “pretty awful”.</a:t>
            </a:r>
          </a:p>
          <a:p>
            <a:pPr marL="0" indent="0" fontAlgn="auto">
              <a:lnSpc>
                <a:spcPct val="150000"/>
              </a:lnSpc>
              <a:spcBef>
                <a:spcPts val="0"/>
              </a:spcBef>
              <a:buClr>
                <a:srgbClr val="C55A11"/>
              </a:buClr>
            </a:pPr>
            <a:r>
              <a:rPr lang="en-US">
                <a:latin typeface="Times New Roman" panose="02020603050405020304" charset="0"/>
                <a:cs typeface="Times New Roman" panose="02020603050405020304" charset="0"/>
              </a:rPr>
              <a:t> Use full forms of words rather than abbreviations, e.g., “does not, should </a:t>
            </a:r>
          </a:p>
          <a:p>
            <a:pPr marL="0" indent="0" fontAlgn="auto">
              <a:lnSpc>
                <a:spcPct val="150000"/>
              </a:lnSpc>
              <a:spcBef>
                <a:spcPts val="0"/>
              </a:spcBef>
              <a:buClr>
                <a:srgbClr val="C55A11"/>
              </a:buClr>
              <a:buNone/>
            </a:pPr>
            <a:r>
              <a:rPr lang="en-US">
                <a:latin typeface="Times New Roman" panose="02020603050405020304" charset="0"/>
                <a:cs typeface="Times New Roman" panose="02020603050405020304" charset="0"/>
              </a:rPr>
              <a:t>    have, it is” rather than “doesn’t, should’ve, it’s”.</a:t>
            </a:r>
          </a:p>
          <a:p>
            <a:pPr marL="0" indent="0" fontAlgn="auto">
              <a:lnSpc>
                <a:spcPct val="150000"/>
              </a:lnSpc>
              <a:spcBef>
                <a:spcPts val="0"/>
              </a:spcBef>
              <a:buClr>
                <a:srgbClr val="C55A11"/>
              </a:buClr>
            </a:pPr>
            <a:r>
              <a:rPr lang="en-US">
                <a:latin typeface="Times New Roman" panose="02020603050405020304" charset="0"/>
                <a:cs typeface="Times New Roman" panose="02020603050405020304" charset="0"/>
              </a:rPr>
              <a:t> Avoid phrasal verbs, e.g. “look into”, preferring single polysyllabic verbs, </a:t>
            </a:r>
          </a:p>
          <a:p>
            <a:pPr marL="0" indent="0" fontAlgn="auto">
              <a:lnSpc>
                <a:spcPct val="150000"/>
              </a:lnSpc>
              <a:spcBef>
                <a:spcPts val="0"/>
              </a:spcBef>
              <a:buClr>
                <a:srgbClr val="C55A11"/>
              </a:buClr>
              <a:buNone/>
            </a:pPr>
            <a:r>
              <a:rPr lang="en-US">
                <a:latin typeface="Times New Roman" panose="02020603050405020304" charset="0"/>
                <a:cs typeface="Times New Roman" panose="02020603050405020304" charset="0"/>
              </a:rPr>
              <a:t>   e.g. “investigate”.</a:t>
            </a:r>
          </a:p>
          <a:p>
            <a:pPr marL="0" indent="0" fontAlgn="auto">
              <a:lnSpc>
                <a:spcPct val="150000"/>
              </a:lnSpc>
              <a:spcBef>
                <a:spcPts val="0"/>
              </a:spcBef>
              <a:buClr>
                <a:srgbClr val="C55A11"/>
              </a:buClr>
            </a:pPr>
            <a:r>
              <a:rPr lang="en-US">
                <a:latin typeface="Times New Roman" panose="02020603050405020304" charset="0"/>
                <a:cs typeface="Times New Roman" panose="02020603050405020304" charset="0"/>
              </a:rPr>
              <a:t> Use powerful reporting words: “support, claim, suggest, recommend, and </a:t>
            </a:r>
          </a:p>
          <a:p>
            <a:pPr marL="0" indent="0" fontAlgn="auto">
              <a:lnSpc>
                <a:spcPct val="150000"/>
              </a:lnSpc>
              <a:spcBef>
                <a:spcPts val="0"/>
              </a:spcBef>
              <a:buClr>
                <a:srgbClr val="C55A11"/>
              </a:buClr>
              <a:buNone/>
            </a:pPr>
            <a:r>
              <a:rPr lang="en-US">
                <a:latin typeface="Times New Roman" panose="02020603050405020304" charset="0"/>
                <a:cs typeface="Times New Roman" panose="02020603050405020304" charset="0"/>
              </a:rPr>
              <a:t>   contradict”.</a:t>
            </a:r>
          </a:p>
          <a:p>
            <a:pPr marL="0" indent="0" fontAlgn="auto">
              <a:lnSpc>
                <a:spcPct val="200000"/>
              </a:lnSpc>
              <a:buNone/>
            </a:pPr>
            <a:endParaRPr lang="en-US">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Formality</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a:bodyPr>
          <a:lstStyle/>
          <a:p>
            <a:pPr fontAlgn="auto">
              <a:lnSpc>
                <a:spcPct val="150000"/>
              </a:lnSpc>
              <a:buClr>
                <a:srgbClr val="C55A11"/>
              </a:buClr>
              <a:buFont typeface="Arial" panose="020B0604020202020204" pitchFamily="34" charset="0"/>
              <a:buChar char="•"/>
            </a:pPr>
            <a:r>
              <a:rPr lang="en-US">
                <a:latin typeface="Times New Roman" panose="02020603050405020304" charset="0"/>
                <a:cs typeface="Times New Roman" panose="02020603050405020304" charset="0"/>
              </a:rPr>
              <a:t>Make less use of coordination and greater use of subordination.</a:t>
            </a:r>
          </a:p>
          <a:p>
            <a:pPr marL="0" indent="0" fontAlgn="auto">
              <a:lnSpc>
                <a:spcPct val="150000"/>
              </a:lnSpc>
              <a:buClr>
                <a:srgbClr val="C55A11"/>
              </a:buClr>
            </a:pPr>
            <a:r>
              <a:rPr lang="en-US">
                <a:latin typeface="Times New Roman" panose="02020603050405020304" charset="0"/>
                <a:cs typeface="Times New Roman" panose="02020603050405020304" charset="0"/>
              </a:rPr>
              <a:t> Avoid informal punctuation such as contractions and dashes; colons and </a:t>
            </a:r>
          </a:p>
          <a:p>
            <a:pPr marL="0" indent="0" fontAlgn="auto">
              <a:lnSpc>
                <a:spcPct val="150000"/>
              </a:lnSpc>
              <a:buClr>
                <a:srgbClr val="C55A11"/>
              </a:buClr>
              <a:buNone/>
            </a:pPr>
            <a:r>
              <a:rPr lang="en-US">
                <a:latin typeface="Times New Roman" panose="02020603050405020304" charset="0"/>
                <a:cs typeface="Times New Roman" panose="02020603050405020304" charset="0"/>
              </a:rPr>
              <a:t>  semi-colons feature commonly in academic style.</a:t>
            </a:r>
          </a:p>
          <a:p>
            <a:pPr marL="0" indent="0" fontAlgn="auto">
              <a:lnSpc>
                <a:spcPct val="150000"/>
              </a:lnSpc>
              <a:buClr>
                <a:srgbClr val="C55A11"/>
              </a:buClr>
            </a:pPr>
            <a:r>
              <a:rPr lang="en-US">
                <a:latin typeface="Times New Roman" panose="02020603050405020304" charset="0"/>
                <a:cs typeface="Times New Roman" panose="02020603050405020304" charset="0"/>
              </a:rPr>
              <a:t> Use complex rather than simple sentences, and long rather than short </a:t>
            </a:r>
          </a:p>
          <a:p>
            <a:pPr marL="0" indent="0" fontAlgn="auto">
              <a:lnSpc>
                <a:spcPct val="150000"/>
              </a:lnSpc>
              <a:buClr>
                <a:srgbClr val="C55A11"/>
              </a:buClr>
              <a:buNone/>
            </a:pPr>
            <a:r>
              <a:rPr lang="en-US">
                <a:latin typeface="Times New Roman" panose="02020603050405020304" charset="0"/>
                <a:cs typeface="Times New Roman" panose="02020603050405020304" charset="0"/>
              </a:rPr>
              <a:t>   paragraphs. </a:t>
            </a:r>
          </a:p>
          <a:p>
            <a:pPr marL="0" indent="0" fontAlgn="auto">
              <a:lnSpc>
                <a:spcPct val="150000"/>
              </a:lnSpc>
              <a:buClr>
                <a:srgbClr val="C55A11"/>
              </a:buClr>
            </a:pPr>
            <a:r>
              <a:rPr lang="en-US">
                <a:latin typeface="Times New Roman" panose="02020603050405020304" charset="0"/>
                <a:cs typeface="Times New Roman" panose="02020603050405020304" charset="0"/>
              </a:rPr>
              <a:t> Avoid the use of rhetorical questions.</a:t>
            </a:r>
          </a:p>
          <a:p>
            <a:pPr marL="0" indent="0" fontAlgn="auto">
              <a:lnSpc>
                <a:spcPct val="150000"/>
              </a:lnSpc>
              <a:buClr>
                <a:srgbClr val="C55A11"/>
              </a:buClr>
              <a:buNone/>
            </a:pPr>
            <a:endParaRPr lang="en-US">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Formality</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1562735" y="4250055"/>
            <a:ext cx="10222865" cy="2157730"/>
          </a:xfrm>
          <a:ln w="28575">
            <a:solidFill>
              <a:schemeClr val="accent2">
                <a:lumMod val="75000"/>
              </a:schemeClr>
            </a:solidFill>
          </a:ln>
        </p:spPr>
        <p:txBody>
          <a:bodyPr>
            <a:normAutofit fontScale="90000" lnSpcReduction="10000"/>
          </a:bodyPr>
          <a:lstStyle/>
          <a:p>
            <a:pPr marL="0" indent="0" fontAlgn="auto">
              <a:lnSpc>
                <a:spcPct val="200000"/>
              </a:lnSpc>
              <a:buClr>
                <a:srgbClr val="C55A11"/>
              </a:buClr>
              <a:buFont typeface="Arial" panose="020B0604020202020204" pitchFamily="34" charset="0"/>
              <a:buNone/>
            </a:pPr>
            <a:r>
              <a:rPr lang="en-US">
                <a:latin typeface="Times New Roman" panose="02020603050405020304" charset="0"/>
                <a:cs typeface="Times New Roman" panose="02020603050405020304" charset="0"/>
              </a:rPr>
              <a:t>This passage contains some</a:t>
            </a:r>
            <a:r>
              <a:rPr lang="en-US">
                <a:solidFill>
                  <a:srgbClr val="C00000"/>
                </a:solidFill>
                <a:latin typeface="Times New Roman" panose="02020603050405020304" charset="0"/>
                <a:cs typeface="Times New Roman" panose="02020603050405020304" charset="0"/>
              </a:rPr>
              <a:t> informal words</a:t>
            </a:r>
            <a:r>
              <a:rPr lang="en-US">
                <a:latin typeface="Times New Roman" panose="02020603050405020304" charset="0"/>
                <a:cs typeface="Times New Roman" panose="02020603050405020304" charset="0"/>
              </a:rPr>
              <a:t> (going, good, tell, though, really), a</a:t>
            </a:r>
            <a:r>
              <a:rPr lang="en-US">
                <a:solidFill>
                  <a:schemeClr val="accent5">
                    <a:lumMod val="75000"/>
                  </a:schemeClr>
                </a:solidFill>
                <a:latin typeface="Times New Roman" panose="02020603050405020304" charset="0"/>
                <a:cs typeface="Times New Roman" panose="02020603050405020304" charset="0"/>
              </a:rPr>
              <a:t> rhetorical question </a:t>
            </a:r>
            <a:r>
              <a:rPr lang="en-US">
                <a:latin typeface="Times New Roman" panose="02020603050405020304" charset="0"/>
                <a:cs typeface="Times New Roman" panose="02020603050405020304" charset="0"/>
              </a:rPr>
              <a:t>(How good…?), a </a:t>
            </a:r>
            <a:r>
              <a:rPr lang="en-US">
                <a:solidFill>
                  <a:srgbClr val="00B050"/>
                </a:solidFill>
                <a:latin typeface="Times New Roman" panose="02020603050405020304" charset="0"/>
                <a:cs typeface="Times New Roman" panose="02020603050405020304" charset="0"/>
              </a:rPr>
              <a:t>contraction</a:t>
            </a:r>
            <a:r>
              <a:rPr lang="en-US">
                <a:latin typeface="Times New Roman" panose="02020603050405020304" charset="0"/>
                <a:cs typeface="Times New Roman" panose="02020603050405020304" charset="0"/>
              </a:rPr>
              <a:t> (can’t), a </a:t>
            </a:r>
            <a:r>
              <a:rPr lang="en-US">
                <a:solidFill>
                  <a:srgbClr val="7030A0"/>
                </a:solidFill>
                <a:latin typeface="Times New Roman" panose="02020603050405020304" charset="0"/>
                <a:cs typeface="Times New Roman" panose="02020603050405020304" charset="0"/>
              </a:rPr>
              <a:t>vague category</a:t>
            </a:r>
            <a:r>
              <a:rPr lang="en-US">
                <a:latin typeface="Times New Roman" panose="02020603050405020304" charset="0"/>
                <a:cs typeface="Times New Roman" panose="02020603050405020304" charset="0"/>
              </a:rPr>
              <a:t> (etc.) and a</a:t>
            </a:r>
            <a:r>
              <a:rPr lang="en-US">
                <a:solidFill>
                  <a:srgbClr val="C00000"/>
                </a:solidFill>
                <a:latin typeface="Times New Roman" panose="02020603050405020304" charset="0"/>
                <a:cs typeface="Times New Roman" panose="02020603050405020304" charset="0"/>
              </a:rPr>
              <a:t> colloquialism</a:t>
            </a:r>
            <a:r>
              <a:rPr lang="en-US">
                <a:latin typeface="Times New Roman" panose="02020603050405020304" charset="0"/>
                <a:cs typeface="Times New Roman" panose="02020603050405020304" charset="0"/>
              </a:rPr>
              <a:t> (first-class, top notch, check out).</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
        <p:nvSpPr>
          <p:cNvPr id="13" name="文本框 12"/>
          <p:cNvSpPr txBox="1"/>
          <p:nvPr/>
        </p:nvSpPr>
        <p:spPr>
          <a:xfrm>
            <a:off x="1562100" y="1557020"/>
            <a:ext cx="10150475" cy="2249805"/>
          </a:xfrm>
          <a:prstGeom prst="rect">
            <a:avLst/>
          </a:prstGeom>
          <a:solidFill>
            <a:schemeClr val="bg1">
              <a:lumMod val="95000"/>
            </a:schemeClr>
          </a:solidFill>
          <a:ln>
            <a:solidFill>
              <a:schemeClr val="bg1">
                <a:lumMod val="95000"/>
              </a:schemeClr>
            </a:solidFill>
          </a:ln>
        </p:spPr>
        <p:txBody>
          <a:bodyPr>
            <a:noAutofit/>
            <a:extLst>
              <a:ext uri="{4A0BC546-FE56-4ADE-93B0-CB8AF2F6F144}">
                <wpsdc:textFrameExt xmlns="" xmlns:wpsdc="http://www.wps.cn/officeDocument/2022/drawingmlCustomData" type="text"/>
              </a:ext>
            </a:extLst>
          </a:bodyPr>
          <a:lstStyle/>
          <a:p>
            <a:pPr algn="l"/>
            <a:r>
              <a:rPr lang="zh-CN" altLang="en-US" sz="2800">
                <a:latin typeface="Times New Roman" panose="02020603050405020304" charset="0"/>
                <a:ea typeface="微软雅黑" panose="020B0503020204020204" charset="-122"/>
                <a:cs typeface="Times New Roman" panose="02020603050405020304" charset="0"/>
              </a:rPr>
              <a:t>The investigation has been </a:t>
            </a:r>
            <a:r>
              <a:rPr lang="zh-CN" altLang="en-US" sz="2800">
                <a:solidFill>
                  <a:srgbClr val="C00000"/>
                </a:solidFill>
                <a:latin typeface="Times New Roman" panose="02020603050405020304" charset="0"/>
                <a:ea typeface="微软雅黑" panose="020B0503020204020204" charset="-122"/>
                <a:cs typeface="Times New Roman" panose="02020603050405020304" charset="0"/>
              </a:rPr>
              <a:t>going</a:t>
            </a:r>
            <a:r>
              <a:rPr lang="zh-CN" altLang="en-US" sz="2800">
                <a:latin typeface="Times New Roman" panose="02020603050405020304" charset="0"/>
                <a:ea typeface="微软雅黑" panose="020B0503020204020204" charset="-122"/>
                <a:cs typeface="Times New Roman" panose="02020603050405020304" charset="0"/>
              </a:rPr>
              <a:t> for four years.</a:t>
            </a:r>
            <a:r>
              <a:rPr lang="zh-CN" altLang="en-US" sz="2800">
                <a:solidFill>
                  <a:schemeClr val="accent5">
                    <a:lumMod val="75000"/>
                  </a:schemeClr>
                </a:solidFill>
                <a:latin typeface="Times New Roman" panose="02020603050405020304" charset="0"/>
                <a:ea typeface="微软雅黑" panose="020B0503020204020204" charset="-122"/>
                <a:cs typeface="Times New Roman" panose="02020603050405020304" charset="0"/>
              </a:rPr>
              <a:t> How</a:t>
            </a:r>
            <a:r>
              <a:rPr lang="zh-CN" altLang="en-US" sz="2800">
                <a:latin typeface="Times New Roman" panose="02020603050405020304" charset="0"/>
                <a:ea typeface="微软雅黑" panose="020B0503020204020204" charset="-122"/>
                <a:cs typeface="Times New Roman" panose="02020603050405020304" charset="0"/>
              </a:rPr>
              <a:t> good </a:t>
            </a:r>
            <a:r>
              <a:rPr lang="zh-CN" altLang="en-US" sz="2800">
                <a:solidFill>
                  <a:schemeClr val="accent5">
                    <a:lumMod val="75000"/>
                  </a:schemeClr>
                </a:solidFill>
                <a:latin typeface="Times New Roman" panose="02020603050405020304" charset="0"/>
                <a:ea typeface="微软雅黑" panose="020B0503020204020204" charset="-122"/>
                <a:cs typeface="Times New Roman" panose="02020603050405020304" charset="0"/>
              </a:rPr>
              <a:t>has it been</a:t>
            </a:r>
            <a:r>
              <a:rPr lang="zh-CN" altLang="en-US" sz="2800">
                <a:latin typeface="Times New Roman" panose="02020603050405020304" charset="0"/>
                <a:ea typeface="微软雅黑" panose="020B0503020204020204" charset="-122"/>
                <a:cs typeface="Times New Roman" panose="02020603050405020304" charset="0"/>
              </a:rPr>
              <a:t>? At this stage, researchers </a:t>
            </a:r>
            <a:r>
              <a:rPr lang="zh-CN" altLang="en-US" sz="2800">
                <a:solidFill>
                  <a:srgbClr val="00B050"/>
                </a:solidFill>
                <a:latin typeface="Times New Roman" panose="02020603050405020304" charset="0"/>
                <a:ea typeface="微软雅黑" panose="020B0503020204020204" charset="-122"/>
                <a:cs typeface="Times New Roman" panose="02020603050405020304" charset="0"/>
              </a:rPr>
              <a:t>can</a:t>
            </a:r>
            <a:r>
              <a:rPr lang="en-US" altLang="zh-CN" sz="2800">
                <a:solidFill>
                  <a:srgbClr val="00B050"/>
                </a:solidFill>
                <a:latin typeface="Times New Roman" panose="02020603050405020304" charset="0"/>
                <a:ea typeface="微软雅黑" panose="020B0503020204020204" charset="-122"/>
                <a:cs typeface="Times New Roman" panose="02020603050405020304" charset="0"/>
              </a:rPr>
              <a:t>’</a:t>
            </a:r>
            <a:r>
              <a:rPr lang="zh-CN" altLang="en-US" sz="2800">
                <a:solidFill>
                  <a:srgbClr val="00B050"/>
                </a:solidFill>
                <a:latin typeface="Times New Roman" panose="02020603050405020304" charset="0"/>
                <a:ea typeface="微软雅黑" panose="020B0503020204020204" charset="-122"/>
                <a:cs typeface="Times New Roman" panose="02020603050405020304" charset="0"/>
              </a:rPr>
              <a:t>t </a:t>
            </a:r>
            <a:r>
              <a:rPr lang="zh-CN" altLang="en-US" sz="2800">
                <a:solidFill>
                  <a:srgbClr val="C00000"/>
                </a:solidFill>
                <a:latin typeface="Times New Roman" panose="02020603050405020304" charset="0"/>
                <a:ea typeface="微软雅黑" panose="020B0503020204020204" charset="-122"/>
                <a:cs typeface="Times New Roman" panose="02020603050405020304" charset="0"/>
              </a:rPr>
              <a:t>tell</a:t>
            </a:r>
            <a:r>
              <a:rPr lang="zh-CN" altLang="en-US" sz="2800">
                <a:latin typeface="Times New Roman" panose="02020603050405020304" charset="0"/>
                <a:ea typeface="微软雅黑" panose="020B0503020204020204" charset="-122"/>
                <a:cs typeface="Times New Roman" panose="02020603050405020304" charset="0"/>
              </a:rPr>
              <a:t>, because they still need to </a:t>
            </a:r>
            <a:r>
              <a:rPr lang="zh-CN" altLang="en-US" sz="2800">
                <a:solidFill>
                  <a:srgbClr val="C00000"/>
                </a:solidFill>
                <a:latin typeface="Times New Roman" panose="02020603050405020304" charset="0"/>
                <a:ea typeface="微软雅黑" panose="020B0503020204020204" charset="-122"/>
                <a:cs typeface="Times New Roman" panose="02020603050405020304" charset="0"/>
              </a:rPr>
              <a:t>check out</a:t>
            </a:r>
            <a:r>
              <a:rPr lang="zh-CN" altLang="en-US" sz="2800">
                <a:latin typeface="Times New Roman" panose="02020603050405020304" charset="0"/>
                <a:ea typeface="微软雅黑" panose="020B0503020204020204" charset="-122"/>
                <a:cs typeface="Times New Roman" panose="02020603050405020304" charset="0"/>
              </a:rPr>
              <a:t> the data to account for differences in age, gender, socio-economic-status, </a:t>
            </a:r>
            <a:r>
              <a:rPr lang="zh-CN" altLang="en-US" sz="2800">
                <a:solidFill>
                  <a:srgbClr val="7030A0"/>
                </a:solidFill>
                <a:latin typeface="Times New Roman" panose="02020603050405020304" charset="0"/>
                <a:ea typeface="微软雅黑" panose="020B0503020204020204" charset="-122"/>
                <a:cs typeface="Times New Roman" panose="02020603050405020304" charset="0"/>
              </a:rPr>
              <a:t>etc</a:t>
            </a:r>
            <a:r>
              <a:rPr lang="zh-CN" altLang="en-US" sz="2800">
                <a:latin typeface="Times New Roman" panose="02020603050405020304" charset="0"/>
                <a:ea typeface="微软雅黑" panose="020B0503020204020204" charset="-122"/>
                <a:cs typeface="Times New Roman" panose="02020603050405020304" charset="0"/>
              </a:rPr>
              <a:t>. Once that work is done </a:t>
            </a:r>
            <a:r>
              <a:rPr lang="zh-CN" altLang="en-US" sz="2800">
                <a:solidFill>
                  <a:srgbClr val="C00000"/>
                </a:solidFill>
                <a:latin typeface="Times New Roman" panose="02020603050405020304" charset="0"/>
                <a:ea typeface="微软雅黑" panose="020B0503020204020204" charset="-122"/>
                <a:cs typeface="Times New Roman" panose="02020603050405020304" charset="0"/>
              </a:rPr>
              <a:t>though</a:t>
            </a:r>
            <a:r>
              <a:rPr lang="zh-CN" altLang="en-US" sz="2800">
                <a:latin typeface="Times New Roman" panose="02020603050405020304" charset="0"/>
                <a:ea typeface="微软雅黑" panose="020B0503020204020204" charset="-122"/>
                <a:cs typeface="Times New Roman" panose="02020603050405020304" charset="0"/>
              </a:rPr>
              <a:t>, the information will be </a:t>
            </a:r>
            <a:r>
              <a:rPr lang="zh-CN" altLang="en-US" sz="2800">
                <a:solidFill>
                  <a:srgbClr val="C00000"/>
                </a:solidFill>
                <a:latin typeface="Times New Roman" panose="02020603050405020304" charset="0"/>
                <a:ea typeface="微软雅黑" panose="020B0503020204020204" charset="-122"/>
                <a:cs typeface="Times New Roman" panose="02020603050405020304" charset="0"/>
              </a:rPr>
              <a:t>really first-class</a:t>
            </a:r>
            <a:r>
              <a:rPr lang="zh-CN" altLang="en-US" sz="2800">
                <a:latin typeface="Times New Roman" panose="02020603050405020304" charset="0"/>
                <a:ea typeface="微软雅黑" panose="020B0503020204020204" charset="-122"/>
                <a:cs typeface="Times New Roman" panose="02020603050405020304" charset="0"/>
              </a:rPr>
              <a: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3" grpId="1"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Formality</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1562735" y="4023995"/>
            <a:ext cx="10222865" cy="2574290"/>
          </a:xfrm>
          <a:ln w="28575">
            <a:solidFill>
              <a:schemeClr val="accent2">
                <a:lumMod val="75000"/>
              </a:schemeClr>
            </a:solidFill>
          </a:ln>
        </p:spPr>
        <p:txBody>
          <a:bodyPr>
            <a:normAutofit fontScale="85000" lnSpcReduction="20000"/>
          </a:bodyPr>
          <a:lstStyle/>
          <a:p>
            <a:pPr marL="0" indent="0" fontAlgn="auto">
              <a:lnSpc>
                <a:spcPct val="200000"/>
              </a:lnSpc>
              <a:buClr>
                <a:srgbClr val="C55A11"/>
              </a:buClr>
              <a:buFont typeface="Arial" panose="020B0604020202020204" pitchFamily="34" charset="0"/>
              <a:buNone/>
            </a:pPr>
            <a:r>
              <a:rPr lang="en-US">
                <a:latin typeface="Times New Roman" panose="02020603050405020304" charset="0"/>
                <a:cs typeface="Times New Roman" panose="02020603050405020304" charset="0"/>
              </a:rPr>
              <a:t>The investigation has been </a:t>
            </a:r>
            <a:r>
              <a:rPr lang="en-US" b="1">
                <a:latin typeface="Times New Roman" panose="02020603050405020304" charset="0"/>
                <a:cs typeface="Times New Roman" panose="02020603050405020304" charset="0"/>
              </a:rPr>
              <a:t>underway </a:t>
            </a:r>
            <a:r>
              <a:rPr lang="en-US">
                <a:latin typeface="Times New Roman" panose="02020603050405020304" charset="0"/>
                <a:cs typeface="Times New Roman" panose="02020603050405020304" charset="0"/>
              </a:rPr>
              <a:t>for four years. Researchers cannot yet</a:t>
            </a:r>
            <a:r>
              <a:rPr lang="en-US" b="1">
                <a:latin typeface="Times New Roman" panose="02020603050405020304" charset="0"/>
                <a:cs typeface="Times New Roman" panose="02020603050405020304" charset="0"/>
              </a:rPr>
              <a:t> determine</a:t>
            </a:r>
            <a:r>
              <a:rPr lang="en-US">
                <a:latin typeface="Times New Roman" panose="02020603050405020304" charset="0"/>
                <a:cs typeface="Times New Roman" panose="02020603050405020304" charset="0"/>
              </a:rPr>
              <a:t> the </a:t>
            </a:r>
            <a:r>
              <a:rPr lang="en-US" b="1">
                <a:latin typeface="Times New Roman" panose="02020603050405020304" charset="0"/>
                <a:cs typeface="Times New Roman" panose="02020603050405020304" charset="0"/>
              </a:rPr>
              <a:t>effectiveness</a:t>
            </a:r>
            <a:r>
              <a:rPr lang="en-US">
                <a:latin typeface="Times New Roman" panose="02020603050405020304" charset="0"/>
                <a:cs typeface="Times New Roman" panose="02020603050405020304" charset="0"/>
              </a:rPr>
              <a:t> of the project because it is necessary to first </a:t>
            </a:r>
            <a:r>
              <a:rPr lang="en-US" b="1">
                <a:latin typeface="Times New Roman" panose="02020603050405020304" charset="0"/>
                <a:cs typeface="Times New Roman" panose="02020603050405020304" charset="0"/>
              </a:rPr>
              <a:t>analyse</a:t>
            </a:r>
            <a:r>
              <a:rPr lang="en-US">
                <a:latin typeface="Times New Roman" panose="02020603050405020304" charset="0"/>
                <a:cs typeface="Times New Roman" panose="02020603050405020304" charset="0"/>
              </a:rPr>
              <a:t> the data to control for age, gender, socio-economic status </a:t>
            </a:r>
            <a:r>
              <a:rPr lang="en-US" b="1">
                <a:latin typeface="Times New Roman" panose="02020603050405020304" charset="0"/>
                <a:cs typeface="Times New Roman" panose="02020603050405020304" charset="0"/>
              </a:rPr>
              <a:t>and other demographic variables</a:t>
            </a:r>
            <a:r>
              <a:rPr lang="en-US">
                <a:latin typeface="Times New Roman" panose="02020603050405020304" charset="0"/>
                <a:cs typeface="Times New Roman" panose="02020603050405020304" charset="0"/>
              </a:rPr>
              <a:t>. </a:t>
            </a:r>
            <a:r>
              <a:rPr lang="en-US" b="1">
                <a:latin typeface="Times New Roman" panose="02020603050405020304" charset="0"/>
                <a:cs typeface="Times New Roman" panose="02020603050405020304" charset="0"/>
              </a:rPr>
              <a:t>Despite </a:t>
            </a:r>
            <a:r>
              <a:rPr lang="en-US">
                <a:latin typeface="Times New Roman" panose="02020603050405020304" charset="0"/>
                <a:cs typeface="Times New Roman" panose="02020603050405020304" charset="0"/>
              </a:rPr>
              <a:t>this, the information collected is expected to be </a:t>
            </a:r>
            <a:r>
              <a:rPr lang="en-US" b="1">
                <a:latin typeface="Times New Roman" panose="02020603050405020304" charset="0"/>
                <a:cs typeface="Times New Roman" panose="02020603050405020304" charset="0"/>
              </a:rPr>
              <a:t>highly valuable</a:t>
            </a:r>
            <a:r>
              <a:rPr lang="en-US">
                <a:latin typeface="Times New Roman" panose="02020603050405020304" charset="0"/>
                <a:cs typeface="Times New Roman" panose="02020603050405020304" charset="0"/>
              </a:rPr>
              <a:t> for future studies.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
        <p:nvSpPr>
          <p:cNvPr id="13" name="文本框 12"/>
          <p:cNvSpPr txBox="1"/>
          <p:nvPr/>
        </p:nvSpPr>
        <p:spPr>
          <a:xfrm>
            <a:off x="1562100" y="1557020"/>
            <a:ext cx="10150475" cy="2249805"/>
          </a:xfrm>
          <a:prstGeom prst="rect">
            <a:avLst/>
          </a:prstGeom>
          <a:solidFill>
            <a:schemeClr val="bg1">
              <a:lumMod val="95000"/>
            </a:schemeClr>
          </a:solidFill>
          <a:ln>
            <a:solidFill>
              <a:schemeClr val="bg1">
                <a:lumMod val="95000"/>
              </a:schemeClr>
            </a:solidFill>
          </a:ln>
        </p:spPr>
        <p:txBody>
          <a:bodyPr>
            <a:noAutofit/>
            <a:extLst>
              <a:ext uri="{4A0BC546-FE56-4ADE-93B0-CB8AF2F6F144}">
                <wpsdc:textFrameExt xmlns="" xmlns:wpsdc="http://www.wps.cn/officeDocument/2022/drawingmlCustomData" type="text"/>
              </a:ext>
            </a:extLst>
          </a:bodyPr>
          <a:lstStyle/>
          <a:p>
            <a:pPr algn="l"/>
            <a:r>
              <a:rPr lang="zh-CN" altLang="en-US" sz="2800">
                <a:latin typeface="Times New Roman" panose="02020603050405020304" charset="0"/>
                <a:ea typeface="微软雅黑" panose="020B0503020204020204" charset="-122"/>
                <a:cs typeface="Times New Roman" panose="02020603050405020304" charset="0"/>
              </a:rPr>
              <a:t>The investigation has been </a:t>
            </a:r>
            <a:r>
              <a:rPr lang="zh-CN" altLang="en-US" sz="2800">
                <a:solidFill>
                  <a:srgbClr val="C00000"/>
                </a:solidFill>
                <a:latin typeface="Times New Roman" panose="02020603050405020304" charset="0"/>
                <a:ea typeface="微软雅黑" panose="020B0503020204020204" charset="-122"/>
                <a:cs typeface="Times New Roman" panose="02020603050405020304" charset="0"/>
              </a:rPr>
              <a:t>going</a:t>
            </a:r>
            <a:r>
              <a:rPr lang="zh-CN" altLang="en-US" sz="2800">
                <a:latin typeface="Times New Roman" panose="02020603050405020304" charset="0"/>
                <a:ea typeface="微软雅黑" panose="020B0503020204020204" charset="-122"/>
                <a:cs typeface="Times New Roman" panose="02020603050405020304" charset="0"/>
              </a:rPr>
              <a:t> for four years.</a:t>
            </a:r>
            <a:r>
              <a:rPr lang="zh-CN" altLang="en-US" sz="2800">
                <a:solidFill>
                  <a:schemeClr val="accent5">
                    <a:lumMod val="75000"/>
                  </a:schemeClr>
                </a:solidFill>
                <a:latin typeface="Times New Roman" panose="02020603050405020304" charset="0"/>
                <a:ea typeface="微软雅黑" panose="020B0503020204020204" charset="-122"/>
                <a:cs typeface="Times New Roman" panose="02020603050405020304" charset="0"/>
              </a:rPr>
              <a:t> How</a:t>
            </a:r>
            <a:r>
              <a:rPr lang="zh-CN" altLang="en-US" sz="2800">
                <a:latin typeface="Times New Roman" panose="02020603050405020304" charset="0"/>
                <a:ea typeface="微软雅黑" panose="020B0503020204020204" charset="-122"/>
                <a:cs typeface="Times New Roman" panose="02020603050405020304" charset="0"/>
              </a:rPr>
              <a:t> good </a:t>
            </a:r>
            <a:r>
              <a:rPr lang="zh-CN" altLang="en-US" sz="2800">
                <a:solidFill>
                  <a:schemeClr val="accent5">
                    <a:lumMod val="75000"/>
                  </a:schemeClr>
                </a:solidFill>
                <a:latin typeface="Times New Roman" panose="02020603050405020304" charset="0"/>
                <a:ea typeface="微软雅黑" panose="020B0503020204020204" charset="-122"/>
                <a:cs typeface="Times New Roman" panose="02020603050405020304" charset="0"/>
              </a:rPr>
              <a:t>has it been</a:t>
            </a:r>
            <a:r>
              <a:rPr lang="zh-CN" altLang="en-US" sz="2800">
                <a:latin typeface="Times New Roman" panose="02020603050405020304" charset="0"/>
                <a:ea typeface="微软雅黑" panose="020B0503020204020204" charset="-122"/>
                <a:cs typeface="Times New Roman" panose="02020603050405020304" charset="0"/>
              </a:rPr>
              <a:t>? At this stage, researchers </a:t>
            </a:r>
            <a:r>
              <a:rPr lang="zh-CN" altLang="en-US" sz="2800">
                <a:solidFill>
                  <a:srgbClr val="00B050"/>
                </a:solidFill>
                <a:latin typeface="Times New Roman" panose="02020603050405020304" charset="0"/>
                <a:ea typeface="微软雅黑" panose="020B0503020204020204" charset="-122"/>
                <a:cs typeface="Times New Roman" panose="02020603050405020304" charset="0"/>
              </a:rPr>
              <a:t>can</a:t>
            </a:r>
            <a:r>
              <a:rPr lang="en-US" altLang="zh-CN" sz="2800">
                <a:solidFill>
                  <a:srgbClr val="00B050"/>
                </a:solidFill>
                <a:latin typeface="Times New Roman" panose="02020603050405020304" charset="0"/>
                <a:ea typeface="微软雅黑" panose="020B0503020204020204" charset="-122"/>
                <a:cs typeface="Times New Roman" panose="02020603050405020304" charset="0"/>
              </a:rPr>
              <a:t>’</a:t>
            </a:r>
            <a:r>
              <a:rPr lang="zh-CN" altLang="en-US" sz="2800">
                <a:solidFill>
                  <a:srgbClr val="00B050"/>
                </a:solidFill>
                <a:latin typeface="Times New Roman" panose="02020603050405020304" charset="0"/>
                <a:ea typeface="微软雅黑" panose="020B0503020204020204" charset="-122"/>
                <a:cs typeface="Times New Roman" panose="02020603050405020304" charset="0"/>
              </a:rPr>
              <a:t>t </a:t>
            </a:r>
            <a:r>
              <a:rPr lang="zh-CN" altLang="en-US" sz="2800">
                <a:solidFill>
                  <a:srgbClr val="C00000"/>
                </a:solidFill>
                <a:latin typeface="Times New Roman" panose="02020603050405020304" charset="0"/>
                <a:ea typeface="微软雅黑" panose="020B0503020204020204" charset="-122"/>
                <a:cs typeface="Times New Roman" panose="02020603050405020304" charset="0"/>
              </a:rPr>
              <a:t>tell</a:t>
            </a:r>
            <a:r>
              <a:rPr lang="zh-CN" altLang="en-US" sz="2800">
                <a:latin typeface="Times New Roman" panose="02020603050405020304" charset="0"/>
                <a:ea typeface="微软雅黑" panose="020B0503020204020204" charset="-122"/>
                <a:cs typeface="Times New Roman" panose="02020603050405020304" charset="0"/>
              </a:rPr>
              <a:t>, because they still need to </a:t>
            </a:r>
            <a:r>
              <a:rPr lang="zh-CN" altLang="en-US" sz="2800">
                <a:solidFill>
                  <a:srgbClr val="C00000"/>
                </a:solidFill>
                <a:latin typeface="Times New Roman" panose="02020603050405020304" charset="0"/>
                <a:ea typeface="微软雅黑" panose="020B0503020204020204" charset="-122"/>
                <a:cs typeface="Times New Roman" panose="02020603050405020304" charset="0"/>
              </a:rPr>
              <a:t>check out</a:t>
            </a:r>
            <a:r>
              <a:rPr lang="zh-CN" altLang="en-US" sz="2800">
                <a:latin typeface="Times New Roman" panose="02020603050405020304" charset="0"/>
                <a:ea typeface="微软雅黑" panose="020B0503020204020204" charset="-122"/>
                <a:cs typeface="Times New Roman" panose="02020603050405020304" charset="0"/>
              </a:rPr>
              <a:t> the data to account for differences in age, gender, socio-economic-status, </a:t>
            </a:r>
            <a:r>
              <a:rPr lang="zh-CN" altLang="en-US" sz="2800">
                <a:solidFill>
                  <a:srgbClr val="7030A0"/>
                </a:solidFill>
                <a:latin typeface="Times New Roman" panose="02020603050405020304" charset="0"/>
                <a:ea typeface="微软雅黑" panose="020B0503020204020204" charset="-122"/>
                <a:cs typeface="Times New Roman" panose="02020603050405020304" charset="0"/>
              </a:rPr>
              <a:t>etc</a:t>
            </a:r>
            <a:r>
              <a:rPr lang="zh-CN" altLang="en-US" sz="2800">
                <a:latin typeface="Times New Roman" panose="02020603050405020304" charset="0"/>
                <a:ea typeface="微软雅黑" panose="020B0503020204020204" charset="-122"/>
                <a:cs typeface="Times New Roman" panose="02020603050405020304" charset="0"/>
              </a:rPr>
              <a:t>. Once that work is done </a:t>
            </a:r>
            <a:r>
              <a:rPr lang="zh-CN" altLang="en-US" sz="2800">
                <a:solidFill>
                  <a:srgbClr val="C00000"/>
                </a:solidFill>
                <a:latin typeface="Times New Roman" panose="02020603050405020304" charset="0"/>
                <a:ea typeface="微软雅黑" panose="020B0503020204020204" charset="-122"/>
                <a:cs typeface="Times New Roman" panose="02020603050405020304" charset="0"/>
              </a:rPr>
              <a:t>though</a:t>
            </a:r>
            <a:r>
              <a:rPr lang="zh-CN" altLang="en-US" sz="2800">
                <a:latin typeface="Times New Roman" panose="02020603050405020304" charset="0"/>
                <a:ea typeface="微软雅黑" panose="020B0503020204020204" charset="-122"/>
                <a:cs typeface="Times New Roman" panose="02020603050405020304" charset="0"/>
              </a:rPr>
              <a:t>, the information will be </a:t>
            </a:r>
            <a:r>
              <a:rPr lang="zh-CN" altLang="en-US" sz="2800">
                <a:solidFill>
                  <a:srgbClr val="C00000"/>
                </a:solidFill>
                <a:latin typeface="Times New Roman" panose="02020603050405020304" charset="0"/>
                <a:ea typeface="微软雅黑" panose="020B0503020204020204" charset="-122"/>
                <a:cs typeface="Times New Roman" panose="02020603050405020304" charset="0"/>
              </a:rPr>
              <a:t>really first-class</a:t>
            </a:r>
            <a:r>
              <a:rPr lang="zh-CN" altLang="en-US" sz="2800">
                <a:latin typeface="Times New Roman" panose="02020603050405020304" charset="0"/>
                <a:ea typeface="微软雅黑" panose="020B0503020204020204" charset="-122"/>
                <a:cs typeface="Times New Roman" panose="02020603050405020304" charset="0"/>
              </a:rPr>
              <a: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3" grpId="1"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Formality</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a:bodyPr>
          <a:lstStyle/>
          <a:p>
            <a:pPr fontAlgn="auto">
              <a:lnSpc>
                <a:spcPct val="200000"/>
              </a:lnSpc>
              <a:buClr>
                <a:srgbClr val="C55A11"/>
              </a:buClr>
              <a:buFont typeface="Arial" panose="020B0604020202020204" pitchFamily="34" charset="0"/>
              <a:buChar char="•"/>
            </a:pPr>
            <a:endParaRPr lang="en-US">
              <a:latin typeface="Times New Roman" panose="02020603050405020304" charset="0"/>
              <a:cs typeface="Times New Roman" panose="02020603050405020304" charset="0"/>
            </a:endParaRPr>
          </a:p>
          <a:p>
            <a:pPr marL="0" indent="0" fontAlgn="auto">
              <a:lnSpc>
                <a:spcPct val="200000"/>
              </a:lnSpc>
              <a:buClr>
                <a:srgbClr val="C55A11"/>
              </a:buClr>
              <a:buFont typeface="Arial" panose="020B0604020202020204" pitchFamily="34" charset="0"/>
              <a:buNone/>
            </a:pPr>
            <a:r>
              <a:rPr lang="en-US">
                <a:latin typeface="Times New Roman" panose="02020603050405020304" charset="0"/>
                <a:cs typeface="Times New Roman" panose="02020603050405020304" charset="0"/>
              </a:rPr>
              <a:t>Online learner’s dictionaries that provide examples of how words are used in context can help you determine the formality of specific words. If a word has many possible meanings, or appears in many idioms, it is more likely to be informal.</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
        <p:nvSpPr>
          <p:cNvPr id="8" name="云形 7"/>
          <p:cNvSpPr/>
          <p:nvPr/>
        </p:nvSpPr>
        <p:spPr>
          <a:xfrm>
            <a:off x="1062990" y="1635760"/>
            <a:ext cx="1417955" cy="1341755"/>
          </a:xfrm>
          <a:prstGeom prst="cloud">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fontAlgn="auto">
              <a:lnSpc>
                <a:spcPct val="200000"/>
              </a:lnSpc>
              <a:buClr>
                <a:srgbClr val="C55A11"/>
              </a:buClr>
              <a:buFont typeface="Arial" panose="020B0604020202020204" pitchFamily="34" charset="0"/>
              <a:buNone/>
            </a:pPr>
            <a:r>
              <a:rPr lang="en-US" altLang="zh-CN" sz="2800"/>
              <a:t> </a:t>
            </a:r>
            <a:r>
              <a:rPr lang="en-US" sz="2800">
                <a:latin typeface="Times New Roman" panose="02020603050405020304" charset="0"/>
                <a:cs typeface="Times New Roman" panose="02020603050405020304" charset="0"/>
                <a:sym typeface="+mn-ea"/>
              </a:rPr>
              <a:t>Tips</a:t>
            </a:r>
            <a:endParaRPr lang="en-US" altLang="zh-CN" sz="280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Formality</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Autofit/>
          </a:bodyPr>
          <a:lstStyle/>
          <a:p>
            <a:pPr marL="0" indent="0" fontAlgn="auto">
              <a:lnSpc>
                <a:spcPct val="150000"/>
              </a:lnSpc>
              <a:spcBef>
                <a:spcPts val="0"/>
              </a:spcBef>
              <a:buClr>
                <a:srgbClr val="C55A11"/>
              </a:buClr>
              <a:buFont typeface="Arial" panose="020B0604020202020204" pitchFamily="34" charset="0"/>
              <a:buNone/>
            </a:pPr>
            <a:r>
              <a:rPr lang="en-US" sz="2700" b="1" dirty="0">
                <a:solidFill>
                  <a:schemeClr val="accent2">
                    <a:lumMod val="75000"/>
                  </a:schemeClr>
                </a:solidFill>
                <a:latin typeface="Times New Roman" panose="02020603050405020304" charset="0"/>
                <a:cs typeface="Times New Roman" panose="02020603050405020304" charset="0"/>
              </a:rPr>
              <a:t>Exercise 1</a:t>
            </a:r>
            <a:r>
              <a:rPr lang="en-US" sz="2700" b="1" dirty="0">
                <a:latin typeface="Times New Roman" panose="02020603050405020304" charset="0"/>
                <a:cs typeface="Times New Roman" panose="02020603050405020304" charset="0"/>
              </a:rPr>
              <a:t> </a:t>
            </a:r>
            <a:r>
              <a:rPr lang="en-US" sz="2700" i="1" dirty="0">
                <a:latin typeface="Times New Roman" panose="02020603050405020304" charset="0"/>
                <a:cs typeface="Times New Roman" panose="02020603050405020304" charset="0"/>
              </a:rPr>
              <a:t>Rewrite the following sentences in more formal academic English:</a:t>
            </a:r>
          </a:p>
          <a:p>
            <a:pPr marL="0" indent="0" fontAlgn="auto">
              <a:lnSpc>
                <a:spcPct val="150000"/>
              </a:lnSpc>
              <a:spcBef>
                <a:spcPts val="0"/>
              </a:spcBef>
              <a:buClr>
                <a:srgbClr val="C55A11"/>
              </a:buClr>
              <a:buFont typeface="Arial" panose="020B0604020202020204" pitchFamily="34" charset="0"/>
              <a:buNone/>
            </a:pPr>
            <a:r>
              <a:rPr lang="en-US" sz="2700" dirty="0">
                <a:latin typeface="Times New Roman" panose="02020603050405020304" charset="0"/>
                <a:cs typeface="Times New Roman" panose="02020603050405020304" charset="0"/>
              </a:rPr>
              <a:t>1. Export figure won’t improve until the economy is stronger.</a:t>
            </a:r>
          </a:p>
          <a:p>
            <a:pPr marL="0" indent="0" fontAlgn="auto">
              <a:lnSpc>
                <a:spcPct val="150000"/>
              </a:lnSpc>
              <a:spcBef>
                <a:spcPts val="0"/>
              </a:spcBef>
              <a:buClr>
                <a:srgbClr val="C55A11"/>
              </a:buClr>
              <a:buFont typeface="Arial" panose="020B0604020202020204" pitchFamily="34" charset="0"/>
              <a:buNone/>
            </a:pPr>
            <a:r>
              <a:rPr lang="en-US" sz="2700" dirty="0">
                <a:latin typeface="Times New Roman" panose="02020603050405020304" charset="0"/>
                <a:cs typeface="Times New Roman" panose="02020603050405020304" charset="0"/>
              </a:rPr>
              <a:t>2. Scientists are looking into innovative ways to combat AIDS.</a:t>
            </a:r>
          </a:p>
          <a:p>
            <a:pPr marL="0" indent="0" fontAlgn="auto">
              <a:lnSpc>
                <a:spcPct val="150000"/>
              </a:lnSpc>
              <a:spcBef>
                <a:spcPts val="0"/>
              </a:spcBef>
              <a:buClr>
                <a:srgbClr val="C55A11"/>
              </a:buClr>
              <a:buFont typeface="Arial" panose="020B0604020202020204" pitchFamily="34" charset="0"/>
              <a:buNone/>
            </a:pPr>
            <a:r>
              <a:rPr lang="en-US" sz="2700" dirty="0">
                <a:latin typeface="Times New Roman" panose="02020603050405020304" charset="0"/>
                <a:cs typeface="Times New Roman" panose="02020603050405020304" charset="0"/>
              </a:rPr>
              <a:t>3. Rice and aquatic products make up a major part of the diet of the people in </a:t>
            </a:r>
          </a:p>
          <a:p>
            <a:pPr marL="0" indent="0" fontAlgn="auto">
              <a:lnSpc>
                <a:spcPct val="150000"/>
              </a:lnSpc>
              <a:spcBef>
                <a:spcPts val="0"/>
              </a:spcBef>
              <a:buClr>
                <a:srgbClr val="C55A11"/>
              </a:buClr>
              <a:buFont typeface="Arial" panose="020B0604020202020204" pitchFamily="34" charset="0"/>
              <a:buNone/>
            </a:pPr>
            <a:r>
              <a:rPr lang="en-US" sz="2700" dirty="0">
                <a:latin typeface="Times New Roman" panose="02020603050405020304" charset="0"/>
                <a:cs typeface="Times New Roman" panose="02020603050405020304" charset="0"/>
              </a:rPr>
              <a:t>    the Mekong Delta, Vietnam.</a:t>
            </a:r>
          </a:p>
          <a:p>
            <a:pPr marL="0" indent="0" fontAlgn="auto">
              <a:lnSpc>
                <a:spcPct val="150000"/>
              </a:lnSpc>
              <a:spcBef>
                <a:spcPts val="0"/>
              </a:spcBef>
              <a:buClr>
                <a:srgbClr val="C55A11"/>
              </a:buClr>
              <a:buFont typeface="Arial" panose="020B0604020202020204" pitchFamily="34" charset="0"/>
              <a:buNone/>
            </a:pPr>
            <a:r>
              <a:rPr lang="en-US" sz="2700" dirty="0">
                <a:latin typeface="Times New Roman" panose="02020603050405020304" charset="0"/>
                <a:cs typeface="Times New Roman" panose="02020603050405020304" charset="0"/>
              </a:rPr>
              <a:t>4. Worldwide consumption of pesticides has gone up to 2.6 million metric </a:t>
            </a:r>
          </a:p>
          <a:p>
            <a:pPr marL="0" indent="0" fontAlgn="auto">
              <a:lnSpc>
                <a:spcPct val="150000"/>
              </a:lnSpc>
              <a:spcBef>
                <a:spcPts val="0"/>
              </a:spcBef>
              <a:buClr>
                <a:srgbClr val="C55A11"/>
              </a:buClr>
              <a:buFont typeface="Arial" panose="020B0604020202020204" pitchFamily="34" charset="0"/>
              <a:buNone/>
            </a:pPr>
            <a:r>
              <a:rPr lang="en-US" sz="2700" dirty="0">
                <a:latin typeface="Times New Roman" panose="02020603050405020304" charset="0"/>
                <a:cs typeface="Times New Roman" panose="02020603050405020304" charset="0"/>
              </a:rPr>
              <a:t>    tons.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Formality</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Autofit/>
          </a:bodyPr>
          <a:lstStyle/>
          <a:p>
            <a:pPr fontAlgn="auto">
              <a:lnSpc>
                <a:spcPct val="150000"/>
              </a:lnSpc>
              <a:buNone/>
            </a:pPr>
            <a:r>
              <a:rPr lang="en-US" altLang="zh-CN" sz="2700">
                <a:solidFill>
                  <a:schemeClr val="tx1"/>
                </a:solidFill>
                <a:latin typeface="Times New Roman" panose="02020603050405020304" charset="0"/>
                <a:cs typeface="Times New Roman" panose="02020603050405020304" charset="0"/>
                <a:sym typeface="+mn-ea"/>
              </a:rPr>
              <a:t>5. You can understand something better if it is repeated.</a:t>
            </a:r>
            <a:endParaRPr lang="en-US" altLang="zh-CN" sz="2700">
              <a:solidFill>
                <a:schemeClr val="tx1"/>
              </a:solidFill>
              <a:latin typeface="Times New Roman" panose="02020603050405020304" charset="0"/>
              <a:cs typeface="Times New Roman" panose="02020603050405020304" charset="0"/>
            </a:endParaRPr>
          </a:p>
          <a:p>
            <a:pPr fontAlgn="auto">
              <a:lnSpc>
                <a:spcPct val="150000"/>
              </a:lnSpc>
              <a:buNone/>
            </a:pPr>
            <a:r>
              <a:rPr lang="en-US" altLang="zh-CN" sz="2700">
                <a:solidFill>
                  <a:schemeClr val="tx1"/>
                </a:solidFill>
                <a:latin typeface="Times New Roman" panose="02020603050405020304" charset="0"/>
                <a:cs typeface="Times New Roman" panose="02020603050405020304" charset="0"/>
                <a:sym typeface="+mn-ea"/>
              </a:rPr>
              <a:t>6. Crime was increasing rapidly and the police were becoming concerned.</a:t>
            </a:r>
            <a:endParaRPr lang="en-US" altLang="zh-CN" sz="2700">
              <a:solidFill>
                <a:schemeClr val="tx1"/>
              </a:solidFill>
              <a:latin typeface="Times New Roman" panose="02020603050405020304" charset="0"/>
              <a:cs typeface="Times New Roman" panose="02020603050405020304" charset="0"/>
            </a:endParaRPr>
          </a:p>
          <a:p>
            <a:pPr fontAlgn="auto">
              <a:lnSpc>
                <a:spcPct val="150000"/>
              </a:lnSpc>
              <a:buNone/>
            </a:pPr>
            <a:r>
              <a:rPr lang="en-US" altLang="zh-CN" sz="2700">
                <a:solidFill>
                  <a:schemeClr val="tx1"/>
                </a:solidFill>
                <a:latin typeface="Times New Roman" panose="02020603050405020304" charset="0"/>
                <a:cs typeface="Times New Roman" panose="02020603050405020304" charset="0"/>
                <a:sym typeface="+mn-ea"/>
              </a:rPr>
              <a:t>7. Did you know that spoken and written language are very different?</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Objectivity</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a:bodyPr>
          <a:lstStyle/>
          <a:p>
            <a:pPr marL="0" indent="0" fontAlgn="auto">
              <a:lnSpc>
                <a:spcPct val="150000"/>
              </a:lnSpc>
              <a:buClr>
                <a:srgbClr val="C55A11"/>
              </a:buClr>
              <a:buFont typeface="Arial" panose="020B0604020202020204" pitchFamily="34" charset="0"/>
              <a:buNone/>
            </a:pPr>
            <a:r>
              <a:rPr lang="en-US" b="1">
                <a:solidFill>
                  <a:schemeClr val="accent2">
                    <a:lumMod val="75000"/>
                  </a:schemeClr>
                </a:solidFill>
                <a:latin typeface="Times New Roman" panose="02020603050405020304" charset="0"/>
                <a:cs typeface="Times New Roman" panose="02020603050405020304" charset="0"/>
              </a:rPr>
              <a:t>Objectivity</a:t>
            </a:r>
          </a:p>
          <a:p>
            <a:pPr marL="0" indent="0" fontAlgn="auto">
              <a:lnSpc>
                <a:spcPct val="150000"/>
              </a:lnSpc>
              <a:buClr>
                <a:srgbClr val="C55A11"/>
              </a:buClr>
              <a:buFont typeface="Arial" panose="020B0604020202020204" pitchFamily="34" charset="0"/>
              <a:buNone/>
            </a:pPr>
            <a:r>
              <a:rPr lang="en-US">
                <a:solidFill>
                  <a:schemeClr val="tx1"/>
                </a:solidFill>
                <a:latin typeface="Times New Roman" panose="02020603050405020304" charset="0"/>
                <a:cs typeface="Times New Roman" panose="02020603050405020304" charset="0"/>
              </a:rPr>
              <a:t>Academic writing presents and evaluates issues and arrives at an objective position; </a:t>
            </a:r>
            <a:r>
              <a:rPr lang="en-US">
                <a:solidFill>
                  <a:srgbClr val="C00000"/>
                </a:solidFill>
                <a:latin typeface="Times New Roman" panose="02020603050405020304" charset="0"/>
                <a:cs typeface="Times New Roman" panose="02020603050405020304" charset="0"/>
              </a:rPr>
              <a:t>a position that focuses on and is informed by research and reasoning rather than personal feelings and opinions.</a:t>
            </a:r>
            <a:endParaRPr lang="en-US">
              <a:solidFill>
                <a:schemeClr val="tx1"/>
              </a:solidFill>
              <a:latin typeface="Times New Roman" panose="02020603050405020304" charset="0"/>
              <a:cs typeface="Times New Roman" panose="02020603050405020304" charset="0"/>
            </a:endParaRPr>
          </a:p>
          <a:p>
            <a:pPr marL="0" indent="0" fontAlgn="auto">
              <a:lnSpc>
                <a:spcPct val="150000"/>
              </a:lnSpc>
              <a:buClr>
                <a:srgbClr val="C55A11"/>
              </a:buClr>
              <a:buFont typeface="Arial" panose="020B0604020202020204" pitchFamily="34" charset="0"/>
              <a:buNone/>
            </a:pPr>
            <a:r>
              <a:rPr lang="en-US">
                <a:solidFill>
                  <a:srgbClr val="C00000"/>
                </a:solidFill>
                <a:latin typeface="Times New Roman" panose="02020603050405020304" charset="0"/>
                <a:cs typeface="Times New Roman" panose="02020603050405020304" charset="0"/>
              </a:rPr>
              <a:t>Personal pronouns</a:t>
            </a:r>
            <a:r>
              <a:rPr lang="en-US">
                <a:solidFill>
                  <a:schemeClr val="tx1"/>
                </a:solidFill>
                <a:latin typeface="Times New Roman" panose="02020603050405020304" charset="0"/>
                <a:cs typeface="Times New Roman" panose="02020603050405020304" charset="0"/>
              </a:rPr>
              <a:t>, especially ‘I’, ‘you’ and ‘we’ are usually avoided, as these are often associated with subjective views that are influenced by personal preferences or biases.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Objectivity</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1167110" cy="4850765"/>
          </a:xfrm>
          <a:ln w="28575">
            <a:solidFill>
              <a:schemeClr val="accent2">
                <a:lumMod val="75000"/>
              </a:schemeClr>
            </a:solidFill>
          </a:ln>
        </p:spPr>
        <p:txBody>
          <a:bodyPr>
            <a:normAutofit fontScale="90000"/>
          </a:bodyPr>
          <a:lstStyle/>
          <a:p>
            <a:pPr marL="0" indent="0" fontAlgn="auto">
              <a:lnSpc>
                <a:spcPct val="150000"/>
              </a:lnSpc>
              <a:buClr>
                <a:srgbClr val="C55A11"/>
              </a:buClr>
              <a:buFont typeface="Arial" panose="020B0604020202020204" pitchFamily="34" charset="0"/>
            </a:pPr>
            <a:r>
              <a:rPr lang="en-US">
                <a:latin typeface="Times New Roman" panose="02020603050405020304" charset="0"/>
                <a:cs typeface="Times New Roman" panose="02020603050405020304" charset="0"/>
              </a:rPr>
              <a:t> Use referencing to indicate sources.</a:t>
            </a:r>
          </a:p>
          <a:p>
            <a:pPr marL="0" indent="0" fontAlgn="auto">
              <a:lnSpc>
                <a:spcPct val="150000"/>
              </a:lnSpc>
              <a:buClr>
                <a:srgbClr val="C55A11"/>
              </a:buClr>
              <a:buFont typeface="Arial" panose="020B0604020202020204" pitchFamily="34" charset="0"/>
            </a:pPr>
            <a:r>
              <a:rPr lang="en-US">
                <a:latin typeface="Times New Roman" panose="02020603050405020304" charset="0"/>
                <a:cs typeface="Times New Roman" panose="02020603050405020304" charset="0"/>
              </a:rPr>
              <a:t> Use impersonal expressions and the passive voice, e.g. </a:t>
            </a:r>
            <a:r>
              <a:rPr lang="en-US">
                <a:solidFill>
                  <a:srgbClr val="C00000"/>
                </a:solidFill>
                <a:latin typeface="Times New Roman" panose="02020603050405020304" charset="0"/>
                <a:cs typeface="Times New Roman" panose="02020603050405020304" charset="0"/>
              </a:rPr>
              <a:t>it</a:t>
            </a:r>
            <a:r>
              <a:rPr lang="en-US">
                <a:latin typeface="Times New Roman" panose="02020603050405020304" charset="0"/>
                <a:cs typeface="Times New Roman" panose="02020603050405020304" charset="0"/>
              </a:rPr>
              <a:t> can be concluded that.., it </a:t>
            </a:r>
          </a:p>
          <a:p>
            <a:pPr marL="0" indent="0" fontAlgn="auto">
              <a:lnSpc>
                <a:spcPct val="150000"/>
              </a:lnSpc>
              <a:buClr>
                <a:srgbClr val="C55A11"/>
              </a:buClr>
              <a:buFont typeface="Arial" panose="020B0604020202020204" pitchFamily="34" charset="0"/>
              <a:buNone/>
            </a:pPr>
            <a:r>
              <a:rPr lang="en-US">
                <a:latin typeface="Times New Roman" panose="02020603050405020304" charset="0"/>
                <a:cs typeface="Times New Roman" panose="02020603050405020304" charset="0"/>
              </a:rPr>
              <a:t>   has been claimed tbat...</a:t>
            </a:r>
          </a:p>
          <a:p>
            <a:pPr marL="0" indent="0" fontAlgn="auto">
              <a:lnSpc>
                <a:spcPct val="150000"/>
              </a:lnSpc>
              <a:buClr>
                <a:srgbClr val="C55A11"/>
              </a:buClr>
              <a:buFont typeface="Arial" panose="020B0604020202020204" pitchFamily="34" charset="0"/>
            </a:pPr>
            <a:r>
              <a:rPr lang="en-US">
                <a:latin typeface="Times New Roman" panose="02020603050405020304" charset="0"/>
                <a:cs typeface="Times New Roman" panose="02020603050405020304" charset="0"/>
              </a:rPr>
              <a:t> Use third person pronouns, avoid the first person “I, we” or second person “you”.</a:t>
            </a:r>
          </a:p>
          <a:p>
            <a:pPr marL="0" indent="0" fontAlgn="auto">
              <a:lnSpc>
                <a:spcPct val="150000"/>
              </a:lnSpc>
              <a:buClr>
                <a:srgbClr val="C55A11"/>
              </a:buClr>
              <a:buFont typeface="Arial" panose="020B0604020202020204" pitchFamily="34" charset="0"/>
            </a:pPr>
            <a:r>
              <a:rPr lang="en-US">
                <a:latin typeface="Times New Roman" panose="02020603050405020304" charset="0"/>
                <a:cs typeface="Times New Roman" panose="02020603050405020304" charset="0"/>
              </a:rPr>
              <a:t> Avoid sexist and biased language, for example, using “old persons” instead of </a:t>
            </a:r>
          </a:p>
          <a:p>
            <a:pPr marL="0" indent="0" fontAlgn="auto">
              <a:lnSpc>
                <a:spcPct val="150000"/>
              </a:lnSpc>
              <a:buClr>
                <a:srgbClr val="C55A11"/>
              </a:buClr>
              <a:buFont typeface="Arial" panose="020B0604020202020204" pitchFamily="34" charset="0"/>
              <a:buNone/>
            </a:pPr>
            <a:r>
              <a:rPr lang="en-US">
                <a:latin typeface="Times New Roman" panose="02020603050405020304" charset="0"/>
                <a:cs typeface="Times New Roman" panose="02020603050405020304" charset="0"/>
              </a:rPr>
              <a:t>  “elderly”.</a:t>
            </a:r>
          </a:p>
          <a:p>
            <a:pPr marL="0" indent="0" fontAlgn="auto">
              <a:lnSpc>
                <a:spcPct val="150000"/>
              </a:lnSpc>
              <a:buClr>
                <a:srgbClr val="C55A11"/>
              </a:buClr>
              <a:buFont typeface="Arial" panose="020B0604020202020204" pitchFamily="34" charset="0"/>
            </a:pPr>
            <a:r>
              <a:rPr lang="en-US">
                <a:latin typeface="Times New Roman" panose="02020603050405020304" charset="0"/>
                <a:cs typeface="Times New Roman" panose="02020603050405020304" charset="0"/>
              </a:rPr>
              <a:t> Avoid words that have emotional or attitudinal connotations.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Objectivity</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1167110" cy="4850765"/>
          </a:xfrm>
          <a:ln w="28575">
            <a:solidFill>
              <a:schemeClr val="accent2">
                <a:lumMod val="75000"/>
              </a:schemeClr>
            </a:solidFill>
          </a:ln>
        </p:spPr>
        <p:txBody>
          <a:bodyPr>
            <a:normAutofit/>
          </a:bodyPr>
          <a:lstStyle/>
          <a:p>
            <a:pPr marL="0" indent="0" fontAlgn="auto">
              <a:lnSpc>
                <a:spcPct val="200000"/>
              </a:lnSpc>
              <a:buClr>
                <a:srgbClr val="C55A11"/>
              </a:buClr>
              <a:buFont typeface="Arial" panose="020B0604020202020204" pitchFamily="34" charset="0"/>
              <a:buNone/>
            </a:pPr>
            <a:r>
              <a:rPr lang="en-US">
                <a:solidFill>
                  <a:schemeClr val="accent2">
                    <a:lumMod val="75000"/>
                  </a:schemeClr>
                </a:solidFill>
                <a:latin typeface="Times New Roman" panose="02020603050405020304" charset="0"/>
                <a:cs typeface="Times New Roman" panose="02020603050405020304" charset="0"/>
              </a:rPr>
              <a:t>Example</a:t>
            </a:r>
          </a:p>
          <a:p>
            <a:pPr marL="0" indent="0" fontAlgn="auto">
              <a:lnSpc>
                <a:spcPct val="200000"/>
              </a:lnSpc>
              <a:buClr>
                <a:srgbClr val="C55A11"/>
              </a:buClr>
              <a:buFont typeface="Arial" panose="020B0604020202020204" pitchFamily="34" charset="0"/>
              <a:buNone/>
            </a:pPr>
            <a:r>
              <a:rPr lang="en-US">
                <a:latin typeface="Times New Roman" panose="02020603050405020304" charset="0"/>
                <a:cs typeface="Times New Roman" panose="02020603050405020304" charset="0"/>
              </a:rPr>
              <a:t>This statement sounds a bit like a personal opinion:</a:t>
            </a:r>
          </a:p>
          <a:p>
            <a:pPr marL="0" indent="0" fontAlgn="auto">
              <a:lnSpc>
                <a:spcPct val="200000"/>
              </a:lnSpc>
              <a:buClr>
                <a:srgbClr val="C55A11"/>
              </a:buClr>
              <a:buFont typeface="Arial" panose="020B0604020202020204" pitchFamily="34" charset="0"/>
              <a:buNone/>
            </a:pPr>
            <a:r>
              <a:rPr lang="en-US" i="1">
                <a:solidFill>
                  <a:schemeClr val="accent2">
                    <a:lumMod val="75000"/>
                  </a:schemeClr>
                </a:solidFill>
                <a:latin typeface="Times New Roman" panose="02020603050405020304" charset="0"/>
                <a:cs typeface="Times New Roman" panose="02020603050405020304" charset="0"/>
              </a:rPr>
              <a:t>You can demonstrate that climate change is a real phenomenon by studying alterations in Antarctic ice layers.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Objectivity</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Autofit/>
          </a:bodyPr>
          <a:lstStyle/>
          <a:p>
            <a:pPr marL="0" indent="0" fontAlgn="auto">
              <a:lnSpc>
                <a:spcPct val="150000"/>
              </a:lnSpc>
              <a:spcBef>
                <a:spcPts val="0"/>
              </a:spcBef>
              <a:buClr>
                <a:srgbClr val="C55A11"/>
              </a:buClr>
              <a:buFont typeface="Arial" panose="020B0604020202020204" pitchFamily="34" charset="0"/>
              <a:buNone/>
            </a:pPr>
            <a:r>
              <a:rPr lang="en-US" sz="2400" b="1" dirty="0">
                <a:solidFill>
                  <a:schemeClr val="accent2">
                    <a:lumMod val="75000"/>
                  </a:schemeClr>
                </a:solidFill>
                <a:latin typeface="Times New Roman" panose="02020603050405020304" charset="0"/>
                <a:cs typeface="Times New Roman" panose="02020603050405020304" charset="0"/>
              </a:rPr>
              <a:t>Exercise 2</a:t>
            </a:r>
            <a:r>
              <a:rPr lang="en-US" sz="2400" b="1" dirty="0">
                <a:latin typeface="Times New Roman" panose="02020603050405020304" charset="0"/>
                <a:cs typeface="Times New Roman" panose="02020603050405020304" charset="0"/>
              </a:rPr>
              <a:t> </a:t>
            </a:r>
            <a:r>
              <a:rPr lang="en-US" sz="2400" i="1" dirty="0">
                <a:latin typeface="Times New Roman" panose="02020603050405020304" charset="0"/>
                <a:cs typeface="Times New Roman" panose="02020603050405020304" charset="0"/>
              </a:rPr>
              <a:t>Rewrite the following sentences in more objective, academic English:</a:t>
            </a:r>
          </a:p>
          <a:p>
            <a:pPr marL="0" indent="0" fontAlgn="auto">
              <a:lnSpc>
                <a:spcPct val="150000"/>
              </a:lnSpc>
              <a:spcBef>
                <a:spcPts val="0"/>
              </a:spcBef>
              <a:buClr>
                <a:srgbClr val="C55A11"/>
              </a:buClr>
              <a:buFont typeface="Arial" panose="020B0604020202020204" pitchFamily="34" charset="0"/>
              <a:buNone/>
            </a:pPr>
            <a:r>
              <a:rPr lang="en-US" sz="2400" dirty="0">
                <a:latin typeface="Times New Roman" panose="02020603050405020304" charset="0"/>
                <a:cs typeface="Times New Roman" panose="02020603050405020304" charset="0"/>
              </a:rPr>
              <a:t>1. I think that all guns should be banned.</a:t>
            </a:r>
          </a:p>
          <a:p>
            <a:pPr marL="0" indent="0" fontAlgn="auto">
              <a:lnSpc>
                <a:spcPct val="150000"/>
              </a:lnSpc>
              <a:spcBef>
                <a:spcPts val="0"/>
              </a:spcBef>
              <a:buClr>
                <a:srgbClr val="C55A11"/>
              </a:buClr>
              <a:buFont typeface="Arial" panose="020B0604020202020204" pitchFamily="34" charset="0"/>
              <a:buNone/>
            </a:pPr>
            <a:r>
              <a:rPr lang="en-US" sz="2400" dirty="0">
                <a:latin typeface="Times New Roman" panose="02020603050405020304" charset="0"/>
                <a:cs typeface="Times New Roman" panose="02020603050405020304" charset="0"/>
              </a:rPr>
              <a:t>2. I think objectivity on television is nothing more than an ideal.</a:t>
            </a:r>
          </a:p>
          <a:p>
            <a:pPr marL="0" indent="0" fontAlgn="auto">
              <a:lnSpc>
                <a:spcPct val="150000"/>
              </a:lnSpc>
              <a:spcBef>
                <a:spcPts val="0"/>
              </a:spcBef>
              <a:buClr>
                <a:srgbClr val="C55A11"/>
              </a:buClr>
              <a:buFont typeface="Arial" panose="020B0604020202020204" pitchFamily="34" charset="0"/>
              <a:buNone/>
            </a:pPr>
            <a:r>
              <a:rPr lang="en-US" sz="2400" dirty="0">
                <a:latin typeface="Times New Roman" panose="02020603050405020304" charset="0"/>
                <a:cs typeface="Times New Roman" panose="02020603050405020304" charset="0"/>
              </a:rPr>
              <a:t>3. I found that the vocabulary choice played a role in determining which topics speakers </a:t>
            </a:r>
          </a:p>
          <a:p>
            <a:pPr marL="0" indent="0" fontAlgn="auto">
              <a:lnSpc>
                <a:spcPct val="150000"/>
              </a:lnSpc>
              <a:spcBef>
                <a:spcPts val="0"/>
              </a:spcBef>
              <a:buClr>
                <a:srgbClr val="C55A11"/>
              </a:buClr>
              <a:buFont typeface="Arial" panose="020B0604020202020204" pitchFamily="34" charset="0"/>
              <a:buNone/>
            </a:pPr>
            <a:r>
              <a:rPr lang="en-US" sz="2400" dirty="0">
                <a:latin typeface="Times New Roman" panose="02020603050405020304" charset="0"/>
                <a:cs typeface="Times New Roman" panose="02020603050405020304" charset="0"/>
              </a:rPr>
              <a:t>    take up.</a:t>
            </a:r>
          </a:p>
          <a:p>
            <a:pPr marL="0" indent="0" fontAlgn="auto">
              <a:lnSpc>
                <a:spcPct val="150000"/>
              </a:lnSpc>
              <a:spcBef>
                <a:spcPts val="0"/>
              </a:spcBef>
              <a:buClr>
                <a:srgbClr val="C55A11"/>
              </a:buClr>
              <a:buFont typeface="Arial" panose="020B0604020202020204" pitchFamily="34" charset="0"/>
              <a:buNone/>
            </a:pPr>
            <a:r>
              <a:rPr lang="en-US" sz="2400" dirty="0">
                <a:latin typeface="Times New Roman" panose="02020603050405020304" charset="0"/>
                <a:cs typeface="Times New Roman" panose="02020603050405020304" charset="0"/>
              </a:rPr>
              <a:t>4. I observed 43 students of a third-grade class at Barksdale School for two weeks.</a:t>
            </a:r>
          </a:p>
          <a:p>
            <a:pPr marL="0" indent="0" fontAlgn="auto">
              <a:lnSpc>
                <a:spcPct val="150000"/>
              </a:lnSpc>
              <a:spcBef>
                <a:spcPts val="0"/>
              </a:spcBef>
              <a:buClr>
                <a:srgbClr val="C55A11"/>
              </a:buClr>
              <a:buFont typeface="Arial" panose="020B0604020202020204" pitchFamily="34" charset="0"/>
              <a:buNone/>
            </a:pPr>
            <a:r>
              <a:rPr lang="en-US" sz="2400" dirty="0">
                <a:latin typeface="Times New Roman" panose="02020603050405020304" charset="0"/>
                <a:cs typeface="Times New Roman" panose="02020603050405020304" charset="0"/>
              </a:rPr>
              <a:t>5. The doctor prepared his necessary surgical equipment.</a:t>
            </a:r>
          </a:p>
          <a:p>
            <a:pPr marL="0" indent="0" fontAlgn="auto">
              <a:lnSpc>
                <a:spcPct val="150000"/>
              </a:lnSpc>
              <a:spcBef>
                <a:spcPts val="0"/>
              </a:spcBef>
              <a:buClr>
                <a:srgbClr val="C55A11"/>
              </a:buClr>
              <a:buFont typeface="Arial" panose="020B0604020202020204" pitchFamily="34" charset="0"/>
              <a:buNone/>
            </a:pPr>
            <a:r>
              <a:rPr lang="en-US" sz="2400" dirty="0">
                <a:latin typeface="Times New Roman" panose="02020603050405020304" charset="0"/>
                <a:cs typeface="Times New Roman" panose="02020603050405020304" charset="0"/>
              </a:rPr>
              <a:t>6. This has had enormous impact...</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Objectivity</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07720" y="1288097"/>
            <a:ext cx="10947400" cy="5442903"/>
          </a:xfrm>
          <a:ln w="28575">
            <a:solidFill>
              <a:schemeClr val="accent2">
                <a:lumMod val="75000"/>
              </a:schemeClr>
            </a:solidFill>
          </a:ln>
        </p:spPr>
        <p:txBody>
          <a:bodyPr>
            <a:noAutofit/>
          </a:bodyPr>
          <a:lstStyle/>
          <a:p>
            <a:pPr marL="0" indent="0">
              <a:lnSpc>
                <a:spcPct val="150000"/>
              </a:lnSpc>
              <a:spcBef>
                <a:spcPts val="0"/>
              </a:spcBef>
              <a:buClr>
                <a:srgbClr val="C55A11"/>
              </a:buClr>
              <a:buNone/>
            </a:pPr>
            <a:r>
              <a:rPr lang="en-US" sz="2400" b="1" dirty="0">
                <a:solidFill>
                  <a:schemeClr val="accent2">
                    <a:lumMod val="75000"/>
                  </a:schemeClr>
                </a:solidFill>
                <a:latin typeface="Times New Roman" panose="02020603050405020304" charset="0"/>
                <a:cs typeface="Times New Roman" panose="02020603050405020304" charset="0"/>
              </a:rPr>
              <a:t>Exercise 2</a:t>
            </a:r>
            <a:r>
              <a:rPr lang="en-US" sz="2400" b="1" dirty="0">
                <a:latin typeface="Times New Roman" panose="02020603050405020304" charset="0"/>
                <a:cs typeface="Times New Roman" panose="02020603050405020304" charset="0"/>
              </a:rPr>
              <a:t> </a:t>
            </a:r>
            <a:r>
              <a:rPr lang="en-US" sz="2400" i="1" dirty="0">
                <a:latin typeface="Times New Roman" panose="02020603050405020304" charset="0"/>
                <a:cs typeface="Times New Roman" panose="02020603050405020304" charset="0"/>
              </a:rPr>
              <a:t> </a:t>
            </a:r>
            <a:r>
              <a:rPr lang="en-US" sz="2000" i="1" dirty="0">
                <a:latin typeface="Times New Roman" panose="02020603050405020304" charset="0"/>
                <a:cs typeface="Times New Roman" panose="02020603050405020304" charset="0"/>
              </a:rPr>
              <a:t>The sentences can be written in more objective, academic English like the following</a:t>
            </a:r>
            <a:r>
              <a:rPr lang="en-US" sz="2400" i="1" dirty="0">
                <a:latin typeface="Times New Roman" panose="02020603050405020304" charset="0"/>
                <a:cs typeface="Times New Roman" panose="02020603050405020304" charset="0"/>
              </a:rPr>
              <a:t>:</a:t>
            </a:r>
          </a:p>
          <a:p>
            <a:pPr marL="0" indent="0">
              <a:lnSpc>
                <a:spcPct val="150000"/>
              </a:lnSpc>
              <a:spcBef>
                <a:spcPts val="0"/>
              </a:spcBef>
              <a:buClr>
                <a:srgbClr val="C55A11"/>
              </a:buClr>
              <a:buNone/>
            </a:pPr>
            <a:r>
              <a:rPr lang="en-US" sz="2400" dirty="0">
                <a:latin typeface="Times New Roman" panose="02020603050405020304" charset="0"/>
                <a:cs typeface="Times New Roman" panose="02020603050405020304" charset="0"/>
              </a:rPr>
              <a:t>1. There is a case for stricter government control on guns.</a:t>
            </a:r>
          </a:p>
          <a:p>
            <a:pPr marL="0" indent="0">
              <a:lnSpc>
                <a:spcPct val="150000"/>
              </a:lnSpc>
              <a:spcBef>
                <a:spcPts val="0"/>
              </a:spcBef>
              <a:buClr>
                <a:srgbClr val="C55A11"/>
              </a:buClr>
              <a:buNone/>
            </a:pPr>
            <a:r>
              <a:rPr lang="en-US" sz="2400" dirty="0">
                <a:latin typeface="Times New Roman" panose="02020603050405020304" charset="0"/>
                <a:cs typeface="Times New Roman" panose="02020603050405020304" charset="0"/>
              </a:rPr>
              <a:t>2. Objectivity in television broadcasting is nothing more than an ideal.</a:t>
            </a:r>
          </a:p>
          <a:p>
            <a:pPr marL="0" indent="0">
              <a:lnSpc>
                <a:spcPct val="150000"/>
              </a:lnSpc>
              <a:spcBef>
                <a:spcPts val="0"/>
              </a:spcBef>
              <a:buClr>
                <a:srgbClr val="C55A11"/>
              </a:buClr>
              <a:buNone/>
            </a:pPr>
            <a:r>
              <a:rPr lang="en-US" sz="2400" dirty="0">
                <a:latin typeface="Times New Roman" panose="02020603050405020304" charset="0"/>
                <a:cs typeface="Times New Roman" panose="02020603050405020304" charset="0"/>
              </a:rPr>
              <a:t>3. Vocabulary choice evidently plays a role in determining which topics are taken up by speakers.</a:t>
            </a:r>
          </a:p>
          <a:p>
            <a:pPr marL="0" indent="0">
              <a:lnSpc>
                <a:spcPct val="150000"/>
              </a:lnSpc>
              <a:spcBef>
                <a:spcPts val="0"/>
              </a:spcBef>
              <a:buClr>
                <a:srgbClr val="C55A11"/>
              </a:buClr>
              <a:buNone/>
            </a:pPr>
            <a:r>
              <a:rPr lang="en-US" sz="2400" dirty="0">
                <a:latin typeface="Times New Roman" panose="02020603050405020304" charset="0"/>
                <a:cs typeface="Times New Roman" panose="02020603050405020304" charset="0"/>
              </a:rPr>
              <a:t>4. Forty-three students of a third-grade class at Barksdale School were observed for two weeks.</a:t>
            </a:r>
          </a:p>
          <a:p>
            <a:pPr marL="0" indent="0">
              <a:lnSpc>
                <a:spcPct val="150000"/>
              </a:lnSpc>
              <a:spcBef>
                <a:spcPts val="0"/>
              </a:spcBef>
              <a:buClr>
                <a:srgbClr val="C55A11"/>
              </a:buClr>
              <a:buNone/>
            </a:pPr>
            <a:r>
              <a:rPr lang="en-US" sz="2400" dirty="0">
                <a:latin typeface="Times New Roman" panose="02020603050405020304" charset="0"/>
                <a:cs typeface="Times New Roman" panose="02020603050405020304" charset="0"/>
              </a:rPr>
              <a:t>5. The doctor prepared the necessary surgical equipment</a:t>
            </a:r>
          </a:p>
          <a:p>
            <a:pPr marL="0" indent="0">
              <a:lnSpc>
                <a:spcPct val="150000"/>
              </a:lnSpc>
              <a:spcBef>
                <a:spcPts val="0"/>
              </a:spcBef>
              <a:buClr>
                <a:srgbClr val="C55A11"/>
              </a:buClr>
              <a:buNone/>
            </a:pPr>
            <a:r>
              <a:rPr lang="en-US" sz="2400" dirty="0" err="1">
                <a:latin typeface="Times New Roman" panose="02020603050405020304" charset="0"/>
                <a:cs typeface="Times New Roman" panose="02020603050405020304" charset="0"/>
              </a:rPr>
              <a:t>6.The</a:t>
            </a:r>
            <a:r>
              <a:rPr lang="en-US" sz="2400" dirty="0">
                <a:latin typeface="Times New Roman" panose="02020603050405020304" charset="0"/>
                <a:cs typeface="Times New Roman" panose="02020603050405020304" charset="0"/>
              </a:rPr>
              <a:t> significant influences of this change may be attributed to.</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extLst>
      <p:ext uri="{BB962C8B-B14F-4D97-AF65-F5344CB8AC3E}">
        <p14:creationId xmlns:p14="http://schemas.microsoft.com/office/powerpoint/2010/main" val="959437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Conciseness</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a:bodyPr>
          <a:lstStyle/>
          <a:p>
            <a:pPr marL="0" indent="0" fontAlgn="auto">
              <a:lnSpc>
                <a:spcPct val="150000"/>
              </a:lnSpc>
              <a:spcBef>
                <a:spcPts val="0"/>
              </a:spcBef>
              <a:buClr>
                <a:srgbClr val="C55A11"/>
              </a:buClr>
              <a:buFont typeface="Arial" panose="020B0604020202020204" pitchFamily="34" charset="0"/>
              <a:buNone/>
            </a:pPr>
            <a:r>
              <a:rPr lang="en-US" b="1">
                <a:solidFill>
                  <a:schemeClr val="accent2">
                    <a:lumMod val="75000"/>
                  </a:schemeClr>
                </a:solidFill>
                <a:latin typeface="Times New Roman" panose="02020603050405020304" charset="0"/>
                <a:cs typeface="Times New Roman" panose="02020603050405020304" charset="0"/>
              </a:rPr>
              <a:t>Conciseness</a:t>
            </a:r>
          </a:p>
          <a:p>
            <a:pPr marL="0" indent="0" fontAlgn="auto">
              <a:lnSpc>
                <a:spcPct val="150000"/>
              </a:lnSpc>
              <a:spcBef>
                <a:spcPts val="0"/>
              </a:spcBef>
              <a:buClr>
                <a:srgbClr val="C55A11"/>
              </a:buClr>
              <a:buFont typeface="Arial" panose="020B0604020202020204" pitchFamily="34" charset="0"/>
              <a:buNone/>
            </a:pPr>
            <a:r>
              <a:rPr lang="en-US">
                <a:latin typeface="Times New Roman" panose="02020603050405020304" charset="0"/>
                <a:cs typeface="Times New Roman" panose="02020603050405020304" charset="0"/>
              </a:rPr>
              <a:t>The quality of being short and clear, and expressing what needs to be said without unnecessary words.</a:t>
            </a:r>
          </a:p>
          <a:p>
            <a:pPr marL="0" indent="0" fontAlgn="auto">
              <a:lnSpc>
                <a:spcPct val="150000"/>
              </a:lnSpc>
              <a:spcBef>
                <a:spcPts val="0"/>
              </a:spcBef>
              <a:buClr>
                <a:srgbClr val="C55A11"/>
              </a:buClr>
              <a:buFont typeface="Arial" panose="020B0604020202020204" pitchFamily="34" charset="0"/>
              <a:buNone/>
            </a:pPr>
            <a:r>
              <a:rPr lang="en-US">
                <a:latin typeface="Times New Roman" panose="02020603050405020304" charset="0"/>
                <a:cs typeface="Times New Roman" panose="02020603050405020304" charset="0"/>
              </a:rPr>
              <a:t>The goal of concise writing is to use the most effective words. Concise writing does not always have the fewest words, but it always uses the strongest ones. Writers often fill sentences with weak or unnecessary words that can be deleted or replaced.</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99310" y="1249045"/>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Conciseness</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a:bodyPr>
          <a:lstStyle/>
          <a:p>
            <a:pPr marL="0" indent="0" fontAlgn="auto">
              <a:lnSpc>
                <a:spcPct val="150000"/>
              </a:lnSpc>
              <a:buClr>
                <a:srgbClr val="C55A11"/>
              </a:buClr>
              <a:buFont typeface="Arial" panose="020B0604020202020204" pitchFamily="34" charset="0"/>
            </a:pPr>
            <a:r>
              <a:rPr lang="en-US" dirty="0">
                <a:latin typeface="Times New Roman" panose="02020603050405020304" charset="0"/>
                <a:cs typeface="Times New Roman" panose="02020603050405020304" charset="0"/>
              </a:rPr>
              <a:t> Be precise and specific.</a:t>
            </a:r>
          </a:p>
          <a:p>
            <a:pPr marL="0" indent="0" fontAlgn="auto">
              <a:lnSpc>
                <a:spcPct val="150000"/>
              </a:lnSpc>
              <a:buClr>
                <a:srgbClr val="C55A11"/>
              </a:buClr>
              <a:buFont typeface="Arial" panose="020B0604020202020204" pitchFamily="34" charset="0"/>
            </a:pPr>
            <a:r>
              <a:rPr lang="en-US" dirty="0">
                <a:latin typeface="Times New Roman" panose="02020603050405020304" charset="0"/>
                <a:cs typeface="Times New Roman" panose="02020603050405020304" charset="0"/>
              </a:rPr>
              <a:t> Try to use the most straightforward term and reduce unnecessary words.</a:t>
            </a:r>
          </a:p>
          <a:p>
            <a:pPr marL="0" indent="0" fontAlgn="auto">
              <a:lnSpc>
                <a:spcPct val="150000"/>
              </a:lnSpc>
              <a:buClr>
                <a:srgbClr val="C55A11"/>
              </a:buClr>
              <a:buFont typeface="Arial" panose="020B0604020202020204" pitchFamily="34" charset="0"/>
            </a:pPr>
            <a:r>
              <a:rPr lang="en-US" dirty="0">
                <a:latin typeface="Times New Roman" panose="02020603050405020304" charset="0"/>
                <a:cs typeface="Times New Roman" panose="02020603050405020304" charset="0"/>
              </a:rPr>
              <a:t> No clichés, redundant words or colloquialisms.</a:t>
            </a:r>
          </a:p>
          <a:p>
            <a:pPr marL="0" indent="0" fontAlgn="auto">
              <a:lnSpc>
                <a:spcPct val="150000"/>
              </a:lnSpc>
              <a:buClr>
                <a:srgbClr val="C55A11"/>
              </a:buClr>
              <a:buFont typeface="Arial" panose="020B0604020202020204" pitchFamily="34" charset="0"/>
            </a:pPr>
            <a:r>
              <a:rPr lang="en-US" dirty="0">
                <a:latin typeface="Times New Roman" panose="02020603050405020304" charset="0"/>
                <a:cs typeface="Times New Roman" panose="02020603050405020304" charset="0"/>
              </a:rPr>
              <a:t> Use the specific terminology of your subject or discipline.</a:t>
            </a:r>
          </a:p>
          <a:p>
            <a:pPr marL="0" indent="0" fontAlgn="auto">
              <a:lnSpc>
                <a:spcPct val="150000"/>
              </a:lnSpc>
              <a:buClr>
                <a:srgbClr val="C55A11"/>
              </a:buClr>
              <a:buFont typeface="Arial" panose="020B0604020202020204" pitchFamily="34" charset="0"/>
            </a:pPr>
            <a:r>
              <a:rPr lang="en-US" dirty="0">
                <a:latin typeface="Times New Roman" panose="02020603050405020304" charset="0"/>
                <a:cs typeface="Times New Roman" panose="02020603050405020304" charset="0"/>
              </a:rPr>
              <a:t> Become a ruthless editor, cutting out as much dead-wood as possible.</a:t>
            </a:r>
          </a:p>
          <a:p>
            <a:pPr marL="0" indent="0" fontAlgn="auto">
              <a:lnSpc>
                <a:spcPct val="150000"/>
              </a:lnSpc>
              <a:buClr>
                <a:srgbClr val="C55A11"/>
              </a:buClr>
              <a:buFont typeface="Arial" panose="020B0604020202020204" pitchFamily="34" charset="0"/>
            </a:pPr>
            <a:r>
              <a:rPr lang="en-US" dirty="0">
                <a:latin typeface="Times New Roman" panose="02020603050405020304" charset="0"/>
                <a:cs typeface="Times New Roman" panose="02020603050405020304" charset="0"/>
                <a:sym typeface="+mn-ea"/>
              </a:rPr>
              <a:t> Delete words that don’t add anything to your sentence.</a:t>
            </a:r>
            <a:endParaRPr lang="en-US" dirty="0">
              <a:latin typeface="Times New Roman" panose="02020603050405020304" charset="0"/>
              <a:cs typeface="Times New Roman" panose="02020603050405020304" charset="0"/>
            </a:endParaRPr>
          </a:p>
          <a:p>
            <a:pPr marL="0" indent="0" fontAlgn="auto">
              <a:lnSpc>
                <a:spcPct val="150000"/>
              </a:lnSpc>
              <a:buClr>
                <a:srgbClr val="C55A11"/>
              </a:buClr>
              <a:buFont typeface="Arial" panose="020B0604020202020204" pitchFamily="34" charset="0"/>
              <a:buNone/>
            </a:pPr>
            <a:endParaRPr lang="en-US" dirty="0">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Conciseness</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lnSpcReduction="10000"/>
          </a:bodyPr>
          <a:lstStyle/>
          <a:p>
            <a:pPr marL="0" indent="0" fontAlgn="auto">
              <a:lnSpc>
                <a:spcPct val="200000"/>
              </a:lnSpc>
              <a:buClr>
                <a:srgbClr val="C55A11"/>
              </a:buClr>
              <a:buFont typeface="Arial" panose="020B0604020202020204" pitchFamily="34" charset="0"/>
              <a:buNone/>
            </a:pPr>
            <a:r>
              <a:rPr lang="en-US">
                <a:latin typeface="Times New Roman" panose="02020603050405020304" charset="0"/>
                <a:cs typeface="Times New Roman" panose="02020603050405020304" charset="0"/>
              </a:rPr>
              <a:t> Cut the overlap.</a:t>
            </a:r>
          </a:p>
          <a:p>
            <a:pPr marL="0" indent="0" fontAlgn="auto">
              <a:lnSpc>
                <a:spcPct val="150000"/>
              </a:lnSpc>
              <a:buClr>
                <a:srgbClr val="C55A11"/>
              </a:buClr>
              <a:buFont typeface="Arial" panose="020B0604020202020204" pitchFamily="34" charset="0"/>
              <a:buNone/>
            </a:pPr>
            <a:r>
              <a:rPr lang="en-US" sz="2400">
                <a:latin typeface="Times New Roman" panose="02020603050405020304" charset="0"/>
                <a:cs typeface="Times New Roman" panose="02020603050405020304" charset="0"/>
              </a:rPr>
              <a:t>Our current staffing problems have been exacerbated by a combination of low salaries and the rising cost of housing. Because it has become more expensive for employees to rent or buy homes in our target cities, we are not able to attract employees with our current salaries, which leads to staffing difficulties. (52 words)</a:t>
            </a:r>
          </a:p>
          <a:p>
            <a:pPr marL="0" indent="0" fontAlgn="auto">
              <a:lnSpc>
                <a:spcPct val="150000"/>
              </a:lnSpc>
              <a:buClr>
                <a:srgbClr val="C55A11"/>
              </a:buClr>
              <a:buFont typeface="Arial" panose="020B0604020202020204" pitchFamily="34" charset="0"/>
              <a:buNone/>
            </a:pPr>
            <a:endParaRPr lang="en-US" sz="2400">
              <a:latin typeface="Times New Roman" panose="02020603050405020304" charset="0"/>
              <a:cs typeface="Times New Roman" panose="02020603050405020304" charset="0"/>
            </a:endParaRPr>
          </a:p>
          <a:p>
            <a:pPr marL="0" indent="0" fontAlgn="auto">
              <a:lnSpc>
                <a:spcPct val="150000"/>
              </a:lnSpc>
              <a:buClr>
                <a:srgbClr val="C55A11"/>
              </a:buClr>
              <a:buFont typeface="Arial" panose="020B0604020202020204" pitchFamily="34" charset="0"/>
              <a:buNone/>
            </a:pPr>
            <a:r>
              <a:rPr lang="en-US" sz="2400">
                <a:solidFill>
                  <a:schemeClr val="accent2">
                    <a:lumMod val="75000"/>
                  </a:schemeClr>
                </a:solidFill>
                <a:latin typeface="Times New Roman" panose="02020603050405020304" charset="0"/>
                <a:cs typeface="Times New Roman" panose="02020603050405020304" charset="0"/>
              </a:rPr>
              <a:t>Our current staffing problems have been exacerbated by a combination of low salaries and the rising cost of housing for renters and buyers in our target cities. (27 words)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Conciseness</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a:bodyPr>
          <a:lstStyle/>
          <a:p>
            <a:pPr marL="0" indent="0" fontAlgn="auto">
              <a:lnSpc>
                <a:spcPct val="200000"/>
              </a:lnSpc>
              <a:buClr>
                <a:srgbClr val="C55A11"/>
              </a:buClr>
              <a:buFont typeface="Arial" panose="020B0604020202020204" pitchFamily="34" charset="0"/>
              <a:buNone/>
            </a:pPr>
            <a:r>
              <a:rPr lang="en-US">
                <a:latin typeface="Times New Roman" panose="02020603050405020304" charset="0"/>
                <a:cs typeface="Times New Roman" panose="02020603050405020304" charset="0"/>
              </a:rPr>
              <a:t> Instead of telling us what you’re going to do in a sentence, just do it.</a:t>
            </a:r>
          </a:p>
          <a:p>
            <a:pPr marL="0" indent="0" fontAlgn="auto">
              <a:lnSpc>
                <a:spcPct val="200000"/>
              </a:lnSpc>
              <a:buClr>
                <a:srgbClr val="C55A11"/>
              </a:buClr>
              <a:buFont typeface="Arial" panose="020B0604020202020204" pitchFamily="34" charset="0"/>
              <a:buNone/>
            </a:pPr>
            <a:r>
              <a:rPr lang="en-US">
                <a:latin typeface="Times New Roman" panose="02020603050405020304" charset="0"/>
                <a:cs typeface="Times New Roman" panose="02020603050405020304" charset="0"/>
              </a:rPr>
              <a:t>Consider these two sentences:</a:t>
            </a:r>
          </a:p>
          <a:p>
            <a:pPr marL="0" indent="0" fontAlgn="auto">
              <a:lnSpc>
                <a:spcPct val="200000"/>
              </a:lnSpc>
              <a:buClr>
                <a:srgbClr val="C55A11"/>
              </a:buClr>
              <a:buFont typeface="Arial" panose="020B0604020202020204" pitchFamily="34" charset="0"/>
              <a:buNone/>
            </a:pPr>
            <a:r>
              <a:rPr lang="en-US">
                <a:latin typeface="Times New Roman" panose="02020603050405020304" charset="0"/>
                <a:cs typeface="Times New Roman" panose="02020603050405020304" charset="0"/>
              </a:rPr>
              <a:t>I will now offer you three steps we should take to improve our onboarding process. (15 words)</a:t>
            </a:r>
          </a:p>
          <a:p>
            <a:pPr marL="0" indent="0" fontAlgn="auto">
              <a:lnSpc>
                <a:spcPct val="200000"/>
              </a:lnSpc>
              <a:buClr>
                <a:srgbClr val="C55A11"/>
              </a:buClr>
              <a:buFont typeface="Arial" panose="020B0604020202020204" pitchFamily="34" charset="0"/>
              <a:buNone/>
            </a:pPr>
            <a:r>
              <a:rPr lang="en-US">
                <a:solidFill>
                  <a:schemeClr val="accent2">
                    <a:lumMod val="75000"/>
                  </a:schemeClr>
                </a:solidFill>
                <a:latin typeface="Times New Roman" panose="02020603050405020304" charset="0"/>
                <a:cs typeface="Times New Roman" panose="02020603050405020304" charset="0"/>
              </a:rPr>
              <a:t>We should take three steps to improve our onboarding process. (10 words)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solidFill>
                  <a:schemeClr val="tx1"/>
                </a:solidFill>
                <a:latin typeface="Times New Roman" panose="02020603050405020304" charset="0"/>
                <a:cs typeface="Times New Roman" panose="02020603050405020304" charset="0"/>
                <a:sym typeface="+mn-ea"/>
              </a:rPr>
              <a:t>4. </a:t>
            </a:r>
            <a:r>
              <a:rPr lang="en-US" altLang="zh-CN" sz="2800">
                <a:latin typeface="Times New Roman" panose="02020603050405020304" charset="0"/>
                <a:cs typeface="Times New Roman" panose="02020603050405020304" charset="0"/>
                <a:sym typeface="+mn-ea"/>
              </a:rPr>
              <a:t>Conciseness</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a:bodyPr>
          <a:lstStyle/>
          <a:p>
            <a:pPr marL="0" indent="0" fontAlgn="auto">
              <a:lnSpc>
                <a:spcPct val="200000"/>
              </a:lnSpc>
              <a:buClr>
                <a:srgbClr val="C55A11"/>
              </a:buClr>
              <a:buFont typeface="Arial" panose="020B0604020202020204" pitchFamily="34" charset="0"/>
              <a:buNone/>
            </a:pPr>
            <a:r>
              <a:rPr lang="en-US">
                <a:latin typeface="Times New Roman" panose="02020603050405020304" charset="0"/>
                <a:cs typeface="Times New Roman" panose="02020603050405020304" charset="0"/>
              </a:rPr>
              <a:t> </a:t>
            </a:r>
            <a:endParaRPr lang="en-US">
              <a:solidFill>
                <a:schemeClr val="accent2">
                  <a:lumMod val="75000"/>
                </a:schemeClr>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pic>
        <p:nvPicPr>
          <p:cNvPr id="8" name="图片 7"/>
          <p:cNvPicPr>
            <a:picLocks noChangeAspect="1"/>
          </p:cNvPicPr>
          <p:nvPr/>
        </p:nvPicPr>
        <p:blipFill>
          <a:blip r:embed="rId6"/>
          <a:stretch>
            <a:fillRect/>
          </a:stretch>
        </p:blipFill>
        <p:spPr>
          <a:xfrm>
            <a:off x="0" y="0"/>
            <a:ext cx="12348210" cy="7125335"/>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sz="2800">
                <a:latin typeface="Times New Roman" panose="02020603050405020304" charset="0"/>
                <a:cs typeface="Times New Roman" panose="02020603050405020304" charset="0"/>
                <a:sym typeface="+mn-ea"/>
              </a:rPr>
              <a:t>Variety</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fontScale="90000"/>
          </a:bodyPr>
          <a:lstStyle/>
          <a:p>
            <a:pPr marL="0" indent="0" fontAlgn="auto">
              <a:lnSpc>
                <a:spcPct val="150000"/>
              </a:lnSpc>
              <a:spcBef>
                <a:spcPts val="0"/>
              </a:spcBef>
              <a:buClr>
                <a:srgbClr val="C55A11"/>
              </a:buClr>
              <a:buFont typeface="Arial" panose="020B0604020202020204" pitchFamily="34" charset="0"/>
              <a:buNone/>
            </a:pPr>
            <a:r>
              <a:rPr lang="en-US" b="1">
                <a:solidFill>
                  <a:schemeClr val="accent2">
                    <a:lumMod val="75000"/>
                  </a:schemeClr>
                </a:solidFill>
                <a:latin typeface="Times New Roman" panose="02020603050405020304" charset="0"/>
                <a:cs typeface="Times New Roman" panose="02020603050405020304" charset="0"/>
              </a:rPr>
              <a:t>Variety</a:t>
            </a:r>
          </a:p>
          <a:p>
            <a:pPr marL="0" indent="0" algn="l" fontAlgn="auto">
              <a:lnSpc>
                <a:spcPct val="150000"/>
              </a:lnSpc>
            </a:pPr>
            <a:r>
              <a:rPr lang="en-US" altLang="zh-CN">
                <a:latin typeface="Times New Roman" panose="02020603050405020304" charset="0"/>
                <a:cs typeface="Times New Roman" panose="02020603050405020304" charset="0"/>
              </a:rPr>
              <a:t> Use a variety of words. Avoid repetition of the same words.</a:t>
            </a:r>
          </a:p>
          <a:p>
            <a:pPr marL="0" indent="0" algn="l" fontAlgn="auto">
              <a:lnSpc>
                <a:spcPct val="150000"/>
              </a:lnSpc>
            </a:pPr>
            <a:r>
              <a:rPr lang="en-US" altLang="zh-CN">
                <a:latin typeface="Times New Roman" panose="02020603050405020304" charset="0"/>
                <a:cs typeface="Times New Roman" panose="02020603050405020304" charset="0"/>
              </a:rPr>
              <a:t> If certain word must be repeated, reference words, synonyms or different forms of </a:t>
            </a:r>
          </a:p>
          <a:p>
            <a:pPr marL="0" indent="0" algn="l" fontAlgn="auto">
              <a:lnSpc>
                <a:spcPct val="150000"/>
              </a:lnSpc>
              <a:buNone/>
            </a:pPr>
            <a:r>
              <a:rPr lang="en-US" altLang="zh-CN">
                <a:latin typeface="Times New Roman" panose="02020603050405020304" charset="0"/>
                <a:cs typeface="Times New Roman" panose="02020603050405020304" charset="0"/>
              </a:rPr>
              <a:t>  the word can be used to refer to it without repeating.</a:t>
            </a:r>
          </a:p>
          <a:p>
            <a:pPr marL="0" indent="0" algn="l" fontAlgn="auto">
              <a:lnSpc>
                <a:spcPct val="150000"/>
              </a:lnSpc>
            </a:pPr>
            <a:r>
              <a:rPr lang="en-US" altLang="zh-CN">
                <a:latin typeface="Times New Roman" panose="02020603050405020304" charset="0"/>
                <a:cs typeface="Times New Roman" panose="02020603050405020304" charset="0"/>
              </a:rPr>
              <a:t> Use a variety of logical connectors. Avoid the overuse or misuse of certain </a:t>
            </a:r>
          </a:p>
          <a:p>
            <a:pPr marL="0" indent="0" algn="l" fontAlgn="auto">
              <a:lnSpc>
                <a:spcPct val="150000"/>
              </a:lnSpc>
              <a:buNone/>
            </a:pPr>
            <a:r>
              <a:rPr lang="en-US" altLang="zh-CN">
                <a:latin typeface="Times New Roman" panose="02020603050405020304" charset="0"/>
                <a:cs typeface="Times New Roman" panose="02020603050405020304" charset="0"/>
              </a:rPr>
              <a:t>  logicalconnectors, especially “besides”,“furthermore” and“moreover”.</a:t>
            </a:r>
          </a:p>
          <a:p>
            <a:pPr marL="0" indent="0" algn="l" fontAlgn="auto">
              <a:lnSpc>
                <a:spcPct val="150000"/>
              </a:lnSpc>
            </a:pPr>
            <a:r>
              <a:rPr lang="en-US" altLang="zh-CN">
                <a:latin typeface="Times New Roman" panose="02020603050405020304" charset="0"/>
                <a:cs typeface="Times New Roman" panose="02020603050405020304" charset="0"/>
              </a:rPr>
              <a:t> Use a variety of sentence structures. Avoid the overuse of certain favorite structure.</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99310" y="1249045"/>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274955"/>
            <a:ext cx="10515600" cy="5902325"/>
          </a:xfrm>
        </p:spPr>
        <p:txBody>
          <a:bodyPr/>
          <a:lstStyle/>
          <a:p>
            <a:pPr eaLnBrk="1" hangingPunct="1">
              <a:lnSpc>
                <a:spcPct val="90000"/>
              </a:lnSpc>
              <a:buNone/>
            </a:pPr>
            <a:r>
              <a:rPr lang="en-US" altLang="zh-CN" b="1" dirty="0">
                <a:solidFill>
                  <a:schemeClr val="accent2">
                    <a:lumMod val="75000"/>
                  </a:schemeClr>
                </a:solidFill>
                <a:latin typeface="Times New Roman" panose="02020603050405020304" charset="0"/>
                <a:cs typeface="Times New Roman" panose="02020603050405020304" charset="0"/>
                <a:sym typeface="+mn-ea"/>
              </a:rPr>
              <a:t>Exercise 3</a:t>
            </a:r>
            <a:r>
              <a:rPr lang="en-US" altLang="zh-CN" i="1" dirty="0">
                <a:latin typeface="Times New Roman" panose="02020603050405020304" charset="0"/>
                <a:cs typeface="Times New Roman" panose="02020603050405020304" charset="0"/>
                <a:sym typeface="+mn-ea"/>
              </a:rPr>
              <a:t>: Correct the following sentences to make them more academic.</a:t>
            </a:r>
            <a:endParaRPr lang="en-US" altLang="zh-CN" i="1" dirty="0">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1. The university is </a:t>
            </a:r>
            <a:r>
              <a:rPr lang="en-US" altLang="zh-CN" dirty="0">
                <a:solidFill>
                  <a:srgbClr val="FF0000"/>
                </a:solidFill>
                <a:latin typeface="Times New Roman" panose="02020603050405020304" charset="0"/>
                <a:cs typeface="Times New Roman" panose="02020603050405020304" charset="0"/>
                <a:sym typeface="+mn-ea"/>
              </a:rPr>
              <a:t>asking for </a:t>
            </a:r>
            <a:r>
              <a:rPr lang="en-US" altLang="zh-CN" dirty="0">
                <a:latin typeface="Times New Roman" panose="02020603050405020304" charset="0"/>
                <a:cs typeface="Times New Roman" panose="02020603050405020304" charset="0"/>
                <a:sym typeface="+mn-ea"/>
              </a:rPr>
              <a:t>more money.</a:t>
            </a:r>
            <a:endParaRPr lang="en-US" altLang="zh-CN" dirty="0">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2. </a:t>
            </a:r>
            <a:r>
              <a:rPr lang="en-US" altLang="zh-CN" dirty="0">
                <a:solidFill>
                  <a:srgbClr val="FF0000"/>
                </a:solidFill>
                <a:latin typeface="Times New Roman" panose="02020603050405020304" charset="0"/>
                <a:cs typeface="Times New Roman" panose="02020603050405020304" charset="0"/>
                <a:sym typeface="+mn-ea"/>
              </a:rPr>
              <a:t>Is it really true </a:t>
            </a:r>
            <a:r>
              <a:rPr lang="en-US" altLang="zh-CN" dirty="0">
                <a:latin typeface="Times New Roman" panose="02020603050405020304" charset="0"/>
                <a:cs typeface="Times New Roman" panose="02020603050405020304" charset="0"/>
                <a:sym typeface="+mn-ea"/>
              </a:rPr>
              <a:t>that the Great Wall of China is visible from space?</a:t>
            </a:r>
            <a:endParaRPr lang="en-US" altLang="zh-CN" dirty="0">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3. Some commentators </a:t>
            </a:r>
            <a:r>
              <a:rPr lang="en-US" altLang="zh-CN" dirty="0">
                <a:solidFill>
                  <a:srgbClr val="FF0000"/>
                </a:solidFill>
                <a:latin typeface="Times New Roman" panose="02020603050405020304" charset="0"/>
                <a:cs typeface="Times New Roman" panose="02020603050405020304" charset="0"/>
                <a:sym typeface="+mn-ea"/>
              </a:rPr>
              <a:t>say </a:t>
            </a:r>
            <a:r>
              <a:rPr lang="en-US" altLang="zh-CN" dirty="0">
                <a:latin typeface="Times New Roman" panose="02020603050405020304" charset="0"/>
                <a:cs typeface="Times New Roman" panose="02020603050405020304" charset="0"/>
                <a:sym typeface="+mn-ea"/>
              </a:rPr>
              <a:t>that students lack creativity. </a:t>
            </a:r>
            <a:r>
              <a:rPr lang="en-US" altLang="zh-CN" dirty="0">
                <a:solidFill>
                  <a:srgbClr val="FF0000"/>
                </a:solidFill>
                <a:latin typeface="Times New Roman" panose="02020603050405020304" charset="0"/>
                <a:cs typeface="Times New Roman" panose="02020603050405020304" charset="0"/>
                <a:sym typeface="+mn-ea"/>
              </a:rPr>
              <a:t>They also lack </a:t>
            </a:r>
            <a:r>
              <a:rPr lang="en-US" altLang="zh-CN" dirty="0">
                <a:latin typeface="Times New Roman" panose="02020603050405020304" charset="0"/>
                <a:cs typeface="Times New Roman" panose="02020603050405020304" charset="0"/>
                <a:sym typeface="+mn-ea"/>
              </a:rPr>
              <a:t>imagination.</a:t>
            </a:r>
            <a:endParaRPr lang="en-US" altLang="zh-CN" dirty="0">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4. According to Wong (2003, </a:t>
            </a:r>
            <a:r>
              <a:rPr lang="en-US" altLang="zh-CN" dirty="0" err="1">
                <a:latin typeface="Times New Roman" panose="02020603050405020304" charset="0"/>
                <a:cs typeface="Times New Roman" panose="02020603050405020304" charset="0"/>
                <a:sym typeface="+mn-ea"/>
              </a:rPr>
              <a:t>p.41</a:t>
            </a:r>
            <a:r>
              <a:rPr lang="en-US" altLang="zh-CN" dirty="0">
                <a:latin typeface="Times New Roman" panose="02020603050405020304" charset="0"/>
                <a:cs typeface="Times New Roman" panose="02020603050405020304" charset="0"/>
                <a:sym typeface="+mn-ea"/>
              </a:rPr>
              <a:t>), </a:t>
            </a:r>
            <a:r>
              <a:rPr lang="en-US" altLang="zh-CN" dirty="0">
                <a:solidFill>
                  <a:srgbClr val="FF0000"/>
                </a:solidFill>
                <a:latin typeface="Times New Roman" panose="02020603050405020304" charset="0"/>
                <a:cs typeface="Times New Roman" panose="02020603050405020304" charset="0"/>
                <a:sym typeface="+mn-ea"/>
              </a:rPr>
              <a:t>he</a:t>
            </a:r>
            <a:r>
              <a:rPr lang="en-US" altLang="zh-CN" dirty="0">
                <a:latin typeface="Times New Roman" panose="02020603050405020304" charset="0"/>
                <a:cs typeface="Times New Roman" panose="02020603050405020304" charset="0"/>
                <a:sym typeface="+mn-ea"/>
              </a:rPr>
              <a:t> </a:t>
            </a:r>
            <a:r>
              <a:rPr lang="en-US" altLang="zh-CN" dirty="0">
                <a:solidFill>
                  <a:srgbClr val="FF0000"/>
                </a:solidFill>
                <a:latin typeface="Times New Roman" panose="02020603050405020304" charset="0"/>
                <a:cs typeface="Times New Roman" panose="02020603050405020304" charset="0"/>
                <a:sym typeface="+mn-ea"/>
              </a:rPr>
              <a:t>says </a:t>
            </a:r>
            <a:r>
              <a:rPr lang="en-US" altLang="zh-CN" dirty="0">
                <a:latin typeface="Times New Roman" panose="02020603050405020304" charset="0"/>
                <a:cs typeface="Times New Roman" panose="02020603050405020304" charset="0"/>
                <a:sym typeface="+mn-ea"/>
              </a:rPr>
              <a:t>that the information is inaccurate.</a:t>
            </a:r>
            <a:endParaRPr lang="en-US" altLang="zh-CN" dirty="0">
              <a:latin typeface="Times New Roman" panose="02020603050405020304" charset="0"/>
              <a:cs typeface="Times New Roman" panose="02020603050405020304" charset="0"/>
            </a:endParaRPr>
          </a:p>
          <a:p>
            <a:pPr eaLnBrk="1" hangingPunct="1">
              <a:lnSpc>
                <a:spcPct val="90000"/>
              </a:lnSpc>
            </a:pPr>
            <a:endParaRPr lang="en-US" altLang="zh-CN" dirty="0"/>
          </a:p>
          <a:p>
            <a:pPr marL="0" indent="0">
              <a:buNone/>
            </a:pPr>
            <a:endParaRPr lang="zh-CN" altLang="en-US" dirty="0">
              <a:latin typeface="Times New Roman" panose="02020603050405020304" charset="0"/>
              <a:cs typeface="Times New Roman" panose="0202060305040502030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274955"/>
            <a:ext cx="10515600" cy="5902325"/>
          </a:xfrm>
        </p:spPr>
        <p:txBody>
          <a:bodyPr/>
          <a:lstStyle/>
          <a:p>
            <a:pPr marL="0" indent="0">
              <a:buNone/>
            </a:pPr>
            <a:r>
              <a:rPr lang="en-US" altLang="zh-CN" b="1" dirty="0">
                <a:solidFill>
                  <a:schemeClr val="accent2">
                    <a:lumMod val="75000"/>
                  </a:schemeClr>
                </a:solidFill>
                <a:latin typeface="Times New Roman" panose="02020603050405020304" charset="0"/>
                <a:cs typeface="Times New Roman" panose="02020603050405020304" charset="0"/>
                <a:sym typeface="+mn-ea"/>
              </a:rPr>
              <a:t>Exercise 4</a:t>
            </a:r>
            <a:r>
              <a:rPr lang="en-US" altLang="zh-CN" dirty="0">
                <a:latin typeface="Times New Roman" panose="02020603050405020304" charset="0"/>
                <a:cs typeface="Times New Roman" panose="02020603050405020304" charset="0"/>
                <a:sym typeface="+mn-ea"/>
              </a:rPr>
              <a:t>: Change the following spoken text into a written text.</a:t>
            </a:r>
            <a:endParaRPr lang="en-US" altLang="zh-CN" dirty="0">
              <a:latin typeface="Times New Roman" panose="02020603050405020304" charset="0"/>
              <a:cs typeface="Times New Roman" panose="02020603050405020304" charset="0"/>
            </a:endParaRPr>
          </a:p>
          <a:p>
            <a:pPr eaLnBrk="1" hangingPunct="1">
              <a:lnSpc>
                <a:spcPct val="90000"/>
              </a:lnSpc>
              <a:buNone/>
            </a:pPr>
            <a:r>
              <a:rPr lang="en-US" altLang="zh-CN" b="1" dirty="0">
                <a:latin typeface="Times New Roman" panose="02020603050405020304" charset="0"/>
                <a:cs typeface="Times New Roman" panose="02020603050405020304" charset="0"/>
                <a:sym typeface="+mn-ea"/>
              </a:rPr>
              <a:t>Spoken text </a:t>
            </a:r>
            <a:endParaRPr lang="en-US" altLang="zh-CN" b="1" dirty="0">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         Nowadays companies 1. </a:t>
            </a:r>
            <a:r>
              <a:rPr lang="en-US" altLang="zh-CN" dirty="0">
                <a:solidFill>
                  <a:srgbClr val="FF0000"/>
                </a:solidFill>
                <a:latin typeface="Times New Roman" panose="02020603050405020304" charset="0"/>
                <a:cs typeface="Times New Roman" panose="02020603050405020304" charset="0"/>
                <a:sym typeface="+mn-ea"/>
              </a:rPr>
              <a:t>are finding </a:t>
            </a:r>
            <a:r>
              <a:rPr lang="en-US" altLang="zh-CN" dirty="0">
                <a:latin typeface="Times New Roman" panose="02020603050405020304" charset="0"/>
                <a:cs typeface="Times New Roman" panose="02020603050405020304" charset="0"/>
                <a:sym typeface="+mn-ea"/>
              </a:rPr>
              <a:t>that they have to change the way they do things and 2. </a:t>
            </a:r>
            <a:r>
              <a:rPr lang="en-US" altLang="zh-CN" dirty="0">
                <a:solidFill>
                  <a:srgbClr val="FF0000"/>
                </a:solidFill>
                <a:latin typeface="Times New Roman" panose="02020603050405020304" charset="0"/>
                <a:cs typeface="Times New Roman" panose="02020603050405020304" charset="0"/>
                <a:sym typeface="+mn-ea"/>
              </a:rPr>
              <a:t>they’re finding </a:t>
            </a:r>
            <a:r>
              <a:rPr lang="en-US" altLang="zh-CN" dirty="0">
                <a:latin typeface="Times New Roman" panose="02020603050405020304" charset="0"/>
                <a:cs typeface="Times New Roman" panose="02020603050405020304" charset="0"/>
                <a:sym typeface="+mn-ea"/>
              </a:rPr>
              <a:t>that human resources planning is really helpful when they have to do this. One reason why it’s helpful is because it can help the companies 3. </a:t>
            </a:r>
            <a:r>
              <a:rPr lang="en-US" altLang="zh-CN" dirty="0">
                <a:solidFill>
                  <a:srgbClr val="FF0000"/>
                </a:solidFill>
                <a:latin typeface="Times New Roman" panose="02020603050405020304" charset="0"/>
                <a:cs typeface="Times New Roman" panose="02020603050405020304" charset="0"/>
                <a:sym typeface="+mn-ea"/>
              </a:rPr>
              <a:t>work out </a:t>
            </a:r>
            <a:r>
              <a:rPr lang="en-US" altLang="zh-CN" dirty="0">
                <a:latin typeface="Times New Roman" panose="02020603050405020304" charset="0"/>
                <a:cs typeface="Times New Roman" panose="02020603050405020304" charset="0"/>
                <a:sym typeface="+mn-ea"/>
              </a:rPr>
              <a:t>what the issues are and then, when 4. </a:t>
            </a:r>
            <a:r>
              <a:rPr lang="en-US" altLang="zh-CN" dirty="0">
                <a:solidFill>
                  <a:srgbClr val="FF0000"/>
                </a:solidFill>
                <a:latin typeface="Times New Roman" panose="02020603050405020304" charset="0"/>
                <a:cs typeface="Times New Roman" panose="02020603050405020304" charset="0"/>
                <a:sym typeface="+mn-ea"/>
              </a:rPr>
              <a:t>you’</a:t>
            </a:r>
            <a:r>
              <a:rPr lang="en-US" altLang="zh-CN" dirty="0">
                <a:latin typeface="Times New Roman" panose="02020603050405020304" charset="0"/>
                <a:cs typeface="Times New Roman" panose="02020603050405020304" charset="0"/>
                <a:sym typeface="+mn-ea"/>
              </a:rPr>
              <a:t>ve done that, it can help 5. </a:t>
            </a:r>
            <a:r>
              <a:rPr lang="en-US" altLang="zh-CN" dirty="0">
                <a:solidFill>
                  <a:srgbClr val="FF0000"/>
                </a:solidFill>
                <a:latin typeface="Times New Roman" panose="02020603050405020304" charset="0"/>
                <a:cs typeface="Times New Roman" panose="02020603050405020304" charset="0"/>
                <a:sym typeface="+mn-ea"/>
              </a:rPr>
              <a:t>you</a:t>
            </a:r>
            <a:r>
              <a:rPr lang="en-US" altLang="zh-CN" dirty="0">
                <a:latin typeface="Times New Roman" panose="02020603050405020304" charset="0"/>
                <a:cs typeface="Times New Roman" panose="02020603050405020304" charset="0"/>
                <a:sym typeface="+mn-ea"/>
              </a:rPr>
              <a:t> </a:t>
            </a:r>
            <a:r>
              <a:rPr lang="en-US" altLang="zh-CN" dirty="0">
                <a:solidFill>
                  <a:srgbClr val="FF0000"/>
                </a:solidFill>
                <a:latin typeface="Times New Roman" panose="02020603050405020304" charset="0"/>
                <a:cs typeface="Times New Roman" panose="02020603050405020304" charset="0"/>
                <a:sym typeface="+mn-ea"/>
              </a:rPr>
              <a:t>make up your mind </a:t>
            </a:r>
            <a:r>
              <a:rPr lang="en-US" altLang="zh-CN" dirty="0">
                <a:latin typeface="Times New Roman" panose="02020603050405020304" charset="0"/>
                <a:cs typeface="Times New Roman" panose="02020603050405020304" charset="0"/>
                <a:sym typeface="+mn-ea"/>
              </a:rPr>
              <a:t>what 6. </a:t>
            </a:r>
            <a:r>
              <a:rPr lang="en-US" altLang="zh-CN" dirty="0">
                <a:solidFill>
                  <a:srgbClr val="FF0000"/>
                </a:solidFill>
                <a:latin typeface="Times New Roman" panose="02020603050405020304" charset="0"/>
                <a:cs typeface="Times New Roman" panose="02020603050405020304" charset="0"/>
                <a:sym typeface="+mn-ea"/>
              </a:rPr>
              <a:t>you’re</a:t>
            </a:r>
            <a:r>
              <a:rPr lang="en-US" altLang="zh-CN" dirty="0">
                <a:latin typeface="Times New Roman" panose="02020603050405020304" charset="0"/>
                <a:cs typeface="Times New Roman" panose="02020603050405020304" charset="0"/>
                <a:sym typeface="+mn-ea"/>
              </a:rPr>
              <a:t> going to do about it. Basically, human resource planning is what 7. </a:t>
            </a:r>
            <a:r>
              <a:rPr lang="en-US" altLang="zh-CN" dirty="0">
                <a:solidFill>
                  <a:srgbClr val="FF0000"/>
                </a:solidFill>
                <a:latin typeface="Times New Roman" panose="02020603050405020304" charset="0"/>
                <a:cs typeface="Times New Roman" panose="02020603050405020304" charset="0"/>
                <a:sym typeface="+mn-ea"/>
              </a:rPr>
              <a:t>you</a:t>
            </a:r>
            <a:r>
              <a:rPr lang="en-US" altLang="zh-CN" dirty="0">
                <a:latin typeface="Times New Roman" panose="02020603050405020304" charset="0"/>
                <a:cs typeface="Times New Roman" panose="02020603050405020304" charset="0"/>
                <a:sym typeface="+mn-ea"/>
              </a:rPr>
              <a:t> do when </a:t>
            </a:r>
            <a:r>
              <a:rPr lang="en-US" altLang="zh-CN" dirty="0">
                <a:solidFill>
                  <a:srgbClr val="FF0000"/>
                </a:solidFill>
                <a:latin typeface="Times New Roman" panose="02020603050405020304" charset="0"/>
                <a:cs typeface="Times New Roman" panose="02020603050405020304" charset="0"/>
                <a:sym typeface="+mn-ea"/>
              </a:rPr>
              <a:t>you’re going through</a:t>
            </a:r>
            <a:r>
              <a:rPr lang="en-US" altLang="zh-CN" dirty="0">
                <a:latin typeface="Times New Roman" panose="02020603050405020304" charset="0"/>
                <a:cs typeface="Times New Roman" panose="02020603050405020304" charset="0"/>
                <a:sym typeface="+mn-ea"/>
              </a:rPr>
              <a:t>…</a:t>
            </a:r>
            <a:endParaRPr lang="en-US" altLang="zh-CN" dirty="0">
              <a:latin typeface="Times New Roman" panose="02020603050405020304" charset="0"/>
              <a:cs typeface="Times New Roman" panose="02020603050405020304" charset="0"/>
            </a:endParaRPr>
          </a:p>
          <a:p>
            <a:pPr marL="0" indent="0">
              <a:buNone/>
            </a:pPr>
            <a:endParaRPr lang="zh-CN" altLang="en-US" dirty="0">
              <a:latin typeface="Times New Roman" panose="02020603050405020304" charset="0"/>
              <a:cs typeface="Times New Roman" panose="0202060305040502030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274955"/>
            <a:ext cx="10515600" cy="5902325"/>
          </a:xfrm>
        </p:spPr>
        <p:txBody>
          <a:bodyPr/>
          <a:lstStyle/>
          <a:p>
            <a:pPr marL="0" indent="0" algn="l" fontAlgn="auto">
              <a:lnSpc>
                <a:spcPct val="150000"/>
              </a:lnSpc>
              <a:buNone/>
            </a:pPr>
            <a:r>
              <a:rPr lang="en-US" altLang="zh-CN" b="1" dirty="0">
                <a:latin typeface="Times New Roman" panose="02020603050405020304" charset="0"/>
                <a:cs typeface="Times New Roman" panose="02020603050405020304" charset="0"/>
                <a:sym typeface="+mn-ea"/>
              </a:rPr>
              <a:t>Written text</a:t>
            </a:r>
          </a:p>
          <a:p>
            <a:pPr marL="0" indent="0" algn="l" fontAlgn="auto">
              <a:lnSpc>
                <a:spcPct val="150000"/>
              </a:lnSpc>
              <a:buNone/>
            </a:pPr>
            <a:r>
              <a:rPr lang="en-US" altLang="zh-CN" dirty="0">
                <a:latin typeface="Times New Roman" panose="02020603050405020304" charset="0"/>
                <a:cs typeface="Times New Roman" panose="02020603050405020304" charset="0"/>
                <a:sym typeface="+mn-ea"/>
              </a:rPr>
              <a:t>As companies </a:t>
            </a:r>
            <a:r>
              <a:rPr lang="en-US" altLang="zh-CN" dirty="0">
                <a:solidFill>
                  <a:srgbClr val="FF0000"/>
                </a:solidFill>
                <a:latin typeface="Times New Roman" panose="02020603050405020304" charset="0"/>
                <a:cs typeface="Times New Roman" panose="02020603050405020304" charset="0"/>
                <a:sym typeface="+mn-ea"/>
              </a:rPr>
              <a:t>experience the need for change</a:t>
            </a:r>
            <a:r>
              <a:rPr lang="en-US" altLang="zh-CN" dirty="0">
                <a:latin typeface="Times New Roman" panose="02020603050405020304" charset="0"/>
                <a:cs typeface="Times New Roman" panose="02020603050405020304" charset="0"/>
                <a:sym typeface="+mn-ea"/>
              </a:rPr>
              <a:t>, they often </a:t>
            </a:r>
            <a:r>
              <a:rPr lang="en-US" altLang="zh-CN" dirty="0">
                <a:solidFill>
                  <a:srgbClr val="FF0000"/>
                </a:solidFill>
                <a:latin typeface="Times New Roman" panose="02020603050405020304" charset="0"/>
                <a:cs typeface="Times New Roman" panose="02020603050405020304" charset="0"/>
                <a:sym typeface="+mn-ea"/>
              </a:rPr>
              <a:t>apply</a:t>
            </a:r>
            <a:r>
              <a:rPr lang="en-US" altLang="zh-CN" dirty="0">
                <a:latin typeface="Times New Roman" panose="02020603050405020304" charset="0"/>
                <a:cs typeface="Times New Roman" panose="02020603050405020304" charset="0"/>
                <a:sym typeface="+mn-ea"/>
              </a:rPr>
              <a:t> human resource planning to </a:t>
            </a:r>
            <a:r>
              <a:rPr lang="en-US" altLang="zh-CN" dirty="0">
                <a:solidFill>
                  <a:srgbClr val="FF0000"/>
                </a:solidFill>
                <a:latin typeface="Times New Roman" panose="02020603050405020304" charset="0"/>
                <a:cs typeface="Times New Roman" panose="02020603050405020304" charset="0"/>
                <a:sym typeface="+mn-ea"/>
              </a:rPr>
              <a:t>define the relevant issues </a:t>
            </a:r>
            <a:r>
              <a:rPr lang="en-US" altLang="zh-CN" dirty="0">
                <a:latin typeface="Times New Roman" panose="02020603050405020304" charset="0"/>
                <a:cs typeface="Times New Roman" panose="02020603050405020304" charset="0"/>
                <a:sym typeface="+mn-ea"/>
              </a:rPr>
              <a:t>and </a:t>
            </a:r>
            <a:r>
              <a:rPr lang="en-US" altLang="zh-CN" dirty="0">
                <a:solidFill>
                  <a:srgbClr val="FF0000"/>
                </a:solidFill>
                <a:latin typeface="Times New Roman" panose="02020603050405020304" charset="0"/>
                <a:cs typeface="Times New Roman" panose="02020603050405020304" charset="0"/>
                <a:sym typeface="+mn-ea"/>
              </a:rPr>
              <a:t>develop responses to them</a:t>
            </a:r>
            <a:r>
              <a:rPr lang="en-US" altLang="zh-CN" dirty="0">
                <a:latin typeface="Times New Roman" panose="02020603050405020304" charset="0"/>
                <a:cs typeface="Times New Roman" panose="02020603050405020304" charset="0"/>
                <a:sym typeface="+mn-ea"/>
              </a:rPr>
              <a:t>. </a:t>
            </a:r>
            <a:r>
              <a:rPr lang="en-US" altLang="zh-CN" dirty="0">
                <a:solidFill>
                  <a:srgbClr val="FF0000"/>
                </a:solidFill>
                <a:latin typeface="Times New Roman" panose="02020603050405020304" charset="0"/>
                <a:cs typeface="Times New Roman" panose="02020603050405020304" charset="0"/>
                <a:sym typeface="+mn-ea"/>
              </a:rPr>
              <a:t>Broadly defined</a:t>
            </a:r>
            <a:r>
              <a:rPr lang="en-US" altLang="zh-CN" dirty="0">
                <a:latin typeface="Times New Roman" panose="02020603050405020304" charset="0"/>
                <a:cs typeface="Times New Roman" panose="02020603050405020304" charset="0"/>
                <a:sym typeface="+mn-ea"/>
              </a:rPr>
              <a:t>, human resource planning is the process of analyzing an organization’s human resources needs under changing conditions and developing the activities necessary to satisfy those needs.</a:t>
            </a:r>
            <a:endParaRPr lang="en-US" altLang="zh-CN" dirty="0">
              <a:latin typeface="Times New Roman" panose="02020603050405020304" charset="0"/>
              <a:cs typeface="Times New Roman" panose="02020603050405020304" charset="0"/>
            </a:endParaRPr>
          </a:p>
          <a:p>
            <a:pPr marL="0" indent="0" algn="l" eaLnBrk="1" hangingPunct="1">
              <a:buNone/>
            </a:pPr>
            <a:endParaRPr lang="zh-CN" altLang="en-US" dirty="0">
              <a:latin typeface="Times New Roman" panose="02020603050405020304" charset="0"/>
              <a:cs typeface="Times New Roman" panose="0202060305040502030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2 Rhetorical Principles</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
        <p:nvSpPr>
          <p:cNvPr id="13" name="文本框 12"/>
          <p:cNvSpPr txBox="1"/>
          <p:nvPr/>
        </p:nvSpPr>
        <p:spPr>
          <a:xfrm>
            <a:off x="887095" y="3422650"/>
            <a:ext cx="4367530" cy="583565"/>
          </a:xfrm>
          <a:prstGeom prst="rect">
            <a:avLst/>
          </a:prstGeom>
          <a:noFill/>
        </p:spPr>
        <p:txBody>
          <a:bodyPr wrap="square" rtlCol="0">
            <a:spAutoFit/>
          </a:bodyPr>
          <a:lstStyle/>
          <a:p>
            <a:pPr marL="0" indent="0" eaLnBrk="1" hangingPunct="1">
              <a:buNone/>
            </a:pPr>
            <a:r>
              <a:rPr lang="en-US" altLang="zh-CN" sz="3200" b="1">
                <a:latin typeface="Times New Roman" panose="02020603050405020304" charset="0"/>
                <a:cs typeface="Times New Roman" panose="02020603050405020304" charset="0"/>
                <a:sym typeface="+mn-ea"/>
              </a:rPr>
              <a:t>2 Rhetorical Principles</a:t>
            </a:r>
            <a:endParaRPr lang="zh-CN" altLang="en-US" sz="3200" b="1"/>
          </a:p>
        </p:txBody>
      </p:sp>
      <p:pic>
        <p:nvPicPr>
          <p:cNvPr id="3" name="图片 2"/>
          <p:cNvPicPr/>
          <p:nvPr/>
        </p:nvPicPr>
        <p:blipFill>
          <a:blip r:embed="rId6"/>
          <a:stretch>
            <a:fillRect/>
          </a:stretch>
        </p:blipFill>
        <p:spPr>
          <a:xfrm>
            <a:off x="6430010" y="1552575"/>
            <a:ext cx="3883025" cy="4116705"/>
          </a:xfrm>
          <a:prstGeom prst="rect">
            <a:avLst/>
          </a:prstGeom>
          <a:effectLst>
            <a:innerShdw blurRad="114300">
              <a:prstClr val="black"/>
            </a:innerShdw>
          </a:effec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Rhetorical Principles</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a:bodyPr>
          <a:lstStyle/>
          <a:p>
            <a:pPr marL="0" indent="0" eaLnBrk="1" hangingPunct="1">
              <a:buNone/>
            </a:pPr>
            <a:r>
              <a:rPr lang="en-US" altLang="zh-CN" b="1">
                <a:latin typeface="Times New Roman" panose="02020603050405020304" charset="0"/>
                <a:cs typeface="Times New Roman" panose="02020603050405020304" charset="0"/>
                <a:sym typeface="+mn-ea"/>
              </a:rPr>
              <a:t>Rhetorical Principles</a:t>
            </a:r>
            <a:endParaRPr lang="en-US" altLang="zh-CN" b="1">
              <a:latin typeface="Times New Roman" panose="02020603050405020304" charset="0"/>
              <a:cs typeface="Times New Roman" panose="02020603050405020304" charset="0"/>
            </a:endParaRPr>
          </a:p>
          <a:p>
            <a:pPr fontAlgn="auto">
              <a:lnSpc>
                <a:spcPct val="150000"/>
              </a:lnSpc>
            </a:pPr>
            <a:r>
              <a:rPr lang="en-US" altLang="zh-CN" b="1">
                <a:solidFill>
                  <a:schemeClr val="accent2"/>
                </a:solidFill>
                <a:latin typeface="Times New Roman" panose="02020603050405020304" charset="0"/>
                <a:cs typeface="Times New Roman" panose="02020603050405020304" charset="0"/>
                <a:sym typeface="+mn-ea"/>
              </a:rPr>
              <a:t>Unity</a:t>
            </a:r>
            <a:endParaRPr lang="en-US" altLang="zh-CN" b="1">
              <a:solidFill>
                <a:schemeClr val="accent2"/>
              </a:solidFill>
              <a:latin typeface="Times New Roman" panose="02020603050405020304" charset="0"/>
              <a:cs typeface="Times New Roman" panose="02020603050405020304" charset="0"/>
            </a:endParaRPr>
          </a:p>
          <a:p>
            <a:pPr fontAlgn="auto">
              <a:lnSpc>
                <a:spcPct val="150000"/>
              </a:lnSpc>
            </a:pPr>
            <a:r>
              <a:rPr lang="en-US" altLang="zh-CN" b="1">
                <a:solidFill>
                  <a:schemeClr val="accent2"/>
                </a:solidFill>
                <a:latin typeface="Times New Roman" panose="02020603050405020304" charset="0"/>
                <a:cs typeface="Times New Roman" panose="02020603050405020304" charset="0"/>
                <a:sym typeface="+mn-ea"/>
              </a:rPr>
              <a:t>Coherence</a:t>
            </a:r>
            <a:endParaRPr lang="en-US" altLang="zh-CN" b="1">
              <a:solidFill>
                <a:schemeClr val="accent2"/>
              </a:solidFill>
              <a:latin typeface="Times New Roman" panose="02020603050405020304" charset="0"/>
              <a:cs typeface="Times New Roman" panose="02020603050405020304" charset="0"/>
            </a:endParaRPr>
          </a:p>
          <a:p>
            <a:pPr fontAlgn="auto">
              <a:lnSpc>
                <a:spcPct val="150000"/>
              </a:lnSpc>
            </a:pPr>
            <a:r>
              <a:rPr lang="en-US" altLang="zh-CN" b="1">
                <a:solidFill>
                  <a:schemeClr val="accent2"/>
                </a:solidFill>
                <a:latin typeface="Times New Roman" panose="02020603050405020304" charset="0"/>
                <a:cs typeface="Times New Roman" panose="02020603050405020304" charset="0"/>
                <a:sym typeface="+mn-ea"/>
              </a:rPr>
              <a:t>Emphasis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Rhetorical Principles</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fontScale="92500" lnSpcReduction="10000"/>
          </a:bodyPr>
          <a:lstStyle/>
          <a:p>
            <a:pPr marL="0" indent="0" eaLnBrk="1" hangingPunct="1">
              <a:buNone/>
            </a:pPr>
            <a:r>
              <a:rPr lang="en-US" altLang="zh-CN" b="1" dirty="0">
                <a:latin typeface="Times New Roman" panose="02020603050405020304" charset="0"/>
                <a:cs typeface="Times New Roman" panose="02020603050405020304" charset="0"/>
                <a:sym typeface="+mn-ea"/>
              </a:rPr>
              <a:t>2.1  Unity</a:t>
            </a:r>
            <a:endParaRPr lang="en-US" altLang="zh-CN" b="1" dirty="0">
              <a:latin typeface="Times New Roman" panose="02020603050405020304" charset="0"/>
              <a:cs typeface="Times New Roman" panose="02020603050405020304" charset="0"/>
            </a:endParaRPr>
          </a:p>
          <a:p>
            <a:pPr eaLnBrk="1" hangingPunct="1">
              <a:buNone/>
            </a:pPr>
            <a:r>
              <a:rPr lang="en-US" altLang="zh-CN" dirty="0">
                <a:latin typeface="Times New Roman" panose="02020603050405020304" charset="0"/>
                <a:cs typeface="Times New Roman" panose="02020603050405020304" charset="0"/>
                <a:sym typeface="+mn-ea"/>
              </a:rPr>
              <a:t>    A paper should stick to its chosen thesis without rambling.</a:t>
            </a:r>
          </a:p>
          <a:p>
            <a:pPr eaLnBrk="1" hangingPunct="1">
              <a:buNone/>
            </a:pPr>
            <a:endParaRPr lang="en-US" altLang="zh-CN" dirty="0">
              <a:latin typeface="Times New Roman" panose="02020603050405020304" charset="0"/>
              <a:cs typeface="Times New Roman" panose="02020603050405020304"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lang="en-US" altLang="zh-CN" b="1" kern="0" noProof="0" dirty="0">
                <a:ln>
                  <a:noFill/>
                </a:ln>
                <a:effectLst/>
                <a:uLnTx/>
                <a:uFillTx/>
                <a:latin typeface="Times New Roman" panose="02020603050405020304" charset="0"/>
                <a:cs typeface="Times New Roman" panose="02020603050405020304" charset="0"/>
                <a:sym typeface="+mn-ea"/>
              </a:rPr>
              <a:t>2.2 Coherence</a:t>
            </a:r>
            <a:endParaRPr kumimoji="0" lang="en-US" altLang="zh-CN" b="1" i="0" u="none" strike="noStrike" kern="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lang="en-US" altLang="zh-CN" kern="0" noProof="0" dirty="0">
                <a:ln>
                  <a:noFill/>
                </a:ln>
                <a:effectLst/>
                <a:uLnTx/>
                <a:uFillTx/>
                <a:latin typeface="Times New Roman" panose="02020603050405020304" charset="0"/>
                <a:cs typeface="Times New Roman" panose="02020603050405020304" charset="0"/>
                <a:sym typeface="+mn-ea"/>
              </a:rPr>
              <a:t>“Sticking together”</a:t>
            </a:r>
            <a:endParaRPr kumimoji="0" lang="en-US" altLang="zh-CN" b="0" i="0" u="none" strike="noStrike" kern="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812800" marR="0" lvl="0" indent="-812800" algn="ctr" defTabSz="914400" rtl="0" eaLnBrk="1" fontAlgn="base" latinLnBrk="0" hangingPunct="1">
              <a:lnSpc>
                <a:spcPct val="10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812800" marR="0" lvl="0" indent="-812800" algn="l" defTabSz="914400" rtl="0" eaLnBrk="1" fontAlgn="base" latinLnBrk="0" hangingPunct="1">
              <a:lnSpc>
                <a:spcPct val="100000"/>
              </a:lnSpc>
              <a:spcBef>
                <a:spcPct val="20000"/>
              </a:spcBef>
              <a:spcAft>
                <a:spcPct val="0"/>
              </a:spcAft>
              <a:buClrTx/>
              <a:buSzTx/>
              <a:buFontTx/>
              <a:buNone/>
              <a:defRPr/>
            </a:pPr>
            <a:r>
              <a:rPr lang="en-US" altLang="zh-CN" b="1" kern="0" noProof="0" dirty="0">
                <a:ln>
                  <a:noFill/>
                </a:ln>
                <a:effectLst/>
                <a:uLnTx/>
                <a:uFillTx/>
                <a:latin typeface="Times New Roman" panose="02020603050405020304" charset="0"/>
                <a:cs typeface="Times New Roman" panose="02020603050405020304" charset="0"/>
                <a:sym typeface="+mn-ea"/>
              </a:rPr>
              <a:t>Ways of improving coherence</a:t>
            </a:r>
            <a:endParaRPr kumimoji="0" lang="en-US" altLang="zh-CN" b="1" i="0" u="none" strike="noStrike" kern="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812800" marR="0" lvl="0" indent="-812800" algn="l" defTabSz="914400" rtl="0" eaLnBrk="1" fontAlgn="base" latinLnBrk="0" hangingPunct="1">
              <a:lnSpc>
                <a:spcPct val="100000"/>
              </a:lnSpc>
              <a:spcBef>
                <a:spcPct val="20000"/>
              </a:spcBef>
              <a:spcAft>
                <a:spcPct val="0"/>
              </a:spcAft>
              <a:buClrTx/>
              <a:buSzTx/>
              <a:buFontTx/>
              <a:buNone/>
              <a:defRPr/>
            </a:pPr>
            <a:r>
              <a:rPr lang="en-US" altLang="zh-CN" kern="0" noProof="0" dirty="0">
                <a:ln>
                  <a:noFill/>
                </a:ln>
                <a:effectLst/>
                <a:uLnTx/>
                <a:uFillTx/>
                <a:latin typeface="Times New Roman" panose="02020603050405020304" charset="0"/>
                <a:cs typeface="Times New Roman" panose="02020603050405020304" charset="0"/>
                <a:sym typeface="+mn-ea"/>
              </a:rPr>
              <a:t>---using transitional expressions</a:t>
            </a:r>
            <a:r>
              <a:rPr lang="zh-CN" altLang="en-US" kern="0" noProof="0" dirty="0">
                <a:ln>
                  <a:noFill/>
                </a:ln>
                <a:effectLst/>
                <a:uLnTx/>
                <a:uFillTx/>
                <a:latin typeface="Times New Roman" panose="02020603050405020304" charset="0"/>
                <a:cs typeface="Times New Roman" panose="02020603050405020304" charset="0"/>
                <a:sym typeface="+mn-ea"/>
              </a:rPr>
              <a:t> </a:t>
            </a:r>
            <a:r>
              <a:rPr lang="en-US" altLang="zh-CN" kern="0" noProof="0" dirty="0">
                <a:ln>
                  <a:noFill/>
                </a:ln>
                <a:effectLst/>
                <a:uLnTx/>
                <a:uFillTx/>
                <a:latin typeface="Times New Roman" panose="02020603050405020304" charset="0"/>
                <a:cs typeface="Times New Roman" panose="02020603050405020304" charset="0"/>
                <a:sym typeface="+mn-ea"/>
              </a:rPr>
              <a:t>(and, or, but for etc. )</a:t>
            </a:r>
            <a:endParaRPr kumimoji="0" lang="en-US" altLang="zh-CN" b="0" i="0" u="none" strike="noStrike" kern="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812800" marR="0" lvl="0" indent="-812800" algn="l" defTabSz="914400" rtl="0" eaLnBrk="1" fontAlgn="base" latinLnBrk="0" hangingPunct="1">
              <a:lnSpc>
                <a:spcPct val="100000"/>
              </a:lnSpc>
              <a:spcBef>
                <a:spcPct val="20000"/>
              </a:spcBef>
              <a:spcAft>
                <a:spcPct val="0"/>
              </a:spcAft>
              <a:buClrTx/>
              <a:buSzTx/>
              <a:buFontTx/>
              <a:buNone/>
              <a:defRPr/>
            </a:pPr>
            <a:r>
              <a:rPr lang="en-US" altLang="zh-CN" kern="0" noProof="0" dirty="0">
                <a:ln>
                  <a:noFill/>
                </a:ln>
                <a:effectLst/>
                <a:uLnTx/>
                <a:uFillTx/>
                <a:latin typeface="Times New Roman" panose="02020603050405020304" charset="0"/>
                <a:cs typeface="Times New Roman" panose="02020603050405020304" charset="0"/>
                <a:sym typeface="+mn-ea"/>
              </a:rPr>
              <a:t>---repeating key words and phrases </a:t>
            </a:r>
            <a:endParaRPr kumimoji="0" lang="en-US" altLang="zh-CN" b="0" i="0" u="none" strike="noStrike" kern="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812800" marR="0" lvl="0" indent="-812800" algn="l" defTabSz="914400" rtl="0" eaLnBrk="1" fontAlgn="base" latinLnBrk="0" hangingPunct="1">
              <a:lnSpc>
                <a:spcPct val="100000"/>
              </a:lnSpc>
              <a:spcBef>
                <a:spcPct val="20000"/>
              </a:spcBef>
              <a:spcAft>
                <a:spcPct val="0"/>
              </a:spcAft>
              <a:buClrTx/>
              <a:buSzTx/>
              <a:buFontTx/>
              <a:buNone/>
              <a:defRPr/>
            </a:pPr>
            <a:r>
              <a:rPr lang="en-US" altLang="zh-CN" kern="0" noProof="0" dirty="0">
                <a:ln>
                  <a:noFill/>
                </a:ln>
                <a:effectLst/>
                <a:uLnTx/>
                <a:uFillTx/>
                <a:latin typeface="Times New Roman" panose="02020603050405020304" charset="0"/>
                <a:cs typeface="Times New Roman" panose="02020603050405020304" charset="0"/>
                <a:sym typeface="+mn-ea"/>
              </a:rPr>
              <a:t>---using pronoun reference </a:t>
            </a:r>
            <a:endParaRPr kumimoji="0" lang="en-US" altLang="zh-CN" b="0" i="0" u="none" strike="noStrike" kern="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812800" marR="0" lvl="0" indent="-812800" algn="l" defTabSz="914400" rtl="0" eaLnBrk="1" fontAlgn="base" latinLnBrk="0" hangingPunct="1">
              <a:lnSpc>
                <a:spcPct val="100000"/>
              </a:lnSpc>
              <a:spcBef>
                <a:spcPct val="20000"/>
              </a:spcBef>
              <a:spcAft>
                <a:spcPct val="0"/>
              </a:spcAft>
              <a:buClrTx/>
              <a:buSzTx/>
              <a:buFontTx/>
              <a:buNone/>
              <a:defRPr/>
            </a:pPr>
            <a:r>
              <a:rPr lang="en-US" altLang="zh-CN" kern="0" noProof="0" dirty="0">
                <a:ln>
                  <a:noFill/>
                </a:ln>
                <a:effectLst/>
                <a:uLnTx/>
                <a:uFillTx/>
                <a:latin typeface="Times New Roman" panose="02020603050405020304" charset="0"/>
                <a:cs typeface="Times New Roman" panose="02020603050405020304" charset="0"/>
                <a:sym typeface="+mn-ea"/>
              </a:rPr>
              <a:t>---using parallel form </a:t>
            </a:r>
            <a:endParaRPr kumimoji="0" lang="en-US" altLang="zh-CN" b="0" i="0" u="none" strike="noStrike" kern="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eaLnBrk="1" hangingPunct="1">
              <a:buNone/>
            </a:pPr>
            <a:endParaRPr lang="en-US" altLang="zh-CN" dirty="0">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Rhetorical Principles</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a:bodyPr>
          <a:lstStyle/>
          <a:p>
            <a:pPr fontAlgn="auto">
              <a:lnSpc>
                <a:spcPct val="150000"/>
              </a:lnSpc>
              <a:buNone/>
            </a:pPr>
            <a:r>
              <a:rPr lang="en-US" altLang="zh-CN" dirty="0" err="1">
                <a:latin typeface="Times New Roman" panose="02020603050405020304" charset="0"/>
                <a:cs typeface="Times New Roman" panose="02020603050405020304" charset="0"/>
                <a:sym typeface="+mn-ea"/>
              </a:rPr>
              <a:t>Eg.</a:t>
            </a:r>
            <a:r>
              <a:rPr lang="en-US" altLang="zh-CN" dirty="0">
                <a:latin typeface="Times New Roman" panose="02020603050405020304" charset="0"/>
                <a:cs typeface="Times New Roman" panose="02020603050405020304" charset="0"/>
                <a:sym typeface="+mn-ea"/>
              </a:rPr>
              <a:t> Fleas of various species </a:t>
            </a:r>
            <a:r>
              <a:rPr lang="en-US" altLang="zh-CN" dirty="0">
                <a:solidFill>
                  <a:srgbClr val="FF0000"/>
                </a:solidFill>
                <a:latin typeface="Times New Roman" panose="02020603050405020304" charset="0"/>
                <a:cs typeface="Times New Roman" panose="02020603050405020304" charset="0"/>
                <a:sym typeface="+mn-ea"/>
              </a:rPr>
              <a:t>can jump </a:t>
            </a:r>
            <a:r>
              <a:rPr lang="en-US" altLang="zh-CN" dirty="0">
                <a:latin typeface="Times New Roman" panose="02020603050405020304" charset="0"/>
                <a:cs typeface="Times New Roman" panose="02020603050405020304" charset="0"/>
                <a:sym typeface="+mn-ea"/>
              </a:rPr>
              <a:t>150 times their own length, </a:t>
            </a:r>
            <a:r>
              <a:rPr lang="en-US" altLang="zh-CN" dirty="0">
                <a:solidFill>
                  <a:srgbClr val="FF0000"/>
                </a:solidFill>
                <a:latin typeface="Times New Roman" panose="02020603050405020304" charset="0"/>
                <a:cs typeface="Times New Roman" panose="02020603050405020304" charset="0"/>
                <a:sym typeface="+mn-ea"/>
              </a:rPr>
              <a:t>can survive </a:t>
            </a:r>
            <a:r>
              <a:rPr lang="en-US" altLang="zh-CN" dirty="0">
                <a:latin typeface="Times New Roman" panose="02020603050405020304" charset="0"/>
                <a:cs typeface="Times New Roman" panose="02020603050405020304" charset="0"/>
                <a:sym typeface="+mn-ea"/>
              </a:rPr>
              <a:t>months without feeding, </a:t>
            </a:r>
            <a:r>
              <a:rPr lang="en-US" altLang="zh-CN" dirty="0">
                <a:solidFill>
                  <a:srgbClr val="FF0000"/>
                </a:solidFill>
                <a:latin typeface="Times New Roman" panose="02020603050405020304" charset="0"/>
                <a:cs typeface="Times New Roman" panose="02020603050405020304" charset="0"/>
                <a:sym typeface="+mn-ea"/>
              </a:rPr>
              <a:t>can accelerate </a:t>
            </a:r>
            <a:r>
              <a:rPr lang="en-US" altLang="zh-CN" dirty="0">
                <a:latin typeface="Times New Roman" panose="02020603050405020304" charset="0"/>
                <a:cs typeface="Times New Roman" panose="02020603050405020304" charset="0"/>
                <a:sym typeface="+mn-ea"/>
              </a:rPr>
              <a:t>50 times faster than the space shuttle,</a:t>
            </a:r>
            <a:r>
              <a:rPr lang="en-US" altLang="zh-CN" dirty="0">
                <a:solidFill>
                  <a:srgbClr val="FF0000"/>
                </a:solidFill>
                <a:latin typeface="Times New Roman" panose="02020603050405020304" charset="0"/>
                <a:cs typeface="Times New Roman" panose="02020603050405020304" charset="0"/>
                <a:sym typeface="+mn-ea"/>
              </a:rPr>
              <a:t> can withstand</a:t>
            </a:r>
            <a:r>
              <a:rPr lang="en-US" altLang="zh-CN" dirty="0">
                <a:latin typeface="Times New Roman" panose="02020603050405020304" charset="0"/>
                <a:cs typeface="Times New Roman" panose="02020603050405020304" charset="0"/>
                <a:sym typeface="+mn-ea"/>
              </a:rPr>
              <a:t> enormous pressure, and </a:t>
            </a:r>
            <a:r>
              <a:rPr lang="en-US" altLang="zh-CN" dirty="0">
                <a:solidFill>
                  <a:srgbClr val="FF0000"/>
                </a:solidFill>
                <a:latin typeface="Times New Roman" panose="02020603050405020304" charset="0"/>
                <a:cs typeface="Times New Roman" panose="02020603050405020304" charset="0"/>
                <a:sym typeface="+mn-ea"/>
              </a:rPr>
              <a:t>can remain </a:t>
            </a:r>
            <a:r>
              <a:rPr lang="en-US" altLang="zh-CN" dirty="0">
                <a:latin typeface="Times New Roman" panose="02020603050405020304" charset="0"/>
                <a:cs typeface="Times New Roman" panose="02020603050405020304" charset="0"/>
                <a:sym typeface="+mn-ea"/>
              </a:rPr>
              <a:t>frozen for a year and then revive.</a:t>
            </a:r>
            <a:endParaRPr lang="en-US" altLang="zh-CN" b="1" dirty="0">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Rhetorical Principles</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a:bodyPr>
          <a:lstStyle/>
          <a:p>
            <a:pPr eaLnBrk="1" hangingPunct="1"/>
            <a:r>
              <a:rPr lang="en-US" altLang="zh-CN" b="1">
                <a:latin typeface="Times New Roman" panose="02020603050405020304" charset="0"/>
                <a:cs typeface="Times New Roman" panose="02020603050405020304" charset="0"/>
                <a:sym typeface="+mn-ea"/>
              </a:rPr>
              <a:t>Listing Points to Show New Ideas:</a:t>
            </a:r>
            <a:endParaRPr lang="en-US" altLang="zh-CN">
              <a:latin typeface="Times New Roman" panose="02020603050405020304" charset="0"/>
              <a:cs typeface="Times New Roman" panose="02020603050405020304" charset="0"/>
            </a:endParaRPr>
          </a:p>
          <a:p>
            <a:pPr eaLnBrk="1" hangingPunct="1">
              <a:buNone/>
            </a:pP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Firstly,   </a:t>
            </a:r>
            <a:br>
              <a:rPr lang="en-US" altLang="zh-CN">
                <a:latin typeface="Times New Roman" panose="02020603050405020304" charset="0"/>
                <a:cs typeface="Times New Roman" panose="02020603050405020304" charset="0"/>
                <a:sym typeface="+mn-ea"/>
              </a:rPr>
            </a:br>
            <a:r>
              <a:rPr lang="en-US" altLang="zh-CN">
                <a:latin typeface="Times New Roman" panose="02020603050405020304" charset="0"/>
                <a:cs typeface="Times New Roman" panose="02020603050405020304" charset="0"/>
                <a:sym typeface="+mn-ea"/>
              </a:rPr>
              <a:t>First of all,</a:t>
            </a:r>
            <a:br>
              <a:rPr lang="en-US" altLang="zh-CN">
                <a:latin typeface="Times New Roman" panose="02020603050405020304" charset="0"/>
                <a:cs typeface="Times New Roman" panose="02020603050405020304" charset="0"/>
                <a:sym typeface="+mn-ea"/>
              </a:rPr>
            </a:br>
            <a:r>
              <a:rPr lang="en-US" altLang="zh-CN">
                <a:latin typeface="Times New Roman" panose="02020603050405020304" charset="0"/>
                <a:cs typeface="Times New Roman" panose="02020603050405020304" charset="0"/>
                <a:sym typeface="+mn-ea"/>
              </a:rPr>
              <a:t>To begin,</a:t>
            </a:r>
            <a:br>
              <a:rPr lang="en-US" altLang="zh-CN">
                <a:latin typeface="Times New Roman" panose="02020603050405020304" charset="0"/>
                <a:cs typeface="Times New Roman" panose="02020603050405020304" charset="0"/>
                <a:sym typeface="+mn-ea"/>
              </a:rPr>
            </a:br>
            <a:r>
              <a:rPr lang="en-US" altLang="zh-CN">
                <a:latin typeface="Times New Roman" panose="02020603050405020304" charset="0"/>
                <a:cs typeface="Times New Roman" panose="02020603050405020304" charset="0"/>
                <a:sym typeface="+mn-ea"/>
              </a:rPr>
              <a:t>Secondly,</a:t>
            </a:r>
            <a:br>
              <a:rPr lang="en-US" altLang="zh-CN">
                <a:latin typeface="Times New Roman" panose="02020603050405020304" charset="0"/>
                <a:cs typeface="Times New Roman" panose="02020603050405020304" charset="0"/>
                <a:sym typeface="+mn-ea"/>
              </a:rPr>
            </a:br>
            <a:r>
              <a:rPr lang="en-US" altLang="zh-CN">
                <a:latin typeface="Times New Roman" panose="02020603050405020304" charset="0"/>
                <a:cs typeface="Times New Roman" panose="02020603050405020304" charset="0"/>
                <a:sym typeface="+mn-ea"/>
              </a:rPr>
              <a:t>Finally,</a:t>
            </a:r>
            <a:br>
              <a:rPr lang="en-US" altLang="zh-CN">
                <a:latin typeface="Times New Roman" panose="02020603050405020304" charset="0"/>
                <a:cs typeface="Times New Roman" panose="02020603050405020304" charset="0"/>
                <a:sym typeface="+mn-ea"/>
              </a:rPr>
            </a:br>
            <a:r>
              <a:rPr lang="en-US" altLang="zh-CN">
                <a:latin typeface="Times New Roman" panose="02020603050405020304" charset="0"/>
                <a:cs typeface="Times New Roman" panose="02020603050405020304" charset="0"/>
                <a:sym typeface="+mn-ea"/>
              </a:rPr>
              <a:t>Furthermore, </a:t>
            </a:r>
            <a:br>
              <a:rPr lang="en-US" altLang="zh-CN">
                <a:latin typeface="Times New Roman" panose="02020603050405020304" charset="0"/>
                <a:cs typeface="Times New Roman" panose="02020603050405020304" charset="0"/>
                <a:sym typeface="+mn-ea"/>
              </a:rPr>
            </a:br>
            <a:r>
              <a:rPr lang="en-US" altLang="zh-CN">
                <a:latin typeface="Times New Roman" panose="02020603050405020304" charset="0"/>
                <a:cs typeface="Times New Roman" panose="02020603050405020304" charset="0"/>
                <a:sym typeface="+mn-ea"/>
              </a:rPr>
              <a:t>In addition,</a:t>
            </a:r>
            <a:br>
              <a:rPr lang="en-US" altLang="zh-CN">
                <a:latin typeface="Times New Roman" panose="02020603050405020304" charset="0"/>
                <a:cs typeface="Times New Roman" panose="02020603050405020304" charset="0"/>
                <a:sym typeface="+mn-ea"/>
              </a:rPr>
            </a:br>
            <a:r>
              <a:rPr lang="en-US" altLang="zh-CN">
                <a:latin typeface="Times New Roman" panose="02020603050405020304" charset="0"/>
                <a:cs typeface="Times New Roman" panose="02020603050405020304" charset="0"/>
                <a:sym typeface="+mn-ea"/>
              </a:rPr>
              <a:t>Also,</a:t>
            </a:r>
            <a:br>
              <a:rPr lang="en-US" altLang="zh-CN">
                <a:latin typeface="Times New Roman" panose="02020603050405020304" charset="0"/>
                <a:cs typeface="Times New Roman" panose="02020603050405020304" charset="0"/>
                <a:sym typeface="+mn-ea"/>
              </a:rPr>
            </a:br>
            <a:r>
              <a:rPr lang="en-US" altLang="zh-CN">
                <a:latin typeface="Times New Roman" panose="02020603050405020304" charset="0"/>
                <a:cs typeface="Times New Roman" panose="02020603050405020304" charset="0"/>
                <a:sym typeface="+mn-ea"/>
              </a:rPr>
              <a:t>Moreover</a:t>
            </a:r>
            <a:endParaRPr lang="en-US" altLang="zh-CN" b="1">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Rhetorical Principles</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a:bodyPr>
          <a:lstStyle/>
          <a:p>
            <a:pPr eaLnBrk="1" hangingPunct="1"/>
            <a:r>
              <a:rPr lang="en-US" altLang="zh-CN" b="1">
                <a:latin typeface="Times New Roman" panose="02020603050405020304" charset="0"/>
                <a:cs typeface="Times New Roman" panose="02020603050405020304" charset="0"/>
                <a:sym typeface="+mn-ea"/>
              </a:rPr>
              <a:t>Showing an Example:</a:t>
            </a:r>
            <a:endParaRPr lang="en-US" altLang="zh-CN">
              <a:latin typeface="Times New Roman" panose="02020603050405020304" charset="0"/>
              <a:cs typeface="Times New Roman" panose="02020603050405020304" charset="0"/>
            </a:endParaRPr>
          </a:p>
          <a:p>
            <a:pPr eaLnBrk="1" hangingPunct="1">
              <a:buNone/>
            </a:pP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For example,</a:t>
            </a:r>
            <a:br>
              <a:rPr lang="en-US" altLang="zh-CN">
                <a:latin typeface="Times New Roman" panose="02020603050405020304" charset="0"/>
                <a:cs typeface="Times New Roman" panose="02020603050405020304" charset="0"/>
                <a:sym typeface="+mn-ea"/>
              </a:rPr>
            </a:br>
            <a:r>
              <a:rPr lang="en-US" altLang="zh-CN">
                <a:latin typeface="Times New Roman" panose="02020603050405020304" charset="0"/>
                <a:cs typeface="Times New Roman" panose="02020603050405020304" charset="0"/>
                <a:sym typeface="+mn-ea"/>
              </a:rPr>
              <a:t>For instance,</a:t>
            </a:r>
            <a:br>
              <a:rPr lang="en-US" altLang="zh-CN">
                <a:latin typeface="Times New Roman" panose="02020603050405020304" charset="0"/>
                <a:cs typeface="Times New Roman" panose="02020603050405020304" charset="0"/>
                <a:sym typeface="+mn-ea"/>
              </a:rPr>
            </a:br>
            <a:r>
              <a:rPr lang="en-US" altLang="zh-CN">
                <a:latin typeface="Times New Roman" panose="02020603050405020304" charset="0"/>
                <a:cs typeface="Times New Roman" panose="02020603050405020304" charset="0"/>
                <a:sym typeface="+mn-ea"/>
              </a:rPr>
              <a:t>To illustrate,</a:t>
            </a:r>
            <a:br>
              <a:rPr lang="en-US" altLang="zh-CN">
                <a:latin typeface="Times New Roman" panose="02020603050405020304" charset="0"/>
                <a:cs typeface="Times New Roman" panose="02020603050405020304" charset="0"/>
                <a:sym typeface="+mn-ea"/>
              </a:rPr>
            </a:br>
            <a:r>
              <a:rPr lang="en-US" altLang="zh-CN">
                <a:latin typeface="Times New Roman" panose="02020603050405020304" charset="0"/>
                <a:cs typeface="Times New Roman" panose="02020603050405020304" charset="0"/>
                <a:sym typeface="+mn-ea"/>
              </a:rPr>
              <a:t>A case in point</a:t>
            </a:r>
            <a:endParaRPr lang="en-US" altLang="zh-CN">
              <a:latin typeface="Times New Roman" panose="02020603050405020304" charset="0"/>
              <a:cs typeface="Times New Roman" panose="02020603050405020304" charset="0"/>
            </a:endParaRPr>
          </a:p>
          <a:p>
            <a:pPr eaLnBrk="1" hangingPunct="1"/>
            <a:r>
              <a:rPr lang="en-US" altLang="zh-CN" b="1">
                <a:latin typeface="Times New Roman" panose="02020603050405020304" charset="0"/>
                <a:cs typeface="Times New Roman" panose="02020603050405020304" charset="0"/>
                <a:sym typeface="+mn-ea"/>
              </a:rPr>
              <a:t>Showing Contrast:</a:t>
            </a:r>
            <a:endParaRPr lang="en-US" altLang="zh-CN">
              <a:latin typeface="Times New Roman" panose="02020603050405020304" charset="0"/>
              <a:cs typeface="Times New Roman" panose="02020603050405020304" charset="0"/>
            </a:endParaRPr>
          </a:p>
          <a:p>
            <a:pPr eaLnBrk="1" hangingPunct="1">
              <a:buNone/>
            </a:pP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However, </a:t>
            </a:r>
            <a:br>
              <a:rPr lang="en-US" altLang="zh-CN">
                <a:latin typeface="Times New Roman" panose="02020603050405020304" charset="0"/>
                <a:cs typeface="Times New Roman" panose="02020603050405020304" charset="0"/>
                <a:sym typeface="+mn-ea"/>
              </a:rPr>
            </a:br>
            <a:r>
              <a:rPr lang="en-US" altLang="zh-CN">
                <a:latin typeface="Times New Roman" panose="02020603050405020304" charset="0"/>
                <a:cs typeface="Times New Roman" panose="02020603050405020304" charset="0"/>
                <a:sym typeface="+mn-ea"/>
              </a:rPr>
              <a:t>On the other hand,</a:t>
            </a:r>
            <a:br>
              <a:rPr lang="en-US" altLang="zh-CN">
                <a:latin typeface="Times New Roman" panose="02020603050405020304" charset="0"/>
                <a:cs typeface="Times New Roman" panose="02020603050405020304" charset="0"/>
                <a:sym typeface="+mn-ea"/>
              </a:rPr>
            </a:br>
            <a:r>
              <a:rPr lang="en-US" altLang="zh-CN">
                <a:latin typeface="Times New Roman" panose="02020603050405020304" charset="0"/>
                <a:cs typeface="Times New Roman" panose="02020603050405020304" charset="0"/>
                <a:sym typeface="+mn-ea"/>
              </a:rPr>
              <a:t>In contrast</a:t>
            </a:r>
            <a:endParaRPr lang="en-US" altLang="zh-CN" b="1">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Rhetorical Principles</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a:bodyPr>
          <a:lstStyle/>
          <a:p>
            <a:pPr eaLnBrk="1" hangingPunct="1"/>
            <a:r>
              <a:rPr lang="en-US" altLang="zh-CN" b="1">
                <a:latin typeface="Times New Roman" panose="02020603050405020304" charset="0"/>
                <a:cs typeface="Times New Roman" panose="02020603050405020304" charset="0"/>
                <a:sym typeface="+mn-ea"/>
              </a:rPr>
              <a:t>Showing a Result:</a:t>
            </a:r>
            <a:endParaRPr lang="en-US" altLang="zh-CN">
              <a:latin typeface="Times New Roman" panose="02020603050405020304" charset="0"/>
              <a:cs typeface="Times New Roman" panose="02020603050405020304" charset="0"/>
            </a:endParaRPr>
          </a:p>
          <a:p>
            <a:pPr eaLnBrk="1" hangingPunct="1">
              <a:buNone/>
            </a:pP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Therefore,</a:t>
            </a:r>
            <a:br>
              <a:rPr lang="en-US" altLang="zh-CN">
                <a:latin typeface="Times New Roman" panose="02020603050405020304" charset="0"/>
                <a:cs typeface="Times New Roman" panose="02020603050405020304" charset="0"/>
                <a:sym typeface="+mn-ea"/>
              </a:rPr>
            </a:br>
            <a:r>
              <a:rPr lang="en-US" altLang="zh-CN">
                <a:latin typeface="Times New Roman" panose="02020603050405020304" charset="0"/>
                <a:cs typeface="Times New Roman" panose="02020603050405020304" charset="0"/>
                <a:sym typeface="+mn-ea"/>
              </a:rPr>
              <a:t>As a result,</a:t>
            </a:r>
            <a:br>
              <a:rPr lang="en-US" altLang="zh-CN">
                <a:latin typeface="Times New Roman" panose="02020603050405020304" charset="0"/>
                <a:cs typeface="Times New Roman" panose="02020603050405020304" charset="0"/>
                <a:sym typeface="+mn-ea"/>
              </a:rPr>
            </a:br>
            <a:r>
              <a:rPr lang="en-US" altLang="zh-CN">
                <a:latin typeface="Times New Roman" panose="02020603050405020304" charset="0"/>
                <a:cs typeface="Times New Roman" panose="02020603050405020304" charset="0"/>
                <a:sym typeface="+mn-ea"/>
              </a:rPr>
              <a:t>Consequently,</a:t>
            </a:r>
            <a:br>
              <a:rPr lang="en-US" altLang="zh-CN">
                <a:latin typeface="Times New Roman" panose="02020603050405020304" charset="0"/>
                <a:cs typeface="Times New Roman" panose="02020603050405020304" charset="0"/>
                <a:sym typeface="+mn-ea"/>
              </a:rPr>
            </a:br>
            <a:r>
              <a:rPr lang="en-US" altLang="zh-CN">
                <a:latin typeface="Times New Roman" panose="02020603050405020304" charset="0"/>
                <a:cs typeface="Times New Roman" panose="02020603050405020304" charset="0"/>
                <a:sym typeface="+mn-ea"/>
              </a:rPr>
              <a:t>Thus</a:t>
            </a:r>
            <a:endParaRPr lang="en-US" altLang="zh-CN">
              <a:latin typeface="Times New Roman" panose="02020603050405020304" charset="0"/>
              <a:cs typeface="Times New Roman" panose="02020603050405020304" charset="0"/>
            </a:endParaRPr>
          </a:p>
          <a:p>
            <a:pPr eaLnBrk="1" hangingPunct="1"/>
            <a:r>
              <a:rPr lang="en-US" altLang="zh-CN" b="1">
                <a:latin typeface="Times New Roman" panose="02020603050405020304" charset="0"/>
                <a:cs typeface="Times New Roman" panose="02020603050405020304" charset="0"/>
                <a:sym typeface="+mn-ea"/>
              </a:rPr>
              <a:t>Showing time: </a:t>
            </a:r>
            <a:r>
              <a:rPr lang="en-US" altLang="zh-CN">
                <a:latin typeface="Times New Roman" panose="02020603050405020304" charset="0"/>
                <a:cs typeface="Times New Roman" panose="02020603050405020304" charset="0"/>
                <a:sym typeface="+mn-ea"/>
              </a:rPr>
              <a:t>(commonly in essay introductions)</a:t>
            </a:r>
            <a:endParaRPr lang="en-US" altLang="zh-CN">
              <a:latin typeface="Times New Roman" panose="02020603050405020304" charset="0"/>
              <a:cs typeface="Times New Roman" panose="02020603050405020304" charset="0"/>
            </a:endParaRPr>
          </a:p>
          <a:p>
            <a:pPr eaLnBrk="1" hangingPunct="1">
              <a:buNone/>
            </a:pP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These days,</a:t>
            </a:r>
            <a:br>
              <a:rPr lang="en-US" altLang="zh-CN">
                <a:latin typeface="Times New Roman" panose="02020603050405020304" charset="0"/>
                <a:cs typeface="Times New Roman" panose="02020603050405020304" charset="0"/>
                <a:sym typeface="+mn-ea"/>
              </a:rPr>
            </a:br>
            <a:r>
              <a:rPr lang="en-US" altLang="zh-CN">
                <a:latin typeface="Times New Roman" panose="02020603050405020304" charset="0"/>
                <a:cs typeface="Times New Roman" panose="02020603050405020304" charset="0"/>
                <a:sym typeface="+mn-ea"/>
              </a:rPr>
              <a:t>Nowadays,</a:t>
            </a:r>
            <a:br>
              <a:rPr lang="en-US" altLang="zh-CN">
                <a:latin typeface="Times New Roman" panose="02020603050405020304" charset="0"/>
                <a:cs typeface="Times New Roman" panose="02020603050405020304" charset="0"/>
                <a:sym typeface="+mn-ea"/>
              </a:rPr>
            </a:br>
            <a:r>
              <a:rPr lang="en-US" altLang="zh-CN">
                <a:latin typeface="Times New Roman" panose="02020603050405020304" charset="0"/>
                <a:cs typeface="Times New Roman" panose="02020603050405020304" charset="0"/>
                <a:sym typeface="+mn-ea"/>
              </a:rPr>
              <a:t>At present</a:t>
            </a:r>
            <a:endParaRPr lang="en-US" altLang="zh-CN">
              <a:latin typeface="Times New Roman" panose="02020603050405020304" charset="0"/>
              <a:cs typeface="Times New Roman" panose="02020603050405020304" charset="0"/>
            </a:endParaRPr>
          </a:p>
          <a:p>
            <a:pPr marL="0" indent="0" eaLnBrk="1" hangingPunct="1">
              <a:buNone/>
            </a:pPr>
            <a:endParaRPr lang="en-US" altLang="zh-CN" b="1">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Rhetorical Principles</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a:bodyPr>
          <a:lstStyle/>
          <a:p>
            <a:pPr eaLnBrk="1" hangingPunct="1"/>
            <a:r>
              <a:rPr lang="en-US" altLang="zh-CN" b="1">
                <a:latin typeface="Times New Roman" panose="02020603050405020304" charset="0"/>
                <a:cs typeface="Times New Roman" panose="02020603050405020304" charset="0"/>
                <a:sym typeface="+mn-ea"/>
              </a:rPr>
              <a:t>To introduce concluding comments:</a:t>
            </a:r>
            <a:endParaRPr lang="en-US" altLang="zh-CN">
              <a:latin typeface="Times New Roman" panose="02020603050405020304" charset="0"/>
              <a:cs typeface="Times New Roman" panose="02020603050405020304" charset="0"/>
            </a:endParaRPr>
          </a:p>
          <a:p>
            <a:pPr eaLnBrk="1" hangingPunct="1">
              <a:buNone/>
            </a:pP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To conclude,</a:t>
            </a:r>
            <a:br>
              <a:rPr lang="en-US" altLang="zh-CN">
                <a:latin typeface="Times New Roman" panose="02020603050405020304" charset="0"/>
                <a:cs typeface="Times New Roman" panose="02020603050405020304" charset="0"/>
                <a:sym typeface="+mn-ea"/>
              </a:rPr>
            </a:br>
            <a:r>
              <a:rPr lang="en-US" altLang="zh-CN">
                <a:latin typeface="Times New Roman" panose="02020603050405020304" charset="0"/>
                <a:cs typeface="Times New Roman" panose="02020603050405020304" charset="0"/>
                <a:sym typeface="+mn-ea"/>
              </a:rPr>
              <a:t>In conclusion,</a:t>
            </a:r>
            <a:br>
              <a:rPr lang="en-US" altLang="zh-CN">
                <a:latin typeface="Times New Roman" panose="02020603050405020304" charset="0"/>
                <a:cs typeface="Times New Roman" panose="02020603050405020304" charset="0"/>
                <a:sym typeface="+mn-ea"/>
              </a:rPr>
            </a:br>
            <a:r>
              <a:rPr lang="en-US" altLang="zh-CN">
                <a:latin typeface="Times New Roman" panose="02020603050405020304" charset="0"/>
                <a:cs typeface="Times New Roman" panose="02020603050405020304" charset="0"/>
                <a:sym typeface="+mn-ea"/>
              </a:rPr>
              <a:t>In brief,</a:t>
            </a:r>
            <a:br>
              <a:rPr lang="en-US" altLang="zh-CN">
                <a:latin typeface="Times New Roman" panose="02020603050405020304" charset="0"/>
                <a:cs typeface="Times New Roman" panose="02020603050405020304" charset="0"/>
                <a:sym typeface="+mn-ea"/>
              </a:rPr>
            </a:br>
            <a:r>
              <a:rPr lang="en-US" altLang="zh-CN">
                <a:latin typeface="Times New Roman" panose="02020603050405020304" charset="0"/>
                <a:cs typeface="Times New Roman" panose="02020603050405020304" charset="0"/>
                <a:sym typeface="+mn-ea"/>
              </a:rPr>
              <a:t>All in all</a:t>
            </a:r>
            <a:endParaRPr lang="en-US" altLang="zh-CN">
              <a:latin typeface="Times New Roman" panose="02020603050405020304" charset="0"/>
              <a:cs typeface="Times New Roman" panose="02020603050405020304" charset="0"/>
            </a:endParaRPr>
          </a:p>
          <a:p>
            <a:pPr marL="0" indent="0" eaLnBrk="1" hangingPunct="1">
              <a:buNone/>
            </a:pPr>
            <a:endParaRPr lang="en-US" altLang="zh-CN" b="1">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Rhetorical Principles</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a:bodyPr>
          <a:lstStyle/>
          <a:p>
            <a:pPr marL="0" indent="0" eaLnBrk="1" hangingPunct="1">
              <a:buNone/>
            </a:pPr>
            <a:r>
              <a:rPr lang="en-US" altLang="zh-CN" b="1">
                <a:latin typeface="Times New Roman" panose="02020603050405020304" charset="0"/>
                <a:cs typeface="Times New Roman" panose="02020603050405020304" charset="0"/>
                <a:sym typeface="+mn-ea"/>
              </a:rPr>
              <a:t>Two ways of using transitional words</a:t>
            </a:r>
            <a:endParaRPr lang="en-US" altLang="zh-CN" b="1">
              <a:latin typeface="Times New Roman" panose="02020603050405020304" charset="0"/>
              <a:cs typeface="Times New Roman" panose="02020603050405020304" charset="0"/>
            </a:endParaRPr>
          </a:p>
          <a:p>
            <a:pPr marL="0" indent="0" fontAlgn="auto">
              <a:lnSpc>
                <a:spcPct val="150000"/>
              </a:lnSpc>
              <a:buNone/>
            </a:pPr>
            <a:r>
              <a:rPr lang="en-US" altLang="zh-CN" i="1">
                <a:latin typeface="Times New Roman" panose="02020603050405020304" charset="0"/>
                <a:cs typeface="Times New Roman" panose="02020603050405020304" charset="0"/>
                <a:sym typeface="+mn-ea"/>
              </a:rPr>
              <a:t>1) Full-stop, capital letter, comma</a:t>
            </a:r>
            <a:endParaRPr lang="en-US" altLang="zh-CN" i="1">
              <a:latin typeface="Times New Roman" panose="02020603050405020304" charset="0"/>
              <a:cs typeface="Times New Roman" panose="02020603050405020304" charset="0"/>
            </a:endParaRPr>
          </a:p>
          <a:p>
            <a:pPr marL="0" indent="0" fontAlgn="auto">
              <a:lnSpc>
                <a:spcPct val="150000"/>
              </a:lnSpc>
            </a:pPr>
            <a:r>
              <a:rPr lang="en-US" altLang="zh-CN" i="1">
                <a:latin typeface="Times New Roman" panose="02020603050405020304" charset="0"/>
                <a:cs typeface="Times New Roman" panose="02020603050405020304" charset="0"/>
                <a:sym typeface="+mn-ea"/>
              </a:rPr>
              <a:t>Eg. There are many ways to improve congestion.  </a:t>
            </a:r>
            <a:r>
              <a:rPr lang="en-US" altLang="zh-CN" b="1" i="1">
                <a:latin typeface="Times New Roman" panose="02020603050405020304" charset="0"/>
                <a:cs typeface="Times New Roman" panose="02020603050405020304" charset="0"/>
                <a:sym typeface="+mn-ea"/>
              </a:rPr>
              <a:t>For example,</a:t>
            </a:r>
            <a:r>
              <a:rPr lang="en-US" altLang="zh-CN" i="1">
                <a:latin typeface="Times New Roman" panose="02020603050405020304" charset="0"/>
                <a:cs typeface="Times New Roman" panose="02020603050405020304" charset="0"/>
                <a:sym typeface="+mn-ea"/>
              </a:rPr>
              <a:t> some cities in The Netherlands have pedestrian only city centres.</a:t>
            </a:r>
            <a:endParaRPr lang="en-US" altLang="zh-CN">
              <a:latin typeface="Times New Roman" panose="02020603050405020304" charset="0"/>
              <a:cs typeface="Times New Roman" panose="02020603050405020304" charset="0"/>
            </a:endParaRPr>
          </a:p>
          <a:p>
            <a:pPr marL="0" indent="0" fontAlgn="auto">
              <a:lnSpc>
                <a:spcPct val="150000"/>
              </a:lnSpc>
            </a:pPr>
            <a:r>
              <a:rPr lang="en-US" altLang="zh-CN" i="1">
                <a:latin typeface="Times New Roman" panose="02020603050405020304" charset="0"/>
                <a:cs typeface="Times New Roman" panose="02020603050405020304" charset="0"/>
                <a:sym typeface="+mn-ea"/>
              </a:rPr>
              <a:t>Many countries have now reduced their CO2 emissions. </a:t>
            </a:r>
            <a:r>
              <a:rPr lang="en-US" altLang="zh-CN" b="1" i="1">
                <a:latin typeface="Times New Roman" panose="02020603050405020304" charset="0"/>
                <a:cs typeface="Times New Roman" panose="02020603050405020304" charset="0"/>
                <a:sym typeface="+mn-ea"/>
              </a:rPr>
              <a:t>As a result,</a:t>
            </a:r>
            <a:r>
              <a:rPr lang="en-US" altLang="zh-CN" i="1">
                <a:latin typeface="Times New Roman" panose="02020603050405020304" charset="0"/>
                <a:cs typeface="Times New Roman" panose="02020603050405020304" charset="0"/>
                <a:sym typeface="+mn-ea"/>
              </a:rPr>
              <a:t> there is now less pollution.</a:t>
            </a:r>
            <a:endParaRPr lang="en-US" altLang="zh-CN">
              <a:latin typeface="Times New Roman" panose="02020603050405020304" charset="0"/>
              <a:cs typeface="Times New Roman" panose="02020603050405020304" charset="0"/>
            </a:endParaRPr>
          </a:p>
          <a:p>
            <a:pPr marL="0" indent="0" eaLnBrk="1" hangingPunct="1"/>
            <a:endParaRPr lang="en-US" altLang="zh-CN" b="1">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Rhetorical Principles</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a:bodyPr>
          <a:lstStyle/>
          <a:p>
            <a:pPr fontAlgn="auto">
              <a:lnSpc>
                <a:spcPct val="150000"/>
              </a:lnSpc>
            </a:pPr>
            <a:r>
              <a:rPr lang="it-IT" altLang="zh-CN" b="1" i="1">
                <a:latin typeface="Times New Roman" panose="02020603050405020304" charset="0"/>
                <a:cs typeface="Times New Roman" panose="02020603050405020304" charset="0"/>
                <a:sym typeface="+mn-ea"/>
              </a:rPr>
              <a:t>2) Semi-colon, small letter, comma</a:t>
            </a:r>
            <a:endParaRPr lang="it-IT" altLang="zh-CN" b="1" i="1">
              <a:latin typeface="Times New Roman" panose="02020603050405020304" charset="0"/>
              <a:cs typeface="Times New Roman" panose="02020603050405020304" charset="0"/>
            </a:endParaRPr>
          </a:p>
          <a:p>
            <a:pPr fontAlgn="auto">
              <a:lnSpc>
                <a:spcPct val="150000"/>
              </a:lnSpc>
            </a:pPr>
            <a:r>
              <a:rPr lang="it-IT" altLang="zh-CN" i="1">
                <a:latin typeface="Times New Roman" panose="02020603050405020304" charset="0"/>
                <a:cs typeface="Times New Roman" panose="02020603050405020304" charset="0"/>
                <a:sym typeface="+mn-ea"/>
              </a:rPr>
              <a:t>Eg.</a:t>
            </a:r>
            <a:r>
              <a:rPr lang="en-US" altLang="zh-CN" i="1">
                <a:latin typeface="Times New Roman" panose="02020603050405020304" charset="0"/>
                <a:cs typeface="Times New Roman" panose="02020603050405020304" charset="0"/>
                <a:sym typeface="+mn-ea"/>
              </a:rPr>
              <a:t>There are many ways to improve congestion; </a:t>
            </a:r>
            <a:r>
              <a:rPr lang="en-US" altLang="zh-CN" b="1" i="1">
                <a:latin typeface="Times New Roman" panose="02020603050405020304" charset="0"/>
                <a:cs typeface="Times New Roman" panose="02020603050405020304" charset="0"/>
                <a:sym typeface="+mn-ea"/>
              </a:rPr>
              <a:t>for example,</a:t>
            </a:r>
            <a:r>
              <a:rPr lang="en-US" altLang="zh-CN" i="1">
                <a:latin typeface="Times New Roman" panose="02020603050405020304" charset="0"/>
                <a:cs typeface="Times New Roman" panose="02020603050405020304" charset="0"/>
                <a:sym typeface="+mn-ea"/>
              </a:rPr>
              <a:t> some cities in The Netherlands have pedestrian only city centres.</a:t>
            </a:r>
            <a:endParaRPr lang="en-US" altLang="zh-CN">
              <a:latin typeface="Times New Roman" panose="02020603050405020304" charset="0"/>
              <a:cs typeface="Times New Roman" panose="02020603050405020304" charset="0"/>
            </a:endParaRPr>
          </a:p>
          <a:p>
            <a:pPr fontAlgn="auto">
              <a:lnSpc>
                <a:spcPct val="150000"/>
              </a:lnSpc>
            </a:pPr>
            <a:r>
              <a:rPr lang="en-US" altLang="zh-CN" i="1">
                <a:latin typeface="Times New Roman" panose="02020603050405020304" charset="0"/>
                <a:cs typeface="Times New Roman" panose="02020603050405020304" charset="0"/>
                <a:sym typeface="+mn-ea"/>
              </a:rPr>
              <a:t>Many countries have now reduced their CO2 emissions; </a:t>
            </a:r>
            <a:r>
              <a:rPr lang="en-US" altLang="zh-CN" b="1" i="1">
                <a:latin typeface="Times New Roman" panose="02020603050405020304" charset="0"/>
                <a:cs typeface="Times New Roman" panose="02020603050405020304" charset="0"/>
                <a:sym typeface="+mn-ea"/>
              </a:rPr>
              <a:t>as a result,</a:t>
            </a:r>
            <a:r>
              <a:rPr lang="en-US" altLang="zh-CN" i="1">
                <a:latin typeface="Times New Roman" panose="02020603050405020304" charset="0"/>
                <a:cs typeface="Times New Roman" panose="02020603050405020304" charset="0"/>
                <a:sym typeface="+mn-ea"/>
              </a:rPr>
              <a:t> there is now less pollution.</a:t>
            </a:r>
            <a:endParaRPr lang="en-US" altLang="zh-CN">
              <a:latin typeface="Times New Roman" panose="02020603050405020304" charset="0"/>
              <a:cs typeface="Times New Roman" panose="02020603050405020304" charset="0"/>
            </a:endParaRPr>
          </a:p>
          <a:p>
            <a:pPr marL="0" indent="0" eaLnBrk="1" hangingPunct="1"/>
            <a:endParaRPr lang="en-US" altLang="zh-CN" b="1">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Rhetorical Principles</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a:bodyPr>
          <a:lstStyle/>
          <a:p>
            <a:pPr marL="0" indent="0" fontAlgn="auto">
              <a:lnSpc>
                <a:spcPct val="150000"/>
              </a:lnSpc>
              <a:buNone/>
            </a:pPr>
            <a:r>
              <a:rPr lang="en-US" altLang="zh-CN" b="1">
                <a:latin typeface="Times New Roman" panose="02020603050405020304" charset="0"/>
                <a:cs typeface="Times New Roman" panose="02020603050405020304" charset="0"/>
                <a:sym typeface="+mn-ea"/>
              </a:rPr>
              <a:t>Other ways of using transitional words</a:t>
            </a:r>
            <a:endParaRPr lang="en-US" altLang="zh-CN" b="1">
              <a:latin typeface="Times New Roman" panose="02020603050405020304" charset="0"/>
              <a:cs typeface="Times New Roman" panose="02020603050405020304" charset="0"/>
            </a:endParaRPr>
          </a:p>
          <a:p>
            <a:pPr fontAlgn="auto">
              <a:lnSpc>
                <a:spcPct val="150000"/>
              </a:lnSpc>
              <a:buNone/>
            </a:pPr>
            <a:r>
              <a:rPr lang="en-US" altLang="zh-CN" i="1">
                <a:latin typeface="Times New Roman" panose="02020603050405020304" charset="0"/>
                <a:cs typeface="Times New Roman" panose="02020603050405020304" charset="0"/>
                <a:sym typeface="+mn-ea"/>
              </a:rPr>
              <a:t>1) Giving Examples</a:t>
            </a:r>
            <a:endParaRPr lang="en-US" altLang="zh-CN" i="1">
              <a:latin typeface="Times New Roman" panose="02020603050405020304" charset="0"/>
              <a:cs typeface="Times New Roman" panose="02020603050405020304" charset="0"/>
            </a:endParaRPr>
          </a:p>
          <a:p>
            <a:pPr fontAlgn="auto">
              <a:lnSpc>
                <a:spcPct val="150000"/>
              </a:lnSpc>
            </a:pPr>
            <a:r>
              <a:rPr lang="en-US" altLang="zh-CN">
                <a:latin typeface="Times New Roman" panose="02020603050405020304" charset="0"/>
                <a:cs typeface="Times New Roman" panose="02020603050405020304" charset="0"/>
                <a:sym typeface="+mn-ea"/>
              </a:rPr>
              <a:t>Eg. There are many ways to improve congestion.  Some cities in The Netherlands, for instance, have pedestrian only city centres.</a:t>
            </a:r>
            <a:endParaRPr lang="en-US" altLang="zh-CN">
              <a:latin typeface="Times New Roman" panose="02020603050405020304" charset="0"/>
              <a:cs typeface="Times New Roman" panose="02020603050405020304" charset="0"/>
            </a:endParaRPr>
          </a:p>
          <a:p>
            <a:pPr fontAlgn="auto">
              <a:lnSpc>
                <a:spcPct val="150000"/>
              </a:lnSpc>
            </a:pPr>
            <a:r>
              <a:rPr lang="en-US" altLang="zh-CN">
                <a:latin typeface="Times New Roman" panose="02020603050405020304" charset="0"/>
                <a:cs typeface="Times New Roman" panose="02020603050405020304" charset="0"/>
                <a:sym typeface="+mn-ea"/>
              </a:rPr>
              <a:t>There are many ways to improve congestion.  Some cities in The Netherlands have, for instance, pedestrian only city centres.</a:t>
            </a:r>
            <a:endParaRPr lang="en-US" altLang="zh-CN">
              <a:latin typeface="Times New Roman" panose="02020603050405020304" charset="0"/>
              <a:cs typeface="Times New Roman" panose="02020603050405020304" charset="0"/>
            </a:endParaRPr>
          </a:p>
          <a:p>
            <a:pPr marL="0" indent="0" eaLnBrk="1" hangingPunct="1"/>
            <a:endParaRPr lang="en-US" altLang="zh-CN" b="1">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Rhetorical Principles</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lnSpcReduction="10000"/>
          </a:bodyPr>
          <a:lstStyle/>
          <a:p>
            <a:pPr marL="0" indent="0" fontAlgn="auto">
              <a:lnSpc>
                <a:spcPct val="150000"/>
              </a:lnSpc>
              <a:buNone/>
            </a:pPr>
            <a:r>
              <a:rPr lang="en-US" altLang="zh-CN" i="1">
                <a:latin typeface="Times New Roman" panose="02020603050405020304" charset="0"/>
                <a:cs typeface="Times New Roman" panose="02020603050405020304" charset="0"/>
                <a:sym typeface="+mn-ea"/>
              </a:rPr>
              <a:t>2) Giving a Contrast or Result </a:t>
            </a:r>
            <a:endParaRPr lang="en-US" altLang="zh-CN">
              <a:latin typeface="Times New Roman" panose="02020603050405020304" charset="0"/>
              <a:cs typeface="Times New Roman" panose="02020603050405020304" charset="0"/>
            </a:endParaRPr>
          </a:p>
          <a:p>
            <a:pPr fontAlgn="auto">
              <a:lnSpc>
                <a:spcPct val="150000"/>
              </a:lnSpc>
            </a:pPr>
            <a:r>
              <a:rPr lang="en-US" altLang="zh-CN" i="1">
                <a:latin typeface="Times New Roman" panose="02020603050405020304" charset="0"/>
                <a:cs typeface="Times New Roman" panose="02020603050405020304" charset="0"/>
                <a:sym typeface="+mn-ea"/>
              </a:rPr>
              <a:t>Eg. Tokyo now has a Sky Train.  Traffic problems, </a:t>
            </a:r>
            <a:r>
              <a:rPr lang="en-US" altLang="zh-CN" b="1" i="1">
                <a:latin typeface="Times New Roman" panose="02020603050405020304" charset="0"/>
                <a:cs typeface="Times New Roman" panose="02020603050405020304" charset="0"/>
                <a:sym typeface="+mn-ea"/>
              </a:rPr>
              <a:t>as a result/therefore/as a consequence,</a:t>
            </a:r>
            <a:r>
              <a:rPr lang="en-US" altLang="zh-CN" i="1">
                <a:latin typeface="Times New Roman" panose="02020603050405020304" charset="0"/>
                <a:cs typeface="Times New Roman" panose="02020603050405020304" charset="0"/>
                <a:sym typeface="+mn-ea"/>
              </a:rPr>
              <a:t> have decreased significantly.</a:t>
            </a:r>
            <a:endParaRPr lang="en-US" altLang="zh-CN" i="1">
              <a:latin typeface="Times New Roman" panose="02020603050405020304" charset="0"/>
              <a:cs typeface="Times New Roman" panose="02020603050405020304" charset="0"/>
            </a:endParaRPr>
          </a:p>
          <a:p>
            <a:pPr fontAlgn="auto">
              <a:lnSpc>
                <a:spcPct val="150000"/>
              </a:lnSpc>
            </a:pPr>
            <a:r>
              <a:rPr lang="en-US" altLang="zh-CN">
                <a:latin typeface="Times New Roman" panose="02020603050405020304" charset="0"/>
                <a:cs typeface="Times New Roman" panose="02020603050405020304" charset="0"/>
                <a:sym typeface="+mn-ea"/>
              </a:rPr>
              <a:t>(These can also be joined to the previous sentence with the conjunction 'and’)</a:t>
            </a:r>
            <a:endParaRPr lang="en-US" altLang="zh-CN">
              <a:latin typeface="Times New Roman" panose="02020603050405020304" charset="0"/>
              <a:cs typeface="Times New Roman" panose="02020603050405020304" charset="0"/>
            </a:endParaRPr>
          </a:p>
          <a:p>
            <a:pPr fontAlgn="auto">
              <a:lnSpc>
                <a:spcPct val="150000"/>
              </a:lnSpc>
            </a:pPr>
            <a:r>
              <a:rPr lang="en-US" altLang="zh-CN" i="1">
                <a:latin typeface="Times New Roman" panose="02020603050405020304" charset="0"/>
                <a:cs typeface="Times New Roman" panose="02020603050405020304" charset="0"/>
                <a:sym typeface="+mn-ea"/>
              </a:rPr>
              <a:t>Tokyo now has a Sky Train,</a:t>
            </a:r>
            <a:r>
              <a:rPr lang="en-US" altLang="zh-CN" b="1" i="1">
                <a:latin typeface="Times New Roman" panose="02020603050405020304" charset="0"/>
                <a:cs typeface="Times New Roman" panose="02020603050405020304" charset="0"/>
                <a:sym typeface="+mn-ea"/>
              </a:rPr>
              <a:t> and, as a result/therefore/as a consequence</a:t>
            </a:r>
            <a:r>
              <a:rPr lang="en-US" altLang="zh-CN" i="1">
                <a:latin typeface="Times New Roman" panose="02020603050405020304" charset="0"/>
                <a:cs typeface="Times New Roman" panose="02020603050405020304" charset="0"/>
                <a:sym typeface="+mn-ea"/>
              </a:rPr>
              <a:t>, traffic problems have decreased significantly</a:t>
            </a:r>
            <a:endParaRPr lang="zh-CN" altLang="en-US">
              <a:latin typeface="Times New Roman" panose="02020603050405020304" charset="0"/>
              <a:cs typeface="Times New Roman" panose="02020603050405020304" charset="0"/>
            </a:endParaRPr>
          </a:p>
          <a:p>
            <a:pPr marL="0" indent="0" eaLnBrk="1" hangingPunct="1"/>
            <a:endParaRPr lang="en-US" altLang="zh-CN" b="1">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Rhetorical Principles</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a:bodyPr>
          <a:lstStyle/>
          <a:p>
            <a:pPr marL="0" indent="0" fontAlgn="auto">
              <a:lnSpc>
                <a:spcPct val="150000"/>
              </a:lnSpc>
              <a:buNone/>
            </a:pPr>
            <a:r>
              <a:rPr lang="en-US" altLang="zh-CN" i="1">
                <a:latin typeface="Times New Roman" panose="02020603050405020304" charset="0"/>
                <a:cs typeface="Times New Roman" panose="02020603050405020304" charset="0"/>
                <a:sym typeface="+mn-ea"/>
              </a:rPr>
              <a:t>3) Listing Points</a:t>
            </a:r>
            <a:endParaRPr lang="en-US" altLang="zh-CN" i="1">
              <a:latin typeface="Times New Roman" panose="02020603050405020304" charset="0"/>
              <a:cs typeface="Times New Roman" panose="02020603050405020304" charset="0"/>
            </a:endParaRPr>
          </a:p>
          <a:p>
            <a:pPr fontAlgn="auto">
              <a:lnSpc>
                <a:spcPct val="150000"/>
              </a:lnSpc>
            </a:pPr>
            <a:r>
              <a:rPr lang="en-US" altLang="zh-CN" i="1">
                <a:latin typeface="Times New Roman" panose="02020603050405020304" charset="0"/>
                <a:cs typeface="Times New Roman" panose="02020603050405020304" charset="0"/>
                <a:sym typeface="+mn-ea"/>
              </a:rPr>
              <a:t>Eg. Firstly, an advantage of a new public transport system is that it will reduce traffic congestion.</a:t>
            </a:r>
            <a:endParaRPr lang="en-US" altLang="zh-CN" i="1">
              <a:latin typeface="Times New Roman" panose="02020603050405020304" charset="0"/>
              <a:cs typeface="Times New Roman" panose="02020603050405020304" charset="0"/>
            </a:endParaRPr>
          </a:p>
          <a:p>
            <a:pPr fontAlgn="auto">
              <a:lnSpc>
                <a:spcPct val="150000"/>
              </a:lnSpc>
            </a:pPr>
            <a:r>
              <a:rPr lang="en-US" altLang="zh-CN" b="1" i="1">
                <a:latin typeface="Times New Roman" panose="02020603050405020304" charset="0"/>
                <a:cs typeface="Times New Roman" panose="02020603050405020304" charset="0"/>
                <a:sym typeface="+mn-ea"/>
              </a:rPr>
              <a:t>The first advantage of a new public transport system</a:t>
            </a:r>
            <a:r>
              <a:rPr lang="en-US" altLang="zh-CN" i="1">
                <a:latin typeface="Times New Roman" panose="02020603050405020304" charset="0"/>
                <a:cs typeface="Times New Roman" panose="02020603050405020304" charset="0"/>
                <a:sym typeface="+mn-ea"/>
              </a:rPr>
              <a:t> is that it will reduce traffic congestion.</a:t>
            </a:r>
            <a:endParaRPr lang="zh-CN" altLang="zh-CN">
              <a:latin typeface="Times New Roman" panose="02020603050405020304" charset="0"/>
              <a:cs typeface="Times New Roman" panose="02020603050405020304" charset="0"/>
            </a:endParaRPr>
          </a:p>
          <a:p>
            <a:pPr marL="0" indent="0" fontAlgn="auto">
              <a:lnSpc>
                <a:spcPct val="150000"/>
              </a:lnSpc>
            </a:pPr>
            <a:endParaRPr lang="en-US" altLang="zh-CN" b="1">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副标题 2"/>
          <p:cNvSpPr>
            <a:spLocks noGrp="1"/>
          </p:cNvSpPr>
          <p:nvPr>
            <p:ph type="subTitle" idx="1"/>
          </p:nvPr>
        </p:nvSpPr>
        <p:spPr>
          <a:xfrm>
            <a:off x="1524000" y="685800"/>
            <a:ext cx="8915400" cy="6172200"/>
          </a:xfrm>
        </p:spPr>
        <p:txBody>
          <a:bodyPr vert="horz" wrap="square" lIns="91440" tIns="45720" rIns="91440" bIns="45720" anchor="t" anchorCtr="0"/>
          <a:lstStyle/>
          <a:p>
            <a:pPr algn="just" eaLnBrk="1" hangingPunct="1">
              <a:buClrTx/>
              <a:buSzTx/>
              <a:buFontTx/>
            </a:pPr>
            <a:r>
              <a:rPr lang="en-US" altLang="zh-CN" sz="2800" dirty="0">
                <a:latin typeface="Times New Roman" panose="02020603050405020304" charset="0"/>
                <a:ea typeface="+mn-ea"/>
                <a:cs typeface="+mn-cs"/>
              </a:rPr>
              <a:t>The ancient Egyptians were masters of preserving dead people’s bodies by making mummies of them. Mummies several thousand years old have been discovered nearly intact. The skin, hair, teeth, fingernails and toenails, and facial features of the mummies were evident. It is possible to diagnose the disease they suffered in life, such as smallpox, arthritis, and nutritional deficiencies. The process was remarkably effective. Sometimes apparent were the fatal afflictions of the dead people: a middle-aged king died from a blow on the head, and polio killed a child king. Mummification consisted of removing the internal organs, applying natural preservatives inside and out, and then wrapping the body in layers of bandages. </a:t>
            </a:r>
          </a:p>
          <a:p>
            <a:pPr algn="just" eaLnBrk="1" hangingPunct="1">
              <a:buClrTx/>
              <a:buSzTx/>
              <a:buFontTx/>
            </a:pPr>
            <a:r>
              <a:rPr lang="en-US" altLang="zh-CN" sz="2800" dirty="0">
                <a:latin typeface="Times New Roman" panose="02020603050405020304" charset="0"/>
                <a:ea typeface="+mn-ea"/>
                <a:cs typeface="+mn-cs"/>
              </a:rPr>
              <a:t> </a:t>
            </a:r>
          </a:p>
          <a:p>
            <a:pPr eaLnBrk="1" hangingPunct="1">
              <a:buClrTx/>
              <a:buSzTx/>
              <a:buFontTx/>
            </a:pPr>
            <a:endParaRPr lang="zh-CN" altLang="en-US" dirty="0">
              <a:latin typeface="+mn-lt"/>
              <a:ea typeface="+mn-ea"/>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副标题 2"/>
          <p:cNvSpPr>
            <a:spLocks noGrp="1"/>
          </p:cNvSpPr>
          <p:nvPr>
            <p:ph type="subTitle" idx="1"/>
          </p:nvPr>
        </p:nvSpPr>
        <p:spPr>
          <a:xfrm>
            <a:off x="1524000" y="609600"/>
            <a:ext cx="9144000" cy="6248400"/>
          </a:xfrm>
        </p:spPr>
        <p:txBody>
          <a:bodyPr vert="horz" wrap="square" lIns="91440" tIns="45720" rIns="91440" bIns="45720" anchor="t" anchorCtr="0"/>
          <a:lstStyle/>
          <a:p>
            <a:pPr algn="just" eaLnBrk="1" hangingPunct="1">
              <a:buClrTx/>
              <a:buSzTx/>
              <a:buFontTx/>
            </a:pPr>
            <a:r>
              <a:rPr lang="en-US" altLang="zh-CN" sz="2800" dirty="0">
                <a:latin typeface="Times New Roman" panose="02020603050405020304" charset="0"/>
                <a:ea typeface="+mn-ea"/>
                <a:cs typeface="+mn-cs"/>
              </a:rPr>
              <a:t>The ancient Egyptians were masters of preserving dead people’s bodies by </a:t>
            </a:r>
            <a:r>
              <a:rPr lang="en-US" altLang="zh-CN" sz="2800" i="1" dirty="0">
                <a:latin typeface="Times New Roman" panose="02020603050405020304" charset="0"/>
                <a:ea typeface="+mn-ea"/>
                <a:cs typeface="+mn-cs"/>
              </a:rPr>
              <a:t>making mummies</a:t>
            </a:r>
            <a:r>
              <a:rPr lang="en-US" altLang="zh-CN" sz="2800" dirty="0">
                <a:latin typeface="Times New Roman" panose="02020603050405020304" charset="0"/>
                <a:ea typeface="+mn-ea"/>
                <a:cs typeface="+mn-cs"/>
              </a:rPr>
              <a:t> of them. </a:t>
            </a:r>
            <a:r>
              <a:rPr lang="en-US" altLang="zh-CN" sz="2800" b="1" dirty="0">
                <a:latin typeface="Times New Roman" panose="02020603050405020304" charset="0"/>
                <a:ea typeface="+mn-ea"/>
                <a:cs typeface="+mn-cs"/>
              </a:rPr>
              <a:t>In short</a:t>
            </a:r>
            <a:r>
              <a:rPr lang="en-US" altLang="zh-CN" sz="2800" dirty="0">
                <a:latin typeface="Times New Roman" panose="02020603050405020304" charset="0"/>
                <a:ea typeface="+mn-ea"/>
                <a:cs typeface="+mn-cs"/>
              </a:rPr>
              <a:t>, </a:t>
            </a:r>
            <a:r>
              <a:rPr lang="en-US" altLang="zh-CN" sz="2800" i="1" dirty="0">
                <a:latin typeface="Times New Roman" panose="02020603050405020304" charset="0"/>
                <a:ea typeface="+mn-ea"/>
                <a:cs typeface="+mn-cs"/>
              </a:rPr>
              <a:t>mummification</a:t>
            </a:r>
            <a:r>
              <a:rPr lang="en-US" altLang="zh-CN" sz="2800" dirty="0">
                <a:latin typeface="Times New Roman" panose="02020603050405020304" charset="0"/>
                <a:ea typeface="+mn-ea"/>
                <a:cs typeface="+mn-cs"/>
              </a:rPr>
              <a:t> consisted of removing the internal organs, applying natural preservatives inside and out, and then wrapping the body in layers of bandages. </a:t>
            </a:r>
            <a:r>
              <a:rPr lang="en-US" altLang="zh-CN" sz="2800" b="1" dirty="0">
                <a:latin typeface="Times New Roman" panose="02020603050405020304" charset="0"/>
                <a:ea typeface="+mn-ea"/>
                <a:cs typeface="+mn-cs"/>
              </a:rPr>
              <a:t>And</a:t>
            </a:r>
            <a:r>
              <a:rPr lang="en-US" altLang="zh-CN" sz="2800" dirty="0">
                <a:latin typeface="Times New Roman" panose="02020603050405020304" charset="0"/>
                <a:ea typeface="+mn-ea"/>
                <a:cs typeface="+mn-cs"/>
              </a:rPr>
              <a:t> </a:t>
            </a:r>
            <a:r>
              <a:rPr lang="en-US" altLang="zh-CN" sz="2800" i="1" dirty="0">
                <a:latin typeface="Times New Roman" panose="02020603050405020304" charset="0"/>
                <a:ea typeface="+mn-ea"/>
                <a:cs typeface="+mn-cs"/>
              </a:rPr>
              <a:t>the process</a:t>
            </a:r>
            <a:r>
              <a:rPr lang="en-US" altLang="zh-CN" sz="2800" dirty="0">
                <a:latin typeface="Times New Roman" panose="02020603050405020304" charset="0"/>
                <a:ea typeface="+mn-ea"/>
                <a:cs typeface="+mn-cs"/>
              </a:rPr>
              <a:t> was remarkably effective. </a:t>
            </a:r>
            <a:r>
              <a:rPr lang="en-US" altLang="zh-CN" sz="2800" b="1" dirty="0">
                <a:latin typeface="Times New Roman" panose="02020603050405020304" charset="0"/>
                <a:ea typeface="+mn-ea"/>
                <a:cs typeface="+mn-cs"/>
              </a:rPr>
              <a:t>Indeed</a:t>
            </a:r>
            <a:r>
              <a:rPr lang="en-US" altLang="zh-CN" sz="2800" dirty="0">
                <a:latin typeface="Times New Roman" panose="02020603050405020304" charset="0"/>
                <a:ea typeface="+mn-ea"/>
                <a:cs typeface="+mn-cs"/>
              </a:rPr>
              <a:t>, </a:t>
            </a:r>
            <a:r>
              <a:rPr lang="en-US" altLang="zh-CN" sz="2800" i="1" dirty="0">
                <a:latin typeface="Times New Roman" panose="02020603050405020304" charset="0"/>
                <a:ea typeface="+mn-ea"/>
                <a:cs typeface="+mn-cs"/>
              </a:rPr>
              <a:t>mummies</a:t>
            </a:r>
            <a:r>
              <a:rPr lang="en-US" altLang="zh-CN" sz="2800" dirty="0">
                <a:latin typeface="Times New Roman" panose="02020603050405020304" charset="0"/>
                <a:ea typeface="+mn-ea"/>
                <a:cs typeface="+mn-cs"/>
              </a:rPr>
              <a:t> several thousand years old have been discovered nearly intact. </a:t>
            </a:r>
            <a:r>
              <a:rPr lang="en-US" altLang="zh-CN" sz="2800" i="1" dirty="0">
                <a:latin typeface="Times New Roman" panose="02020603050405020304" charset="0"/>
                <a:ea typeface="+mn-ea"/>
                <a:cs typeface="+mn-cs"/>
              </a:rPr>
              <a:t>Their</a:t>
            </a:r>
            <a:r>
              <a:rPr lang="en-US" altLang="zh-CN" sz="2800" dirty="0">
                <a:latin typeface="Times New Roman" panose="02020603050405020304" charset="0"/>
                <a:ea typeface="+mn-ea"/>
                <a:cs typeface="+mn-cs"/>
              </a:rPr>
              <a:t> skin, hair, teeth, fingernails and toenails, and facial features </a:t>
            </a:r>
            <a:r>
              <a:rPr lang="en-US" altLang="zh-CN" sz="2800" u="sng" dirty="0">
                <a:latin typeface="Times New Roman" panose="02020603050405020304" charset="0"/>
                <a:ea typeface="+mn-ea"/>
                <a:cs typeface="+mn-cs"/>
              </a:rPr>
              <a:t>are </a:t>
            </a:r>
            <a:r>
              <a:rPr lang="en-US" altLang="zh-CN" sz="2800" b="1" u="sng" dirty="0">
                <a:latin typeface="Times New Roman" panose="02020603050405020304" charset="0"/>
                <a:ea typeface="+mn-ea"/>
                <a:cs typeface="+mn-cs"/>
              </a:rPr>
              <a:t>still</a:t>
            </a:r>
            <a:r>
              <a:rPr lang="en-US" altLang="zh-CN" sz="2800" u="sng" dirty="0">
                <a:latin typeface="Times New Roman" panose="02020603050405020304" charset="0"/>
                <a:ea typeface="+mn-ea"/>
                <a:cs typeface="+mn-cs"/>
              </a:rPr>
              <a:t> evident.</a:t>
            </a:r>
            <a:r>
              <a:rPr lang="en-US" altLang="zh-CN" sz="2800" dirty="0">
                <a:latin typeface="Times New Roman" panose="02020603050405020304" charset="0"/>
                <a:ea typeface="+mn-ea"/>
                <a:cs typeface="+mn-cs"/>
              </a:rPr>
              <a:t> </a:t>
            </a:r>
            <a:r>
              <a:rPr lang="en-US" altLang="zh-CN" sz="2800" i="1" dirty="0">
                <a:latin typeface="Times New Roman" panose="02020603050405020304" charset="0"/>
                <a:ea typeface="+mn-ea"/>
                <a:cs typeface="+mn-cs"/>
              </a:rPr>
              <a:t>Their </a:t>
            </a:r>
            <a:r>
              <a:rPr lang="en-US" altLang="zh-CN" sz="2800" dirty="0">
                <a:latin typeface="Times New Roman" panose="02020603050405020304" charset="0"/>
                <a:ea typeface="+mn-ea"/>
                <a:cs typeface="+mn-cs"/>
              </a:rPr>
              <a:t>diseases in life, such as smallpox, arthritis, and nutritional deficiencies, </a:t>
            </a:r>
            <a:r>
              <a:rPr lang="en-US" altLang="zh-CN" sz="2800" u="sng" dirty="0">
                <a:latin typeface="Times New Roman" panose="02020603050405020304" charset="0"/>
                <a:ea typeface="+mn-ea"/>
                <a:cs typeface="+mn-cs"/>
              </a:rPr>
              <a:t>are </a:t>
            </a:r>
            <a:r>
              <a:rPr lang="en-US" altLang="zh-CN" sz="2800" b="1" u="sng" dirty="0">
                <a:latin typeface="Times New Roman" panose="02020603050405020304" charset="0"/>
                <a:ea typeface="+mn-ea"/>
                <a:cs typeface="+mn-cs"/>
              </a:rPr>
              <a:t>still</a:t>
            </a:r>
            <a:r>
              <a:rPr lang="en-US" altLang="zh-CN" sz="2800" u="sng" dirty="0">
                <a:latin typeface="Times New Roman" panose="02020603050405020304" charset="0"/>
                <a:ea typeface="+mn-ea"/>
                <a:cs typeface="+mn-cs"/>
              </a:rPr>
              <a:t> diagnosable</a:t>
            </a:r>
            <a:r>
              <a:rPr lang="en-US" altLang="zh-CN" sz="2800" dirty="0">
                <a:latin typeface="Times New Roman" panose="02020603050405020304" charset="0"/>
                <a:ea typeface="+mn-ea"/>
                <a:cs typeface="+mn-cs"/>
              </a:rPr>
              <a:t>. </a:t>
            </a:r>
            <a:r>
              <a:rPr lang="en-US" altLang="zh-CN" sz="2800" b="1" dirty="0">
                <a:latin typeface="Times New Roman" panose="02020603050405020304" charset="0"/>
                <a:ea typeface="+mn-ea"/>
                <a:cs typeface="+mn-cs"/>
              </a:rPr>
              <a:t>Even</a:t>
            </a:r>
            <a:r>
              <a:rPr lang="en-US" altLang="zh-CN" sz="2800" dirty="0">
                <a:latin typeface="Times New Roman" panose="02020603050405020304" charset="0"/>
                <a:ea typeface="+mn-ea"/>
                <a:cs typeface="+mn-cs"/>
              </a:rPr>
              <a:t> </a:t>
            </a:r>
            <a:r>
              <a:rPr lang="en-US" altLang="zh-CN" sz="2800" i="1" dirty="0">
                <a:latin typeface="Times New Roman" panose="02020603050405020304" charset="0"/>
                <a:ea typeface="+mn-ea"/>
                <a:cs typeface="+mn-cs"/>
              </a:rPr>
              <a:t>their</a:t>
            </a:r>
            <a:r>
              <a:rPr lang="en-US" altLang="zh-CN" sz="2800" dirty="0">
                <a:latin typeface="Times New Roman" panose="02020603050405020304" charset="0"/>
                <a:ea typeface="+mn-ea"/>
                <a:cs typeface="+mn-cs"/>
              </a:rPr>
              <a:t> fatal afflictions </a:t>
            </a:r>
            <a:r>
              <a:rPr lang="en-US" altLang="zh-CN" sz="2800" u="sng" dirty="0">
                <a:latin typeface="Times New Roman" panose="02020603050405020304" charset="0"/>
                <a:ea typeface="+mn-ea"/>
                <a:cs typeface="+mn-cs"/>
              </a:rPr>
              <a:t>are </a:t>
            </a:r>
            <a:r>
              <a:rPr lang="en-US" altLang="zh-CN" sz="2800" b="1" u="sng" dirty="0">
                <a:latin typeface="Times New Roman" panose="02020603050405020304" charset="0"/>
                <a:ea typeface="+mn-ea"/>
                <a:cs typeface="+mn-cs"/>
              </a:rPr>
              <a:t>still</a:t>
            </a:r>
            <a:r>
              <a:rPr lang="en-US" altLang="zh-CN" sz="2800" u="sng" dirty="0">
                <a:latin typeface="Times New Roman" panose="02020603050405020304" charset="0"/>
                <a:ea typeface="+mn-ea"/>
                <a:cs typeface="+mn-cs"/>
              </a:rPr>
              <a:t> apparent</a:t>
            </a:r>
            <a:r>
              <a:rPr lang="en-US" altLang="zh-CN" sz="2800" dirty="0">
                <a:latin typeface="Times New Roman" panose="02020603050405020304" charset="0"/>
                <a:ea typeface="+mn-ea"/>
                <a:cs typeface="+mn-cs"/>
              </a:rPr>
              <a:t>: a middle-aged king died from a blow on the head; a child king died from polio.</a:t>
            </a:r>
            <a:endParaRPr lang="zh-CN" altLang="zh-CN" sz="2800" dirty="0">
              <a:latin typeface="Times New Roman" panose="02020603050405020304" charset="0"/>
              <a:ea typeface="+mn-ea"/>
              <a:cs typeface="+mn-cs"/>
            </a:endParaRPr>
          </a:p>
          <a:p>
            <a:pPr eaLnBrk="1" hangingPunct="1">
              <a:buClrTx/>
              <a:buSzTx/>
              <a:buFontTx/>
            </a:pPr>
            <a:endParaRPr lang="zh-CN" altLang="en-US" dirty="0">
              <a:latin typeface="+mn-lt"/>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Rhetorical Principles</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a:bodyPr>
          <a:lstStyle/>
          <a:p>
            <a:pPr marL="0" indent="0" fontAlgn="auto">
              <a:lnSpc>
                <a:spcPct val="150000"/>
              </a:lnSpc>
              <a:buNone/>
            </a:pPr>
            <a:r>
              <a:rPr lang="en-US" altLang="zh-CN" b="1" dirty="0">
                <a:latin typeface="Times New Roman" panose="02020603050405020304" charset="0"/>
                <a:cs typeface="Times New Roman" panose="02020603050405020304" charset="0"/>
                <a:sym typeface="+mn-ea"/>
              </a:rPr>
              <a:t>2.3 Using examples</a:t>
            </a:r>
            <a:endParaRPr lang="en-US" altLang="zh-CN" b="1" dirty="0">
              <a:latin typeface="Times New Roman" panose="02020603050405020304" charset="0"/>
              <a:cs typeface="Times New Roman" panose="02020603050405020304" charset="0"/>
            </a:endParaRPr>
          </a:p>
          <a:p>
            <a:pPr fontAlgn="auto">
              <a:lnSpc>
                <a:spcPct val="150000"/>
              </a:lnSpc>
            </a:pPr>
            <a:r>
              <a:rPr lang="en-US" altLang="zh-CN" dirty="0">
                <a:latin typeface="Times New Roman" panose="02020603050405020304" charset="0"/>
                <a:cs typeface="Times New Roman" panose="02020603050405020304" charset="0"/>
                <a:sym typeface="+mn-ea"/>
              </a:rPr>
              <a:t>One of the most impressive forms of argumentation is to use examples </a:t>
            </a:r>
            <a:endParaRPr lang="en-US" altLang="zh-CN" dirty="0">
              <a:latin typeface="Times New Roman" panose="02020603050405020304" charset="0"/>
              <a:cs typeface="Times New Roman" panose="02020603050405020304" charset="0"/>
            </a:endParaRPr>
          </a:p>
          <a:p>
            <a:pPr algn="just" fontAlgn="auto">
              <a:lnSpc>
                <a:spcPct val="150000"/>
              </a:lnSpc>
            </a:pPr>
            <a:r>
              <a:rPr lang="en-US" altLang="zh-CN" dirty="0">
                <a:latin typeface="Times New Roman" panose="02020603050405020304" charset="0"/>
                <a:cs typeface="Times New Roman" panose="02020603050405020304" charset="0"/>
                <a:sym typeface="+mn-ea"/>
              </a:rPr>
              <a:t>Caution: Be careful of the </a:t>
            </a:r>
            <a:r>
              <a:rPr lang="en-US" altLang="zh-CN" b="1" dirty="0">
                <a:latin typeface="Times New Roman" panose="02020603050405020304" charset="0"/>
                <a:cs typeface="Times New Roman" panose="02020603050405020304" charset="0"/>
                <a:sym typeface="+mn-ea"/>
              </a:rPr>
              <a:t>transitions </a:t>
            </a:r>
            <a:r>
              <a:rPr lang="en-US" altLang="zh-CN" dirty="0">
                <a:latin typeface="Times New Roman" panose="02020603050405020304" charset="0"/>
                <a:cs typeface="Times New Roman" panose="02020603050405020304" charset="0"/>
                <a:sym typeface="+mn-ea"/>
              </a:rPr>
              <a:t>you use to connect your examples. It is too easy simply to number them, but then our essay begins to sound like a mathematical exercise. If it helps to organize your paper, you can number your examples at first and then go back over the paper and provide other transitions.</a:t>
            </a:r>
            <a:endParaRPr lang="en-US" altLang="zh-CN" dirty="0">
              <a:latin typeface="Times New Roman" panose="02020603050405020304" charset="0"/>
              <a:cs typeface="Times New Roman" panose="02020603050405020304" charset="0"/>
            </a:endParaRPr>
          </a:p>
          <a:p>
            <a:pPr marL="0" indent="0" fontAlgn="auto">
              <a:lnSpc>
                <a:spcPct val="150000"/>
              </a:lnSpc>
            </a:pPr>
            <a:endParaRPr lang="en-US" altLang="zh-CN" b="1" dirty="0">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Rhetorical Principles</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lnSpcReduction="10000"/>
          </a:bodyPr>
          <a:lstStyle/>
          <a:p>
            <a:pPr marL="0" indent="0" fontAlgn="auto">
              <a:lnSpc>
                <a:spcPct val="120000"/>
              </a:lnSpc>
              <a:spcBef>
                <a:spcPts val="0"/>
              </a:spcBef>
              <a:buNone/>
            </a:pPr>
            <a:r>
              <a:rPr lang="en-US" altLang="zh-CN" b="1">
                <a:latin typeface="Times New Roman" panose="02020603050405020304" charset="0"/>
                <a:cs typeface="Times New Roman" panose="02020603050405020304" charset="0"/>
                <a:sym typeface="+mn-ea"/>
              </a:rPr>
              <a:t>2.4 Classification and Analysis </a:t>
            </a:r>
          </a:p>
          <a:p>
            <a:pPr marL="0" indent="0" fontAlgn="auto">
              <a:lnSpc>
                <a:spcPct val="120000"/>
              </a:lnSpc>
              <a:spcBef>
                <a:spcPts val="0"/>
              </a:spcBef>
              <a:buNone/>
            </a:pPr>
            <a:r>
              <a:rPr lang="en-US" altLang="zh-CN">
                <a:latin typeface="Times New Roman" panose="02020603050405020304" charset="0"/>
                <a:cs typeface="Times New Roman" panose="02020603050405020304" charset="0"/>
                <a:sym typeface="+mn-ea"/>
              </a:rPr>
              <a:t>A  classification essay will break a large subject into categories for the purpose of analysis. </a:t>
            </a:r>
            <a:endParaRPr lang="en-US" altLang="zh-CN">
              <a:latin typeface="Times New Roman" panose="02020603050405020304" charset="0"/>
              <a:cs typeface="Times New Roman" panose="02020603050405020304" charset="0"/>
            </a:endParaRPr>
          </a:p>
          <a:p>
            <a:pPr fontAlgn="auto">
              <a:lnSpc>
                <a:spcPct val="120000"/>
              </a:lnSpc>
              <a:spcBef>
                <a:spcPts val="0"/>
              </a:spcBef>
            </a:pPr>
            <a:r>
              <a:rPr lang="en-US" altLang="zh-CN">
                <a:latin typeface="Times New Roman" panose="02020603050405020304" charset="0"/>
                <a:cs typeface="Times New Roman" panose="02020603050405020304" charset="0"/>
                <a:sym typeface="+mn-ea"/>
              </a:rPr>
              <a:t>Cautions:</a:t>
            </a:r>
            <a:endParaRPr lang="en-US" altLang="zh-CN">
              <a:latin typeface="Times New Roman" panose="02020603050405020304" charset="0"/>
              <a:cs typeface="Times New Roman" panose="02020603050405020304" charset="0"/>
            </a:endParaRPr>
          </a:p>
          <a:p>
            <a:pPr fontAlgn="auto">
              <a:lnSpc>
                <a:spcPct val="120000"/>
              </a:lnSpc>
              <a:spcBef>
                <a:spcPts val="0"/>
              </a:spcBef>
            </a:pPr>
            <a:r>
              <a:rPr lang="en-US" altLang="zh-CN">
                <a:latin typeface="Times New Roman" panose="02020603050405020304" charset="0"/>
                <a:cs typeface="Times New Roman" panose="02020603050405020304" charset="0"/>
                <a:sym typeface="+mn-ea"/>
              </a:rPr>
              <a:t>1. Breaking things down too fine will clog the machinery of our essay. </a:t>
            </a:r>
            <a:endParaRPr lang="en-US" altLang="zh-CN">
              <a:latin typeface="Times New Roman" panose="02020603050405020304" charset="0"/>
              <a:cs typeface="Times New Roman" panose="02020603050405020304" charset="0"/>
            </a:endParaRPr>
          </a:p>
          <a:p>
            <a:pPr fontAlgn="auto">
              <a:lnSpc>
                <a:spcPct val="120000"/>
              </a:lnSpc>
              <a:spcBef>
                <a:spcPts val="0"/>
              </a:spcBef>
            </a:pPr>
            <a:r>
              <a:rPr lang="en-US" altLang="zh-CN">
                <a:latin typeface="Times New Roman" panose="02020603050405020304" charset="0"/>
                <a:cs typeface="Times New Roman" panose="02020603050405020304" charset="0"/>
                <a:sym typeface="+mn-ea"/>
              </a:rPr>
              <a:t>2. Describing or defining one particular category for too long will unbalance the load, and our readers will lose track of our strategy and intent.</a:t>
            </a:r>
            <a:endParaRPr lang="en-US" altLang="zh-CN">
              <a:latin typeface="Times New Roman" panose="02020603050405020304" charset="0"/>
              <a:cs typeface="Times New Roman" panose="02020603050405020304" charset="0"/>
            </a:endParaRPr>
          </a:p>
          <a:p>
            <a:pPr fontAlgn="auto">
              <a:lnSpc>
                <a:spcPct val="120000"/>
              </a:lnSpc>
              <a:spcBef>
                <a:spcPts val="0"/>
              </a:spcBef>
            </a:pPr>
            <a:r>
              <a:rPr lang="en-US" altLang="zh-CN">
                <a:latin typeface="Times New Roman" panose="02020603050405020304" charset="0"/>
                <a:cs typeface="Times New Roman" panose="02020603050405020304" charset="0"/>
                <a:sym typeface="+mn-ea"/>
              </a:rPr>
              <a:t>3. Using a computer with word processor to change the order the elements and ask your friends’ opinions.</a:t>
            </a:r>
            <a:endParaRPr lang="en-US" altLang="zh-CN">
              <a:latin typeface="Times New Roman" panose="02020603050405020304" charset="0"/>
              <a:cs typeface="Times New Roman" panose="02020603050405020304" charset="0"/>
            </a:endParaRPr>
          </a:p>
          <a:p>
            <a:pPr marL="0" indent="0" fontAlgn="auto">
              <a:lnSpc>
                <a:spcPct val="150000"/>
              </a:lnSpc>
            </a:pPr>
            <a:endParaRPr lang="en-US" altLang="zh-CN" b="1">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2800">
                <a:latin typeface="Times New Roman" panose="02020603050405020304" charset="0"/>
                <a:cs typeface="Times New Roman" panose="02020603050405020304" charset="0"/>
                <a:sym typeface="+mn-ea"/>
              </a:rPr>
              <a:t>3 Redundancy</a:t>
            </a:r>
            <a:r>
              <a:rPr lang="zh-CN" altLang="en-US" sz="2800">
                <a:latin typeface="Times New Roman" panose="02020603050405020304" charset="0"/>
                <a:cs typeface="Times New Roman" panose="02020603050405020304" charset="0"/>
                <a:sym typeface="+mn-ea"/>
              </a:rPr>
              <a:t> </a:t>
            </a:r>
            <a:endParaRPr lang="en-US" altLang="zh-CN" sz="2800">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
        <p:nvSpPr>
          <p:cNvPr id="13" name="文本框 12"/>
          <p:cNvSpPr txBox="1"/>
          <p:nvPr/>
        </p:nvSpPr>
        <p:spPr>
          <a:xfrm>
            <a:off x="887095" y="3422650"/>
            <a:ext cx="4367530" cy="583565"/>
          </a:xfrm>
          <a:prstGeom prst="rect">
            <a:avLst/>
          </a:prstGeom>
          <a:noFill/>
        </p:spPr>
        <p:txBody>
          <a:bodyPr wrap="square" rtlCol="0">
            <a:spAutoFit/>
          </a:bodyPr>
          <a:lstStyle/>
          <a:p>
            <a:pPr marL="0" indent="0" eaLnBrk="1" hangingPunct="1">
              <a:buNone/>
            </a:pPr>
            <a:r>
              <a:rPr lang="en-US" altLang="zh-CN" sz="3200" b="1">
                <a:latin typeface="Times New Roman" panose="02020603050405020304" charset="0"/>
                <a:cs typeface="Times New Roman" panose="02020603050405020304" charset="0"/>
                <a:sym typeface="+mn-ea"/>
              </a:rPr>
              <a:t>3 Redundancy</a:t>
            </a:r>
            <a:endParaRPr lang="zh-CN" altLang="en-US" sz="3200" b="1"/>
          </a:p>
        </p:txBody>
      </p:sp>
      <p:pic>
        <p:nvPicPr>
          <p:cNvPr id="8" name="图片 7"/>
          <p:cNvPicPr/>
          <p:nvPr/>
        </p:nvPicPr>
        <p:blipFill>
          <a:blip r:embed="rId6"/>
          <a:stretch>
            <a:fillRect/>
          </a:stretch>
        </p:blipFill>
        <p:spPr>
          <a:xfrm>
            <a:off x="4598670" y="2134870"/>
            <a:ext cx="5976620" cy="3409950"/>
          </a:xfrm>
          <a:prstGeom prst="rect">
            <a:avLst/>
          </a:prstGeom>
          <a:effectLst>
            <a:innerShdw blurRad="114300">
              <a:prstClr val="black"/>
            </a:innerShdw>
          </a:effec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fontScale="90000"/>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3110">
                <a:latin typeface="Times New Roman" panose="02020603050405020304" charset="0"/>
                <a:cs typeface="Times New Roman" panose="02020603050405020304" charset="0"/>
                <a:sym typeface="+mn-ea"/>
              </a:rPr>
              <a:t>Redundancy</a:t>
            </a:r>
            <a:r>
              <a:rPr lang="zh-CN" altLang="en-US" sz="3110">
                <a:latin typeface="Times New Roman" panose="02020603050405020304" charset="0"/>
                <a:cs typeface="Times New Roman" panose="02020603050405020304" charset="0"/>
                <a:sym typeface="+mn-ea"/>
              </a:rPr>
              <a:t> </a:t>
            </a:r>
            <a:endParaRPr lang="en-US" altLang="zh-CN" sz="311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5050790"/>
          </a:xfrm>
          <a:ln w="28575">
            <a:solidFill>
              <a:schemeClr val="accent2">
                <a:lumMod val="75000"/>
              </a:schemeClr>
            </a:solidFill>
          </a:ln>
        </p:spPr>
        <p:txBody>
          <a:bodyPr>
            <a:noAutofit/>
          </a:bodyPr>
          <a:lstStyle/>
          <a:p>
            <a:pPr marL="0" indent="0" fontAlgn="auto">
              <a:lnSpc>
                <a:spcPct val="120000"/>
              </a:lnSpc>
              <a:spcBef>
                <a:spcPts val="0"/>
              </a:spcBef>
            </a:pPr>
            <a:r>
              <a:rPr lang="en-US" altLang="zh-CN" sz="2700">
                <a:latin typeface="Times New Roman" panose="02020603050405020304" charset="0"/>
                <a:cs typeface="Times New Roman" panose="02020603050405020304" charset="0"/>
                <a:sym typeface="+mn-ea"/>
              </a:rPr>
              <a:t>Improve chinglish sentences.</a:t>
            </a:r>
            <a:endParaRPr lang="zh-CN" altLang="zh-CN" sz="2700">
              <a:latin typeface="Times New Roman" panose="02020603050405020304" charset="0"/>
              <a:cs typeface="Times New Roman" panose="02020603050405020304" charset="0"/>
            </a:endParaRPr>
          </a:p>
          <a:p>
            <a:pPr marL="0" indent="0" fontAlgn="auto">
              <a:lnSpc>
                <a:spcPct val="120000"/>
              </a:lnSpc>
              <a:spcBef>
                <a:spcPts val="0"/>
              </a:spcBef>
            </a:pPr>
            <a:r>
              <a:rPr lang="en-US" altLang="zh-CN" sz="2700">
                <a:latin typeface="Times New Roman" panose="02020603050405020304" charset="0"/>
                <a:cs typeface="Times New Roman" panose="02020603050405020304" charset="0"/>
                <a:sym typeface="+mn-ea"/>
              </a:rPr>
              <a:t>unnecessary nouns</a:t>
            </a:r>
            <a:endParaRPr lang="zh-CN" altLang="zh-CN" sz="2700">
              <a:latin typeface="Times New Roman" panose="02020603050405020304" charset="0"/>
              <a:cs typeface="Times New Roman" panose="02020603050405020304" charset="0"/>
            </a:endParaRPr>
          </a:p>
          <a:p>
            <a:pPr marL="457200" lvl="1" indent="0" fontAlgn="auto">
              <a:lnSpc>
                <a:spcPct val="120000"/>
              </a:lnSpc>
              <a:spcBef>
                <a:spcPts val="0"/>
              </a:spcBef>
              <a:buNone/>
            </a:pPr>
            <a:r>
              <a:rPr lang="en-US" altLang="zh-CN" sz="2700">
                <a:latin typeface="Times New Roman" panose="02020603050405020304" charset="0"/>
                <a:cs typeface="Times New Roman" panose="02020603050405020304" charset="0"/>
                <a:sym typeface="+mn-ea"/>
              </a:rPr>
              <a:t>--to accelerate</a:t>
            </a:r>
            <a:r>
              <a:rPr lang="en-US" altLang="zh-CN" sz="2700" u="sng">
                <a:latin typeface="Times New Roman" panose="02020603050405020304" charset="0"/>
                <a:cs typeface="Times New Roman" panose="02020603050405020304" charset="0"/>
                <a:sym typeface="+mn-ea"/>
              </a:rPr>
              <a:t> the pace of </a:t>
            </a:r>
            <a:r>
              <a:rPr lang="en-US" altLang="zh-CN" sz="2700">
                <a:latin typeface="Times New Roman" panose="02020603050405020304" charset="0"/>
                <a:cs typeface="Times New Roman" panose="02020603050405020304" charset="0"/>
                <a:sym typeface="+mn-ea"/>
              </a:rPr>
              <a:t>economic reform.</a:t>
            </a:r>
            <a:endParaRPr lang="zh-CN" altLang="zh-CN" sz="2700">
              <a:latin typeface="Times New Roman" panose="02020603050405020304" charset="0"/>
              <a:cs typeface="Times New Roman" panose="02020603050405020304" charset="0"/>
            </a:endParaRPr>
          </a:p>
          <a:p>
            <a:pPr marL="457200" lvl="1" indent="0" fontAlgn="auto">
              <a:lnSpc>
                <a:spcPct val="120000"/>
              </a:lnSpc>
              <a:spcBef>
                <a:spcPts val="0"/>
              </a:spcBef>
              <a:buNone/>
            </a:pPr>
            <a:r>
              <a:rPr lang="en-US" altLang="zh-CN" sz="2700">
                <a:latin typeface="Times New Roman" panose="02020603050405020304" charset="0"/>
                <a:cs typeface="Times New Roman" panose="02020603050405020304" charset="0"/>
                <a:sym typeface="+mn-ea"/>
              </a:rPr>
              <a:t>--there have been good harvests </a:t>
            </a:r>
            <a:r>
              <a:rPr lang="en-US" altLang="zh-CN" sz="2700" u="sng">
                <a:latin typeface="Times New Roman" panose="02020603050405020304" charset="0"/>
                <a:cs typeface="Times New Roman" panose="02020603050405020304" charset="0"/>
                <a:sym typeface="+mn-ea"/>
              </a:rPr>
              <a:t>in agriculture</a:t>
            </a:r>
            <a:r>
              <a:rPr lang="en-US" altLang="zh-CN" sz="2700">
                <a:latin typeface="Times New Roman" panose="02020603050405020304" charset="0"/>
                <a:cs typeface="Times New Roman" panose="02020603050405020304" charset="0"/>
                <a:sym typeface="+mn-ea"/>
              </a:rPr>
              <a:t>.</a:t>
            </a:r>
            <a:endParaRPr lang="zh-CN" altLang="zh-CN" sz="2700">
              <a:latin typeface="Times New Roman" panose="02020603050405020304" charset="0"/>
              <a:cs typeface="Times New Roman" panose="02020603050405020304" charset="0"/>
            </a:endParaRPr>
          </a:p>
          <a:p>
            <a:pPr marL="457200" lvl="1" indent="0" fontAlgn="auto">
              <a:lnSpc>
                <a:spcPct val="120000"/>
              </a:lnSpc>
              <a:spcBef>
                <a:spcPts val="0"/>
              </a:spcBef>
              <a:buNone/>
            </a:pPr>
            <a:r>
              <a:rPr lang="en-US" altLang="zh-CN" sz="2700">
                <a:latin typeface="Times New Roman" panose="02020603050405020304" charset="0"/>
                <a:cs typeface="Times New Roman" panose="02020603050405020304" charset="0"/>
                <a:sym typeface="+mn-ea"/>
              </a:rPr>
              <a:t>--living standards </a:t>
            </a:r>
            <a:r>
              <a:rPr lang="en-US" altLang="zh-CN" sz="2700" u="sng">
                <a:latin typeface="Times New Roman" panose="02020603050405020304" charset="0"/>
                <a:cs typeface="Times New Roman" panose="02020603050405020304" charset="0"/>
                <a:sym typeface="+mn-ea"/>
              </a:rPr>
              <a:t>for the people</a:t>
            </a:r>
            <a:r>
              <a:rPr lang="en-US" altLang="zh-CN" sz="2700">
                <a:latin typeface="Times New Roman" panose="02020603050405020304" charset="0"/>
                <a:cs typeface="Times New Roman" panose="02020603050405020304" charset="0"/>
                <a:sym typeface="+mn-ea"/>
              </a:rPr>
              <a:t> in both urban and rural areas continued to rise.</a:t>
            </a:r>
            <a:endParaRPr lang="zh-CN" altLang="zh-CN" sz="2700">
              <a:latin typeface="Times New Roman" panose="02020603050405020304" charset="0"/>
              <a:cs typeface="Times New Roman" panose="02020603050405020304" charset="0"/>
            </a:endParaRPr>
          </a:p>
          <a:p>
            <a:pPr marL="457200" lvl="1" indent="0" fontAlgn="auto">
              <a:lnSpc>
                <a:spcPct val="120000"/>
              </a:lnSpc>
              <a:spcBef>
                <a:spcPts val="0"/>
              </a:spcBef>
              <a:buNone/>
            </a:pPr>
            <a:r>
              <a:rPr lang="en-US" altLang="zh-CN" sz="2700">
                <a:latin typeface="Times New Roman" panose="02020603050405020304" charset="0"/>
                <a:cs typeface="Times New Roman" panose="02020603050405020304" charset="0"/>
                <a:sym typeface="+mn-ea"/>
              </a:rPr>
              <a:t>--the development of our economy </a:t>
            </a:r>
            <a:r>
              <a:rPr lang="en-US" altLang="zh-CN" sz="2700" u="sng">
                <a:latin typeface="Times New Roman" panose="02020603050405020304" charset="0"/>
                <a:cs typeface="Times New Roman" panose="02020603050405020304" charset="0"/>
                <a:sym typeface="+mn-ea"/>
              </a:rPr>
              <a:t>in the future</a:t>
            </a:r>
            <a:r>
              <a:rPr lang="en-US" altLang="zh-CN" sz="2700">
                <a:latin typeface="Times New Roman" panose="02020603050405020304" charset="0"/>
                <a:cs typeface="Times New Roman" panose="02020603050405020304" charset="0"/>
                <a:sym typeface="+mn-ea"/>
              </a:rPr>
              <a:t> will, to a large extent, depend on…</a:t>
            </a:r>
            <a:endParaRPr lang="zh-CN" altLang="zh-CN" sz="2700">
              <a:latin typeface="Times New Roman" panose="02020603050405020304" charset="0"/>
              <a:cs typeface="Times New Roman" panose="02020603050405020304" charset="0"/>
            </a:endParaRPr>
          </a:p>
          <a:p>
            <a:pPr marL="457200" lvl="1" indent="0" fontAlgn="auto">
              <a:lnSpc>
                <a:spcPct val="120000"/>
              </a:lnSpc>
              <a:spcBef>
                <a:spcPts val="0"/>
              </a:spcBef>
              <a:buNone/>
            </a:pPr>
            <a:r>
              <a:rPr lang="en-US" altLang="zh-CN" sz="2700">
                <a:latin typeface="Times New Roman" panose="02020603050405020304" charset="0"/>
                <a:cs typeface="Times New Roman" panose="02020603050405020304" charset="0"/>
                <a:sym typeface="+mn-ea"/>
              </a:rPr>
              <a:t>--we should adopt </a:t>
            </a:r>
            <a:r>
              <a:rPr lang="en-US" altLang="zh-CN" sz="2700" u="sng">
                <a:latin typeface="Times New Roman" panose="02020603050405020304" charset="0"/>
                <a:cs typeface="Times New Roman" panose="02020603050405020304" charset="0"/>
                <a:sym typeface="+mn-ea"/>
              </a:rPr>
              <a:t>a series of </a:t>
            </a:r>
            <a:r>
              <a:rPr lang="en-US" altLang="zh-CN" sz="2700">
                <a:latin typeface="Times New Roman" panose="02020603050405020304" charset="0"/>
                <a:cs typeface="Times New Roman" panose="02020603050405020304" charset="0"/>
                <a:sym typeface="+mn-ea"/>
              </a:rPr>
              <a:t>measures to ensure that</a:t>
            </a:r>
            <a:endParaRPr lang="zh-CN" altLang="zh-CN" sz="2700">
              <a:latin typeface="Times New Roman" panose="02020603050405020304" charset="0"/>
              <a:cs typeface="Times New Roman" panose="02020603050405020304" charset="0"/>
            </a:endParaRPr>
          </a:p>
          <a:p>
            <a:pPr marL="0" indent="0" fontAlgn="auto">
              <a:lnSpc>
                <a:spcPct val="150000"/>
              </a:lnSpc>
            </a:pPr>
            <a:endParaRPr lang="zh-CN" altLang="zh-CN" sz="2400" b="1">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fontScale="90000"/>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3110">
                <a:latin typeface="Times New Roman" panose="02020603050405020304" charset="0"/>
                <a:cs typeface="Times New Roman" panose="02020603050405020304" charset="0"/>
                <a:sym typeface="+mn-ea"/>
              </a:rPr>
              <a:t>Redundancy</a:t>
            </a:r>
            <a:r>
              <a:rPr lang="zh-CN" altLang="en-US" sz="3110">
                <a:latin typeface="Times New Roman" panose="02020603050405020304" charset="0"/>
                <a:cs typeface="Times New Roman" panose="02020603050405020304" charset="0"/>
                <a:sym typeface="+mn-ea"/>
              </a:rPr>
              <a:t> </a:t>
            </a:r>
            <a:endParaRPr lang="en-US" altLang="zh-CN" sz="311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5050790"/>
          </a:xfrm>
          <a:ln w="28575">
            <a:solidFill>
              <a:schemeClr val="accent2">
                <a:lumMod val="75000"/>
              </a:schemeClr>
            </a:solidFill>
          </a:ln>
        </p:spPr>
        <p:txBody>
          <a:bodyPr>
            <a:noAutofit/>
          </a:bodyPr>
          <a:lstStyle/>
          <a:p>
            <a:pPr marL="0" indent="0" fontAlgn="auto">
              <a:lnSpc>
                <a:spcPct val="120000"/>
              </a:lnSpc>
            </a:pPr>
            <a:r>
              <a:rPr lang="en-US" altLang="zh-CN" sz="2700" dirty="0">
                <a:latin typeface="Times New Roman" panose="02020603050405020304" charset="0"/>
                <a:cs typeface="Times New Roman" panose="02020603050405020304" charset="0"/>
                <a:sym typeface="+mn-ea"/>
              </a:rPr>
              <a:t>Unnecessary verb plus noun</a:t>
            </a:r>
            <a:endParaRPr lang="zh-CN" altLang="zh-CN" sz="2700" dirty="0">
              <a:latin typeface="Times New Roman" panose="02020603050405020304" charset="0"/>
              <a:cs typeface="Times New Roman" panose="02020603050405020304" charset="0"/>
            </a:endParaRPr>
          </a:p>
          <a:p>
            <a:pPr marL="457200" lvl="1" indent="0" fontAlgn="auto">
              <a:lnSpc>
                <a:spcPct val="120000"/>
              </a:lnSpc>
              <a:buNone/>
            </a:pPr>
            <a:r>
              <a:rPr lang="en-US" altLang="zh-CN" sz="2700" dirty="0">
                <a:latin typeface="Times New Roman" panose="02020603050405020304" charset="0"/>
                <a:cs typeface="Times New Roman" panose="02020603050405020304" charset="0"/>
                <a:sym typeface="+mn-ea"/>
              </a:rPr>
              <a:t>--they should </a:t>
            </a:r>
            <a:r>
              <a:rPr lang="en-US" altLang="zh-CN" sz="2700" u="sng" dirty="0">
                <a:latin typeface="Times New Roman" panose="02020603050405020304" charset="0"/>
                <a:cs typeface="Times New Roman" panose="02020603050405020304" charset="0"/>
                <a:sym typeface="+mn-ea"/>
              </a:rPr>
              <a:t>conduct</a:t>
            </a:r>
            <a:r>
              <a:rPr lang="en-US" altLang="zh-CN" sz="2700" dirty="0">
                <a:latin typeface="Times New Roman" panose="02020603050405020304" charset="0"/>
                <a:cs typeface="Times New Roman" panose="02020603050405020304" charset="0"/>
                <a:sym typeface="+mn-ea"/>
              </a:rPr>
              <a:t> a careful</a:t>
            </a:r>
            <a:r>
              <a:rPr lang="en-US" altLang="zh-CN" sz="2700" u="sng" dirty="0">
                <a:latin typeface="Times New Roman" panose="02020603050405020304" charset="0"/>
                <a:cs typeface="Times New Roman" panose="02020603050405020304" charset="0"/>
                <a:sym typeface="+mn-ea"/>
              </a:rPr>
              <a:t> examination</a:t>
            </a:r>
            <a:r>
              <a:rPr lang="en-US" altLang="zh-CN" sz="2700" dirty="0">
                <a:latin typeface="Times New Roman" panose="02020603050405020304" charset="0"/>
                <a:cs typeface="Times New Roman" panose="02020603050405020304" charset="0"/>
                <a:sym typeface="+mn-ea"/>
              </a:rPr>
              <a:t> of…</a:t>
            </a:r>
            <a:endParaRPr lang="zh-CN" altLang="zh-CN" sz="2700" dirty="0">
              <a:latin typeface="Times New Roman" panose="02020603050405020304" charset="0"/>
              <a:cs typeface="Times New Roman" panose="02020603050405020304" charset="0"/>
            </a:endParaRPr>
          </a:p>
          <a:p>
            <a:pPr marL="457200" lvl="1" indent="0" fontAlgn="auto">
              <a:lnSpc>
                <a:spcPct val="120000"/>
              </a:lnSpc>
              <a:buNone/>
            </a:pPr>
            <a:r>
              <a:rPr lang="en-US" altLang="zh-CN" sz="2700" dirty="0">
                <a:latin typeface="Times New Roman" panose="02020603050405020304" charset="0"/>
                <a:cs typeface="Times New Roman" panose="02020603050405020304" charset="0"/>
                <a:sym typeface="+mn-ea"/>
              </a:rPr>
              <a:t>--trying to entice the Korean army to </a:t>
            </a:r>
            <a:r>
              <a:rPr lang="en-US" altLang="zh-CN" sz="2700" u="sng" dirty="0">
                <a:latin typeface="Times New Roman" panose="02020603050405020304" charset="0"/>
                <a:cs typeface="Times New Roman" panose="02020603050405020304" charset="0"/>
                <a:sym typeface="+mn-ea"/>
              </a:rPr>
              <a:t>launch an attack</a:t>
            </a:r>
            <a:r>
              <a:rPr lang="en-US" altLang="zh-CN" sz="2700" dirty="0">
                <a:latin typeface="Times New Roman" panose="02020603050405020304" charset="0"/>
                <a:cs typeface="Times New Roman" panose="02020603050405020304" charset="0"/>
                <a:sym typeface="+mn-ea"/>
              </a:rPr>
              <a:t> against them</a:t>
            </a:r>
            <a:endParaRPr lang="zh-CN" altLang="zh-CN" sz="2700" dirty="0">
              <a:latin typeface="Times New Roman" panose="02020603050405020304" charset="0"/>
              <a:cs typeface="Times New Roman" panose="02020603050405020304" charset="0"/>
            </a:endParaRPr>
          </a:p>
          <a:p>
            <a:pPr marL="0" indent="0" fontAlgn="auto">
              <a:lnSpc>
                <a:spcPct val="120000"/>
              </a:lnSpc>
            </a:pPr>
            <a:r>
              <a:rPr lang="en-US" altLang="zh-CN" sz="2700" dirty="0">
                <a:latin typeface="Times New Roman" panose="02020603050405020304" charset="0"/>
                <a:cs typeface="Times New Roman" panose="02020603050405020304" charset="0"/>
                <a:sym typeface="+mn-ea"/>
              </a:rPr>
              <a:t> Unnecessary verb + unnecessary noun. + third word</a:t>
            </a:r>
            <a:endParaRPr lang="zh-CN" altLang="zh-CN" sz="2700" dirty="0">
              <a:latin typeface="Times New Roman" panose="02020603050405020304" charset="0"/>
              <a:cs typeface="Times New Roman" panose="02020603050405020304" charset="0"/>
            </a:endParaRPr>
          </a:p>
          <a:p>
            <a:pPr marL="457200" lvl="1" indent="0" fontAlgn="auto">
              <a:lnSpc>
                <a:spcPct val="120000"/>
              </a:lnSpc>
              <a:buNone/>
            </a:pPr>
            <a:r>
              <a:rPr lang="en-US" altLang="zh-CN" sz="2700" dirty="0">
                <a:latin typeface="Times New Roman" panose="02020603050405020304" charset="0"/>
                <a:cs typeface="Times New Roman" panose="02020603050405020304" charset="0"/>
                <a:sym typeface="+mn-ea"/>
              </a:rPr>
              <a:t>--in all matters we must </a:t>
            </a:r>
            <a:r>
              <a:rPr lang="en-US" altLang="zh-CN" sz="2700" u="sng" dirty="0">
                <a:latin typeface="Times New Roman" panose="02020603050405020304" charset="0"/>
                <a:cs typeface="Times New Roman" panose="02020603050405020304" charset="0"/>
                <a:sym typeface="+mn-ea"/>
              </a:rPr>
              <a:t>assume the attitude of admitting</a:t>
            </a:r>
            <a:r>
              <a:rPr lang="en-US" altLang="zh-CN" sz="2700" dirty="0">
                <a:latin typeface="Times New Roman" panose="02020603050405020304" charset="0"/>
                <a:cs typeface="Times New Roman" panose="02020603050405020304" charset="0"/>
                <a:sym typeface="+mn-ea"/>
              </a:rPr>
              <a:t> what we do and do not know</a:t>
            </a:r>
            <a:endParaRPr lang="zh-CN" altLang="zh-CN" sz="2700" dirty="0">
              <a:latin typeface="Times New Roman" panose="02020603050405020304" charset="0"/>
              <a:cs typeface="Times New Roman" panose="02020603050405020304" charset="0"/>
            </a:endParaRPr>
          </a:p>
          <a:p>
            <a:pPr marL="457200" lvl="1" indent="0" fontAlgn="auto">
              <a:lnSpc>
                <a:spcPct val="120000"/>
              </a:lnSpc>
              <a:buNone/>
            </a:pPr>
            <a:r>
              <a:rPr lang="en-US" altLang="zh-CN" sz="2700" dirty="0">
                <a:latin typeface="Times New Roman" panose="02020603050405020304" charset="0"/>
                <a:cs typeface="Times New Roman" panose="02020603050405020304" charset="0"/>
                <a:sym typeface="+mn-ea"/>
              </a:rPr>
              <a:t>--we need to</a:t>
            </a:r>
            <a:r>
              <a:rPr lang="en-US" altLang="zh-CN" sz="2700" u="sng" dirty="0">
                <a:latin typeface="Times New Roman" panose="02020603050405020304" charset="0"/>
                <a:cs typeface="Times New Roman" panose="02020603050405020304" charset="0"/>
                <a:sym typeface="+mn-ea"/>
              </a:rPr>
              <a:t> achieve the objective of clarity</a:t>
            </a:r>
            <a:r>
              <a:rPr lang="en-US" altLang="zh-CN" sz="2700" dirty="0">
                <a:latin typeface="Times New Roman" panose="02020603050405020304" charset="0"/>
                <a:cs typeface="Times New Roman" panose="02020603050405020304" charset="0"/>
                <a:sym typeface="+mn-ea"/>
              </a:rPr>
              <a:t> in ideology</a:t>
            </a:r>
            <a:endParaRPr lang="zh-CN" altLang="zh-CN" sz="2700" dirty="0">
              <a:latin typeface="Times New Roman" panose="02020603050405020304" charset="0"/>
              <a:cs typeface="Times New Roman" panose="02020603050405020304" charset="0"/>
            </a:endParaRPr>
          </a:p>
          <a:p>
            <a:pPr marL="0" indent="0" fontAlgn="auto">
              <a:lnSpc>
                <a:spcPct val="150000"/>
              </a:lnSpc>
            </a:pPr>
            <a:endParaRPr lang="zh-CN" altLang="zh-CN" sz="2400" b="1" dirty="0">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内容占位符 2"/>
          <p:cNvSpPr>
            <a:spLocks noGrp="1"/>
          </p:cNvSpPr>
          <p:nvPr>
            <p:ph idx="1"/>
          </p:nvPr>
        </p:nvSpPr>
        <p:spPr>
          <a:xfrm>
            <a:off x="2133600" y="304800"/>
            <a:ext cx="8001000" cy="5440363"/>
          </a:xfrm>
        </p:spPr>
        <p:txBody>
          <a:bodyPr vert="horz" wrap="square" lIns="91440" tIns="45720" rIns="91440" bIns="45720" anchor="t" anchorCtr="0"/>
          <a:lstStyle/>
          <a:p>
            <a:pPr marL="0" indent="0">
              <a:buNone/>
            </a:pPr>
            <a:r>
              <a:rPr lang="en-US" altLang="zh-CN" b="1" dirty="0">
                <a:latin typeface="Times New Roman" panose="02020603050405020304" charset="0"/>
                <a:cs typeface="Times New Roman" panose="02020603050405020304" charset="0"/>
              </a:rPr>
              <a:t>Redundant Modifiers</a:t>
            </a:r>
            <a:endParaRPr lang="zh-CN" altLang="zh-CN" b="1" dirty="0">
              <a:latin typeface="Times New Roman" panose="02020603050405020304" charset="0"/>
              <a:cs typeface="Times New Roman" panose="02020603050405020304" charset="0"/>
            </a:endParaRPr>
          </a:p>
          <a:p>
            <a:r>
              <a:rPr lang="en-US" altLang="zh-CN" dirty="0">
                <a:latin typeface="Times New Roman" panose="02020603050405020304" charset="0"/>
                <a:cs typeface="Times New Roman" panose="02020603050405020304" charset="0"/>
              </a:rPr>
              <a:t>advance forecasts          </a:t>
            </a:r>
          </a:p>
          <a:p>
            <a:r>
              <a:rPr lang="en-US" altLang="zh-CN" dirty="0">
                <a:latin typeface="Times New Roman" panose="02020603050405020304" charset="0"/>
                <a:cs typeface="Times New Roman" panose="02020603050405020304" charset="0"/>
              </a:rPr>
              <a:t>female businesswoman Dong</a:t>
            </a:r>
            <a:r>
              <a:rPr lang="zh-CN" altLang="en-US" dirty="0">
                <a:latin typeface="Times New Roman" panose="02020603050405020304" charset="0"/>
                <a:cs typeface="Times New Roman" panose="02020603050405020304" charset="0"/>
              </a:rPr>
              <a:t> </a:t>
            </a:r>
            <a:r>
              <a:rPr lang="en-US" altLang="zh-CN" dirty="0" err="1">
                <a:latin typeface="Times New Roman" panose="02020603050405020304" charset="0"/>
                <a:cs typeface="Times New Roman" panose="02020603050405020304" charset="0"/>
              </a:rPr>
              <a:t>Mingzhu</a:t>
            </a:r>
            <a:endParaRPr lang="zh-CN" altLang="zh-CN" dirty="0">
              <a:latin typeface="Times New Roman" panose="02020603050405020304" charset="0"/>
              <a:cs typeface="Times New Roman" panose="02020603050405020304" charset="0"/>
            </a:endParaRPr>
          </a:p>
          <a:p>
            <a:r>
              <a:rPr lang="en-US" altLang="zh-CN" dirty="0">
                <a:latin typeface="Times New Roman" panose="02020603050405020304" charset="0"/>
                <a:cs typeface="Times New Roman" panose="02020603050405020304" charset="0"/>
              </a:rPr>
              <a:t>new innovations           </a:t>
            </a:r>
          </a:p>
          <a:p>
            <a:r>
              <a:rPr lang="en-US" altLang="zh-CN" dirty="0">
                <a:latin typeface="Times New Roman" panose="02020603050405020304" charset="0"/>
                <a:cs typeface="Times New Roman" panose="02020603050405020304" charset="0"/>
              </a:rPr>
              <a:t>a serious natural disaster</a:t>
            </a:r>
            <a:endParaRPr lang="zh-CN" altLang="zh-CN" dirty="0">
              <a:latin typeface="Times New Roman" panose="02020603050405020304" charset="0"/>
              <a:cs typeface="Times New Roman" panose="02020603050405020304" charset="0"/>
            </a:endParaRPr>
          </a:p>
          <a:p>
            <a:r>
              <a:rPr lang="en-US" altLang="zh-CN" dirty="0">
                <a:latin typeface="Times New Roman" panose="02020603050405020304" charset="0"/>
                <a:cs typeface="Times New Roman" panose="02020603050405020304" charset="0"/>
              </a:rPr>
              <a:t>mutual cooperation         </a:t>
            </a:r>
          </a:p>
          <a:p>
            <a:r>
              <a:rPr lang="en-US" altLang="zh-CN" dirty="0">
                <a:latin typeface="Times New Roman" panose="02020603050405020304" charset="0"/>
                <a:cs typeface="Times New Roman" panose="02020603050405020304" charset="0"/>
              </a:rPr>
              <a:t>an unfortunate tragedy</a:t>
            </a:r>
            <a:endParaRPr lang="zh-CN" altLang="zh-CN" dirty="0">
              <a:latin typeface="Times New Roman" panose="02020603050405020304" charset="0"/>
              <a:cs typeface="Times New Roman" panose="02020603050405020304" charset="0"/>
            </a:endParaRPr>
          </a:p>
          <a:p>
            <a:r>
              <a:rPr lang="en-US" altLang="zh-CN" dirty="0">
                <a:latin typeface="Times New Roman" panose="02020603050405020304" charset="0"/>
                <a:cs typeface="Times New Roman" panose="02020603050405020304" charset="0"/>
              </a:rPr>
              <a:t>residential housing         </a:t>
            </a:r>
          </a:p>
          <a:p>
            <a:r>
              <a:rPr lang="en-US" altLang="zh-CN" dirty="0">
                <a:latin typeface="Times New Roman" panose="02020603050405020304" charset="0"/>
                <a:cs typeface="Times New Roman" panose="02020603050405020304" charset="0"/>
              </a:rPr>
              <a:t>financial revenue and expenditure</a:t>
            </a:r>
            <a:endParaRPr lang="zh-CN" altLang="zh-CN" dirty="0">
              <a:latin typeface="Times New Roman" panose="02020603050405020304" charset="0"/>
              <a:cs typeface="Times New Roman" panose="02020603050405020304" charset="0"/>
            </a:endParaRPr>
          </a:p>
          <a:p>
            <a:r>
              <a:rPr lang="en-US" altLang="zh-CN" dirty="0">
                <a:latin typeface="Times New Roman" panose="02020603050405020304" charset="0"/>
                <a:cs typeface="Times New Roman" panose="02020603050405020304" charset="0"/>
              </a:rPr>
              <a:t>positive guidance          a family relative</a:t>
            </a:r>
            <a:endParaRPr lang="zh-CN" altLang="zh-CN" dirty="0">
              <a:latin typeface="Times New Roman" panose="02020603050405020304" charset="0"/>
              <a:cs typeface="Times New Roman" panose="02020603050405020304" charset="0"/>
            </a:endParaRPr>
          </a:p>
          <a:p>
            <a:endParaRPr lang="zh-CN" altLang="zh-CN" dirty="0">
              <a:latin typeface="Times New Roman" panose="02020603050405020304" charset="0"/>
              <a:cs typeface="Times New Roman" panose="0202060305040502030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fontScale="90000"/>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3110">
                <a:latin typeface="Times New Roman" panose="02020603050405020304" charset="0"/>
                <a:cs typeface="Times New Roman" panose="02020603050405020304" charset="0"/>
                <a:sym typeface="+mn-ea"/>
              </a:rPr>
              <a:t>Redundancy</a:t>
            </a:r>
            <a:r>
              <a:rPr lang="zh-CN" altLang="en-US" sz="3110">
                <a:latin typeface="Times New Roman" panose="02020603050405020304" charset="0"/>
                <a:cs typeface="Times New Roman" panose="02020603050405020304" charset="0"/>
                <a:sym typeface="+mn-ea"/>
              </a:rPr>
              <a:t> </a:t>
            </a:r>
            <a:endParaRPr lang="en-US" altLang="zh-CN" sz="311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5050790"/>
          </a:xfrm>
          <a:ln w="28575">
            <a:solidFill>
              <a:schemeClr val="accent2">
                <a:lumMod val="75000"/>
              </a:schemeClr>
            </a:solidFill>
          </a:ln>
        </p:spPr>
        <p:txBody>
          <a:bodyPr>
            <a:noAutofit/>
          </a:bodyPr>
          <a:lstStyle/>
          <a:p>
            <a:pPr algn="just" fontAlgn="auto">
              <a:lnSpc>
                <a:spcPct val="150000"/>
              </a:lnSpc>
            </a:pP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This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paper</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provides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a</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review</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of</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basic</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principles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of</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the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teaching</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design,</a:t>
            </a:r>
            <a:r>
              <a:rPr lang="zh-CN" altLang="en-US" sz="2700">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using</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as</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examples</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studies</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that</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illustrate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the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methodologic</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challenges</a:t>
            </a:r>
            <a:r>
              <a:rPr lang="zh-CN" altLang="en-US" sz="2700">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or</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that</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demonstrate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successful</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solutions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to</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the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difficulties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inherent</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in</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the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research.</a:t>
            </a:r>
            <a:endParaRPr lang="en-US" altLang="zh-CN" sz="2700">
              <a:latin typeface="Times New Roman" panose="02020603050405020304" charset="0"/>
              <a:cs typeface="Times New Roman" panose="02020603050405020304" charset="0"/>
            </a:endParaRPr>
          </a:p>
          <a:p>
            <a:pPr algn="just" fontAlgn="auto">
              <a:lnSpc>
                <a:spcPct val="150000"/>
              </a:lnSpc>
            </a:pPr>
            <a:r>
              <a:rPr lang="en-US" altLang="zh-CN" sz="2700">
                <a:latin typeface="Times New Roman" panose="02020603050405020304" charset="0"/>
                <a:cs typeface="Times New Roman" panose="02020603050405020304" charset="0"/>
                <a:sym typeface="+mn-ea"/>
              </a:rPr>
              <a:t>and</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uses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example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studies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to</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illustrate…and</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demonstrates…</a:t>
            </a:r>
            <a:endParaRPr lang="zh-CN" altLang="en-US" sz="2700">
              <a:latin typeface="Times New Roman" panose="02020603050405020304" charset="0"/>
              <a:cs typeface="Times New Roman" panose="02020603050405020304" charset="0"/>
            </a:endParaRPr>
          </a:p>
          <a:p>
            <a:pPr marL="0" indent="0" fontAlgn="auto">
              <a:lnSpc>
                <a:spcPct val="150000"/>
              </a:lnSpc>
            </a:pPr>
            <a:endParaRPr lang="zh-CN" altLang="zh-CN" sz="2400" b="1">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fontScale="90000"/>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3110">
                <a:latin typeface="Times New Roman" panose="02020603050405020304" charset="0"/>
                <a:cs typeface="Times New Roman" panose="02020603050405020304" charset="0"/>
                <a:sym typeface="+mn-ea"/>
              </a:rPr>
              <a:t>Redundancy</a:t>
            </a:r>
            <a:r>
              <a:rPr lang="zh-CN" altLang="en-US" sz="3110">
                <a:latin typeface="Times New Roman" panose="02020603050405020304" charset="0"/>
                <a:cs typeface="Times New Roman" panose="02020603050405020304" charset="0"/>
                <a:sym typeface="+mn-ea"/>
              </a:rPr>
              <a:t> </a:t>
            </a:r>
            <a:endParaRPr lang="en-US" altLang="zh-CN" sz="311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5050790"/>
          </a:xfrm>
          <a:ln w="28575">
            <a:solidFill>
              <a:schemeClr val="accent2">
                <a:lumMod val="75000"/>
              </a:schemeClr>
            </a:solidFill>
          </a:ln>
        </p:spPr>
        <p:txBody>
          <a:bodyPr>
            <a:noAutofit/>
          </a:bodyPr>
          <a:lstStyle/>
          <a:p>
            <a:pPr marL="0" indent="0" fontAlgn="auto">
              <a:lnSpc>
                <a:spcPct val="150000"/>
              </a:lnSpc>
            </a:pPr>
            <a:r>
              <a:rPr lang="en-US" altLang="zh-CN" sz="2700">
                <a:latin typeface="Times New Roman" panose="02020603050405020304" charset="0"/>
                <a:cs typeface="Times New Roman" panose="02020603050405020304" charset="0"/>
                <a:sym typeface="+mn-ea"/>
              </a:rPr>
              <a:t>As</a:t>
            </a:r>
            <a:r>
              <a:rPr lang="zh-CN" altLang="en-US" sz="2700">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it</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is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well</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known,</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increased</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researches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on</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English</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teaching</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in</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middle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school</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has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been</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related</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to</a:t>
            </a:r>
            <a:r>
              <a:rPr lang="zh-CN" altLang="en-US" sz="2700">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a</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series</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of</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class-teaching</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reforms,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publication</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of</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papers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on</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teaching</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and</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improved</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English</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score</a:t>
            </a:r>
            <a:r>
              <a:rPr lang="zh-CN" altLang="en-US" sz="2700">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level</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of</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students</a:t>
            </a:r>
            <a:endParaRPr lang="zh-CN" altLang="en-US" sz="2700">
              <a:latin typeface="Times New Roman" panose="02020603050405020304" charset="0"/>
              <a:cs typeface="Times New Roman" panose="02020603050405020304" charset="0"/>
            </a:endParaRPr>
          </a:p>
          <a:p>
            <a:pPr marL="0" indent="0" fontAlgn="auto">
              <a:lnSpc>
                <a:spcPct val="150000"/>
              </a:lnSpc>
            </a:pPr>
            <a:endParaRPr lang="zh-CN" altLang="zh-CN" sz="2400" b="1">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fontScale="90000"/>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3110">
                <a:latin typeface="Times New Roman" panose="02020603050405020304" charset="0"/>
                <a:cs typeface="Times New Roman" panose="02020603050405020304" charset="0"/>
                <a:sym typeface="+mn-ea"/>
              </a:rPr>
              <a:t>Redundancy</a:t>
            </a:r>
            <a:r>
              <a:rPr lang="zh-CN" altLang="en-US" sz="3110">
                <a:latin typeface="Times New Roman" panose="02020603050405020304" charset="0"/>
                <a:cs typeface="Times New Roman" panose="02020603050405020304" charset="0"/>
                <a:sym typeface="+mn-ea"/>
              </a:rPr>
              <a:t> </a:t>
            </a:r>
            <a:endParaRPr lang="en-US" altLang="zh-CN" sz="311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5050790"/>
          </a:xfrm>
          <a:ln w="28575">
            <a:solidFill>
              <a:schemeClr val="accent2">
                <a:lumMod val="75000"/>
              </a:schemeClr>
            </a:solidFill>
          </a:ln>
        </p:spPr>
        <p:txBody>
          <a:bodyPr>
            <a:noAutofit/>
          </a:bodyPr>
          <a:lstStyle/>
          <a:p>
            <a:pPr marL="0" indent="0" fontAlgn="auto">
              <a:lnSpc>
                <a:spcPct val="150000"/>
              </a:lnSpc>
            </a:pPr>
            <a:r>
              <a:rPr lang="en-US" altLang="zh-CN" sz="2700" dirty="0">
                <a:latin typeface="Times New Roman" panose="02020603050405020304" charset="0"/>
                <a:cs typeface="Times New Roman" panose="02020603050405020304" charset="0"/>
                <a:sym typeface="+mn-ea"/>
              </a:rPr>
              <a:t>This</a:t>
            </a:r>
            <a:r>
              <a:rPr lang="zh-CN" altLang="en-US" sz="2700" dirty="0">
                <a:latin typeface="Times New Roman" panose="02020603050405020304" charset="0"/>
                <a:cs typeface="Times New Roman" panose="02020603050405020304" charset="0"/>
                <a:sym typeface="+mn-ea"/>
              </a:rPr>
              <a:t> </a:t>
            </a:r>
            <a:r>
              <a:rPr lang="en-US" altLang="zh-CN" sz="2700" dirty="0">
                <a:latin typeface="Times New Roman" panose="02020603050405020304" charset="0"/>
                <a:cs typeface="Times New Roman" panose="02020603050405020304" charset="0"/>
                <a:sym typeface="+mn-ea"/>
              </a:rPr>
              <a:t>translation</a:t>
            </a:r>
            <a:r>
              <a:rPr lang="zh-CN" altLang="en-US" sz="2700" dirty="0">
                <a:latin typeface="Times New Roman" panose="02020603050405020304" charset="0"/>
                <a:cs typeface="Times New Roman" panose="02020603050405020304" charset="0"/>
                <a:sym typeface="+mn-ea"/>
              </a:rPr>
              <a:t> </a:t>
            </a:r>
            <a:r>
              <a:rPr lang="en-US" altLang="zh-CN" sz="2700" dirty="0">
                <a:latin typeface="Times New Roman" panose="02020603050405020304" charset="0"/>
                <a:cs typeface="Times New Roman" panose="02020603050405020304" charset="0"/>
                <a:sym typeface="+mn-ea"/>
              </a:rPr>
              <a:t>hypothesis</a:t>
            </a:r>
            <a:r>
              <a:rPr lang="zh-CN" altLang="en-US" sz="2700" dirty="0">
                <a:latin typeface="Times New Roman" panose="02020603050405020304" charset="0"/>
                <a:cs typeface="Times New Roman" panose="02020603050405020304" charset="0"/>
                <a:sym typeface="+mn-ea"/>
              </a:rPr>
              <a:t> </a:t>
            </a:r>
            <a:r>
              <a:rPr lang="en-US" altLang="zh-CN" sz="2700" dirty="0">
                <a:latin typeface="Times New Roman" panose="02020603050405020304" charset="0"/>
                <a:cs typeface="Times New Roman" panose="02020603050405020304" charset="0"/>
                <a:sym typeface="+mn-ea"/>
              </a:rPr>
              <a:t>is</a:t>
            </a:r>
            <a:r>
              <a:rPr lang="zh-CN" altLang="en-US" sz="2700" dirty="0">
                <a:latin typeface="Times New Roman" panose="02020603050405020304" charset="0"/>
                <a:cs typeface="Times New Roman" panose="02020603050405020304" charset="0"/>
                <a:sym typeface="+mn-ea"/>
              </a:rPr>
              <a:t> </a:t>
            </a:r>
            <a:r>
              <a:rPr lang="en-US" altLang="zh-CN" sz="2700" dirty="0">
                <a:latin typeface="Times New Roman" panose="02020603050405020304" charset="0"/>
                <a:cs typeface="Times New Roman" panose="02020603050405020304" charset="0"/>
                <a:sym typeface="+mn-ea"/>
              </a:rPr>
              <a:t>the</a:t>
            </a:r>
            <a:r>
              <a:rPr lang="zh-CN" altLang="en-US" sz="2700" dirty="0">
                <a:latin typeface="Times New Roman" panose="02020603050405020304" charset="0"/>
                <a:cs typeface="Times New Roman" panose="02020603050405020304" charset="0"/>
                <a:sym typeface="+mn-ea"/>
              </a:rPr>
              <a:t> </a:t>
            </a:r>
            <a:r>
              <a:rPr lang="en-US" altLang="zh-CN" sz="2700" dirty="0">
                <a:latin typeface="Times New Roman" panose="02020603050405020304" charset="0"/>
                <a:cs typeface="Times New Roman" panose="02020603050405020304" charset="0"/>
                <a:sym typeface="+mn-ea"/>
              </a:rPr>
              <a:t>first</a:t>
            </a:r>
            <a:r>
              <a:rPr lang="zh-CN" altLang="en-US" sz="2700" dirty="0">
                <a:latin typeface="Times New Roman" panose="02020603050405020304" charset="0"/>
                <a:cs typeface="Times New Roman" panose="02020603050405020304" charset="0"/>
                <a:sym typeface="+mn-ea"/>
              </a:rPr>
              <a:t> </a:t>
            </a:r>
            <a:r>
              <a:rPr lang="en-US" altLang="zh-CN" sz="2700" dirty="0">
                <a:latin typeface="Times New Roman" panose="02020603050405020304" charset="0"/>
                <a:cs typeface="Times New Roman" panose="02020603050405020304" charset="0"/>
                <a:sym typeface="+mn-ea"/>
              </a:rPr>
              <a:t>of</a:t>
            </a:r>
            <a:r>
              <a:rPr lang="zh-CN" altLang="en-US" sz="2700" dirty="0">
                <a:latin typeface="Times New Roman" panose="02020603050405020304" charset="0"/>
                <a:cs typeface="Times New Roman" panose="02020603050405020304" charset="0"/>
                <a:sym typeface="+mn-ea"/>
              </a:rPr>
              <a:t> </a:t>
            </a:r>
            <a:r>
              <a:rPr lang="en-US" altLang="zh-CN" sz="2700" dirty="0">
                <a:latin typeface="Times New Roman" panose="02020603050405020304" charset="0"/>
                <a:cs typeface="Times New Roman" panose="02020603050405020304" charset="0"/>
                <a:sym typeface="+mn-ea"/>
              </a:rPr>
              <a:t>its</a:t>
            </a:r>
            <a:r>
              <a:rPr lang="zh-CN" altLang="en-US" sz="2700" dirty="0">
                <a:latin typeface="Times New Roman" panose="02020603050405020304" charset="0"/>
                <a:cs typeface="Times New Roman" panose="02020603050405020304" charset="0"/>
                <a:sym typeface="+mn-ea"/>
              </a:rPr>
              <a:t> </a:t>
            </a:r>
            <a:r>
              <a:rPr lang="en-US" altLang="zh-CN" sz="2700" dirty="0">
                <a:latin typeface="Times New Roman" panose="02020603050405020304" charset="0"/>
                <a:cs typeface="Times New Roman" panose="02020603050405020304" charset="0"/>
                <a:sym typeface="+mn-ea"/>
              </a:rPr>
              <a:t>kind</a:t>
            </a:r>
            <a:r>
              <a:rPr lang="zh-CN" altLang="en-US" sz="2700" dirty="0">
                <a:latin typeface="Times New Roman" panose="02020603050405020304" charset="0"/>
                <a:cs typeface="Times New Roman" panose="02020603050405020304" charset="0"/>
                <a:sym typeface="+mn-ea"/>
              </a:rPr>
              <a:t> </a:t>
            </a:r>
            <a:r>
              <a:rPr lang="en-US" altLang="zh-CN" sz="2700" dirty="0">
                <a:latin typeface="Times New Roman" panose="02020603050405020304" charset="0"/>
                <a:cs typeface="Times New Roman" panose="02020603050405020304" charset="0"/>
                <a:sym typeface="+mn-ea"/>
              </a:rPr>
              <a:t>and</a:t>
            </a:r>
            <a:r>
              <a:rPr lang="zh-CN" altLang="en-US" sz="2700" dirty="0">
                <a:latin typeface="Times New Roman" panose="02020603050405020304" charset="0"/>
                <a:cs typeface="Times New Roman" panose="02020603050405020304" charset="0"/>
                <a:sym typeface="+mn-ea"/>
              </a:rPr>
              <a:t> </a:t>
            </a:r>
            <a:r>
              <a:rPr lang="en-US" altLang="zh-CN" sz="2700" dirty="0">
                <a:solidFill>
                  <a:srgbClr val="FF0000"/>
                </a:solidFill>
                <a:latin typeface="Times New Roman" panose="02020603050405020304" charset="0"/>
                <a:cs typeface="Times New Roman" panose="02020603050405020304" charset="0"/>
                <a:sym typeface="+mn-ea"/>
              </a:rPr>
              <a:t>is</a:t>
            </a:r>
            <a:r>
              <a:rPr lang="zh-CN" altLang="en-US" sz="2700" dirty="0">
                <a:solidFill>
                  <a:srgbClr val="FF0000"/>
                </a:solidFill>
                <a:latin typeface="Times New Roman" panose="02020603050405020304" charset="0"/>
                <a:cs typeface="Times New Roman" panose="02020603050405020304" charset="0"/>
                <a:sym typeface="+mn-ea"/>
              </a:rPr>
              <a:t> </a:t>
            </a:r>
            <a:r>
              <a:rPr lang="en-US" altLang="zh-CN" sz="2700" dirty="0">
                <a:solidFill>
                  <a:srgbClr val="FF0000"/>
                </a:solidFill>
                <a:latin typeface="Times New Roman" panose="02020603050405020304" charset="0"/>
                <a:cs typeface="Times New Roman" panose="02020603050405020304" charset="0"/>
                <a:sym typeface="+mn-ea"/>
              </a:rPr>
              <a:t>a</a:t>
            </a:r>
            <a:r>
              <a:rPr lang="zh-CN" altLang="en-US" sz="2700" dirty="0">
                <a:solidFill>
                  <a:srgbClr val="FF0000"/>
                </a:solidFill>
                <a:latin typeface="Times New Roman" panose="02020603050405020304" charset="0"/>
                <a:cs typeface="Times New Roman" panose="02020603050405020304" charset="0"/>
                <a:sym typeface="+mn-ea"/>
              </a:rPr>
              <a:t> </a:t>
            </a:r>
            <a:r>
              <a:rPr lang="en-US" altLang="zh-CN" sz="2700" dirty="0">
                <a:solidFill>
                  <a:srgbClr val="FF0000"/>
                </a:solidFill>
                <a:latin typeface="Times New Roman" panose="02020603050405020304" charset="0"/>
                <a:cs typeface="Times New Roman" panose="02020603050405020304" charset="0"/>
                <a:sym typeface="+mn-ea"/>
              </a:rPr>
              <a:t>proof</a:t>
            </a:r>
            <a:r>
              <a:rPr lang="zh-CN" altLang="en-US" sz="2700" dirty="0">
                <a:solidFill>
                  <a:srgbClr val="FF0000"/>
                </a:solidFill>
                <a:latin typeface="Times New Roman" panose="02020603050405020304" charset="0"/>
                <a:cs typeface="Times New Roman" panose="02020603050405020304" charset="0"/>
                <a:sym typeface="+mn-ea"/>
              </a:rPr>
              <a:t> </a:t>
            </a:r>
            <a:r>
              <a:rPr lang="en-US" altLang="zh-CN" sz="2700" dirty="0">
                <a:solidFill>
                  <a:srgbClr val="FF0000"/>
                </a:solidFill>
                <a:latin typeface="Times New Roman" panose="02020603050405020304" charset="0"/>
                <a:cs typeface="Times New Roman" panose="02020603050405020304" charset="0"/>
                <a:sym typeface="+mn-ea"/>
              </a:rPr>
              <a:t>of</a:t>
            </a:r>
            <a:r>
              <a:rPr lang="zh-CN" altLang="en-US" sz="2700" dirty="0">
                <a:solidFill>
                  <a:srgbClr val="FF0000"/>
                </a:solidFill>
                <a:latin typeface="Times New Roman" panose="02020603050405020304" charset="0"/>
                <a:cs typeface="Times New Roman" panose="02020603050405020304" charset="0"/>
                <a:sym typeface="+mn-ea"/>
              </a:rPr>
              <a:t> </a:t>
            </a:r>
            <a:r>
              <a:rPr lang="en-US" altLang="zh-CN" sz="2700" dirty="0">
                <a:solidFill>
                  <a:srgbClr val="FF0000"/>
                </a:solidFill>
                <a:latin typeface="Times New Roman" panose="02020603050405020304" charset="0"/>
                <a:cs typeface="Times New Roman" panose="02020603050405020304" charset="0"/>
                <a:sym typeface="+mn-ea"/>
              </a:rPr>
              <a:t>principle</a:t>
            </a:r>
            <a:r>
              <a:rPr lang="zh-CN" altLang="en-US" sz="2700" dirty="0">
                <a:solidFill>
                  <a:srgbClr val="FF0000"/>
                </a:solidFill>
                <a:latin typeface="Times New Roman" panose="02020603050405020304" charset="0"/>
                <a:cs typeface="Times New Roman" panose="02020603050405020304" charset="0"/>
                <a:sym typeface="+mn-ea"/>
              </a:rPr>
              <a:t> </a:t>
            </a:r>
            <a:r>
              <a:rPr lang="en-US" altLang="zh-CN" sz="2700" dirty="0">
                <a:solidFill>
                  <a:srgbClr val="FF0000"/>
                </a:solidFill>
                <a:latin typeface="Times New Roman" panose="02020603050405020304" charset="0"/>
                <a:cs typeface="Times New Roman" panose="02020603050405020304" charset="0"/>
                <a:sym typeface="+mn-ea"/>
              </a:rPr>
              <a:t>for</a:t>
            </a:r>
            <a:r>
              <a:rPr lang="zh-CN" altLang="en-US" sz="2700" dirty="0">
                <a:solidFill>
                  <a:srgbClr val="FF0000"/>
                </a:solidFill>
                <a:latin typeface="Times New Roman" panose="02020603050405020304" charset="0"/>
                <a:cs typeface="Times New Roman" panose="02020603050405020304" charset="0"/>
                <a:sym typeface="+mn-ea"/>
              </a:rPr>
              <a:t> </a:t>
            </a:r>
            <a:r>
              <a:rPr lang="en-US" altLang="zh-CN" sz="2700" dirty="0">
                <a:latin typeface="Times New Roman" panose="02020603050405020304" charset="0"/>
                <a:cs typeface="Times New Roman" panose="02020603050405020304" charset="0"/>
                <a:sym typeface="+mn-ea"/>
              </a:rPr>
              <a:t>the</a:t>
            </a:r>
            <a:r>
              <a:rPr lang="zh-CN" altLang="en-US" sz="2700" dirty="0">
                <a:latin typeface="Times New Roman" panose="02020603050405020304" charset="0"/>
                <a:cs typeface="Times New Roman" panose="02020603050405020304" charset="0"/>
                <a:sym typeface="+mn-ea"/>
              </a:rPr>
              <a:t> </a:t>
            </a:r>
            <a:r>
              <a:rPr lang="en-US" altLang="zh-CN" sz="2700" dirty="0">
                <a:solidFill>
                  <a:srgbClr val="FF0000"/>
                </a:solidFill>
                <a:latin typeface="Times New Roman" panose="02020603050405020304" charset="0"/>
                <a:cs typeface="Times New Roman" panose="02020603050405020304" charset="0"/>
                <a:sym typeface="+mn-ea"/>
              </a:rPr>
              <a:t>concept</a:t>
            </a:r>
            <a:r>
              <a:rPr lang="zh-CN" altLang="en-US" sz="2700" dirty="0">
                <a:solidFill>
                  <a:srgbClr val="FF0000"/>
                </a:solidFill>
                <a:latin typeface="Times New Roman" panose="02020603050405020304" charset="0"/>
                <a:cs typeface="Times New Roman" panose="02020603050405020304" charset="0"/>
                <a:sym typeface="+mn-ea"/>
              </a:rPr>
              <a:t> </a:t>
            </a:r>
            <a:r>
              <a:rPr lang="en-US" altLang="zh-CN" sz="2700" dirty="0">
                <a:latin typeface="Times New Roman" panose="02020603050405020304" charset="0"/>
                <a:cs typeface="Times New Roman" panose="02020603050405020304" charset="0"/>
                <a:sym typeface="+mn-ea"/>
              </a:rPr>
              <a:t>of</a:t>
            </a:r>
            <a:r>
              <a:rPr lang="zh-CN" altLang="en-US" sz="2700" dirty="0">
                <a:latin typeface="Times New Roman" panose="02020603050405020304" charset="0"/>
                <a:cs typeface="Times New Roman" panose="02020603050405020304" charset="0"/>
                <a:sym typeface="+mn-ea"/>
              </a:rPr>
              <a:t> </a:t>
            </a:r>
            <a:r>
              <a:rPr lang="en-US" altLang="zh-CN" sz="2700" dirty="0">
                <a:latin typeface="Times New Roman" panose="02020603050405020304" charset="0"/>
                <a:cs typeface="Times New Roman" panose="02020603050405020304" charset="0"/>
                <a:sym typeface="+mn-ea"/>
              </a:rPr>
              <a:t>translation</a:t>
            </a:r>
            <a:r>
              <a:rPr lang="zh-CN" altLang="en-US" sz="2700" dirty="0">
                <a:latin typeface="Times New Roman" panose="02020603050405020304" charset="0"/>
                <a:cs typeface="Times New Roman" panose="02020603050405020304" charset="0"/>
                <a:sym typeface="+mn-ea"/>
              </a:rPr>
              <a:t> </a:t>
            </a:r>
            <a:r>
              <a:rPr lang="en-US" altLang="zh-CN" sz="2700" dirty="0">
                <a:latin typeface="Times New Roman" panose="02020603050405020304" charset="0"/>
                <a:cs typeface="Times New Roman" panose="02020603050405020304" charset="0"/>
                <a:sym typeface="+mn-ea"/>
              </a:rPr>
              <a:t>equivalence.</a:t>
            </a:r>
            <a:endParaRPr lang="en-US" altLang="zh-CN" sz="2700" dirty="0">
              <a:latin typeface="Times New Roman" panose="02020603050405020304" charset="0"/>
              <a:cs typeface="Times New Roman" panose="02020603050405020304" charset="0"/>
            </a:endParaRPr>
          </a:p>
          <a:p>
            <a:pPr marL="0" indent="0" fontAlgn="auto">
              <a:lnSpc>
                <a:spcPct val="150000"/>
              </a:lnSpc>
            </a:pPr>
            <a:r>
              <a:rPr lang="en-US" altLang="zh-CN" sz="2700" dirty="0">
                <a:latin typeface="Times New Roman" panose="02020603050405020304" charset="0"/>
                <a:cs typeface="Times New Roman" panose="02020603050405020304" charset="0"/>
                <a:sym typeface="+mn-ea"/>
              </a:rPr>
              <a:t>and</a:t>
            </a:r>
            <a:r>
              <a:rPr lang="zh-CN" altLang="en-US" sz="2700" dirty="0">
                <a:latin typeface="Times New Roman" panose="02020603050405020304" charset="0"/>
                <a:cs typeface="Times New Roman" panose="02020603050405020304" charset="0"/>
                <a:sym typeface="+mn-ea"/>
              </a:rPr>
              <a:t> </a:t>
            </a:r>
            <a:r>
              <a:rPr lang="en-US" altLang="zh-CN" sz="2700" dirty="0">
                <a:latin typeface="Times New Roman" panose="02020603050405020304" charset="0"/>
                <a:cs typeface="Times New Roman" panose="02020603050405020304" charset="0"/>
                <a:sym typeface="+mn-ea"/>
              </a:rPr>
              <a:t>proves</a:t>
            </a:r>
            <a:r>
              <a:rPr lang="zh-CN" altLang="en-US" sz="2700" dirty="0">
                <a:latin typeface="Times New Roman" panose="02020603050405020304" charset="0"/>
                <a:cs typeface="Times New Roman" panose="02020603050405020304" charset="0"/>
                <a:sym typeface="+mn-ea"/>
              </a:rPr>
              <a:t> </a:t>
            </a:r>
            <a:r>
              <a:rPr lang="en-US" altLang="zh-CN" sz="2700" dirty="0">
                <a:latin typeface="Times New Roman" panose="02020603050405020304" charset="0"/>
                <a:cs typeface="Times New Roman" panose="02020603050405020304" charset="0"/>
                <a:sym typeface="+mn-ea"/>
              </a:rPr>
              <a:t>the</a:t>
            </a:r>
            <a:r>
              <a:rPr lang="zh-CN" altLang="en-US" sz="2700" dirty="0">
                <a:latin typeface="Times New Roman" panose="02020603050405020304" charset="0"/>
                <a:cs typeface="Times New Roman" panose="02020603050405020304" charset="0"/>
                <a:sym typeface="+mn-ea"/>
              </a:rPr>
              <a:t> </a:t>
            </a:r>
            <a:r>
              <a:rPr lang="en-US" altLang="zh-CN" sz="2700" dirty="0">
                <a:latin typeface="Times New Roman" panose="02020603050405020304" charset="0"/>
                <a:cs typeface="Times New Roman" panose="02020603050405020304" charset="0"/>
                <a:sym typeface="+mn-ea"/>
              </a:rPr>
              <a:t>principle</a:t>
            </a:r>
            <a:r>
              <a:rPr lang="zh-CN" altLang="en-US" sz="2700" dirty="0">
                <a:latin typeface="Times New Roman" panose="02020603050405020304" charset="0"/>
                <a:cs typeface="Times New Roman" panose="02020603050405020304" charset="0"/>
                <a:sym typeface="+mn-ea"/>
              </a:rPr>
              <a:t> </a:t>
            </a:r>
            <a:r>
              <a:rPr lang="en-US" altLang="zh-CN" sz="2700" dirty="0">
                <a:latin typeface="Times New Roman" panose="02020603050405020304" charset="0"/>
                <a:cs typeface="Times New Roman" panose="02020603050405020304" charset="0"/>
                <a:sym typeface="+mn-ea"/>
              </a:rPr>
              <a:t>of</a:t>
            </a:r>
            <a:r>
              <a:rPr lang="zh-CN" altLang="en-US" sz="2700" dirty="0">
                <a:latin typeface="Times New Roman" panose="02020603050405020304" charset="0"/>
                <a:cs typeface="Times New Roman" panose="02020603050405020304" charset="0"/>
                <a:sym typeface="+mn-ea"/>
              </a:rPr>
              <a:t> </a:t>
            </a:r>
            <a:r>
              <a:rPr lang="en-US" altLang="zh-CN" sz="2700" dirty="0">
                <a:latin typeface="Times New Roman" panose="02020603050405020304" charset="0"/>
                <a:cs typeface="Times New Roman" panose="02020603050405020304" charset="0"/>
                <a:sym typeface="+mn-ea"/>
              </a:rPr>
              <a:t>translation…</a:t>
            </a:r>
            <a:endParaRPr lang="zh-CN" altLang="en-US" sz="2700" dirty="0">
              <a:latin typeface="Times New Roman" panose="02020603050405020304" charset="0"/>
              <a:cs typeface="Times New Roman" panose="02020603050405020304" charset="0"/>
            </a:endParaRPr>
          </a:p>
          <a:p>
            <a:pPr marL="0" indent="0" fontAlgn="auto">
              <a:lnSpc>
                <a:spcPct val="150000"/>
              </a:lnSpc>
            </a:pPr>
            <a:endParaRPr lang="zh-CN" altLang="zh-CN" sz="2400" b="1" dirty="0">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fontScale="90000"/>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3110">
                <a:latin typeface="Times New Roman" panose="02020603050405020304" charset="0"/>
                <a:cs typeface="Times New Roman" panose="02020603050405020304" charset="0"/>
                <a:sym typeface="+mn-ea"/>
              </a:rPr>
              <a:t>Redundancy</a:t>
            </a:r>
            <a:r>
              <a:rPr lang="zh-CN" altLang="en-US" sz="3110">
                <a:latin typeface="Times New Roman" panose="02020603050405020304" charset="0"/>
                <a:cs typeface="Times New Roman" panose="02020603050405020304" charset="0"/>
                <a:sym typeface="+mn-ea"/>
              </a:rPr>
              <a:t> </a:t>
            </a:r>
            <a:endParaRPr lang="en-US" altLang="zh-CN" sz="311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5050790"/>
          </a:xfrm>
          <a:ln w="28575">
            <a:solidFill>
              <a:schemeClr val="accent2">
                <a:lumMod val="75000"/>
              </a:schemeClr>
            </a:solidFill>
          </a:ln>
        </p:spPr>
        <p:txBody>
          <a:bodyPr>
            <a:noAutofit/>
          </a:bodyPr>
          <a:lstStyle/>
          <a:p>
            <a:pPr marL="0" indent="0" fontAlgn="auto">
              <a:lnSpc>
                <a:spcPct val="150000"/>
              </a:lnSpc>
            </a:pPr>
            <a:r>
              <a:rPr lang="en-US" altLang="zh-CN" sz="2700">
                <a:latin typeface="Times New Roman" panose="02020603050405020304" charset="0"/>
                <a:cs typeface="Times New Roman" panose="02020603050405020304" charset="0"/>
                <a:sym typeface="+mn-ea"/>
              </a:rPr>
              <a:t>Language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acquisition</a:t>
            </a:r>
            <a:r>
              <a:rPr lang="zh-CN" altLang="en-US" sz="2700">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shows</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two</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peaks</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in</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almost</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all</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reports:</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rates</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are</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the</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highest</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in</a:t>
            </a:r>
            <a:r>
              <a:rPr lang="zh-CN" altLang="en-US" sz="2700" u="sng">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young</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people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and</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the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elderly.</a:t>
            </a:r>
            <a:endParaRPr lang="en-US" altLang="zh-CN" sz="2700">
              <a:latin typeface="Times New Roman" panose="02020603050405020304" charset="0"/>
              <a:cs typeface="Times New Roman" panose="02020603050405020304" charset="0"/>
            </a:endParaRPr>
          </a:p>
          <a:p>
            <a:pPr marL="0" indent="0" fontAlgn="auto">
              <a:lnSpc>
                <a:spcPct val="150000"/>
              </a:lnSpc>
            </a:pPr>
            <a:r>
              <a:rPr lang="en-US" altLang="zh-CN" sz="2700">
                <a:solidFill>
                  <a:srgbClr val="FF0000"/>
                </a:solidFill>
                <a:latin typeface="Times New Roman" panose="02020603050405020304" charset="0"/>
                <a:cs typeface="Times New Roman" panose="02020603050405020304" charset="0"/>
                <a:sym typeface="+mn-ea"/>
              </a:rPr>
              <a:t>In</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almost</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all</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reports,</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language</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acquisition</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peaks</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in</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the</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groups</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of</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the…</a:t>
            </a:r>
            <a:endParaRPr lang="zh-CN" altLang="zh-CN" sz="2400" b="1">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fontScale="90000"/>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3110">
                <a:latin typeface="Times New Roman" panose="02020603050405020304" charset="0"/>
                <a:cs typeface="Times New Roman" panose="02020603050405020304" charset="0"/>
                <a:sym typeface="+mn-ea"/>
              </a:rPr>
              <a:t>Redundancy</a:t>
            </a:r>
            <a:r>
              <a:rPr lang="zh-CN" altLang="en-US" sz="3110">
                <a:latin typeface="Times New Roman" panose="02020603050405020304" charset="0"/>
                <a:cs typeface="Times New Roman" panose="02020603050405020304" charset="0"/>
                <a:sym typeface="+mn-ea"/>
              </a:rPr>
              <a:t> </a:t>
            </a:r>
            <a:endParaRPr lang="en-US" altLang="zh-CN" sz="311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5050790"/>
          </a:xfrm>
          <a:ln w="28575">
            <a:solidFill>
              <a:schemeClr val="accent2">
                <a:lumMod val="75000"/>
              </a:schemeClr>
            </a:solidFill>
          </a:ln>
        </p:spPr>
        <p:txBody>
          <a:bodyPr>
            <a:noAutofit/>
          </a:bodyPr>
          <a:lstStyle/>
          <a:p>
            <a:pPr marL="0" indent="0" fontAlgn="auto">
              <a:lnSpc>
                <a:spcPct val="150000"/>
              </a:lnSpc>
            </a:pPr>
            <a:r>
              <a:rPr lang="en-US" altLang="zh-CN" sz="2700">
                <a:latin typeface="Times New Roman" panose="02020603050405020304" charset="0"/>
                <a:cs typeface="Times New Roman" panose="02020603050405020304" charset="0"/>
                <a:sym typeface="+mn-ea"/>
              </a:rPr>
              <a:t>The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expected</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pass-rate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for</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TEM-4</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based</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on</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the</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assumption</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that</a:t>
            </a:r>
            <a:r>
              <a:rPr lang="zh-CN" altLang="en-US" sz="2700" u="sng">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everyone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in</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the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class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presents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in</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the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exam,</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is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about</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88%.</a:t>
            </a:r>
            <a:endParaRPr lang="en-US" altLang="zh-CN" sz="2700">
              <a:latin typeface="Times New Roman" panose="02020603050405020304" charset="0"/>
              <a:cs typeface="Times New Roman" panose="02020603050405020304" charset="0"/>
            </a:endParaRPr>
          </a:p>
          <a:p>
            <a:pPr marL="0" indent="0" fontAlgn="auto">
              <a:lnSpc>
                <a:spcPct val="150000"/>
              </a:lnSpc>
            </a:pPr>
            <a:r>
              <a:rPr lang="en-US" altLang="zh-CN" sz="2700">
                <a:solidFill>
                  <a:srgbClr val="FF0000"/>
                </a:solidFill>
                <a:latin typeface="Times New Roman" panose="02020603050405020304" charset="0"/>
                <a:cs typeface="Times New Roman" panose="02020603050405020304" charset="0"/>
                <a:sym typeface="+mn-ea"/>
              </a:rPr>
              <a:t>if</a:t>
            </a:r>
            <a:endParaRPr lang="zh-CN" altLang="zh-CN" sz="2400" b="1">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fontScale="90000"/>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3110">
                <a:latin typeface="Times New Roman" panose="02020603050405020304" charset="0"/>
                <a:cs typeface="Times New Roman" panose="02020603050405020304" charset="0"/>
                <a:sym typeface="+mn-ea"/>
              </a:rPr>
              <a:t>Redundancy</a:t>
            </a:r>
            <a:r>
              <a:rPr lang="zh-CN" altLang="en-US" sz="3110">
                <a:latin typeface="Times New Roman" panose="02020603050405020304" charset="0"/>
                <a:cs typeface="Times New Roman" panose="02020603050405020304" charset="0"/>
                <a:sym typeface="+mn-ea"/>
              </a:rPr>
              <a:t> </a:t>
            </a:r>
            <a:endParaRPr lang="en-US" altLang="zh-CN" sz="311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5050790"/>
          </a:xfrm>
          <a:ln w="28575">
            <a:solidFill>
              <a:schemeClr val="accent2">
                <a:lumMod val="75000"/>
              </a:schemeClr>
            </a:solidFill>
          </a:ln>
        </p:spPr>
        <p:txBody>
          <a:bodyPr>
            <a:noAutofit/>
          </a:bodyPr>
          <a:lstStyle/>
          <a:p>
            <a:pPr marL="0" indent="0" fontAlgn="auto">
              <a:lnSpc>
                <a:spcPct val="150000"/>
              </a:lnSpc>
            </a:pPr>
            <a:r>
              <a:rPr lang="en-US" altLang="zh-CN" sz="2700">
                <a:latin typeface="Times New Roman" panose="02020603050405020304" charset="0"/>
                <a:cs typeface="Times New Roman" panose="02020603050405020304" charset="0"/>
                <a:sym typeface="+mn-ea"/>
              </a:rPr>
              <a:t>A</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description</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of</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the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participants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and</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equipment</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is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necessary,</a:t>
            </a:r>
            <a:r>
              <a:rPr lang="zh-CN" altLang="en-US" sz="2700">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and</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the</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deficiency</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of</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it</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may</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cause</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confusion</a:t>
            </a:r>
            <a:r>
              <a:rPr lang="zh-CN" altLang="en-US" sz="2700" u="sng">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among</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readers.</a:t>
            </a:r>
            <a:endParaRPr lang="en-US" altLang="zh-CN" sz="2700">
              <a:latin typeface="Times New Roman" panose="02020603050405020304" charset="0"/>
              <a:cs typeface="Times New Roman" panose="02020603050405020304" charset="0"/>
            </a:endParaRPr>
          </a:p>
          <a:p>
            <a:pPr marL="0" indent="0" fontAlgn="auto">
              <a:lnSpc>
                <a:spcPct val="150000"/>
              </a:lnSpc>
            </a:pPr>
            <a:r>
              <a:rPr lang="en-US" altLang="zh-CN" sz="2700">
                <a:solidFill>
                  <a:srgbClr val="FF0000"/>
                </a:solidFill>
                <a:latin typeface="Times New Roman" panose="02020603050405020304" charset="0"/>
                <a:cs typeface="Times New Roman" panose="02020603050405020304" charset="0"/>
                <a:sym typeface="+mn-ea"/>
              </a:rPr>
              <a:t>because</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it</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clarifies</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the</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preparation</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of</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the</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experiment</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for</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the</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readers</a:t>
            </a:r>
            <a:endParaRPr lang="zh-CN" altLang="zh-CN" sz="2400" b="1">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fontScale="90000"/>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3110">
                <a:latin typeface="Times New Roman" panose="02020603050405020304" charset="0"/>
                <a:cs typeface="Times New Roman" panose="02020603050405020304" charset="0"/>
                <a:sym typeface="+mn-ea"/>
              </a:rPr>
              <a:t>Redundancy</a:t>
            </a:r>
            <a:r>
              <a:rPr lang="zh-CN" altLang="en-US" sz="3110">
                <a:latin typeface="Times New Roman" panose="02020603050405020304" charset="0"/>
                <a:cs typeface="Times New Roman" panose="02020603050405020304" charset="0"/>
                <a:sym typeface="+mn-ea"/>
              </a:rPr>
              <a:t> </a:t>
            </a:r>
            <a:endParaRPr lang="en-US" altLang="zh-CN" sz="311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5050790"/>
          </a:xfrm>
          <a:ln w="28575">
            <a:solidFill>
              <a:schemeClr val="accent2">
                <a:lumMod val="75000"/>
              </a:schemeClr>
            </a:solidFill>
          </a:ln>
        </p:spPr>
        <p:txBody>
          <a:bodyPr>
            <a:noAutofit/>
          </a:bodyPr>
          <a:lstStyle/>
          <a:p>
            <a:pPr marL="0" lvl="0" indent="0" algn="just" fontAlgn="auto">
              <a:lnSpc>
                <a:spcPct val="120000"/>
              </a:lnSpc>
              <a:spcBef>
                <a:spcPct val="0"/>
              </a:spcBef>
              <a:buNone/>
            </a:pPr>
            <a:r>
              <a:rPr lang="en-US" altLang="zh-CN" sz="2700" u="sng">
                <a:latin typeface="Times New Roman" panose="02020603050405020304" charset="0"/>
                <a:cs typeface="Times New Roman" panose="02020603050405020304" charset="0"/>
                <a:sym typeface="+mn-ea"/>
              </a:rPr>
              <a:t>The</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fear</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expressed</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by</a:t>
            </a:r>
            <a:r>
              <a:rPr lang="zh-CN" altLang="en-US" sz="2700" u="sng">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some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teachers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that</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students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would</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not</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learn</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statistics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well</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is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they</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were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permitted</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to</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use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canned</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computer</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programs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has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not</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been</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realized</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in</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our</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experience.</a:t>
            </a:r>
            <a:r>
              <a:rPr lang="zh-CN" altLang="en-US" sz="2700">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A</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careful</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monitoring</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of</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achievement</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levels</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before</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and</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after</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the</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introduction</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of</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computers</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in</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the</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teaching</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of</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our</a:t>
            </a:r>
            <a:r>
              <a:rPr lang="zh-CN" altLang="en-US" sz="2700" u="sng">
                <a:latin typeface="Times New Roman" panose="02020603050405020304" charset="0"/>
                <a:cs typeface="Times New Roman" panose="02020603050405020304" charset="0"/>
                <a:sym typeface="+mn-ea"/>
              </a:rPr>
              <a:t> </a:t>
            </a:r>
            <a:r>
              <a:rPr lang="en-US" altLang="zh-CN" sz="2700" u="sng">
                <a:latin typeface="Times New Roman" panose="02020603050405020304" charset="0"/>
                <a:cs typeface="Times New Roman" panose="02020603050405020304" charset="0"/>
                <a:sym typeface="+mn-ea"/>
              </a:rPr>
              <a:t>course</a:t>
            </a:r>
            <a:r>
              <a:rPr lang="zh-CN" altLang="en-US" sz="2700" u="sng">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revealed</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no</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appreciable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change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in</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students’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performances.</a:t>
            </a:r>
            <a:endParaRPr lang="en-US" altLang="zh-CN" sz="2700">
              <a:latin typeface="Times New Roman" panose="02020603050405020304" charset="0"/>
              <a:cs typeface="Times New Roman" panose="02020603050405020304" charset="0"/>
            </a:endParaRPr>
          </a:p>
          <a:p>
            <a:pPr marL="0" lvl="0" indent="0" algn="just" fontAlgn="auto">
              <a:lnSpc>
                <a:spcPct val="120000"/>
              </a:lnSpc>
              <a:spcBef>
                <a:spcPct val="0"/>
              </a:spcBef>
              <a:buNone/>
            </a:pPr>
            <a:r>
              <a:rPr lang="en-US" altLang="zh-CN" sz="2700">
                <a:solidFill>
                  <a:srgbClr val="FF0000"/>
                </a:solidFill>
                <a:latin typeface="Times New Roman" panose="02020603050405020304" charset="0"/>
                <a:cs typeface="Times New Roman" panose="02020603050405020304" charset="0"/>
                <a:sym typeface="+mn-ea"/>
              </a:rPr>
              <a:t>Some</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teachers</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fear</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that…well</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because</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…programs</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which…</a:t>
            </a:r>
            <a:endParaRPr lang="en-US" altLang="zh-CN" sz="2700">
              <a:solidFill>
                <a:srgbClr val="FF0000"/>
              </a:solidFill>
              <a:latin typeface="Times New Roman" panose="02020603050405020304" charset="0"/>
              <a:cs typeface="Times New Roman" panose="02020603050405020304" charset="0"/>
            </a:endParaRPr>
          </a:p>
          <a:p>
            <a:pPr marL="0" lvl="0" indent="0" algn="just" fontAlgn="auto">
              <a:lnSpc>
                <a:spcPct val="120000"/>
              </a:lnSpc>
              <a:spcBef>
                <a:spcPct val="0"/>
              </a:spcBef>
              <a:buNone/>
            </a:pPr>
            <a:r>
              <a:rPr lang="en-US" altLang="zh-CN" sz="2700">
                <a:solidFill>
                  <a:srgbClr val="FF0000"/>
                </a:solidFill>
                <a:latin typeface="Times New Roman" panose="02020603050405020304" charset="0"/>
                <a:cs typeface="Times New Roman" panose="02020603050405020304" charset="0"/>
                <a:sym typeface="+mn-ea"/>
              </a:rPr>
              <a:t>After</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the</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computers</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were</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introduced</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in</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our</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course,</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no</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appreciable</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change</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had</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been</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found</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in</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students’</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achievement</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levels</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a:t>
            </a:r>
            <a:endParaRPr lang="zh-CN" altLang="zh-CN" sz="2400" b="1">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fontScale="90000"/>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3110">
                <a:latin typeface="Times New Roman" panose="02020603050405020304" charset="0"/>
                <a:cs typeface="Times New Roman" panose="02020603050405020304" charset="0"/>
                <a:sym typeface="+mn-ea"/>
              </a:rPr>
              <a:t>Redundancy</a:t>
            </a:r>
            <a:r>
              <a:rPr lang="zh-CN" altLang="en-US" sz="3110">
                <a:latin typeface="Times New Roman" panose="02020603050405020304" charset="0"/>
                <a:cs typeface="Times New Roman" panose="02020603050405020304" charset="0"/>
                <a:sym typeface="+mn-ea"/>
              </a:rPr>
              <a:t> </a:t>
            </a:r>
            <a:endParaRPr lang="en-US" altLang="zh-CN" sz="311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5050790"/>
          </a:xfrm>
          <a:ln w="28575">
            <a:solidFill>
              <a:schemeClr val="accent2">
                <a:lumMod val="75000"/>
              </a:schemeClr>
            </a:solidFill>
          </a:ln>
        </p:spPr>
        <p:txBody>
          <a:bodyPr>
            <a:noAutofit/>
          </a:bodyPr>
          <a:lstStyle/>
          <a:p>
            <a:pPr marL="0" lvl="0" indent="0" fontAlgn="auto">
              <a:lnSpc>
                <a:spcPct val="150000"/>
              </a:lnSpc>
              <a:spcBef>
                <a:spcPct val="0"/>
              </a:spcBef>
              <a:buNone/>
            </a:pPr>
            <a:r>
              <a:rPr lang="en-US" altLang="zh-CN" sz="2700">
                <a:latin typeface="Times New Roman" panose="02020603050405020304" charset="0"/>
                <a:cs typeface="Times New Roman" panose="02020603050405020304" charset="0"/>
                <a:sym typeface="+mn-ea"/>
              </a:rPr>
              <a:t>Review</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of</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each</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center’s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progress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in</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recruitment</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is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important</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to</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ensure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that</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the</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cost</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involved</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in maintaining</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each</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center’s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participation</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is</a:t>
            </a:r>
            <a:r>
              <a:rPr lang="zh-CN" altLang="en-US" sz="2700">
                <a:latin typeface="Times New Roman" panose="02020603050405020304" charset="0"/>
                <a:cs typeface="Times New Roman" panose="02020603050405020304" charset="0"/>
                <a:sym typeface="+mn-ea"/>
              </a:rPr>
              <a:t> </a:t>
            </a:r>
            <a:r>
              <a:rPr lang="en-US" altLang="zh-CN" sz="2700">
                <a:latin typeface="Times New Roman" panose="02020603050405020304" charset="0"/>
                <a:cs typeface="Times New Roman" panose="02020603050405020304" charset="0"/>
                <a:sym typeface="+mn-ea"/>
              </a:rPr>
              <a:t>worthwhile.</a:t>
            </a:r>
            <a:endParaRPr lang="en-US" altLang="zh-CN" sz="2700">
              <a:latin typeface="Times New Roman" panose="02020603050405020304" charset="0"/>
              <a:cs typeface="Times New Roman" panose="02020603050405020304" charset="0"/>
            </a:endParaRPr>
          </a:p>
          <a:p>
            <a:pPr marL="0" lvl="0" indent="0" fontAlgn="auto">
              <a:lnSpc>
                <a:spcPct val="150000"/>
              </a:lnSpc>
              <a:spcBef>
                <a:spcPct val="0"/>
              </a:spcBef>
              <a:buNone/>
            </a:pPr>
            <a:r>
              <a:rPr lang="en-US" altLang="zh-CN" sz="2700">
                <a:solidFill>
                  <a:srgbClr val="FF0000"/>
                </a:solidFill>
                <a:latin typeface="Times New Roman" panose="02020603050405020304" charset="0"/>
                <a:cs typeface="Times New Roman" panose="02020603050405020304" charset="0"/>
                <a:sym typeface="+mn-ea"/>
              </a:rPr>
              <a:t>To</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review</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…the</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cost</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to</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maintain</a:t>
            </a:r>
            <a:r>
              <a:rPr lang="zh-CN" altLang="en-US" sz="2700">
                <a:solidFill>
                  <a:srgbClr val="FF0000"/>
                </a:solidFill>
                <a:latin typeface="Times New Roman" panose="02020603050405020304" charset="0"/>
                <a:cs typeface="Times New Roman" panose="02020603050405020304" charset="0"/>
                <a:sym typeface="+mn-ea"/>
              </a:rPr>
              <a:t> </a:t>
            </a:r>
            <a:r>
              <a:rPr lang="en-US" altLang="zh-CN" sz="2700">
                <a:solidFill>
                  <a:srgbClr val="FF0000"/>
                </a:solidFill>
                <a:latin typeface="Times New Roman" panose="02020603050405020304" charset="0"/>
                <a:cs typeface="Times New Roman" panose="02020603050405020304" charset="0"/>
                <a:sym typeface="+mn-ea"/>
              </a:rPr>
              <a:t>….</a:t>
            </a:r>
            <a:endParaRPr lang="zh-CN" altLang="zh-CN" sz="2400" b="1">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fontScale="90000"/>
          </a:bodyPr>
          <a:lstStyle/>
          <a:p>
            <a:r>
              <a:rPr lang="en-US" altLang="zh-CN" sz="2800" b="1" i="1">
                <a:solidFill>
                  <a:schemeClr val="tx1"/>
                </a:solidFill>
                <a:latin typeface="Times New Roman" panose="02020603050405020304" charset="0"/>
                <a:cs typeface="Times New Roman" panose="02020603050405020304" charset="0"/>
                <a:sym typeface="+mn-ea"/>
              </a:rPr>
              <a:t>Revising Your Draft--</a:t>
            </a:r>
            <a:r>
              <a:rPr lang="en-US" altLang="zh-CN" sz="3110">
                <a:latin typeface="Times New Roman" panose="02020603050405020304" charset="0"/>
                <a:cs typeface="Times New Roman" panose="02020603050405020304" charset="0"/>
                <a:sym typeface="+mn-ea"/>
              </a:rPr>
              <a:t>Redundancy</a:t>
            </a:r>
            <a:r>
              <a:rPr lang="zh-CN" altLang="en-US" sz="3110">
                <a:latin typeface="Times New Roman" panose="02020603050405020304" charset="0"/>
                <a:cs typeface="Times New Roman" panose="02020603050405020304" charset="0"/>
                <a:sym typeface="+mn-ea"/>
              </a:rPr>
              <a:t> </a:t>
            </a:r>
            <a:endParaRPr lang="en-US" altLang="zh-CN" sz="3110">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5050790"/>
          </a:xfrm>
          <a:ln w="28575">
            <a:solidFill>
              <a:schemeClr val="accent2">
                <a:lumMod val="75000"/>
              </a:schemeClr>
            </a:solidFill>
          </a:ln>
        </p:spPr>
        <p:txBody>
          <a:bodyPr>
            <a:noAutofit/>
          </a:bodyPr>
          <a:lstStyle/>
          <a:p>
            <a:pPr marL="0" marR="0" lvl="0" indent="0" algn="l" defTabSz="914400" rtl="0" eaLnBrk="0" fontAlgn="base" hangingPunct="0">
              <a:lnSpc>
                <a:spcPct val="150000"/>
              </a:lnSpc>
              <a:spcBef>
                <a:spcPct val="0"/>
              </a:spcBef>
              <a:spcAft>
                <a:spcPct val="0"/>
              </a:spcAft>
              <a:buClrTx/>
              <a:buSzTx/>
              <a:buFontTx/>
              <a:buNone/>
              <a:defRPr/>
            </a:pP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It</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should</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be</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emphasized</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that</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these</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proportions</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generally</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u="sng"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are</a:t>
            </a:r>
            <a:r>
              <a:rPr kumimoji="1" lang="zh-CN" altLang="en-US" sz="2700" u="sng"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u="sng"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not</a:t>
            </a:r>
            <a:r>
              <a:rPr kumimoji="1" lang="zh-CN" altLang="en-US" sz="2700" u="sng"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u="sng"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the</a:t>
            </a:r>
            <a:r>
              <a:rPr kumimoji="1" lang="zh-CN" altLang="en-US" sz="2700" u="sng"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u="sng"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result</a:t>
            </a:r>
            <a:r>
              <a:rPr kumimoji="1" lang="zh-CN" altLang="en-US" sz="2700" u="sng"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u="sng"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of</a:t>
            </a:r>
            <a:r>
              <a:rPr kumimoji="1" lang="zh-CN" altLang="en-US" sz="2700" u="sng"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significant</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increases</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in</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moderate</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and</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severe</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injuries,</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but</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in</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many</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instances</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u="sng"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reflect</a:t>
            </a:r>
            <a:r>
              <a:rPr kumimoji="1" lang="zh-CN" altLang="en-US" sz="2700" u="sng"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mildly</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injured</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persons</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not</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being</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seen</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at</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a</a:t>
            </a:r>
            <a:r>
              <a:rPr kumimoji="1" lang="zh-CN" altLang="en-US"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effectLst/>
                <a:uLnTx/>
                <a:uFillTx/>
                <a:latin typeface="Times New Roman" panose="02020603050405020304" charset="0"/>
                <a:ea typeface="宋体" panose="02010600030101010101" pitchFamily="2" charset="-122"/>
                <a:cs typeface="Times New Roman" panose="02020603050405020304" charset="0"/>
                <a:sym typeface="+mn-ea"/>
              </a:rPr>
              <a:t>hospital.</a:t>
            </a:r>
            <a:endParaRPr kumimoji="1" lang="en-US" altLang="zh-CN" sz="27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Times New Roman" panose="02020603050405020304" charset="0"/>
            </a:endParaRPr>
          </a:p>
          <a:p>
            <a:pPr marL="0" marR="0" lvl="0" indent="0" algn="l" defTabSz="914400" rtl="0" eaLnBrk="0" fontAlgn="base" hangingPunct="0">
              <a:lnSpc>
                <a:spcPct val="150000"/>
              </a:lnSpc>
              <a:spcBef>
                <a:spcPct val="0"/>
              </a:spcBef>
              <a:spcAft>
                <a:spcPct val="0"/>
              </a:spcAft>
              <a:buClrTx/>
              <a:buSzTx/>
              <a:buFontTx/>
              <a:buNone/>
              <a:defRPr/>
            </a:pPr>
            <a:r>
              <a:rPr kumimoji="1" lang="en-US" altLang="zh-CN" sz="2700"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It….proportions</a:t>
            </a:r>
            <a:r>
              <a:rPr kumimoji="1" lang="zh-CN" altLang="en-US" sz="2700"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indicate</a:t>
            </a:r>
            <a:r>
              <a:rPr kumimoji="1" lang="zh-CN" altLang="en-US" sz="2700"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the</a:t>
            </a:r>
            <a:r>
              <a:rPr kumimoji="1" lang="zh-CN" altLang="en-US" sz="2700"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absence</a:t>
            </a:r>
            <a:r>
              <a:rPr kumimoji="1" lang="zh-CN" altLang="en-US" sz="2700"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of</a:t>
            </a:r>
            <a:r>
              <a:rPr kumimoji="1" lang="zh-CN" altLang="en-US" sz="2700"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mildly</a:t>
            </a:r>
            <a:r>
              <a:rPr kumimoji="1" lang="zh-CN" altLang="en-US" sz="2700"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injured persons</a:t>
            </a:r>
            <a:r>
              <a:rPr kumimoji="1" lang="zh-CN" altLang="en-US" sz="2700"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in</a:t>
            </a:r>
            <a:r>
              <a:rPr kumimoji="1" lang="zh-CN" altLang="en-US" sz="2700"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hospital,</a:t>
            </a:r>
            <a:r>
              <a:rPr kumimoji="1" lang="zh-CN" altLang="en-US" sz="2700"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and</a:t>
            </a:r>
            <a:r>
              <a:rPr kumimoji="1" lang="zh-CN" altLang="en-US"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should</a:t>
            </a:r>
            <a:r>
              <a:rPr kumimoji="1" lang="zh-CN" altLang="en-US"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not</a:t>
            </a:r>
            <a:r>
              <a:rPr kumimoji="1" lang="zh-CN" altLang="en-US"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be</a:t>
            </a:r>
            <a:r>
              <a:rPr kumimoji="1" lang="zh-CN" altLang="en-US"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attributed</a:t>
            </a:r>
            <a:r>
              <a:rPr kumimoji="1" lang="zh-CN" altLang="en-US"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to</a:t>
            </a:r>
            <a:r>
              <a:rPr kumimoji="1" lang="zh-CN" altLang="en-US"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the</a:t>
            </a:r>
            <a:r>
              <a:rPr kumimoji="1" lang="zh-CN" altLang="en-US"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increasing</a:t>
            </a:r>
            <a:r>
              <a:rPr kumimoji="1" lang="zh-CN" altLang="en-US"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moderate</a:t>
            </a:r>
            <a:r>
              <a:rPr kumimoji="1" lang="zh-CN" altLang="en-US"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and</a:t>
            </a:r>
            <a:r>
              <a:rPr kumimoji="1" lang="zh-CN" altLang="en-US"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severe</a:t>
            </a:r>
            <a:r>
              <a:rPr kumimoji="1" lang="zh-CN" altLang="en-US"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 </a:t>
            </a:r>
            <a:r>
              <a:rPr kumimoji="1" lang="en-US" altLang="zh-CN" sz="2700" strike="sngStrike"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injuries</a:t>
            </a:r>
            <a:r>
              <a:rPr kumimoji="1" lang="en-US" altLang="zh-CN" sz="2700" noProof="0" dirty="0">
                <a:ln>
                  <a:noFill/>
                </a:ln>
                <a:solidFill>
                  <a:srgbClr val="FF0000"/>
                </a:solidFill>
                <a:effectLst/>
                <a:uLnTx/>
                <a:uFillTx/>
                <a:latin typeface="Times New Roman" panose="02020603050405020304" charset="0"/>
                <a:ea typeface="宋体" panose="02010600030101010101" pitchFamily="2" charset="-122"/>
                <a:cs typeface="Times New Roman" panose="02020603050405020304" charset="0"/>
                <a:sym typeface="+mn-ea"/>
              </a:rPr>
              <a:t>.</a:t>
            </a:r>
            <a:endParaRPr lang="zh-CN" altLang="zh-CN" sz="2400" b="1">
              <a:solidFill>
                <a:schemeClr val="accent2"/>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7</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7 Revising Your Draft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3" name="副标题 2"/>
          <p:cNvSpPr>
            <a:spLocks noGrp="1"/>
          </p:cNvSpPr>
          <p:nvPr>
            <p:ph type="subTitle" idx="1"/>
          </p:nvPr>
        </p:nvSpPr>
        <p:spPr/>
        <p:txBody>
          <a:bodyPr/>
          <a:lstStyle/>
          <a:p>
            <a:endParaRPr lang="zh-CN" altLang="en-US"/>
          </a:p>
        </p:txBody>
      </p:sp>
      <p:pic>
        <p:nvPicPr>
          <p:cNvPr id="5" name="图片 4" descr="maxresdefault"/>
          <p:cNvPicPr>
            <a:picLocks noChangeAspect="1"/>
          </p:cNvPicPr>
          <p:nvPr/>
        </p:nvPicPr>
        <p:blipFill>
          <a:blip r:embed="rId2"/>
          <a:stretch>
            <a:fillRect/>
          </a:stretch>
        </p:blipFill>
        <p:spPr>
          <a:xfrm>
            <a:off x="1639570" y="911225"/>
            <a:ext cx="9028430" cy="5036185"/>
          </a:xfrm>
          <a:prstGeom prst="rect">
            <a:avLst/>
          </a:prstGeom>
        </p:spPr>
      </p:pic>
      <p:sp>
        <p:nvSpPr>
          <p:cNvPr id="6" name="矩形 5"/>
          <p:cNvSpPr/>
          <p:nvPr/>
        </p:nvSpPr>
        <p:spPr>
          <a:xfrm>
            <a:off x="788670" y="499110"/>
            <a:ext cx="10632440" cy="5858510"/>
          </a:xfrm>
          <a:prstGeom prst="rect">
            <a:avLst/>
          </a:prstGeom>
          <a:noFill/>
          <a:ln w="28575">
            <a:solidFill>
              <a:schemeClr val="accent2">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638935" y="1122680"/>
            <a:ext cx="9029065" cy="779780"/>
          </a:xfrm>
          <a:prstGeom prst="rect">
            <a:avLst/>
          </a:prstGeom>
          <a:solidFill>
            <a:schemeClr val="bg1"/>
          </a:solidFill>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accent1">
                    <a:lumMod val="75000"/>
                  </a:schemeClr>
                </a:solidFill>
                <a:latin typeface="Times New Roman" panose="02020603050405020304" charset="0"/>
                <a:cs typeface="Times New Roman" panose="02020603050405020304" charset="0"/>
              </a:rPr>
              <a:t>The 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P spid="7" grpId="0" bldLvl="0" animBg="1"/>
      <p:bldP spid="7" grpId="1" animBg="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WE1YjkyNTI0OGY5ZTY5YTFjYmVjM2U0M2U1MGM5YjQifQ=="/>
</p:tagLst>
</file>

<file path=ppt/tags/tag2.xml><?xml version="1.0" encoding="utf-8"?>
<p:tagLst xmlns:a="http://schemas.openxmlformats.org/drawingml/2006/main" xmlns:r="http://schemas.openxmlformats.org/officeDocument/2006/relationships" xmlns:p="http://schemas.openxmlformats.org/presentationml/2006/main">
  <p:tag name="KSO_WM_SLIDE_ID" val="diagram20213293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TAG_VERSION" val="1.0"/>
  <p:tag name="KSO_WM_BEAUTIFY_FLAG" val="#wm#"/>
  <p:tag name="KSO_WM_TEMPLATE_CATEGORY" val="diagram"/>
  <p:tag name="KSO_WM_TEMPLATE_INDEX" val="20213293"/>
  <p:tag name="KSO_WM_SLIDE_LAYOUT" val="a_d_f"/>
  <p:tag name="KSO_WM_SLIDE_LAYOUT_CNT" val="1_1_1"/>
  <p:tag name="KSO_WM_TEMPLATE_THUMBS_INDEX" val="1、4、7、12、13、14、15、16、17、18、20、24、25、28、33、36、40、43、44"/>
  <p:tag name="KSO_WM_SLIDE_LAYOUT_INFO" val="{&quot;backgroundInfo&quot;:[{&quot;bottom&quot;:0,&quot;bottomAbs&quot;:false,&quot;left&quot;:0,&quot;leftAbs&quot;:false,&quot;right&quot;:0,&quot;rightAbs&quot;:false,&quot;top&quot;:0,&quot;topAbs&quot;:false,&quot;type&quot;:&quot;general&quot;}],&quot;id&quot;:&quot;2022-12-15T22:40:38&quot;,&quot;maxSize&quot;:{&quot;size1&quot;:30},&quot;minSize&quot;:{&quot;size1&quot;:17.8},&quot;normalSize&quot;:{&quot;size1&quot;:25.33314814814815},&quot;subLayout&quot;:[{&quot;id&quot;:&quot;2022-12-15T22:40:38&quot;,&quot;margin&quot;:{&quot;bottom&quot;:0,&quot;left&quot;:1.6929999589920044,&quot;right&quot;:1.6929999589920044,&quot;top&quot;:1.6929999589920044},&quot;type&quot;:0},{&quot;id&quot;:&quot;2022-12-15T22:40:38&quot;,&quot;maxSize&quot;:{&quot;size1&quot;:66.7},&quot;minSize&quot;:{&quot;size1&quot;:38.9},&quot;normalSize&quot;:{&quot;size1&quot;:62.423426850370916},&quot;subLayout&quot;:[{&quot;id&quot;:&quot;2022-12-15T22:40:38&quot;,&quot;margin&quot;:{&quot;bottom&quot;:0.02600000612437725,&quot;left&quot;:1.6929999589920044,&quot;right&quot;:1.6929999589920044,&quot;top&quot;:0.847000002861023},&quot;type&quot;:0},{&quot;id&quot;:&quot;2022-12-15T22:40:38&quot;,&quot;margin&quot;:{&quot;bottom&quot;:1.6929999589920044,&quot;left&quot;:1.6929999589920044,&quot;right&quot;:1.6929999589920044,&quot;top&quot;:0.8199999928474426},&quot;type&quot;:0}],&quot;type&quot;:0}],&quot;type&quot;:0}"/>
  <p:tag name="KSO_WM_SLIDE_BACKGROUND" val="[&quot;general&quot;]"/>
  <p:tag name="KSO_WM_SLIDE_RATIO" val="1.777778"/>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69675c553136823a5e61e7"/>
  <p:tag name="KSO_WM_CHIP_FILLPROP" val="[[{&quot;text_align&quot;:&quot;ct&quot;,&quot;text_direction&quot;:&quot;horizontal&quot;,&quot;support_big_font&quot;:false,&quot;picture_toward&quot;:0,&quot;picture_dockside&quot;:[],&quot;fill_id&quot;:&quot;42bdfa4a24a64d988a6191cecd716896&quot;,&quot;fill_align&quot;:&quot;ct&quot;,&quot;chip_types&quot;:[&quot;header&quot;]},{&quot;text_align&quot;:&quot;lm&quot;,&quot;text_direction&quot;:&quot;horizontal&quot;,&quot;support_features&quot;:[&quot;collage&quot;,&quot;carousel&quot;],&quot;support_big_font&quot;:false,&quot;picture_toward&quot;:0,&quot;picture_dockside&quot;:[],&quot;fill_id&quot;:&quot;c7f405b535bb49fd9c504e13d5a436be&quot;,&quot;fill_align&quot;:&quot;cm&quot;,&quot;chip_types&quot;:[&quot;diagram&quot;,&quot;pictext&quot;,&quot;picture&quot;,&quot;chart&quot;,&quot;table&quot;,&quot;video&quot;]},{&quot;text_align&quot;:&quot;cm&quot;,&quot;text_direction&quot;:&quot;horizontal&quot;,&quot;support_big_font&quot;:false,&quot;picture_toward&quot;:0,&quot;picture_dockside&quot;:[],&quot;fill_id&quot;:&quot;af7019ab30b54b018c2fc8ea2401cac8&quot;,&quot;fill_align&quot;:&quot;cm&quot;,&quot;chip_types&quot;:[&quot;text&quot;]}],[{&quot;text_align&quot;:&quot;cm&quot;,&quot;text_direction&quot;:&quot;horizontal&quot;,&quot;support_big_font&quot;:false,&quot;picture_toward&quot;:0,&quot;picture_dockside&quot;:[],&quot;fill_id&quot;:&quot;42bdfa4a24a64d988a6191cecd716896&quot;,&quot;fill_align&quot;:&quot;cm&quot;,&quot;chip_types&quot;:[&quot;header&quot;]},{&quot;text_align&quot;:&quot;lm&quot;,&quot;text_direction&quot;:&quot;horizontal&quot;,&quot;support_big_font&quot;:false,&quot;picture_toward&quot;:0,&quot;picture_dockside&quot;:[],&quot;fill_id&quot;:&quot;c7f405b535bb49fd9c504e13d5a436be&quot;,&quot;fill_align&quot;:&quot;cm&quot;,&quot;chip_types&quot;:[&quot;diagram&quot;,&quot;pictext&quot;,&quot;picture&quot;,&quot;chart&quot;,&quot;table&quot;]},{&quot;text_align&quot;:&quot;cm&quot;,&quot;text_direction&quot;:&quot;horizontal&quot;,&quot;support_big_font&quot;:false,&quot;picture_toward&quot;:0,&quot;picture_dockside&quot;:[],&quot;fill_id&quot;:&quot;af7019ab30b54b018c2fc8ea2401cac8&quot;,&quot;fill_align&quot;:&quot;cm&quot;,&quot;chip_types&quot;:[&quot;text&quot;,&quot;picture&quot;]}],[{&quot;text_align&quot;:&quot;lm&quot;,&quot;text_direction&quot;:&quot;horizontal&quot;,&quot;support_big_font&quot;:false,&quot;picture_toward&quot;:0,&quot;picture_dockside&quot;:[],&quot;fill_id&quot;:&quot;42bdfa4a24a64d988a6191cecd716896&quot;,&quot;fill_align&quot;:&quot;lm&quot;,&quot;chip_types&quot;:[&quot;text&quot;,&quot;header&quot;]},{&quot;text_align&quot;:&quot;lm&quot;,&quot;text_direction&quot;:&quot;horizontal&quot;,&quot;support_features&quot;:[&quot;collage&quot;,&quot;carousel&quot;],&quot;support_big_font&quot;:false,&quot;picture_toward&quot;:0,&quot;picture_dockside&quot;:[],&quot;fill_id&quot;:&quot;c7f405b535bb49fd9c504e13d5a436be&quot;,&quot;fill_align&quot;:&quot;cm&quot;,&quot;chip_types&quot;:[&quot;diagram&quot;,&quot;pictext&quot;,&quot;picture&quot;,&quot;chart&quot;,&quot;table&quot;]},{&quot;text_align&quot;:&quot;lm&quot;,&quot;text_direction&quot;:&quot;horizontal&quot;,&quot;support_big_font&quot;:false,&quot;picture_toward&quot;:0,&quot;picture_dockside&quot;:[],&quot;fill_id&quot;:&quot;af7019ab30b54b018c2fc8ea2401cac8&quot;,&quot;fill_align&quot;:&quot;lm&quot;,&quot;chip_types&quot;:[&quot;text&quot;,&quot;picture&quot;]}]]"/>
  <p:tag name="KSO_WM_SLIDE_SIZE" val="865*444"/>
  <p:tag name="KSO_WM_SLIDE_POSITION" val="47*48"/>
  <p:tag name="FIXED_XID_TMP" val="5f5ee1ca4d6848d78f644aed"/>
  <p:tag name="KSO_WM_CHIP_DECFILLPROP" val="[]"/>
  <p:tag name="KSO_WM_CHIP_GROUPID" val="5f5ee1ca4d6848d78f644aed"/>
  <p:tag name="KSO_WM_SLIDE_BK_DARK_LIGHT" val="2"/>
  <p:tag name="KSO_WM_SLIDE_BACKGROUND_TYPE" val="general"/>
  <p:tag name="KSO_WM_SLIDE_SUPPORT_FEATURE_TYPE" val="3"/>
  <p:tag name="KSO_WM_TEMPLATE_ASSEMBLE_XID" val="639b31e60c9383becdeaa802"/>
  <p:tag name="KSO_WM_TEMPLATE_ASSEMBLE_GROUPID" val="639b31e60c9383becdeaa802"/>
</p:tagLst>
</file>

<file path=ppt/tags/tag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293_1*a*1"/>
  <p:tag name="KSO_WM_TEMPLATE_CATEGORY" val="diagram"/>
  <p:tag name="KSO_WM_TEMPLATE_INDEX" val="20213293"/>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eac46169eb2b460bb4a610ed53a67e2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12c141ff192434a81f8ec7859d8d7f3"/>
  <p:tag name="KSO_WM_UNIT_TEXT_FILL_FORE_SCHEMECOLOR_INDEX_BRIGHTNESS" val="0"/>
  <p:tag name="KSO_WM_UNIT_TEXT_FILL_FORE_SCHEMECOLOR_INDEX" val="13"/>
  <p:tag name="KSO_WM_UNIT_TEXT_FILL_TYPE" val="1"/>
  <p:tag name="KSO_WM_TEMPLATE_ASSEMBLE_XID" val="639b31e60c9383becdeaa802"/>
  <p:tag name="KSO_WM_TEMPLATE_ASSEMBLE_GROUPID" val="639b31e60c9383becdeaa802"/>
</p:tagLst>
</file>

<file path=ppt/tags/tag4.xml><?xml version="1.0" encoding="utf-8"?>
<p:tagLst xmlns:a="http://schemas.openxmlformats.org/drawingml/2006/main" xmlns:r="http://schemas.openxmlformats.org/officeDocument/2006/relationships" xmlns:p="http://schemas.openxmlformats.org/presentationml/2006/main">
  <p:tag name="KSO_WM_UNIT_VALUE" val="761*3046"/>
  <p:tag name="KSO_WM_UNIT_HIGHLIGHT" val="0"/>
  <p:tag name="KSO_WM_UNIT_COMPATIBLE" val="0"/>
  <p:tag name="KSO_WM_UNIT_DIAGRAM_ISNUMVISUAL" val="0"/>
  <p:tag name="KSO_WM_UNIT_DIAGRAM_ISREFERUNIT" val="0"/>
  <p:tag name="KSO_WM_UNIT_TYPE" val="d"/>
  <p:tag name="KSO_WM_UNIT_INDEX" val="1"/>
  <p:tag name="KSO_WM_UNIT_ID" val="diagram20213293_1*d*1"/>
  <p:tag name="KSO_WM_TEMPLATE_CATEGORY" val="diagram"/>
  <p:tag name="KSO_WM_TEMPLATE_INDEX" val="20213293"/>
  <p:tag name="KSO_WM_UNIT_LAYERLEVEL" val="1"/>
  <p:tag name="KSO_WM_TAG_VERSION" val="1.0"/>
  <p:tag name="KSO_WM_BEAUTIFY_FLAG" val="#wm#"/>
  <p:tag name="KSO_WM_CHIP_GROUPID" val="5e7310da9a230a26b9e88a19"/>
  <p:tag name="KSO_WM_CHIP_XID" val="5e7310da9a230a26b9e88a1a"/>
  <p:tag name="KSO_WM_UNIT_DEC_AREA_ID" val="d39d48b01a0a4808a05868f443a9408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28373cf9a1d42b2ad4400f46103fc14"/>
  <p:tag name="KSO_WM_UNIT_SUPPORT_UNIT_TYPE" val="[&quot;l&quot;,&quot;m&quot;,&quot;n&quot;,&quot;o&quot;,&quot;p&quot;,&quot;q&quot;,&quot;r&quot;,&quot;δ&quot;,&quot;ε&quot;,&quot;ζ&quot;,&quot;η&quot;,&quot;d&quot;,&quot;α&quot;,&quot;β&quot;,&quot;θ&quot;]"/>
  <p:tag name="KSO_WM_TEMPLATE_ASSEMBLE_XID" val="639b31e60c9383becdeaa802"/>
  <p:tag name="KSO_WM_TEMPLATE_ASSEMBLE_GROUPID" val="639b31e60c9383becdeaa802"/>
  <p:tag name="KSO_WM_UNIT_PICTURE_CLIP_FLAG" val="0"/>
</p:tagLst>
</file>

<file path=ppt/tags/tag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3293_1*f*1"/>
  <p:tag name="KSO_WM_TEMPLATE_CATEGORY" val="diagram"/>
  <p:tag name="KSO_WM_TEMPLATE_INDEX" val="20213293"/>
  <p:tag name="KSO_WM_UNIT_LAYERLEVEL" val="1"/>
  <p:tag name="KSO_WM_TAG_VERSION" val="1.0"/>
  <p:tag name="KSO_WM_BEAUTIFY_FLAG" val="#wm#"/>
  <p:tag name="KSO_WM_UNIT_DEFAULT_FONT" val="14;20;2"/>
  <p:tag name="KSO_WM_UNIT_BLOCK" val="0"/>
  <p:tag name="KSO_WM_UNIT_VALUE" val="172"/>
  <p:tag name="KSO_WM_UNIT_SHOW_EDIT_AREA_INDICATION" val="1"/>
  <p:tag name="KSO_WM_CHIP_GROUPID" val="5e6b05596848fb12bee65ac8"/>
  <p:tag name="KSO_WM_CHIP_XID" val="5e6b05596848fb12bee65aca"/>
  <p:tag name="KSO_WM_UNIT_DEC_AREA_ID" val="f3ba6b55ee6d4aec98d86b43aa728f7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7bdb306efbae44b9a7ac00fd1cb9e337"/>
  <p:tag name="KSO_WM_UNIT_TEXT_FILL_FORE_SCHEMECOLOR_INDEX_BRIGHTNESS" val="0.25"/>
  <p:tag name="KSO_WM_UNIT_TEXT_FILL_FORE_SCHEMECOLOR_INDEX" val="13"/>
  <p:tag name="KSO_WM_UNIT_TEXT_FILL_TYPE" val="1"/>
  <p:tag name="KSO_WM_TEMPLATE_ASSEMBLE_XID" val="639b31e60c9383becdeaa802"/>
  <p:tag name="KSO_WM_TEMPLATE_ASSEMBLE_GROUPID" val="639b31e60c9383becdeaa802"/>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358</TotalTime>
  <Words>3845</Words>
  <Application>Microsoft Office PowerPoint</Application>
  <PresentationFormat>宽屏</PresentationFormat>
  <Paragraphs>414</Paragraphs>
  <Slides>58</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58</vt:i4>
      </vt:variant>
    </vt:vector>
  </HeadingPairs>
  <TitlesOfParts>
    <vt:vector size="62" baseType="lpstr">
      <vt:lpstr>Arial</vt:lpstr>
      <vt:lpstr>Calibri</vt:lpstr>
      <vt:lpstr>Times New Roman</vt:lpstr>
      <vt:lpstr>Office 主题</vt:lpstr>
      <vt:lpstr>PowerPoint 演示文稿</vt:lpstr>
      <vt:lpstr>Revising Your Draft</vt:lpstr>
      <vt:lpstr>PowerPoint 演示文稿</vt:lpstr>
      <vt:lpstr>Revising Your Draft</vt:lpstr>
      <vt:lpstr>Revising Your Draft--1 Language Style</vt:lpstr>
      <vt:lpstr>Revising Your Draft--1 Language Style</vt:lpstr>
      <vt:lpstr>Revising Your Draft--Formal</vt:lpstr>
      <vt:lpstr>Revising Your Draft--Formality</vt:lpstr>
      <vt:lpstr>Revising Your Draft--Formality</vt:lpstr>
      <vt:lpstr>Revising Your Draft--Formality</vt:lpstr>
      <vt:lpstr>Revising Your Draft--Formality</vt:lpstr>
      <vt:lpstr>Revising Your Draft--Formality</vt:lpstr>
      <vt:lpstr>Revising Your Draft--Formality</vt:lpstr>
      <vt:lpstr>Revising Your Draft--Objectivity</vt:lpstr>
      <vt:lpstr>Revising Your Draft--Objectivity</vt:lpstr>
      <vt:lpstr>Revising Your Draft--Objectivity</vt:lpstr>
      <vt:lpstr>Revising Your Draft--Objectivity</vt:lpstr>
      <vt:lpstr>Revising Your Draft--Objectivity</vt:lpstr>
      <vt:lpstr>Revising Your Draft--Conciseness</vt:lpstr>
      <vt:lpstr>Revising Your Draft--Conciseness</vt:lpstr>
      <vt:lpstr>Revising Your Draft--Conciseness</vt:lpstr>
      <vt:lpstr>Revising Your Draft--Conciseness</vt:lpstr>
      <vt:lpstr>Revising Your Draft--4. Conciseness</vt:lpstr>
      <vt:lpstr>Revising Your Draft--Variety</vt:lpstr>
      <vt:lpstr>PowerPoint 演示文稿</vt:lpstr>
      <vt:lpstr>PowerPoint 演示文稿</vt:lpstr>
      <vt:lpstr>PowerPoint 演示文稿</vt:lpstr>
      <vt:lpstr>Revising Your Draft--2 Rhetorical Principles</vt:lpstr>
      <vt:lpstr>Revising Your Draft--Rhetorical Principles</vt:lpstr>
      <vt:lpstr>Revising Your Draft--Rhetorical Principles</vt:lpstr>
      <vt:lpstr>Revising Your Draft--Rhetorical Principles</vt:lpstr>
      <vt:lpstr>Revising Your Draft--Rhetorical Principles</vt:lpstr>
      <vt:lpstr>Revising Your Draft--Rhetorical Principles</vt:lpstr>
      <vt:lpstr>Revising Your Draft--Rhetorical Principles</vt:lpstr>
      <vt:lpstr>Revising Your Draft--Rhetorical Principles</vt:lpstr>
      <vt:lpstr>Revising Your Draft--Rhetorical Principles</vt:lpstr>
      <vt:lpstr>Revising Your Draft--Rhetorical Principles</vt:lpstr>
      <vt:lpstr>Revising Your Draft--Rhetorical Principles</vt:lpstr>
      <vt:lpstr>Revising Your Draft--Rhetorical Principles</vt:lpstr>
      <vt:lpstr>Revising Your Draft--Rhetorical Principles</vt:lpstr>
      <vt:lpstr>PowerPoint 演示文稿</vt:lpstr>
      <vt:lpstr>PowerPoint 演示文稿</vt:lpstr>
      <vt:lpstr>Revising Your Draft--Rhetorical Principles</vt:lpstr>
      <vt:lpstr>Revising Your Draft--Rhetorical Principles</vt:lpstr>
      <vt:lpstr>Revising Your Draft--3 Redundancy </vt:lpstr>
      <vt:lpstr>Revising Your Draft--Redundancy </vt:lpstr>
      <vt:lpstr>Revising Your Draft--Redundancy </vt:lpstr>
      <vt:lpstr>PowerPoint 演示文稿</vt:lpstr>
      <vt:lpstr>Revising Your Draft--Redundancy </vt:lpstr>
      <vt:lpstr>Revising Your Draft--Redundancy </vt:lpstr>
      <vt:lpstr>Revising Your Draft--Redundancy </vt:lpstr>
      <vt:lpstr>Revising Your Draft--Redundancy </vt:lpstr>
      <vt:lpstr>Revising Your Draft--Redundancy </vt:lpstr>
      <vt:lpstr>Revising Your Draft--Redundancy </vt:lpstr>
      <vt:lpstr>Revising Your Draft--Redundancy </vt:lpstr>
      <vt:lpstr>Revising Your Draft--Redundancy </vt:lpstr>
      <vt:lpstr>Revising Your Draft--Redundancy </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SY</dc:creator>
  <cp:lastModifiedBy>SY</cp:lastModifiedBy>
  <cp:revision>26</cp:revision>
  <dcterms:created xsi:type="dcterms:W3CDTF">2023-05-10T03:13:00Z</dcterms:created>
  <dcterms:modified xsi:type="dcterms:W3CDTF">2026-05-31T22:22:24Z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2E8DAB7E9BB3428081628F47F675A0E8_12</vt:lpwstr>
  </property>
  <property fmtid="{D5CDD505-2E9C-101B-9397-08002B2CF9AE}" pid="3" name="KSOProductBuildVer">
    <vt:lpwstr>2052-12.1.0.21171</vt:lpwstr>
  </property>
</Properties>
</file>