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handoutMasterIdLst>
    <p:handoutMasterId r:id="rId33"/>
  </p:handoutMasterIdLst>
  <p:sldIdLst>
    <p:sldId id="257" r:id="rId2"/>
    <p:sldId id="256" r:id="rId3"/>
    <p:sldId id="258" r:id="rId4"/>
    <p:sldId id="259" r:id="rId5"/>
    <p:sldId id="260" r:id="rId6"/>
    <p:sldId id="261" r:id="rId7"/>
    <p:sldId id="314" r:id="rId8"/>
    <p:sldId id="315" r:id="rId9"/>
    <p:sldId id="272" r:id="rId10"/>
    <p:sldId id="291" r:id="rId11"/>
    <p:sldId id="292" r:id="rId12"/>
    <p:sldId id="293" r:id="rId13"/>
    <p:sldId id="294" r:id="rId14"/>
    <p:sldId id="295" r:id="rId15"/>
    <p:sldId id="297" r:id="rId16"/>
    <p:sldId id="298" r:id="rId17"/>
    <p:sldId id="299" r:id="rId18"/>
    <p:sldId id="300" r:id="rId19"/>
    <p:sldId id="302" r:id="rId20"/>
    <p:sldId id="301" r:id="rId21"/>
    <p:sldId id="308" r:id="rId22"/>
    <p:sldId id="309" r:id="rId23"/>
    <p:sldId id="310" r:id="rId24"/>
    <p:sldId id="311" r:id="rId25"/>
    <p:sldId id="312" r:id="rId26"/>
    <p:sldId id="313" r:id="rId27"/>
    <p:sldId id="305" r:id="rId28"/>
    <p:sldId id="306" r:id="rId29"/>
    <p:sldId id="304" r:id="rId30"/>
    <p:sldId id="307" r:id="rId31"/>
  </p:sldIdLst>
  <p:sldSz cx="12192000" cy="6858000"/>
  <p:notesSz cx="6858000" cy="9144000"/>
  <p:custDataLst>
    <p:tags r:id="rId3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2026/6/15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2026/6/15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2026/6/15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2026/6/15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2026/6/15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2026/6/15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2026/6/15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jpeg"/><Relationship Id="rId5" Type="http://schemas.openxmlformats.org/officeDocument/2006/relationships/slideLayout" Target="../slideLayouts/slideLayout2.xml"/><Relationship Id="rId4" Type="http://schemas.openxmlformats.org/officeDocument/2006/relationships/tags" Target="../tags/tag5.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tags" Target="../tags/tag8.xml"/><Relationship Id="rId7"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s>
</file>

<file path=ppt/slides/_rels/slide4.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slideLayout" Target="../slideLayouts/slideLayout2.xml"/><Relationship Id="rId4" Type="http://schemas.openxmlformats.org/officeDocument/2006/relationships/tags" Target="../tags/tag15.xml"/></Relationships>
</file>

<file path=ppt/slides/_rels/slide5.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slideLayout" Target="../slideLayouts/slideLayout2.xml"/><Relationship Id="rId4" Type="http://schemas.openxmlformats.org/officeDocument/2006/relationships/tags" Target="../tags/tag19.xml"/></Relationships>
</file>

<file path=ppt/slides/_rels/slide6.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slideLayout" Target="../slideLayouts/slideLayout2.xml"/><Relationship Id="rId4" Type="http://schemas.openxmlformats.org/officeDocument/2006/relationships/tags" Target="../tags/tag23.xml"/></Relationships>
</file>

<file path=ppt/slides/_rels/slide7.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slideLayout" Target="../slideLayouts/slideLayout2.xml"/><Relationship Id="rId4" Type="http://schemas.openxmlformats.org/officeDocument/2006/relationships/tags" Target="../tags/tag27.xml"/></Relationships>
</file>

<file path=ppt/slides/_rels/slide8.xml.rels><?xml version="1.0" encoding="UTF-8" standalone="yes"?>
<Relationships xmlns="http://schemas.openxmlformats.org/package/2006/relationships"><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tags" Target="../tags/tag28.xml"/><Relationship Id="rId5" Type="http://schemas.openxmlformats.org/officeDocument/2006/relationships/slideLayout" Target="../slideLayouts/slideLayout2.xml"/><Relationship Id="rId4" Type="http://schemas.openxmlformats.org/officeDocument/2006/relationships/tags" Target="../tags/tag31.xml"/></Relationships>
</file>

<file path=ppt/slides/_rels/slide9.xml.rels><?xml version="1.0" encoding="UTF-8" standalone="yes"?>
<Relationships xmlns="http://schemas.openxmlformats.org/package/2006/relationships"><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tags" Target="../tags/tag32.xml"/><Relationship Id="rId5" Type="http://schemas.openxmlformats.org/officeDocument/2006/relationships/slideLayout" Target="../slideLayouts/slideLayout2.xml"/><Relationship Id="rId4" Type="http://schemas.openxmlformats.org/officeDocument/2006/relationships/tags" Target="../tags/tag35.xml"/></Relationships>
</file>

<file path=ppt/slides/_rels/slide10.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Layout" Target="../slideLayouts/slideLayout2.xml"/><Relationship Id="rId4" Type="http://schemas.openxmlformats.org/officeDocument/2006/relationships/tags" Target="../tags/tag39.xml"/></Relationships>
</file>

<file path=ppt/slides/_rels/slide11.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slideLayout" Target="../slideLayouts/slideLayout2.xml"/><Relationship Id="rId4" Type="http://schemas.openxmlformats.org/officeDocument/2006/relationships/tags" Target="../tags/tag43.xml"/></Relationships>
</file>

<file path=ppt/slides/_rels/slide12.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slideLayout" Target="../slideLayouts/slideLayout2.xml"/><Relationship Id="rId4" Type="http://schemas.openxmlformats.org/officeDocument/2006/relationships/tags" Target="../tags/tag47.xml"/></Relationships>
</file>

<file path=ppt/slides/_rels/slide13.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5" Type="http://schemas.openxmlformats.org/officeDocument/2006/relationships/slideLayout" Target="../slideLayouts/slideLayout2.xml"/><Relationship Id="rId4" Type="http://schemas.openxmlformats.org/officeDocument/2006/relationships/tags" Target="../tags/tag51.xml"/></Relationships>
</file>

<file path=ppt/slides/_rels/slide14.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hyperlink" Target="http://journals.f+f.org/spectre/vblofeld-0046g.html" TargetMode="External"/><Relationship Id="rId5" Type="http://schemas.openxmlformats.org/officeDocument/2006/relationships/slideLayout" Target="../slideLayouts/slideLayout2.xml"/><Relationship Id="rId4" Type="http://schemas.openxmlformats.org/officeDocument/2006/relationships/tags" Target="../tags/tag55.xml"/></Relationships>
</file>

<file path=ppt/slides/_rels/slide15.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Layout" Target="../slideLayouts/slideLayout2.xml"/><Relationship Id="rId4" Type="http://schemas.openxmlformats.org/officeDocument/2006/relationships/tags" Target="../tags/tag59.xml"/></Relationships>
</file>

<file path=ppt/slides/_rels/slide16.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5" Type="http://schemas.openxmlformats.org/officeDocument/2006/relationships/slideLayout" Target="../slideLayouts/slideLayout2.xml"/><Relationship Id="rId4" Type="http://schemas.openxmlformats.org/officeDocument/2006/relationships/tags" Target="../tags/tag63.xml"/></Relationships>
</file>

<file path=ppt/slides/_rels/slide17.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5" Type="http://schemas.openxmlformats.org/officeDocument/2006/relationships/slideLayout" Target="../slideLayouts/slideLayout2.xml"/><Relationship Id="rId4" Type="http://schemas.openxmlformats.org/officeDocument/2006/relationships/tags" Target="../tags/tag67.xml"/></Relationships>
</file>

<file path=ppt/slides/_rels/slide18.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slideLayout" Target="../slideLayouts/slideLayout2.xml"/><Relationship Id="rId4" Type="http://schemas.openxmlformats.org/officeDocument/2006/relationships/tags" Target="../tags/tag71.xml"/></Relationships>
</file>

<file path=ppt/slides/_rels/slide19.xml.rels><?xml version="1.0" encoding="UTF-8" standalone="yes"?>
<Relationships xmlns="http://schemas.openxmlformats.org/package/2006/relationships"><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 Id="rId5" Type="http://schemas.openxmlformats.org/officeDocument/2006/relationships/slideLayout" Target="../slideLayouts/slideLayout2.xml"/><Relationship Id="rId4" Type="http://schemas.openxmlformats.org/officeDocument/2006/relationships/tags" Target="../tags/tag75.xml"/></Relationships>
</file>

<file path=ppt/slides/_rels/slide20.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 Id="rId5" Type="http://schemas.openxmlformats.org/officeDocument/2006/relationships/slideLayout" Target="../slideLayouts/slideLayout2.xml"/><Relationship Id="rId4" Type="http://schemas.openxmlformats.org/officeDocument/2006/relationships/tags" Target="../tags/tag79.xml"/></Relationships>
</file>

<file path=ppt/slides/_rels/slide21.xml.rels><?xml version="1.0" encoding="UTF-8" standalone="yes"?>
<Relationships xmlns="http://schemas.openxmlformats.org/package/2006/relationships"><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 Id="rId5" Type="http://schemas.openxmlformats.org/officeDocument/2006/relationships/slideLayout" Target="../slideLayouts/slideLayout2.xml"/><Relationship Id="rId4" Type="http://schemas.openxmlformats.org/officeDocument/2006/relationships/tags" Target="../tags/tag83.xml"/></Relationships>
</file>

<file path=ppt/slides/_rels/slide22.xml.rels><?xml version="1.0" encoding="UTF-8" standalone="yes"?>
<Relationships xmlns="http://schemas.openxmlformats.org/package/2006/relationships"><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 Id="rId5" Type="http://schemas.openxmlformats.org/officeDocument/2006/relationships/slideLayout" Target="../slideLayouts/slideLayout2.xml"/><Relationship Id="rId4" Type="http://schemas.openxmlformats.org/officeDocument/2006/relationships/tags" Target="../tags/tag87.xml"/></Relationships>
</file>

<file path=ppt/slides/_rels/slide23.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5" Type="http://schemas.openxmlformats.org/officeDocument/2006/relationships/slideLayout" Target="../slideLayouts/slideLayout2.xml"/><Relationship Id="rId4" Type="http://schemas.openxmlformats.org/officeDocument/2006/relationships/tags" Target="../tags/tag91.xml"/></Relationships>
</file>

<file path=ppt/slides/_rels/slide24.xml.rels><?xml version="1.0" encoding="UTF-8" standalone="yes"?>
<Relationships xmlns="http://schemas.openxmlformats.org/package/2006/relationships"><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 Id="rId5" Type="http://schemas.openxmlformats.org/officeDocument/2006/relationships/slideLayout" Target="../slideLayouts/slideLayout2.xml"/><Relationship Id="rId4" Type="http://schemas.openxmlformats.org/officeDocument/2006/relationships/tags" Target="../tags/tag95.xml"/></Relationships>
</file>

<file path=ppt/slides/_rels/slide25.xml.rels><?xml version="1.0" encoding="UTF-8" standalone="yes"?>
<Relationships xmlns="http://schemas.openxmlformats.org/package/2006/relationships"><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 Id="rId5" Type="http://schemas.openxmlformats.org/officeDocument/2006/relationships/slideLayout" Target="../slideLayouts/slideLayout2.xml"/><Relationship Id="rId4" Type="http://schemas.openxmlformats.org/officeDocument/2006/relationships/tags" Target="../tags/tag99.xml"/></Relationships>
</file>

<file path=ppt/slides/_rels/slide26.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slideLayout" Target="../slideLayouts/slideLayout2.xml"/><Relationship Id="rId4" Type="http://schemas.openxmlformats.org/officeDocument/2006/relationships/tags" Target="../tags/tag103.xml"/></Relationships>
</file>

<file path=ppt/slides/_rels/slide27.xml.rels><?xml version="1.0" encoding="UTF-8" standalone="yes"?>
<Relationships xmlns="http://schemas.openxmlformats.org/package/2006/relationships"><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 Id="rId5" Type="http://schemas.openxmlformats.org/officeDocument/2006/relationships/slideLayout" Target="../slideLayouts/slideLayout2.xml"/><Relationship Id="rId4" Type="http://schemas.openxmlformats.org/officeDocument/2006/relationships/tags" Target="../tags/tag107.xml"/></Relationships>
</file>

<file path=ppt/slides/_rels/slide28.xml.rels><?xml version="1.0" encoding="UTF-8" standalone="yes"?>
<Relationships xmlns="http://schemas.openxmlformats.org/package/2006/relationships"><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 Id="rId5" Type="http://schemas.openxmlformats.org/officeDocument/2006/relationships/slideLayout" Target="../slideLayouts/slideLayout2.xml"/><Relationship Id="rId4" Type="http://schemas.openxmlformats.org/officeDocument/2006/relationships/tags" Target="../tags/tag111.xml"/></Relationships>
</file>

<file path=ppt/slides/_rels/slide29.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5" Type="http://schemas.openxmlformats.org/officeDocument/2006/relationships/slideLayout" Target="../slideLayouts/slideLayout2.xml"/><Relationship Id="rId4" Type="http://schemas.openxmlformats.org/officeDocument/2006/relationships/tags" Target="../tags/tag115.xml"/></Relationships>
</file>

<file path=ppt/slides/_rels/slide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2"/>
          <p:cNvSpPr txBox="1"/>
          <p:nvPr>
            <p:custDataLst>
              <p:tags r:id="rId2"/>
            </p:custDataLst>
          </p:nvPr>
        </p:nvSpPr>
        <p:spPr>
          <a:xfrm>
            <a:off x="609600" y="410845"/>
            <a:ext cx="10972800" cy="1326515"/>
          </a:xfrm>
          <a:prstGeom prst="rect">
            <a:avLst/>
          </a:prstGeom>
          <a:solidFill>
            <a:schemeClr val="bg1">
              <a:lumMod val="95000"/>
            </a:schemeClr>
          </a:solidFill>
          <a:effectLst>
            <a:innerShdw blurRad="114300">
              <a:prstClr val="black"/>
            </a:innerShdw>
            <a:softEdge rad="63500"/>
          </a:effectLst>
        </p:spPr>
        <p:txBody>
          <a:bodyPr wrap="square" lIns="63500" tIns="25400" rIns="63500" bIns="25400" rtlCol="0" anchor="t" anchorCtr="0">
            <a:normAutofit fontScale="92500" lnSpcReduction="10000"/>
          </a:bodyPr>
          <a:lstStyle/>
          <a:p>
            <a:pPr indent="0" algn="ctr" fontAlgn="auto">
              <a:lnSpc>
                <a:spcPct val="150000"/>
              </a:lnSpc>
              <a:spcBef>
                <a:spcPts val="0"/>
              </a:spcBef>
              <a:spcAft>
                <a:spcPts val="0"/>
              </a:spcAft>
              <a:buSzPct val="100000"/>
              <a:buNone/>
            </a:pPr>
            <a:r>
              <a:rPr lang="en-US" altLang="zh-CN" sz="3200" b="1">
                <a:solidFill>
                  <a:schemeClr val="accent1"/>
                </a:solidFill>
                <a:uFillTx/>
                <a:latin typeface="Times New Roman" panose="02020603050405020304" charset="0"/>
                <a:ea typeface="微软雅黑" panose="020B0503020204020204" charset="-122"/>
                <a:cs typeface="Times New Roman" panose="02020603050405020304" charset="0"/>
                <a:sym typeface="+mn-ea"/>
              </a:rPr>
              <a:t>English Academic Writing </a:t>
            </a:r>
          </a:p>
          <a:p>
            <a:pPr indent="0" algn="ctr" fontAlgn="auto">
              <a:lnSpc>
                <a:spcPct val="150000"/>
              </a:lnSpc>
              <a:spcBef>
                <a:spcPts val="0"/>
              </a:spcBef>
              <a:spcAft>
                <a:spcPts val="0"/>
              </a:spcAft>
              <a:buSzPct val="100000"/>
              <a:buNone/>
            </a:pPr>
            <a:r>
              <a:rPr lang="zh-CN" altLang="zh-CN" sz="3200" b="1" spc="170">
                <a:solidFill>
                  <a:schemeClr val="accent1"/>
                </a:solidFill>
                <a:uFillTx/>
                <a:latin typeface="Times New Roman" panose="02020603050405020304" charset="0"/>
                <a:ea typeface="微软雅黑" panose="020B0503020204020204" charset="-122"/>
                <a:cs typeface="Times New Roman" panose="02020603050405020304" charset="0"/>
                <a:sym typeface="+mn-ea"/>
              </a:rPr>
              <a:t>《学术英语论文写作》</a:t>
            </a:r>
          </a:p>
        </p:txBody>
      </p:sp>
      <p:pic>
        <p:nvPicPr>
          <p:cNvPr id="7" name="图片 3"/>
          <p:cNvPicPr>
            <a:picLocks noChangeAspect="1"/>
          </p:cNvPicPr>
          <p:nvPr>
            <p:custDataLst>
              <p:tags r:id="rId3"/>
            </p:custDataLst>
          </p:nvPr>
        </p:nvPicPr>
        <p:blipFill rotWithShape="1">
          <a:blip r:embed="rId6"/>
          <a:srcRect t="26602" b="26602"/>
          <a:stretch>
            <a:fillRect/>
          </a:stretch>
        </p:blipFill>
        <p:spPr>
          <a:xfrm>
            <a:off x="609562" y="2042160"/>
            <a:ext cx="10972876" cy="2889261"/>
          </a:xfrm>
          <a:custGeom>
            <a:avLst/>
            <a:gdLst/>
            <a:ahLst/>
            <a:cxnLst>
              <a:cxn ang="3">
                <a:pos x="hc" y="t"/>
              </a:cxn>
              <a:cxn ang="cd2">
                <a:pos x="l" y="vc"/>
              </a:cxn>
              <a:cxn ang="cd4">
                <a:pos x="hc" y="b"/>
              </a:cxn>
              <a:cxn ang="0">
                <a:pos x="r" y="vc"/>
              </a:cxn>
            </a:cxnLst>
            <a:rect l="l" t="t" r="r" b="b"/>
            <a:pathLst>
              <a:path w="17280" h="4320">
                <a:moveTo>
                  <a:pt x="0" y="0"/>
                </a:moveTo>
                <a:lnTo>
                  <a:pt x="17280" y="0"/>
                </a:lnTo>
                <a:lnTo>
                  <a:pt x="17280" y="4320"/>
                </a:lnTo>
                <a:lnTo>
                  <a:pt x="0" y="4320"/>
                </a:lnTo>
                <a:lnTo>
                  <a:pt x="0" y="0"/>
                </a:lnTo>
                <a:close/>
              </a:path>
            </a:pathLst>
          </a:custGeom>
          <a:ln>
            <a:solidFill>
              <a:schemeClr val="accent2">
                <a:lumMod val="20000"/>
                <a:lumOff val="80000"/>
              </a:schemeClr>
            </a:solidFill>
          </a:ln>
          <a:effectLst>
            <a:innerShdw blurRad="114300">
              <a:prstClr val="black"/>
            </a:innerShdw>
          </a:effectLst>
        </p:spPr>
      </p:pic>
      <p:sp>
        <p:nvSpPr>
          <p:cNvPr id="11" name="Title 6"/>
          <p:cNvSpPr txBox="1"/>
          <p:nvPr>
            <p:custDataLst>
              <p:tags r:id="rId4"/>
            </p:custDataLst>
          </p:nvPr>
        </p:nvSpPr>
        <p:spPr>
          <a:xfrm>
            <a:off x="609562" y="5236196"/>
            <a:ext cx="10972800" cy="859804"/>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ctr" fontAlgn="auto">
              <a:lnSpc>
                <a:spcPct val="100000"/>
              </a:lnSpc>
              <a:spcBef>
                <a:spcPts val="0"/>
              </a:spcBef>
              <a:spcAft>
                <a:spcPts val="800"/>
              </a:spcAft>
              <a:buSzPct val="100000"/>
              <a:buNone/>
            </a:pPr>
            <a:r>
              <a:rPr lang="en-US" altLang="zh-CN" sz="2400" kern="0" spc="0">
                <a:ln w="3175">
                  <a:noFill/>
                  <a:prstDash val="dash"/>
                </a:ln>
                <a:solidFill>
                  <a:schemeClr val="tx1">
                    <a:lumMod val="75000"/>
                    <a:lumOff val="25000"/>
                  </a:schemeClr>
                </a:solidFill>
                <a:uFillTx/>
                <a:latin typeface="Times New Roman" panose="02020603050405020304" charset="0"/>
                <a:ea typeface="宋体" panose="02010600030101010101" pitchFamily="2" charset="-122"/>
                <a:cs typeface="Times New Roman" panose="02020603050405020304" charset="0"/>
                <a:sym typeface="+mn-ea"/>
              </a:rPr>
              <a:t>Lecturer: Liu Xindan</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69315" y="219075"/>
            <a:ext cx="10575290" cy="1207770"/>
          </a:xfrm>
        </p:spPr>
        <p:txBody>
          <a:bodyPr>
            <a:normAutofit/>
          </a:bodyPr>
          <a:lstStyle/>
          <a:p>
            <a:r>
              <a:rPr lang="en-US" altLang="zh-CN" sz="4445" b="1">
                <a:latin typeface="Times New Roman" panose="02020603050405020304" charset="0"/>
                <a:cs typeface="Times New Roman" panose="02020603050405020304" charset="0"/>
              </a:rPr>
              <a:t>Chapter 9 Citation and References</a:t>
            </a:r>
          </a:p>
        </p:txBody>
      </p:sp>
      <p:sp>
        <p:nvSpPr>
          <p:cNvPr id="3" name="副标题 2"/>
          <p:cNvSpPr>
            <a:spLocks noGrp="1"/>
          </p:cNvSpPr>
          <p:nvPr>
            <p:ph type="subTitle" idx="1"/>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966470" y="2007235"/>
            <a:ext cx="10268585" cy="34575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a:t>
            </a:r>
            <a:endParaRPr lang="en-US" altLang="zh-CN" sz="2800" b="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9" name="内容占位符 2"/>
          <p:cNvSpPr>
            <a:spLocks noGrp="1"/>
          </p:cNvSpPr>
          <p:nvPr>
            <p:custDataLst>
              <p:tags r:id="rId5"/>
            </p:custDataLst>
          </p:nvPr>
        </p:nvSpPr>
        <p:spPr>
          <a:xfrm>
            <a:off x="1454150" y="5260975"/>
            <a:ext cx="3573780" cy="6711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a:latin typeface="Times New Roman" panose="02020603050405020304" charset="0"/>
                <a:cs typeface="Times New Roman" panose="02020603050405020304" charset="0"/>
              </a:rPr>
              <a:t>Contents</a:t>
            </a:r>
          </a:p>
        </p:txBody>
      </p:sp>
      <p:sp>
        <p:nvSpPr>
          <p:cNvPr id="12" name="标题 1"/>
          <p:cNvSpPr>
            <a:spLocks noGrp="1"/>
          </p:cNvSpPr>
          <p:nvPr>
            <p:custDataLst>
              <p:tags r:id="rId6"/>
            </p:custDataLst>
          </p:nvPr>
        </p:nvSpPr>
        <p:spPr>
          <a:xfrm>
            <a:off x="6389370" y="1468120"/>
            <a:ext cx="5695315" cy="47923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indent="0" fontAlgn="auto">
              <a:lnSpc>
                <a:spcPct val="200000"/>
              </a:lnSpc>
            </a:pPr>
            <a:r>
              <a:rPr lang="en-US" altLang="zh-CN" sz="3200" b="1" i="1">
                <a:solidFill>
                  <a:schemeClr val="accent2">
                    <a:lumMod val="75000"/>
                  </a:schemeClr>
                </a:solidFill>
                <a:latin typeface="Times New Roman" panose="02020603050405020304" charset="0"/>
                <a:cs typeface="Times New Roman" panose="02020603050405020304" charset="0"/>
              </a:rPr>
              <a:t>1. </a:t>
            </a:r>
            <a:r>
              <a:rPr lang="en-US" altLang="zh-CN" sz="3200" b="1">
                <a:latin typeface="Times New Roman" panose="02020603050405020304" charset="0"/>
                <a:cs typeface="Times New Roman" panose="02020603050405020304" charset="0"/>
              </a:rPr>
              <a:t>Citation</a:t>
            </a:r>
          </a:p>
          <a:p>
            <a:pPr indent="0" fontAlgn="auto">
              <a:lnSpc>
                <a:spcPct val="200000"/>
              </a:lnSpc>
            </a:pPr>
            <a:r>
              <a:rPr lang="en-US" altLang="zh-CN" sz="3200" b="1" i="1">
                <a:solidFill>
                  <a:schemeClr val="accent2">
                    <a:lumMod val="75000"/>
                  </a:schemeClr>
                </a:solidFill>
                <a:latin typeface="Times New Roman" panose="02020603050405020304" charset="0"/>
                <a:cs typeface="Times New Roman" panose="02020603050405020304" charset="0"/>
              </a:rPr>
              <a:t>2.</a:t>
            </a:r>
            <a:r>
              <a:rPr lang="en-US" altLang="zh-CN" sz="3200" b="1">
                <a:latin typeface="Times New Roman" panose="02020603050405020304" charset="0"/>
                <a:cs typeface="Times New Roman" panose="02020603050405020304" charset="0"/>
              </a:rPr>
              <a:t> References</a:t>
            </a:r>
            <a:r>
              <a:rPr lang="en-US" altLang="zh-CN" sz="2800" b="1">
                <a:latin typeface="Times New Roman" panose="02020603050405020304" charset="0"/>
                <a:cs typeface="Times New Roman" panose="02020603050405020304" charset="0"/>
              </a:rPr>
              <a:t> </a:t>
            </a:r>
          </a:p>
          <a:p>
            <a:pPr marL="0" indent="0" fontAlgn="auto">
              <a:lnSpc>
                <a:spcPct val="150000"/>
              </a:lnSpc>
            </a:pPr>
            <a:endParaRPr lang="en-US" altLang="zh-CN" sz="2800" b="1">
              <a:latin typeface="Times New Roman" panose="02020603050405020304" charset="0"/>
              <a:cs typeface="Times New Roman" panose="02020603050405020304" charset="0"/>
            </a:endParaRPr>
          </a:p>
        </p:txBody>
      </p:sp>
      <p:pic>
        <p:nvPicPr>
          <p:cNvPr id="102" name="图片 101"/>
          <p:cNvPicPr/>
          <p:nvPr/>
        </p:nvPicPr>
        <p:blipFill>
          <a:blip r:embed="rId8"/>
          <a:stretch>
            <a:fillRect/>
          </a:stretch>
        </p:blipFill>
        <p:spPr>
          <a:xfrm>
            <a:off x="954405" y="2199005"/>
            <a:ext cx="4599305" cy="2745740"/>
          </a:xfrm>
          <a:prstGeom prst="roundRect">
            <a:avLst/>
          </a:prstGeom>
          <a:noFill/>
          <a:ln w="9525">
            <a:noFill/>
          </a:ln>
          <a:effectLst>
            <a:innerShdw blurRad="114300">
              <a:prstClr val="black"/>
            </a:innerShdw>
          </a:effec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References--1 Citation</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algn="ctr" fontAlgn="auto">
              <a:lnSpc>
                <a:spcPct val="150000"/>
              </a:lnSpc>
              <a:buNone/>
            </a:pPr>
            <a:endParaRPr lang="en-US" altLang="zh-CN">
              <a:latin typeface="Times New Roman" panose="02020603050405020304" charset="0"/>
              <a:cs typeface="Times New Roman" panose="02020603050405020304" charset="0"/>
              <a:sym typeface="+mn-ea"/>
            </a:endParaRPr>
          </a:p>
          <a:p>
            <a:pPr marL="0" indent="0" algn="ctr" fontAlgn="auto">
              <a:lnSpc>
                <a:spcPct val="150000"/>
              </a:lnSpc>
              <a:buNone/>
            </a:pPr>
            <a:endParaRPr lang="en-US" altLang="zh-CN">
              <a:latin typeface="Times New Roman" panose="02020603050405020304" charset="0"/>
              <a:cs typeface="Times New Roman" panose="02020603050405020304" charset="0"/>
              <a:sym typeface="+mn-ea"/>
            </a:endParaRPr>
          </a:p>
          <a:p>
            <a:pPr marL="0" indent="0" algn="ctr" fontAlgn="auto">
              <a:lnSpc>
                <a:spcPct val="150000"/>
              </a:lnSpc>
              <a:buNone/>
            </a:pPr>
            <a:r>
              <a:rPr lang="en-US" altLang="zh-CN">
                <a:latin typeface="Times New Roman" panose="02020603050405020304" charset="0"/>
                <a:cs typeface="Times New Roman" panose="02020603050405020304" charset="0"/>
                <a:sym typeface="+mn-ea"/>
              </a:rPr>
              <a:t>It’s much better to cite too much than not enough and be accused of plagiarism.</a:t>
            </a:r>
            <a:endParaRPr lang="en-US">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References--1 Citation</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0000"/>
          </a:bodyPr>
          <a:lstStyle/>
          <a:p>
            <a:pPr marL="0" indent="0" fontAlgn="auto">
              <a:lnSpc>
                <a:spcPct val="200000"/>
              </a:lnSpc>
              <a:spcBef>
                <a:spcPts val="0"/>
              </a:spcBef>
              <a:buNone/>
            </a:pPr>
            <a:r>
              <a:rPr lang="en-US" b="1">
                <a:solidFill>
                  <a:schemeClr val="tx1"/>
                </a:solidFill>
                <a:latin typeface="Times New Roman" panose="02020603050405020304" charset="0"/>
                <a:cs typeface="Times New Roman" panose="02020603050405020304" charset="0"/>
              </a:rPr>
              <a:t>Guidelines for Citing the Ideas of Others</a:t>
            </a:r>
          </a:p>
          <a:p>
            <a:pPr marL="0" indent="0" fontAlgn="auto">
              <a:lnSpc>
                <a:spcPct val="200000"/>
              </a:lnSpc>
              <a:spcBef>
                <a:spcPts val="0"/>
              </a:spcBef>
              <a:buNone/>
            </a:pPr>
            <a:r>
              <a:rPr lang="en-US">
                <a:solidFill>
                  <a:schemeClr val="tx1"/>
                </a:solidFill>
                <a:latin typeface="Times New Roman" panose="02020603050405020304" charset="0"/>
                <a:cs typeface="Times New Roman" panose="02020603050405020304" charset="0"/>
              </a:rPr>
              <a:t>Citation should observe the following principles:</a:t>
            </a:r>
          </a:p>
          <a:p>
            <a:pPr marL="0" indent="0" fontAlgn="auto">
              <a:lnSpc>
                <a:spcPct val="200000"/>
              </a:lnSpc>
              <a:spcBef>
                <a:spcPts val="0"/>
              </a:spcBef>
            </a:pPr>
            <a:r>
              <a:rPr lang="en-US">
                <a:solidFill>
                  <a:schemeClr val="tx1"/>
                </a:solidFill>
                <a:latin typeface="Times New Roman" panose="02020603050405020304" charset="0"/>
                <a:cs typeface="Times New Roman" panose="02020603050405020304" charset="0"/>
              </a:rPr>
              <a:t> Cite only the most appropriate and the latest literature.</a:t>
            </a:r>
          </a:p>
          <a:p>
            <a:pPr marL="0" indent="0" fontAlgn="auto">
              <a:lnSpc>
                <a:spcPct val="200000"/>
              </a:lnSpc>
              <a:spcBef>
                <a:spcPts val="0"/>
              </a:spcBef>
            </a:pPr>
            <a:r>
              <a:rPr lang="en-US">
                <a:solidFill>
                  <a:schemeClr val="tx1"/>
                </a:solidFill>
                <a:latin typeface="Times New Roman" panose="02020603050405020304" charset="0"/>
                <a:cs typeface="Times New Roman" panose="02020603050405020304" charset="0"/>
              </a:rPr>
              <a:t> Cite the published literature.</a:t>
            </a:r>
          </a:p>
          <a:p>
            <a:pPr marL="0" indent="0" fontAlgn="auto">
              <a:lnSpc>
                <a:spcPct val="200000"/>
              </a:lnSpc>
              <a:spcBef>
                <a:spcPts val="0"/>
              </a:spcBef>
            </a:pPr>
            <a:r>
              <a:rPr lang="en-US">
                <a:solidFill>
                  <a:schemeClr val="tx1"/>
                </a:solidFill>
                <a:latin typeface="Times New Roman" panose="02020603050405020304" charset="0"/>
                <a:cs typeface="Times New Roman" panose="02020603050405020304" charset="0"/>
              </a:rPr>
              <a:t> Provide citations for direct quotations and paraphrases, for ideas, and data taken</a:t>
            </a:r>
          </a:p>
          <a:p>
            <a:pPr marL="0" indent="0" fontAlgn="auto">
              <a:lnSpc>
                <a:spcPct val="200000"/>
              </a:lnSpc>
              <a:spcBef>
                <a:spcPts val="0"/>
              </a:spcBef>
              <a:buNone/>
            </a:pPr>
            <a:r>
              <a:rPr lang="en-US">
                <a:solidFill>
                  <a:schemeClr val="tx1"/>
                </a:solidFill>
                <a:latin typeface="Times New Roman" panose="02020603050405020304" charset="0"/>
                <a:cs typeface="Times New Roman" panose="02020603050405020304" charset="0"/>
              </a:rPr>
              <a:t>from an original source.</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References--1 Citation</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lnSpcReduction="10000"/>
          </a:bodyPr>
          <a:lstStyle/>
          <a:p>
            <a:pPr marL="0" indent="0" fontAlgn="auto">
              <a:lnSpc>
                <a:spcPct val="200000"/>
              </a:lnSpc>
              <a:spcBef>
                <a:spcPts val="0"/>
              </a:spcBef>
            </a:pPr>
            <a:r>
              <a:rPr lang="en-US" dirty="0">
                <a:solidFill>
                  <a:schemeClr val="tx1"/>
                </a:solidFill>
                <a:latin typeface="Times New Roman" panose="02020603050405020304" charset="0"/>
                <a:cs typeface="Times New Roman" panose="02020603050405020304" charset="0"/>
              </a:rPr>
              <a:t> Accuracy in citation must be guaranteed.</a:t>
            </a:r>
          </a:p>
          <a:p>
            <a:pPr marL="0" indent="0" fontAlgn="auto">
              <a:lnSpc>
                <a:spcPct val="200000"/>
              </a:lnSpc>
              <a:spcBef>
                <a:spcPts val="0"/>
              </a:spcBef>
            </a:pPr>
            <a:r>
              <a:rPr lang="en-US" dirty="0">
                <a:solidFill>
                  <a:schemeClr val="tx1"/>
                </a:solidFill>
                <a:latin typeface="Times New Roman" panose="02020603050405020304" charset="0"/>
                <a:cs typeface="Times New Roman" panose="02020603050405020304" charset="0"/>
              </a:rPr>
              <a:t> Citation format must be standardized.</a:t>
            </a:r>
          </a:p>
          <a:p>
            <a:pPr marL="0" indent="0" fontAlgn="auto">
              <a:lnSpc>
                <a:spcPct val="200000"/>
              </a:lnSpc>
              <a:spcBef>
                <a:spcPts val="0"/>
              </a:spcBef>
            </a:pPr>
            <a:r>
              <a:rPr lang="en-US" dirty="0">
                <a:solidFill>
                  <a:schemeClr val="tx1"/>
                </a:solidFill>
                <a:latin typeface="Times New Roman" panose="02020603050405020304" charset="0"/>
                <a:cs typeface="Times New Roman" panose="02020603050405020304" charset="0"/>
              </a:rPr>
              <a:t> Be tentative in citation rather than being too assertive.</a:t>
            </a:r>
          </a:p>
          <a:p>
            <a:pPr marL="0" indent="0" fontAlgn="auto">
              <a:lnSpc>
                <a:spcPct val="200000"/>
              </a:lnSpc>
              <a:spcBef>
                <a:spcPts val="0"/>
              </a:spcBef>
            </a:pPr>
            <a:r>
              <a:rPr lang="en-US" dirty="0">
                <a:solidFill>
                  <a:schemeClr val="tx1"/>
                </a:solidFill>
                <a:latin typeface="Times New Roman" panose="02020603050405020304" charset="0"/>
                <a:cs typeface="Times New Roman" panose="02020603050405020304" charset="0"/>
              </a:rPr>
              <a:t> Do not cite more than is necessary.</a:t>
            </a:r>
          </a:p>
          <a:p>
            <a:pPr marL="0" indent="0" fontAlgn="auto">
              <a:lnSpc>
                <a:spcPct val="200000"/>
              </a:lnSpc>
              <a:spcBef>
                <a:spcPts val="0"/>
              </a:spcBef>
            </a:pPr>
            <a:r>
              <a:rPr lang="en-US" dirty="0">
                <a:solidFill>
                  <a:schemeClr val="tx1"/>
                </a:solidFill>
                <a:latin typeface="Times New Roman" panose="02020603050405020304" charset="0"/>
                <a:cs typeface="Times New Roman" panose="02020603050405020304" charset="0"/>
              </a:rPr>
              <a:t> Don’t put a “catch-all” citation at the end of a paragraph.</a:t>
            </a:r>
          </a:p>
          <a:p>
            <a:pPr marL="0" indent="0" fontAlgn="auto">
              <a:lnSpc>
                <a:spcPct val="200000"/>
              </a:lnSpc>
              <a:spcBef>
                <a:spcPts val="0"/>
              </a:spcBef>
            </a:pPr>
            <a:r>
              <a:rPr lang="en-US" dirty="0">
                <a:solidFill>
                  <a:schemeClr val="tx1"/>
                </a:solidFill>
                <a:latin typeface="Times New Roman" panose="02020603050405020304" charset="0"/>
                <a:cs typeface="Times New Roman" panose="02020603050405020304" charset="0"/>
              </a:rPr>
              <a:t> Cite as you use.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References--1 Citation</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spcBef>
                <a:spcPts val="0"/>
              </a:spcBef>
              <a:buNone/>
            </a:pPr>
            <a:r>
              <a:rPr lang="en-US" dirty="0">
                <a:latin typeface="Times New Roman" panose="02020603050405020304" charset="0"/>
                <a:cs typeface="Times New Roman" panose="02020603050405020304" charset="0"/>
              </a:rPr>
              <a:t>Smith (2020) </a:t>
            </a:r>
            <a:r>
              <a:rPr lang="en-US" dirty="0">
                <a:solidFill>
                  <a:srgbClr val="FF0000"/>
                </a:solidFill>
                <a:latin typeface="Times New Roman" panose="02020603050405020304" charset="0"/>
                <a:cs typeface="Times New Roman" panose="02020603050405020304" charset="0"/>
              </a:rPr>
              <a:t>proves</a:t>
            </a:r>
            <a:r>
              <a:rPr lang="en-US" dirty="0">
                <a:latin typeface="Times New Roman" panose="02020603050405020304" charset="0"/>
                <a:cs typeface="Times New Roman" panose="02020603050405020304" charset="0"/>
              </a:rPr>
              <a:t> that mindfulness reduces anxiety.</a:t>
            </a:r>
          </a:p>
          <a:p>
            <a:pPr marL="0" indent="0" fontAlgn="auto">
              <a:lnSpc>
                <a:spcPct val="150000"/>
              </a:lnSpc>
              <a:spcBef>
                <a:spcPts val="0"/>
              </a:spcBef>
              <a:buNone/>
            </a:pPr>
            <a:r>
              <a:rPr lang="en-US" altLang="zh-CN" dirty="0">
                <a:latin typeface="Times New Roman" panose="02020603050405020304" charset="0"/>
                <a:cs typeface="Times New Roman" panose="02020603050405020304" charset="0"/>
              </a:rPr>
              <a:t>Revision:</a:t>
            </a:r>
            <a:r>
              <a:rPr lang="zh-CN" altLang="en-US" dirty="0">
                <a:latin typeface="Times New Roman" panose="02020603050405020304" charset="0"/>
                <a:cs typeface="Times New Roman" panose="02020603050405020304" charset="0"/>
              </a:rPr>
              <a:t> </a:t>
            </a:r>
            <a:r>
              <a:rPr lang="en-US" dirty="0">
                <a:latin typeface="Times New Roman" panose="02020603050405020304" charset="0"/>
                <a:cs typeface="Times New Roman" panose="02020603050405020304" charset="0"/>
              </a:rPr>
              <a:t>Smith (2020) </a:t>
            </a:r>
            <a:r>
              <a:rPr lang="en-US" dirty="0">
                <a:highlight>
                  <a:srgbClr val="00FF00"/>
                </a:highlight>
                <a:latin typeface="Times New Roman" panose="02020603050405020304" charset="0"/>
                <a:cs typeface="Times New Roman" panose="02020603050405020304" charset="0"/>
              </a:rPr>
              <a:t>suggests</a:t>
            </a:r>
            <a:r>
              <a:rPr lang="en-US" dirty="0">
                <a:latin typeface="Times New Roman" panose="02020603050405020304" charset="0"/>
                <a:cs typeface="Times New Roman" panose="02020603050405020304" charset="0"/>
              </a:rPr>
              <a:t> that mindfulness </a:t>
            </a:r>
            <a:r>
              <a:rPr lang="en-US" dirty="0">
                <a:highlight>
                  <a:srgbClr val="00FF00"/>
                </a:highlight>
                <a:latin typeface="Times New Roman" panose="02020603050405020304" charset="0"/>
                <a:cs typeface="Times New Roman" panose="02020603050405020304" charset="0"/>
              </a:rPr>
              <a:t>may</a:t>
            </a:r>
            <a:r>
              <a:rPr lang="en-US" dirty="0">
                <a:latin typeface="Times New Roman" panose="02020603050405020304" charset="0"/>
                <a:cs typeface="Times New Roman" panose="02020603050405020304" charset="0"/>
              </a:rPr>
              <a:t> reduce anxiety, </a:t>
            </a:r>
            <a:r>
              <a:rPr lang="en-US" dirty="0">
                <a:highlight>
                  <a:srgbClr val="00FF00"/>
                </a:highlight>
                <a:latin typeface="Times New Roman" panose="02020603050405020304" charset="0"/>
                <a:cs typeface="Times New Roman" panose="02020603050405020304" charset="0"/>
              </a:rPr>
              <a:t>though further research is needed</a:t>
            </a:r>
            <a:r>
              <a:rPr lang="en-US" dirty="0">
                <a:latin typeface="Times New Roman" panose="02020603050405020304" charset="0"/>
                <a:cs typeface="Times New Roman" panose="02020603050405020304" charset="0"/>
              </a:rPr>
              <a:t>.</a:t>
            </a:r>
          </a:p>
          <a:p>
            <a:pPr marL="0" indent="0" fontAlgn="auto">
              <a:lnSpc>
                <a:spcPct val="150000"/>
              </a:lnSpc>
              <a:spcBef>
                <a:spcPts val="0"/>
              </a:spcBef>
              <a:buNone/>
            </a:pPr>
            <a:r>
              <a:rPr lang="en-US" dirty="0">
                <a:latin typeface="Times New Roman" panose="02020603050405020304" charset="0"/>
                <a:cs typeface="Times New Roman" panose="02020603050405020304" charset="0"/>
              </a:rPr>
              <a:t>Based on Smith’s (2020) sample of college students, mindfulness </a:t>
            </a:r>
            <a:r>
              <a:rPr lang="en-US" dirty="0">
                <a:highlight>
                  <a:srgbClr val="00FF00"/>
                </a:highlight>
                <a:latin typeface="Times New Roman" panose="02020603050405020304" charset="0"/>
                <a:cs typeface="Times New Roman" panose="02020603050405020304" charset="0"/>
              </a:rPr>
              <a:t>appears to</a:t>
            </a:r>
            <a:r>
              <a:rPr lang="en-US" dirty="0">
                <a:latin typeface="Times New Roman" panose="02020603050405020304" charset="0"/>
                <a:cs typeface="Times New Roman" panose="02020603050405020304" charset="0"/>
              </a:rPr>
              <a:t> reduce anxiety; </a:t>
            </a:r>
            <a:r>
              <a:rPr lang="en-US" dirty="0">
                <a:highlight>
                  <a:srgbClr val="00FF00"/>
                </a:highlight>
                <a:latin typeface="Times New Roman" panose="02020603050405020304" charset="0"/>
                <a:cs typeface="Times New Roman" panose="02020603050405020304" charset="0"/>
              </a:rPr>
              <a:t>however</a:t>
            </a:r>
            <a:r>
              <a:rPr lang="en-US" dirty="0">
                <a:latin typeface="Times New Roman" panose="02020603050405020304" charset="0"/>
                <a:cs typeface="Times New Roman" panose="02020603050405020304" charset="0"/>
              </a:rPr>
              <a:t>, these findings </a:t>
            </a:r>
            <a:r>
              <a:rPr lang="en-US" dirty="0">
                <a:highlight>
                  <a:srgbClr val="00FF00"/>
                </a:highlight>
                <a:latin typeface="Times New Roman" panose="02020603050405020304" charset="0"/>
                <a:cs typeface="Times New Roman" panose="02020603050405020304" charset="0"/>
              </a:rPr>
              <a:t>may not </a:t>
            </a:r>
            <a:r>
              <a:rPr lang="en-US" dirty="0">
                <a:latin typeface="Times New Roman" panose="02020603050405020304" charset="0"/>
                <a:cs typeface="Times New Roman" panose="02020603050405020304" charset="0"/>
              </a:rPr>
              <a:t>generalize to clinical populations.</a:t>
            </a:r>
            <a:endParaRPr lang="en-US" dirty="0">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extLst>
      <p:ext uri="{BB962C8B-B14F-4D97-AF65-F5344CB8AC3E}">
        <p14:creationId xmlns:p14="http://schemas.microsoft.com/office/powerpoint/2010/main" val="35821453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References--1 Citation</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lnSpcReduction="10000"/>
          </a:bodyPr>
          <a:lstStyle/>
          <a:p>
            <a:pPr marL="0" indent="0" fontAlgn="auto">
              <a:lnSpc>
                <a:spcPct val="150000"/>
              </a:lnSpc>
              <a:spcBef>
                <a:spcPts val="0"/>
              </a:spcBef>
              <a:buNone/>
            </a:pPr>
            <a:r>
              <a:rPr lang="en-US" sz="2000" dirty="0">
                <a:latin typeface="Times New Roman" panose="02020603050405020304" charset="0"/>
                <a:cs typeface="Times New Roman" panose="02020603050405020304" charset="0"/>
              </a:rPr>
              <a:t>Urban green spaces improve residents’ mental health and reduce stress levels. They also help regulate urban microclimate and lower ambient temperatures. Many communities have invested in park construction to enhance public well-being in recent years. (Smith, 2020; Lee, 2022; Wang, 2024)</a:t>
            </a:r>
          </a:p>
          <a:p>
            <a:pPr marL="0" indent="0" fontAlgn="auto">
              <a:lnSpc>
                <a:spcPct val="150000"/>
              </a:lnSpc>
              <a:spcBef>
                <a:spcPts val="0"/>
              </a:spcBef>
              <a:buNone/>
            </a:pPr>
            <a:endParaRPr lang="en-US" sz="2000" dirty="0">
              <a:latin typeface="Times New Roman" panose="02020603050405020304" charset="0"/>
              <a:cs typeface="Times New Roman" panose="02020603050405020304" charset="0"/>
            </a:endParaRPr>
          </a:p>
          <a:p>
            <a:pPr marL="0" indent="0" fontAlgn="auto">
              <a:lnSpc>
                <a:spcPct val="150000"/>
              </a:lnSpc>
              <a:spcBef>
                <a:spcPts val="0"/>
              </a:spcBef>
              <a:buNone/>
            </a:pPr>
            <a:endParaRPr lang="en-US" sz="2000" dirty="0">
              <a:latin typeface="Times New Roman" panose="02020603050405020304" charset="0"/>
              <a:cs typeface="Times New Roman" panose="02020603050405020304" charset="0"/>
            </a:endParaRPr>
          </a:p>
          <a:p>
            <a:pPr marL="0" indent="0" fontAlgn="auto">
              <a:lnSpc>
                <a:spcPct val="150000"/>
              </a:lnSpc>
              <a:spcBef>
                <a:spcPts val="0"/>
              </a:spcBef>
              <a:buNone/>
            </a:pPr>
            <a:r>
              <a:rPr lang="en-US" sz="2000" dirty="0">
                <a:latin typeface="Times New Roman" panose="02020603050405020304" charset="0"/>
                <a:cs typeface="Times New Roman" panose="02020603050405020304" charset="0"/>
              </a:rPr>
              <a:t>Revision: Several studies have investigated the impact of remote work on employee productivity. Smith (2020) found that flexible schedules can increase efficiency among software developers. However, Jones (2018) reported persistent challenges in team communication when remote work was adopted without structured check-ins. Meanwhile, Lee (2019) emphasized the importance of managerial support in maintaining productivity, and Chen (2021) suggested that the benefits of remote work may vary by industry.</a:t>
            </a:r>
            <a:endParaRPr lang="en-US" sz="2000" dirty="0">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extLst>
      <p:ext uri="{BB962C8B-B14F-4D97-AF65-F5344CB8AC3E}">
        <p14:creationId xmlns:p14="http://schemas.microsoft.com/office/powerpoint/2010/main" val="8938148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References--1 Citation</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buNone/>
            </a:pPr>
            <a:r>
              <a:rPr lang="en-US" altLang="zh-CN" b="1">
                <a:latin typeface="Times New Roman" panose="02020603050405020304" charset="0"/>
                <a:cs typeface="Times New Roman" panose="02020603050405020304" charset="0"/>
                <a:sym typeface="+mn-ea"/>
              </a:rPr>
              <a:t>1.1 In-Text Citation</a:t>
            </a:r>
            <a:endParaRPr lang="en-US" altLang="zh-CN" b="1">
              <a:latin typeface="Times New Roman" panose="02020603050405020304" charset="0"/>
              <a:cs typeface="Times New Roman" panose="02020603050405020304" charset="0"/>
            </a:endParaRPr>
          </a:p>
          <a:p>
            <a:pPr fontAlgn="auto">
              <a:lnSpc>
                <a:spcPct val="150000"/>
              </a:lnSpc>
              <a:buNone/>
            </a:pPr>
            <a:r>
              <a:rPr lang="en-US" altLang="zh-CN">
                <a:latin typeface="Times New Roman" panose="02020603050405020304" charset="0"/>
                <a:cs typeface="Times New Roman" panose="02020603050405020304" charset="0"/>
                <a:sym typeface="+mn-ea"/>
              </a:rPr>
              <a:t> </a:t>
            </a:r>
            <a:r>
              <a:rPr lang="en-US" altLang="zh-CN" b="1">
                <a:latin typeface="Times New Roman" panose="02020603050405020304" charset="0"/>
                <a:cs typeface="Times New Roman" panose="02020603050405020304" charset="0"/>
                <a:sym typeface="+mn-ea"/>
              </a:rPr>
              <a:t>One author</a:t>
            </a:r>
            <a:endParaRPr lang="en-US" altLang="zh-CN">
              <a:latin typeface="Times New Roman" panose="02020603050405020304" charset="0"/>
              <a:cs typeface="Times New Roman" panose="02020603050405020304" charset="0"/>
            </a:endParaRPr>
          </a:p>
          <a:p>
            <a:pPr fontAlgn="auto">
              <a:lnSpc>
                <a:spcPct val="150000"/>
              </a:lnSpc>
              <a:buNone/>
            </a:pPr>
            <a:r>
              <a:rPr lang="en-US" altLang="zh-CN">
                <a:latin typeface="Times New Roman" panose="02020603050405020304" charset="0"/>
                <a:cs typeface="Times New Roman" panose="02020603050405020304" charset="0"/>
                <a:sym typeface="+mn-ea"/>
              </a:rPr>
              <a:t> The easiest way is to use quotation marks and say where it came from.</a:t>
            </a:r>
            <a:endParaRPr lang="en-US" altLang="zh-CN">
              <a:latin typeface="Times New Roman" panose="02020603050405020304" charset="0"/>
              <a:cs typeface="Times New Roman" panose="02020603050405020304" charset="0"/>
            </a:endParaRPr>
          </a:p>
          <a:p>
            <a:pPr fontAlgn="auto">
              <a:lnSpc>
                <a:spcPct val="150000"/>
              </a:lnSpc>
              <a:buNone/>
            </a:pPr>
            <a:r>
              <a:rPr lang="en-US" altLang="zh-CN">
                <a:latin typeface="Times New Roman" panose="02020603050405020304" charset="0"/>
                <a:cs typeface="Times New Roman" panose="02020603050405020304" charset="0"/>
                <a:sym typeface="+mn-ea"/>
              </a:rPr>
              <a:t> “Enzymes are inhibited by cyanide”  (Grubb, </a:t>
            </a:r>
            <a:r>
              <a:rPr lang="en-US" altLang="zh-CN">
                <a:solidFill>
                  <a:srgbClr val="FF0000"/>
                </a:solidFill>
                <a:latin typeface="Times New Roman" panose="02020603050405020304" charset="0"/>
                <a:cs typeface="Times New Roman" panose="02020603050405020304" charset="0"/>
                <a:sym typeface="+mn-ea"/>
              </a:rPr>
              <a:t>1977</a:t>
            </a:r>
            <a:r>
              <a:rPr lang="en-US" altLang="zh-CN">
                <a:latin typeface="Times New Roman" panose="02020603050405020304" charset="0"/>
                <a:cs typeface="Times New Roman" panose="02020603050405020304" charset="0"/>
                <a:sym typeface="+mn-ea"/>
              </a:rPr>
              <a:t>) or, (family name </a:t>
            </a:r>
            <a:r>
              <a:rPr lang="zh-CN" altLang="en-US">
                <a:latin typeface="Times New Roman" panose="02020603050405020304" charset="0"/>
                <a:cs typeface="Times New Roman" panose="02020603050405020304" charset="0"/>
                <a:sym typeface="+mn-ea"/>
              </a:rPr>
              <a:t>页码）</a:t>
            </a:r>
            <a:endParaRPr lang="en-US">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References--1 Citation</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lnSpcReduction="10000"/>
          </a:bodyPr>
          <a:lstStyle/>
          <a:p>
            <a:pPr fontAlgn="auto">
              <a:lnSpc>
                <a:spcPct val="150000"/>
              </a:lnSpc>
              <a:buFontTx/>
              <a:buAutoNum type="arabicParenBoth"/>
            </a:pPr>
            <a:r>
              <a:rPr lang="en-US" altLang="zh-CN" i="1" kern="0">
                <a:solidFill>
                  <a:schemeClr val="tx1"/>
                </a:solidFill>
                <a:uFillTx/>
                <a:latin typeface="Times New Roman" panose="02020603050405020304" charset="0"/>
                <a:cs typeface="Times New Roman" panose="02020603050405020304" charset="0"/>
                <a:sym typeface="+mn-ea"/>
              </a:rPr>
              <a:t>Enzymes are inhibited by cyanide (Grubb, 1977).</a:t>
            </a:r>
            <a:endParaRPr lang="en-US" altLang="zh-CN" i="1" kern="0">
              <a:solidFill>
                <a:schemeClr val="tx1"/>
              </a:solidFill>
              <a:uFillTx/>
              <a:latin typeface="Times New Roman" panose="02020603050405020304" charset="0"/>
              <a:cs typeface="Times New Roman" panose="02020603050405020304" charset="0"/>
            </a:endParaRPr>
          </a:p>
          <a:p>
            <a:pPr fontAlgn="auto">
              <a:lnSpc>
                <a:spcPct val="150000"/>
              </a:lnSpc>
              <a:buNone/>
            </a:pPr>
            <a:r>
              <a:rPr lang="en-US" altLang="zh-CN" i="1" kern="0">
                <a:solidFill>
                  <a:schemeClr val="tx1"/>
                </a:solidFill>
                <a:uFillTx/>
                <a:latin typeface="Times New Roman" panose="02020603050405020304" charset="0"/>
                <a:cs typeface="Times New Roman" panose="02020603050405020304" charset="0"/>
                <a:sym typeface="+mn-ea"/>
              </a:rPr>
              <a:t>     Because enzymes are inhibited by cyanide (Grubb ,1977), I expect to find…</a:t>
            </a:r>
            <a:endParaRPr lang="en-US" altLang="zh-CN" i="1" kern="0">
              <a:solidFill>
                <a:schemeClr val="tx1"/>
              </a:solidFill>
              <a:uFillTx/>
              <a:latin typeface="Times New Roman" panose="02020603050405020304" charset="0"/>
              <a:cs typeface="Times New Roman" panose="02020603050405020304" charset="0"/>
            </a:endParaRPr>
          </a:p>
          <a:p>
            <a:pPr fontAlgn="auto">
              <a:lnSpc>
                <a:spcPct val="150000"/>
              </a:lnSpc>
              <a:buNone/>
            </a:pPr>
            <a:r>
              <a:rPr lang="en-US" altLang="zh-CN" i="1" kern="0">
                <a:solidFill>
                  <a:schemeClr val="tx1"/>
                </a:solidFill>
                <a:uFillTx/>
                <a:latin typeface="Times New Roman" panose="02020603050405020304" charset="0"/>
                <a:cs typeface="Times New Roman" panose="02020603050405020304" charset="0"/>
                <a:sym typeface="+mn-ea"/>
              </a:rPr>
              <a:t>(2) Grubb (1977) found that cyanide inhibits enzymes.</a:t>
            </a:r>
            <a:endParaRPr lang="en-US" altLang="zh-CN" i="1" kern="0">
              <a:solidFill>
                <a:schemeClr val="tx1"/>
              </a:solidFill>
              <a:uFillTx/>
              <a:latin typeface="Times New Roman" panose="02020603050405020304" charset="0"/>
              <a:cs typeface="Times New Roman" panose="02020603050405020304" charset="0"/>
            </a:endParaRPr>
          </a:p>
          <a:p>
            <a:pPr fontAlgn="auto">
              <a:lnSpc>
                <a:spcPct val="150000"/>
              </a:lnSpc>
              <a:buNone/>
            </a:pPr>
            <a:r>
              <a:rPr lang="en-US" altLang="zh-CN" kern="0">
                <a:solidFill>
                  <a:schemeClr val="tx1"/>
                </a:solidFill>
                <a:uFillTx/>
                <a:latin typeface="Times New Roman" panose="02020603050405020304" charset="0"/>
                <a:cs typeface="Times New Roman" panose="02020603050405020304" charset="0"/>
                <a:sym typeface="+mn-ea"/>
              </a:rPr>
              <a:t>     </a:t>
            </a:r>
            <a:r>
              <a:rPr lang="en-US" altLang="zh-CN" i="1" kern="0">
                <a:solidFill>
                  <a:schemeClr val="tx1"/>
                </a:solidFill>
                <a:uFillTx/>
                <a:latin typeface="Times New Roman" panose="02020603050405020304" charset="0"/>
                <a:cs typeface="Times New Roman" panose="02020603050405020304" charset="0"/>
                <a:sym typeface="+mn-ea"/>
              </a:rPr>
              <a:t>Because Grubb (1977) found that cyanide inhibits enzymes…</a:t>
            </a:r>
          </a:p>
          <a:p>
            <a:pPr fontAlgn="auto">
              <a:lnSpc>
                <a:spcPct val="150000"/>
              </a:lnSpc>
              <a:buNone/>
            </a:pPr>
            <a:r>
              <a:rPr lang="en-US" altLang="zh-CN" i="1" kern="0">
                <a:solidFill>
                  <a:schemeClr val="tx1"/>
                </a:solidFill>
                <a:uFillTx/>
                <a:latin typeface="Times New Roman" panose="02020603050405020304" charset="0"/>
                <a:cs typeface="Times New Roman" panose="02020603050405020304" charset="0"/>
                <a:sym typeface="+mn-ea"/>
              </a:rPr>
              <a:t>(3)  As early as 1977, Grubb observed the inhibitory effect of cyanide on enzyme action.</a:t>
            </a:r>
            <a:endParaRPr lang="en-US" altLang="zh-CN" i="1" kern="0">
              <a:solidFill>
                <a:schemeClr val="tx1"/>
              </a:solidFill>
              <a:uFillTx/>
              <a:latin typeface="Times New Roman" panose="02020603050405020304" charset="0"/>
              <a:cs typeface="Times New Roman" panose="02020603050405020304" charset="0"/>
            </a:endParaRPr>
          </a:p>
          <a:p>
            <a:pPr fontAlgn="auto">
              <a:lnSpc>
                <a:spcPct val="150000"/>
              </a:lnSpc>
              <a:buNone/>
            </a:pPr>
            <a:endParaRPr lang="en-US" altLang="zh-CN" i="1" kern="0">
              <a:solidFill>
                <a:schemeClr val="tx1"/>
              </a:solidFill>
              <a:uFillTx/>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References--1 Citation</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fontAlgn="auto">
              <a:lnSpc>
                <a:spcPct val="150000"/>
              </a:lnSpc>
              <a:buNone/>
            </a:pPr>
            <a:r>
              <a:rPr lang="en-US" altLang="zh-CN" b="1" dirty="0">
                <a:latin typeface="Times New Roman" panose="02020603050405020304" charset="0"/>
                <a:cs typeface="Times New Roman" panose="02020603050405020304" charset="0"/>
                <a:sym typeface="+mn-ea"/>
              </a:rPr>
              <a:t>More than one study</a:t>
            </a:r>
            <a:endParaRPr lang="en-US" altLang="zh-CN" b="1" dirty="0">
              <a:latin typeface="Times New Roman" panose="02020603050405020304" charset="0"/>
              <a:cs typeface="Times New Roman" panose="02020603050405020304" charset="0"/>
            </a:endParaRPr>
          </a:p>
          <a:p>
            <a:pPr fontAlgn="auto">
              <a:lnSpc>
                <a:spcPct val="150000"/>
              </a:lnSpc>
              <a:buNone/>
            </a:pPr>
            <a:r>
              <a:rPr lang="en-US" altLang="zh-CN" i="1"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(1) Cyanide has been found to inhibit enzyme action (Grubb, 1977; Smith, 1980; Taylor, 1983)</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b="1" dirty="0">
                <a:latin typeface="Times New Roman" panose="02020603050405020304" charset="0"/>
                <a:cs typeface="Times New Roman" panose="02020603050405020304" charset="0"/>
                <a:sym typeface="+mn-ea"/>
              </a:rPr>
              <a:t>More than three authors</a:t>
            </a:r>
            <a:endParaRPr lang="en-US" altLang="zh-CN" b="1"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(1) Cyanide has been found to inhibit enzyme action ( Grubb </a:t>
            </a:r>
            <a:r>
              <a:rPr lang="en-US" altLang="zh-CN" dirty="0">
                <a:solidFill>
                  <a:srgbClr val="FF0000"/>
                </a:solidFill>
                <a:latin typeface="Times New Roman" panose="02020603050405020304" charset="0"/>
                <a:cs typeface="Times New Roman" panose="02020603050405020304" charset="0"/>
                <a:sym typeface="+mn-ea"/>
              </a:rPr>
              <a:t>et al</a:t>
            </a:r>
            <a:r>
              <a:rPr lang="en-US" altLang="zh-CN" dirty="0">
                <a:latin typeface="Times New Roman" panose="02020603050405020304" charset="0"/>
                <a:cs typeface="Times New Roman" panose="02020603050405020304" charset="0"/>
                <a:sym typeface="+mn-ea"/>
              </a:rPr>
              <a:t>., 1985).</a:t>
            </a:r>
            <a:endParaRPr lang="en-US" altLang="zh-CN" dirty="0">
              <a:latin typeface="Times New Roman" panose="02020603050405020304" charset="0"/>
              <a:cs typeface="Times New Roman" panose="02020603050405020304" charset="0"/>
            </a:endParaRPr>
          </a:p>
          <a:p>
            <a:pPr fontAlgn="auto">
              <a:lnSpc>
                <a:spcPct val="150000"/>
              </a:lnSpc>
              <a:buNone/>
            </a:pPr>
            <a:endParaRPr lang="en-US" altLang="zh-CN" kern="0" dirty="0">
              <a:solidFill>
                <a:schemeClr val="tx1"/>
              </a:solidFill>
              <a:uFillTx/>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References--1 Citation</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fontAlgn="auto">
              <a:lnSpc>
                <a:spcPct val="150000"/>
              </a:lnSpc>
              <a:buNone/>
            </a:pPr>
            <a:r>
              <a:rPr lang="en-US" altLang="zh-CN" b="1">
                <a:latin typeface="Times New Roman" panose="02020603050405020304" charset="0"/>
                <a:cs typeface="Times New Roman" panose="02020603050405020304" charset="0"/>
                <a:sym typeface="+mn-ea"/>
              </a:rPr>
              <a:t>Some journals just cite the sequence of the references in the text in order to save space.</a:t>
            </a:r>
            <a:endParaRPr lang="en-US" altLang="zh-CN" b="1">
              <a:latin typeface="Times New Roman" panose="02020603050405020304" charset="0"/>
              <a:cs typeface="Times New Roman" panose="02020603050405020304" charset="0"/>
            </a:endParaRPr>
          </a:p>
          <a:p>
            <a:pPr fontAlgn="auto">
              <a:lnSpc>
                <a:spcPct val="150000"/>
              </a:lnSpc>
              <a:buNone/>
            </a:pPr>
            <a:r>
              <a:rPr lang="en-US" altLang="zh-CN">
                <a:latin typeface="Times New Roman" panose="02020603050405020304" charset="0"/>
                <a:cs typeface="Times New Roman" panose="02020603050405020304" charset="0"/>
                <a:sym typeface="+mn-ea"/>
              </a:rPr>
              <a:t>(1) Vibration is used to prepare uniform granular mixtures or to segregate granular composites [3,7,12,16,19]. Alongside mixing and segregation of granular materials…</a:t>
            </a:r>
            <a:endParaRPr lang="en-US" altLang="zh-CN">
              <a:latin typeface="Times New Roman" panose="02020603050405020304" charset="0"/>
              <a:cs typeface="Times New Roman" panose="02020603050405020304" charset="0"/>
            </a:endParaRPr>
          </a:p>
          <a:p>
            <a:pPr fontAlgn="auto">
              <a:lnSpc>
                <a:spcPct val="150000"/>
              </a:lnSpc>
              <a:buNone/>
            </a:pPr>
            <a:endParaRPr lang="en-US" altLang="zh-CN" b="1" kern="0">
              <a:solidFill>
                <a:schemeClr val="tx1"/>
              </a:solidFill>
              <a:uFillTx/>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lnSpcReduction="10000"/>
          </a:bodyPr>
          <a:lstStyle/>
          <a:p>
            <a:pPr eaLnBrk="1" hangingPunct="1">
              <a:buNone/>
            </a:pPr>
            <a:r>
              <a:rPr lang="en-US" altLang="zh-CN" b="1" dirty="0">
                <a:latin typeface="Times New Roman" panose="02020603050405020304" charset="0"/>
                <a:cs typeface="Times New Roman" panose="02020603050405020304" charset="0"/>
                <a:sym typeface="+mn-ea"/>
              </a:rPr>
              <a:t>2.1 APA</a:t>
            </a:r>
            <a:r>
              <a:rPr lang="en-US" altLang="zh-CN" dirty="0">
                <a:latin typeface="Times New Roman" panose="02020603050405020304" charset="0"/>
                <a:cs typeface="Times New Roman" panose="02020603050405020304" charset="0"/>
                <a:sym typeface="+mn-ea"/>
              </a:rPr>
              <a:t> (American Psychological Association) style: social sciences</a:t>
            </a:r>
            <a:endParaRPr lang="en-US" altLang="zh-CN" dirty="0">
              <a:latin typeface="Times New Roman" panose="02020603050405020304" charset="0"/>
              <a:cs typeface="Times New Roman" panose="02020603050405020304" charset="0"/>
            </a:endParaRPr>
          </a:p>
          <a:p>
            <a:pPr eaLnBrk="1" hangingPunct="1">
              <a:buNone/>
            </a:pPr>
            <a:r>
              <a:rPr lang="en-US" altLang="zh-CN" dirty="0">
                <a:latin typeface="Times New Roman" panose="02020603050405020304" charset="0"/>
                <a:cs typeface="Times New Roman" panose="02020603050405020304" charset="0"/>
                <a:sym typeface="+mn-ea"/>
              </a:rPr>
              <a:t>   Print Sources:</a:t>
            </a:r>
            <a:endParaRPr lang="en-US" altLang="zh-CN" dirty="0">
              <a:latin typeface="Times New Roman" panose="02020603050405020304" charset="0"/>
              <a:cs typeface="Times New Roman" panose="02020603050405020304" charset="0"/>
            </a:endParaRPr>
          </a:p>
          <a:p>
            <a:pPr eaLnBrk="1" hangingPunct="1">
              <a:buNone/>
            </a:pPr>
            <a:r>
              <a:rPr lang="en-US" altLang="zh-CN" b="1" dirty="0">
                <a:latin typeface="Times New Roman" panose="02020603050405020304" charset="0"/>
                <a:cs typeface="Times New Roman" panose="02020603050405020304" charset="0"/>
                <a:sym typeface="+mn-ea"/>
              </a:rPr>
              <a:t>Book by one author:</a:t>
            </a:r>
            <a:endParaRPr lang="en-US" altLang="zh-CN" b="1" dirty="0">
              <a:latin typeface="Times New Roman" panose="02020603050405020304" charset="0"/>
              <a:cs typeface="Times New Roman" panose="02020603050405020304" charset="0"/>
            </a:endParaRPr>
          </a:p>
          <a:p>
            <a:pPr eaLnBrk="1" hangingPunct="1">
              <a:buNone/>
            </a:pPr>
            <a:r>
              <a:rPr lang="zh-CN" altLang="en-US" dirty="0">
                <a:latin typeface="Times New Roman" panose="02020603050405020304" charset="0"/>
                <a:cs typeface="Times New Roman" panose="02020603050405020304" charset="0"/>
                <a:sym typeface="+mn-ea"/>
              </a:rPr>
              <a:t>    </a:t>
            </a:r>
            <a:r>
              <a:rPr lang="en-US" altLang="zh-CN" dirty="0" err="1">
                <a:latin typeface="Times New Roman" panose="02020603050405020304" charset="0"/>
                <a:cs typeface="Times New Roman" panose="02020603050405020304" charset="0"/>
                <a:sym typeface="+mn-ea"/>
              </a:rPr>
              <a:t>Sheril</a:t>
            </a:r>
            <a:r>
              <a:rPr lang="en-US" altLang="zh-CN" dirty="0">
                <a:latin typeface="Times New Roman" panose="02020603050405020304" charset="0"/>
                <a:cs typeface="Times New Roman" panose="02020603050405020304" charset="0"/>
                <a:sym typeface="+mn-ea"/>
              </a:rPr>
              <a:t>, R.D.(1956). </a:t>
            </a:r>
            <a:r>
              <a:rPr lang="en-US" altLang="zh-CN" i="1" dirty="0">
                <a:latin typeface="Times New Roman" panose="02020603050405020304" charset="0"/>
                <a:cs typeface="Times New Roman" panose="02020603050405020304" charset="0"/>
                <a:sym typeface="+mn-ea"/>
              </a:rPr>
              <a:t>The Terrifying Future: contemplating color television</a:t>
            </a:r>
            <a:r>
              <a:rPr lang="en-US" altLang="zh-CN" dirty="0">
                <a:latin typeface="Times New Roman" panose="02020603050405020304" charset="0"/>
                <a:cs typeface="Times New Roman" panose="02020603050405020304" charset="0"/>
                <a:sym typeface="+mn-ea"/>
              </a:rPr>
              <a:t>. San Diego: Halstead. </a:t>
            </a:r>
            <a:endParaRPr lang="en-US" altLang="zh-CN" dirty="0">
              <a:latin typeface="Times New Roman" panose="02020603050405020304" charset="0"/>
              <a:cs typeface="Times New Roman" panose="02020603050405020304" charset="0"/>
            </a:endParaRPr>
          </a:p>
          <a:p>
            <a:pPr eaLnBrk="1" hangingPunct="1">
              <a:lnSpc>
                <a:spcPct val="80000"/>
              </a:lnSpc>
              <a:buNone/>
            </a:pPr>
            <a:r>
              <a:rPr lang="en-US" altLang="zh-CN" b="1" dirty="0">
                <a:latin typeface="Times New Roman" panose="02020603050405020304" charset="0"/>
                <a:cs typeface="Times New Roman" panose="02020603050405020304" charset="0"/>
                <a:sym typeface="+mn-ea"/>
              </a:rPr>
              <a:t> Book by two authors or more:</a:t>
            </a:r>
            <a:endParaRPr lang="en-US" altLang="zh-CN" b="1" dirty="0">
              <a:latin typeface="Times New Roman" panose="02020603050405020304" charset="0"/>
              <a:cs typeface="Times New Roman" panose="02020603050405020304" charset="0"/>
            </a:endParaRPr>
          </a:p>
          <a:p>
            <a:pPr eaLnBrk="1" hangingPunct="1">
              <a:lnSpc>
                <a:spcPct val="80000"/>
              </a:lnSpc>
              <a:buNone/>
            </a:pPr>
            <a:r>
              <a:rPr lang="en-US" altLang="zh-CN" dirty="0">
                <a:latin typeface="Times New Roman" panose="02020603050405020304" charset="0"/>
                <a:cs typeface="Times New Roman" panose="02020603050405020304" charset="0"/>
                <a:sym typeface="+mn-ea"/>
              </a:rPr>
              <a:t>   </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Rubin, J., &amp; Thompson, I. (1994). </a:t>
            </a:r>
            <a:r>
              <a:rPr lang="en-US" altLang="zh-CN" i="1" dirty="0">
                <a:latin typeface="Times New Roman" panose="02020603050405020304" charset="0"/>
                <a:cs typeface="Times New Roman" panose="02020603050405020304" charset="0"/>
                <a:sym typeface="+mn-ea"/>
              </a:rPr>
              <a:t>How to be a more</a:t>
            </a:r>
            <a:r>
              <a:rPr lang="en-US" altLang="zh-CN" dirty="0">
                <a:latin typeface="Times New Roman" panose="02020603050405020304" charset="0"/>
                <a:cs typeface="Times New Roman" panose="02020603050405020304" charset="0"/>
                <a:sym typeface="+mn-ea"/>
              </a:rPr>
              <a:t> </a:t>
            </a:r>
            <a:r>
              <a:rPr lang="en-US" altLang="zh-CN" i="1" dirty="0">
                <a:latin typeface="Times New Roman" panose="02020603050405020304" charset="0"/>
                <a:cs typeface="Times New Roman" panose="02020603050405020304" charset="0"/>
                <a:sym typeface="+mn-ea"/>
              </a:rPr>
              <a:t>successful language teacher</a:t>
            </a:r>
            <a:r>
              <a:rPr lang="en-US" altLang="zh-CN" dirty="0">
                <a:latin typeface="Times New Roman" panose="02020603050405020304" charset="0"/>
                <a:cs typeface="Times New Roman" panose="02020603050405020304" charset="0"/>
                <a:sym typeface="+mn-ea"/>
              </a:rPr>
              <a:t>. 2nd ed. Boston: </a:t>
            </a:r>
            <a:r>
              <a:rPr lang="en-US" altLang="zh-CN" dirty="0" err="1">
                <a:latin typeface="Times New Roman" panose="02020603050405020304" charset="0"/>
                <a:cs typeface="Times New Roman" panose="02020603050405020304" charset="0"/>
                <a:sym typeface="+mn-ea"/>
              </a:rPr>
              <a:t>Heinle</a:t>
            </a:r>
            <a:r>
              <a:rPr lang="en-US" altLang="zh-CN" dirty="0">
                <a:latin typeface="Times New Roman" panose="02020603050405020304" charset="0"/>
                <a:cs typeface="Times New Roman" panose="02020603050405020304" charset="0"/>
                <a:sym typeface="+mn-ea"/>
              </a:rPr>
              <a:t> &amp; </a:t>
            </a:r>
            <a:r>
              <a:rPr lang="en-US" altLang="zh-CN" dirty="0" err="1">
                <a:latin typeface="Times New Roman" panose="02020603050405020304" charset="0"/>
                <a:cs typeface="Times New Roman" panose="02020603050405020304" charset="0"/>
                <a:sym typeface="+mn-ea"/>
              </a:rPr>
              <a:t>Heinle</a:t>
            </a:r>
            <a:r>
              <a:rPr lang="en-US" altLang="zh-CN" dirty="0">
                <a:latin typeface="Times New Roman" panose="02020603050405020304" charset="0"/>
                <a:cs typeface="Times New Roman" panose="02020603050405020304" charset="0"/>
                <a:sym typeface="+mn-ea"/>
              </a:rPr>
              <a:t>.</a:t>
            </a:r>
            <a:endParaRPr lang="en-US" altLang="zh-CN" dirty="0">
              <a:latin typeface="Times New Roman" panose="02020603050405020304" charset="0"/>
              <a:cs typeface="Times New Roman" panose="02020603050405020304" charset="0"/>
            </a:endParaRPr>
          </a:p>
          <a:p>
            <a:pPr eaLnBrk="1" hangingPunct="1">
              <a:lnSpc>
                <a:spcPct val="80000"/>
              </a:lnSpc>
              <a:buNone/>
            </a:pPr>
            <a:r>
              <a:rPr lang="en-US" altLang="zh-CN" b="1" dirty="0">
                <a:latin typeface="Times New Roman" panose="02020603050405020304" charset="0"/>
                <a:cs typeface="Times New Roman" panose="02020603050405020304" charset="0"/>
                <a:sym typeface="+mn-ea"/>
              </a:rPr>
              <a:t>Article in a journal:</a:t>
            </a:r>
            <a:endParaRPr lang="en-US" altLang="zh-CN" b="1" dirty="0">
              <a:latin typeface="Times New Roman" panose="02020603050405020304" charset="0"/>
              <a:cs typeface="Times New Roman" panose="02020603050405020304" charset="0"/>
            </a:endParaRPr>
          </a:p>
          <a:p>
            <a:pPr eaLnBrk="1" hangingPunct="1">
              <a:lnSpc>
                <a:spcPct val="80000"/>
              </a:lnSpc>
              <a:buNone/>
            </a:pPr>
            <a:r>
              <a:rPr lang="en-US" altLang="zh-CN" dirty="0">
                <a:latin typeface="Times New Roman" panose="02020603050405020304" charset="0"/>
                <a:cs typeface="Times New Roman" panose="02020603050405020304" charset="0"/>
                <a:sym typeface="+mn-ea"/>
              </a:rPr>
              <a:t>   </a:t>
            </a:r>
            <a:r>
              <a:rPr lang="zh-CN" altLang="en-US" dirty="0">
                <a:latin typeface="Times New Roman" panose="02020603050405020304" charset="0"/>
                <a:cs typeface="Times New Roman" panose="02020603050405020304" charset="0"/>
                <a:sym typeface="+mn-ea"/>
              </a:rPr>
              <a:t> </a:t>
            </a:r>
            <a:r>
              <a:rPr lang="en-US" altLang="zh-CN" dirty="0" err="1">
                <a:latin typeface="Times New Roman" panose="02020603050405020304" charset="0"/>
                <a:cs typeface="Times New Roman" panose="02020603050405020304" charset="0"/>
                <a:sym typeface="+mn-ea"/>
              </a:rPr>
              <a:t>Crackton</a:t>
            </a:r>
            <a:r>
              <a:rPr lang="en-US" altLang="zh-CN" dirty="0">
                <a:latin typeface="Times New Roman" panose="02020603050405020304" charset="0"/>
                <a:cs typeface="Times New Roman" panose="02020603050405020304" charset="0"/>
                <a:sym typeface="+mn-ea"/>
              </a:rPr>
              <a:t>, P. (1987). The </a:t>
            </a:r>
            <a:r>
              <a:rPr lang="en-US" altLang="zh-CN" dirty="0" err="1">
                <a:latin typeface="Times New Roman" panose="02020603050405020304" charset="0"/>
                <a:cs typeface="Times New Roman" panose="02020603050405020304" charset="0"/>
                <a:sym typeface="+mn-ea"/>
              </a:rPr>
              <a:t>Loonie</a:t>
            </a:r>
            <a:r>
              <a:rPr lang="en-US" altLang="zh-CN" dirty="0">
                <a:latin typeface="Times New Roman" panose="02020603050405020304" charset="0"/>
                <a:cs typeface="Times New Roman" panose="02020603050405020304" charset="0"/>
                <a:sym typeface="+mn-ea"/>
              </a:rPr>
              <a:t>: God’s long-awaited gift to colorful pocket change? </a:t>
            </a:r>
            <a:r>
              <a:rPr lang="en-US" altLang="zh-CN" i="1" dirty="0">
                <a:latin typeface="Times New Roman" panose="02020603050405020304" charset="0"/>
                <a:cs typeface="Times New Roman" panose="02020603050405020304" charset="0"/>
                <a:sym typeface="+mn-ea"/>
              </a:rPr>
              <a:t>Canadian Change</a:t>
            </a:r>
            <a:r>
              <a:rPr lang="en-US" altLang="zh-CN" dirty="0">
                <a:latin typeface="Times New Roman" panose="02020603050405020304" charset="0"/>
                <a:cs typeface="Times New Roman" panose="02020603050405020304" charset="0"/>
                <a:sym typeface="+mn-ea"/>
              </a:rPr>
              <a:t>, 64(7), 34-37.</a:t>
            </a:r>
            <a:endParaRPr lang="en-US" altLang="zh-CN" dirty="0">
              <a:latin typeface="Times New Roman" panose="02020603050405020304" charset="0"/>
              <a:cs typeface="Times New Roman" panose="02020603050405020304" charset="0"/>
            </a:endParaRPr>
          </a:p>
          <a:p>
            <a:pPr marL="0" indent="0" fontAlgn="auto">
              <a:lnSpc>
                <a:spcPct val="200000"/>
              </a:lnSpc>
              <a:spcBef>
                <a:spcPts val="0"/>
              </a:spcBef>
              <a:buNone/>
            </a:pPr>
            <a:endParaRPr lang="en-US" dirty="0">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lnSpcReduction="10000"/>
          </a:bodyPr>
          <a:lstStyle/>
          <a:p>
            <a:pPr eaLnBrk="1" hangingPunct="1">
              <a:lnSpc>
                <a:spcPct val="80000"/>
              </a:lnSpc>
              <a:buNone/>
            </a:pPr>
            <a:r>
              <a:rPr lang="en-US" altLang="zh-CN" b="1" dirty="0">
                <a:latin typeface="Times New Roman" panose="02020603050405020304" charset="0"/>
                <a:cs typeface="Times New Roman" panose="02020603050405020304" charset="0"/>
                <a:sym typeface="+mn-ea"/>
              </a:rPr>
              <a:t>Electronic sources:</a:t>
            </a:r>
            <a:endParaRPr lang="en-US" altLang="zh-CN" b="1" dirty="0">
              <a:latin typeface="Times New Roman" panose="02020603050405020304" charset="0"/>
              <a:cs typeface="Times New Roman" panose="02020603050405020304" charset="0"/>
            </a:endParaRPr>
          </a:p>
          <a:p>
            <a:pPr eaLnBrk="1" hangingPunct="1">
              <a:lnSpc>
                <a:spcPct val="80000"/>
              </a:lnSpc>
              <a:buNone/>
            </a:pPr>
            <a:r>
              <a:rPr lang="en-US" altLang="zh-CN" dirty="0">
                <a:latin typeface="Times New Roman" panose="02020603050405020304" charset="0"/>
                <a:cs typeface="Times New Roman" panose="02020603050405020304" charset="0"/>
                <a:sym typeface="+mn-ea"/>
              </a:rPr>
              <a:t>--- Article in an online journal:</a:t>
            </a:r>
            <a:endParaRPr lang="en-US" altLang="zh-CN" dirty="0">
              <a:latin typeface="Times New Roman" panose="02020603050405020304" charset="0"/>
              <a:cs typeface="Times New Roman" panose="02020603050405020304" charset="0"/>
            </a:endParaRPr>
          </a:p>
          <a:p>
            <a:pPr eaLnBrk="1" hangingPunct="1">
              <a:lnSpc>
                <a:spcPct val="80000"/>
              </a:lnSpc>
              <a:buNone/>
            </a:pPr>
            <a:r>
              <a:rPr lang="en-US" altLang="zh-CN" dirty="0">
                <a:latin typeface="Times New Roman" panose="02020603050405020304" charset="0"/>
                <a:cs typeface="Times New Roman" panose="02020603050405020304" charset="0"/>
                <a:sym typeface="+mn-ea"/>
              </a:rPr>
              <a:t>   </a:t>
            </a:r>
            <a:r>
              <a:rPr lang="zh-CN" altLang="en-US" dirty="0">
                <a:latin typeface="Times New Roman" panose="02020603050405020304" charset="0"/>
                <a:cs typeface="Times New Roman" panose="02020603050405020304" charset="0"/>
                <a:sym typeface="+mn-ea"/>
              </a:rPr>
              <a:t> </a:t>
            </a:r>
            <a:r>
              <a:rPr lang="en-US" altLang="zh-CN" dirty="0" err="1">
                <a:latin typeface="Times New Roman" panose="02020603050405020304" charset="0"/>
                <a:cs typeface="Times New Roman" panose="02020603050405020304" charset="0"/>
                <a:sym typeface="+mn-ea"/>
              </a:rPr>
              <a:t>Blofeld</a:t>
            </a:r>
            <a:r>
              <a:rPr lang="en-US" altLang="zh-CN" dirty="0">
                <a:latin typeface="Times New Roman" panose="02020603050405020304" charset="0"/>
                <a:cs typeface="Times New Roman" panose="02020603050405020304" charset="0"/>
                <a:sym typeface="+mn-ea"/>
              </a:rPr>
              <a:t>, </a:t>
            </a:r>
            <a:r>
              <a:rPr lang="en-US" altLang="zh-CN" dirty="0" err="1">
                <a:latin typeface="Times New Roman" panose="02020603050405020304" charset="0"/>
                <a:cs typeface="Times New Roman" panose="02020603050405020304" charset="0"/>
                <a:sym typeface="+mn-ea"/>
              </a:rPr>
              <a:t>E.S</a:t>
            </a:r>
            <a:r>
              <a:rPr lang="en-US" altLang="zh-CN" dirty="0">
                <a:latin typeface="Times New Roman" panose="02020603050405020304" charset="0"/>
                <a:cs typeface="Times New Roman" panose="02020603050405020304" charset="0"/>
                <a:sym typeface="+mn-ea"/>
              </a:rPr>
              <a:t>. (1994, </a:t>
            </a:r>
            <a:r>
              <a:rPr lang="en-US" altLang="zh-CN" dirty="0" err="1">
                <a:latin typeface="Times New Roman" panose="02020603050405020304" charset="0"/>
                <a:cs typeface="Times New Roman" panose="02020603050405020304" charset="0"/>
                <a:sym typeface="+mn-ea"/>
              </a:rPr>
              <a:t>March1</a:t>
            </a:r>
            <a:r>
              <a:rPr lang="en-US" altLang="zh-CN" dirty="0">
                <a:latin typeface="Times New Roman" panose="02020603050405020304" charset="0"/>
                <a:cs typeface="Times New Roman" panose="02020603050405020304" charset="0"/>
                <a:sym typeface="+mn-ea"/>
              </a:rPr>
              <a:t>). Expressing oneself through Persian cats and modern architecture. </a:t>
            </a:r>
            <a:r>
              <a:rPr lang="en-US" altLang="zh-CN" i="1" dirty="0">
                <a:latin typeface="Times New Roman" panose="02020603050405020304" charset="0"/>
                <a:cs typeface="Times New Roman" panose="02020603050405020304" charset="0"/>
                <a:sym typeface="+mn-ea"/>
              </a:rPr>
              <a:t>Felines &amp; Felons</a:t>
            </a:r>
            <a:r>
              <a:rPr lang="en-US" altLang="zh-CN" dirty="0">
                <a:latin typeface="Times New Roman" panose="02020603050405020304" charset="0"/>
                <a:cs typeface="Times New Roman" panose="02020603050405020304" charset="0"/>
                <a:sym typeface="+mn-ea"/>
              </a:rPr>
              <a:t>, 4, Article </a:t>
            </a:r>
            <a:r>
              <a:rPr lang="en-US" altLang="zh-CN" dirty="0" err="1">
                <a:latin typeface="Times New Roman" panose="02020603050405020304" charset="0"/>
                <a:cs typeface="Times New Roman" panose="02020603050405020304" charset="0"/>
                <a:sym typeface="+mn-ea"/>
              </a:rPr>
              <a:t>0046g</a:t>
            </a:r>
            <a:r>
              <a:rPr lang="en-US" altLang="zh-CN" dirty="0">
                <a:latin typeface="Times New Roman" panose="02020603050405020304" charset="0"/>
                <a:cs typeface="Times New Roman" panose="02020603050405020304" charset="0"/>
                <a:sym typeface="+mn-ea"/>
              </a:rPr>
              <a:t>. Retrieved October 3, 1999, from </a:t>
            </a:r>
            <a:r>
              <a:rPr lang="en-US" altLang="zh-CN" dirty="0">
                <a:latin typeface="Times New Roman" panose="02020603050405020304" charset="0"/>
                <a:cs typeface="Times New Roman" panose="02020603050405020304" charset="0"/>
                <a:sym typeface="+mn-ea"/>
                <a:hlinkClick r:id="rId6"/>
              </a:rPr>
              <a:t>http://journals.f+f.org/spectre/vblofeld-0046g.html</a:t>
            </a:r>
            <a:endParaRPr lang="en-US" altLang="zh-CN" dirty="0">
              <a:latin typeface="Times New Roman" panose="02020603050405020304" charset="0"/>
              <a:cs typeface="Times New Roman" panose="02020603050405020304" charset="0"/>
            </a:endParaRPr>
          </a:p>
          <a:p>
            <a:pPr eaLnBrk="1" hangingPunct="1">
              <a:lnSpc>
                <a:spcPct val="80000"/>
              </a:lnSpc>
              <a:buNone/>
            </a:pPr>
            <a:r>
              <a:rPr lang="en-US" altLang="zh-CN" b="1" dirty="0">
                <a:latin typeface="Times New Roman" panose="02020603050405020304" charset="0"/>
                <a:cs typeface="Times New Roman" panose="02020603050405020304" charset="0"/>
                <a:sym typeface="+mn-ea"/>
              </a:rPr>
              <a:t>Book on CD:</a:t>
            </a:r>
            <a:endParaRPr lang="en-US" altLang="zh-CN" b="1" dirty="0">
              <a:latin typeface="Times New Roman" panose="02020603050405020304" charset="0"/>
              <a:cs typeface="Times New Roman" panose="02020603050405020304" charset="0"/>
            </a:endParaRPr>
          </a:p>
          <a:p>
            <a:pPr eaLnBrk="1" hangingPunct="1">
              <a:lnSpc>
                <a:spcPct val="80000"/>
              </a:lnSpc>
              <a:buNone/>
            </a:pPr>
            <a:r>
              <a:rPr lang="en-US" altLang="zh-CN" dirty="0">
                <a:latin typeface="Times New Roman" panose="02020603050405020304" charset="0"/>
                <a:cs typeface="Times New Roman" panose="02020603050405020304" charset="0"/>
                <a:sym typeface="+mn-ea"/>
              </a:rPr>
              <a:t>   </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Nix, G.(2002). </a:t>
            </a:r>
            <a:r>
              <a:rPr lang="en-US" altLang="zh-CN" i="1" dirty="0" err="1">
                <a:latin typeface="Times New Roman" panose="02020603050405020304" charset="0"/>
                <a:cs typeface="Times New Roman" panose="02020603050405020304" charset="0"/>
                <a:sym typeface="+mn-ea"/>
              </a:rPr>
              <a:t>Lirael</a:t>
            </a:r>
            <a:r>
              <a:rPr lang="en-US" altLang="zh-CN" i="1" dirty="0">
                <a:latin typeface="Times New Roman" panose="02020603050405020304" charset="0"/>
                <a:cs typeface="Times New Roman" panose="02020603050405020304" charset="0"/>
                <a:sym typeface="+mn-ea"/>
              </a:rPr>
              <a:t>, Daughter of the </a:t>
            </a:r>
            <a:r>
              <a:rPr lang="en-US" altLang="zh-CN" i="1" dirty="0" err="1">
                <a:latin typeface="Times New Roman" panose="02020603050405020304" charset="0"/>
                <a:cs typeface="Times New Roman" panose="02020603050405020304" charset="0"/>
                <a:sym typeface="+mn-ea"/>
              </a:rPr>
              <a:t>Cla【CD</a:t>
            </a:r>
            <a:r>
              <a:rPr lang="en-US" altLang="zh-CN" dirty="0">
                <a:latin typeface="Times New Roman" panose="02020603050405020304" charset="0"/>
                <a:cs typeface="Times New Roman" panose="02020603050405020304" charset="0"/>
                <a:sym typeface="+mn-ea"/>
              </a:rPr>
              <a:t>】.</a:t>
            </a:r>
            <a:r>
              <a:rPr lang="en-US" altLang="zh-CN" i="1"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New York: Random House/Listening library.</a:t>
            </a:r>
          </a:p>
          <a:p>
            <a:pPr eaLnBrk="1" hangingPunct="1">
              <a:lnSpc>
                <a:spcPct val="90000"/>
              </a:lnSpc>
              <a:buNone/>
            </a:pPr>
            <a:r>
              <a:rPr lang="en-US" altLang="zh-CN" b="1" dirty="0">
                <a:latin typeface="Times New Roman" panose="02020603050405020304" charset="0"/>
                <a:cs typeface="Times New Roman" panose="02020603050405020304" charset="0"/>
                <a:sym typeface="+mn-ea"/>
              </a:rPr>
              <a:t>Movie:</a:t>
            </a:r>
            <a:endParaRPr lang="en-US" altLang="zh-CN" b="1" dirty="0">
              <a:latin typeface="Times New Roman" panose="02020603050405020304" charset="0"/>
              <a:cs typeface="Times New Roman" panose="02020603050405020304" charset="0"/>
            </a:endParaRPr>
          </a:p>
          <a:p>
            <a:pPr eaLnBrk="1" hangingPunct="1">
              <a:lnSpc>
                <a:spcPct val="90000"/>
              </a:lnSpc>
              <a:buNone/>
            </a:pPr>
            <a:r>
              <a:rPr lang="en-US" altLang="zh-CN" dirty="0">
                <a:latin typeface="Times New Roman" panose="02020603050405020304" charset="0"/>
                <a:cs typeface="Times New Roman" panose="02020603050405020304" charset="0"/>
                <a:sym typeface="+mn-ea"/>
              </a:rPr>
              <a:t>    Gilby, A. (Producer), &amp; Schlesinger, J. (Director). (1995). </a:t>
            </a:r>
            <a:r>
              <a:rPr lang="en-US" altLang="zh-CN" i="1" dirty="0">
                <a:latin typeface="Times New Roman" panose="02020603050405020304" charset="0"/>
                <a:cs typeface="Times New Roman" panose="02020603050405020304" charset="0"/>
                <a:sym typeface="+mn-ea"/>
              </a:rPr>
              <a:t>Cold comfort farm</a:t>
            </a:r>
            <a:r>
              <a:rPr lang="en-US" altLang="zh-CN" dirty="0">
                <a:latin typeface="Times New Roman" panose="02020603050405020304" charset="0"/>
                <a:cs typeface="Times New Roman" panose="02020603050405020304" charset="0"/>
                <a:sym typeface="+mn-ea"/>
              </a:rPr>
              <a:t> 【Motion picture】. Universal city, CA: MCA Universal Home Video.</a:t>
            </a:r>
            <a:endParaRPr lang="en-US" altLang="zh-CN" dirty="0">
              <a:latin typeface="Times New Roman" panose="02020603050405020304" charset="0"/>
              <a:cs typeface="Times New Roman" panose="02020603050405020304" charset="0"/>
            </a:endParaRPr>
          </a:p>
          <a:p>
            <a:pPr eaLnBrk="1" hangingPunct="1">
              <a:lnSpc>
                <a:spcPct val="80000"/>
              </a:lnSpc>
              <a:buNone/>
            </a:pPr>
            <a:endParaRPr lang="en-US" altLang="zh-CN" dirty="0"/>
          </a:p>
          <a:p>
            <a:pPr marL="0" indent="0" fontAlgn="auto">
              <a:lnSpc>
                <a:spcPct val="200000"/>
              </a:lnSpc>
              <a:spcBef>
                <a:spcPts val="0"/>
              </a:spcBef>
              <a:buNone/>
            </a:pPr>
            <a:endParaRPr lang="en-US" dirty="0">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eaLnBrk="1" hangingPunct="1">
              <a:lnSpc>
                <a:spcPct val="90000"/>
              </a:lnSpc>
              <a:buNone/>
            </a:pPr>
            <a:r>
              <a:rPr lang="en-US" altLang="zh-CN" b="1">
                <a:latin typeface="Times New Roman" panose="02020603050405020304" charset="0"/>
                <a:cs typeface="Times New Roman" panose="02020603050405020304" charset="0"/>
                <a:sym typeface="+mn-ea"/>
              </a:rPr>
              <a:t>2.2 MLA</a:t>
            </a:r>
            <a:r>
              <a:rPr lang="en-US" altLang="zh-CN">
                <a:latin typeface="Times New Roman" panose="02020603050405020304" charset="0"/>
                <a:cs typeface="Times New Roman" panose="02020603050405020304" charset="0"/>
                <a:sym typeface="+mn-ea"/>
              </a:rPr>
              <a:t> (Modern Language Association) style: liberal arts and humanities</a:t>
            </a:r>
            <a:endParaRPr lang="en-US" altLang="zh-CN">
              <a:latin typeface="Times New Roman" panose="02020603050405020304" charset="0"/>
              <a:cs typeface="Times New Roman" panose="02020603050405020304" charset="0"/>
            </a:endParaRPr>
          </a:p>
          <a:p>
            <a:pPr eaLnBrk="1" hangingPunct="1">
              <a:lnSpc>
                <a:spcPct val="90000"/>
              </a:lnSpc>
              <a:buNone/>
            </a:pPr>
            <a:r>
              <a:rPr lang="en-US" altLang="zh-CN">
                <a:latin typeface="Times New Roman" panose="02020603050405020304" charset="0"/>
                <a:cs typeface="Times New Roman" panose="02020603050405020304" charset="0"/>
                <a:sym typeface="+mn-ea"/>
              </a:rPr>
              <a:t>Print Sources:</a:t>
            </a:r>
            <a:endParaRPr lang="en-US" altLang="zh-CN">
              <a:latin typeface="Times New Roman" panose="02020603050405020304" charset="0"/>
              <a:cs typeface="Times New Roman" panose="02020603050405020304" charset="0"/>
            </a:endParaRPr>
          </a:p>
          <a:p>
            <a:pPr fontAlgn="auto">
              <a:lnSpc>
                <a:spcPct val="150000"/>
              </a:lnSpc>
              <a:spcBef>
                <a:spcPts val="0"/>
              </a:spcBef>
              <a:buNone/>
            </a:pPr>
            <a:r>
              <a:rPr lang="en-US" altLang="zh-CN" b="1">
                <a:latin typeface="Times New Roman" panose="02020603050405020304" charset="0"/>
                <a:cs typeface="Times New Roman" panose="02020603050405020304" charset="0"/>
                <a:sym typeface="+mn-ea"/>
              </a:rPr>
              <a:t>Book by one author:</a:t>
            </a:r>
            <a:endParaRPr lang="en-US" altLang="zh-CN" b="1">
              <a:latin typeface="Times New Roman" panose="02020603050405020304" charset="0"/>
              <a:cs typeface="Times New Roman" panose="02020603050405020304" charset="0"/>
            </a:endParaRPr>
          </a:p>
          <a:p>
            <a:pPr fontAlgn="auto">
              <a:lnSpc>
                <a:spcPct val="150000"/>
              </a:lnSpc>
              <a:spcBef>
                <a:spcPts val="0"/>
              </a:spcBef>
              <a:buNone/>
            </a:pPr>
            <a:r>
              <a:rPr lang="en-US" altLang="zh-CN">
                <a:latin typeface="Times New Roman" panose="02020603050405020304" charset="0"/>
                <a:cs typeface="Times New Roman" panose="02020603050405020304" charset="0"/>
                <a:sym typeface="+mn-ea"/>
              </a:rPr>
              <a:t>Last name of author, First name. </a:t>
            </a:r>
            <a:r>
              <a:rPr lang="en-US" altLang="zh-CN" i="1">
                <a:latin typeface="Times New Roman" panose="02020603050405020304" charset="0"/>
                <a:cs typeface="Times New Roman" panose="02020603050405020304" charset="0"/>
                <a:sym typeface="+mn-ea"/>
              </a:rPr>
              <a:t>Title of Book</a:t>
            </a:r>
            <a:r>
              <a:rPr lang="en-US" altLang="zh-CN">
                <a:latin typeface="Times New Roman" panose="02020603050405020304" charset="0"/>
                <a:cs typeface="Times New Roman" panose="02020603050405020304" charset="0"/>
                <a:sym typeface="+mn-ea"/>
              </a:rPr>
              <a:t>. City of Publication: Publisher, Year of Publication. </a:t>
            </a:r>
            <a:r>
              <a:rPr lang="zh-CN" altLang="en-US">
                <a:latin typeface="Times New Roman" panose="02020603050405020304" charset="0"/>
                <a:cs typeface="Times New Roman" panose="02020603050405020304" charset="0"/>
                <a:sym typeface="+mn-ea"/>
              </a:rPr>
              <a:t>（</a:t>
            </a:r>
            <a:r>
              <a:rPr lang="en-US" altLang="zh-CN">
                <a:latin typeface="Times New Roman" panose="02020603050405020304" charset="0"/>
                <a:cs typeface="Times New Roman" panose="02020603050405020304" charset="0"/>
                <a:sym typeface="+mn-ea"/>
              </a:rPr>
              <a:t>Medium of Publication.</a:t>
            </a:r>
            <a:r>
              <a:rPr lang="zh-CN" altLang="en-US">
                <a:latin typeface="Times New Roman" panose="02020603050405020304" charset="0"/>
                <a:cs typeface="Times New Roman" panose="02020603050405020304" charset="0"/>
                <a:sym typeface="+mn-ea"/>
              </a:rPr>
              <a:t>）</a:t>
            </a:r>
            <a:endParaRPr lang="en-US" altLang="zh-CN">
              <a:latin typeface="Times New Roman" panose="02020603050405020304" charset="0"/>
              <a:cs typeface="Times New Roman" panose="02020603050405020304" charset="0"/>
            </a:endParaRPr>
          </a:p>
          <a:p>
            <a:pPr fontAlgn="auto">
              <a:lnSpc>
                <a:spcPct val="150000"/>
              </a:lnSpc>
              <a:spcBef>
                <a:spcPts val="0"/>
              </a:spcBef>
              <a:buNone/>
            </a:pP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[1]</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Bambrough, Renford. </a:t>
            </a:r>
            <a:r>
              <a:rPr lang="en-US" altLang="zh-CN" i="1">
                <a:latin typeface="Times New Roman" panose="02020603050405020304" charset="0"/>
                <a:cs typeface="Times New Roman" panose="02020603050405020304" charset="0"/>
                <a:sym typeface="+mn-ea"/>
              </a:rPr>
              <a:t>The Philosophy of Aristotle</a:t>
            </a:r>
            <a:r>
              <a:rPr lang="en-US" altLang="zh-CN">
                <a:latin typeface="Times New Roman" panose="02020603050405020304" charset="0"/>
                <a:cs typeface="Times New Roman" panose="02020603050405020304" charset="0"/>
                <a:sym typeface="+mn-ea"/>
              </a:rPr>
              <a:t>. New York: The New American Library, 1963. Print.</a:t>
            </a:r>
            <a:endParaRPr lang="en-US" altLang="zh-CN">
              <a:latin typeface="Times New Roman" panose="02020603050405020304" charset="0"/>
              <a:cs typeface="Times New Roman" panose="02020603050405020304" charset="0"/>
            </a:endParaRPr>
          </a:p>
          <a:p>
            <a:pPr eaLnBrk="1" hangingPunct="1">
              <a:lnSpc>
                <a:spcPct val="80000"/>
              </a:lnSpc>
              <a:buNone/>
            </a:pPr>
            <a:endParaRPr lang="en-US" altLang="zh-CN"/>
          </a:p>
          <a:p>
            <a:pPr marL="0" indent="0" fontAlgn="auto">
              <a:lnSpc>
                <a:spcPct val="200000"/>
              </a:lnSpc>
              <a:spcBef>
                <a:spcPts val="0"/>
              </a:spcBef>
              <a:buNone/>
            </a:pPr>
            <a:endParaRPr lang="en-US">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fontAlgn="auto">
              <a:lnSpc>
                <a:spcPct val="150000"/>
              </a:lnSpc>
              <a:spcBef>
                <a:spcPts val="0"/>
              </a:spcBef>
              <a:buNone/>
            </a:pPr>
            <a:r>
              <a:rPr lang="en-US" altLang="zh-CN" b="1">
                <a:latin typeface="Times New Roman" panose="02020603050405020304" charset="0"/>
                <a:cs typeface="Times New Roman" panose="02020603050405020304" charset="0"/>
                <a:sym typeface="+mn-ea"/>
              </a:rPr>
              <a:t>Book by two or three authors:</a:t>
            </a:r>
            <a:endParaRPr lang="en-US" altLang="zh-CN" b="1">
              <a:latin typeface="Times New Roman" panose="02020603050405020304" charset="0"/>
              <a:cs typeface="Times New Roman" panose="02020603050405020304" charset="0"/>
            </a:endParaRPr>
          </a:p>
          <a:p>
            <a:pPr fontAlgn="auto">
              <a:lnSpc>
                <a:spcPct val="150000"/>
              </a:lnSpc>
              <a:spcBef>
                <a:spcPts val="0"/>
              </a:spcBef>
              <a:buNone/>
            </a:pP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[1]</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Atwan Robert, Donald Mcquade, and John Wright. </a:t>
            </a:r>
            <a:r>
              <a:rPr lang="en-US" altLang="zh-CN" i="1">
                <a:latin typeface="Times New Roman" panose="02020603050405020304" charset="0"/>
                <a:cs typeface="Times New Roman" panose="02020603050405020304" charset="0"/>
                <a:sym typeface="+mn-ea"/>
              </a:rPr>
              <a:t>Edsels, Luckies, and Frifidaires: Advertising the American Way.</a:t>
            </a:r>
            <a:r>
              <a:rPr lang="en-US" altLang="zh-CN">
                <a:latin typeface="Times New Roman" panose="02020603050405020304" charset="0"/>
                <a:cs typeface="Times New Roman" panose="02020603050405020304" charset="0"/>
                <a:sym typeface="+mn-ea"/>
              </a:rPr>
              <a:t> New York: Dell, 1979. Print.</a:t>
            </a:r>
            <a:endParaRPr lang="en-US" altLang="zh-CN" b="1">
              <a:latin typeface="Times New Roman" panose="02020603050405020304" charset="0"/>
              <a:cs typeface="Times New Roman" panose="02020603050405020304" charset="0"/>
              <a:sym typeface="+mn-ea"/>
            </a:endParaRPr>
          </a:p>
          <a:p>
            <a:pPr fontAlgn="auto">
              <a:lnSpc>
                <a:spcPct val="150000"/>
              </a:lnSpc>
              <a:spcBef>
                <a:spcPts val="0"/>
              </a:spcBef>
              <a:buNone/>
            </a:pPr>
            <a:r>
              <a:rPr lang="en-US" altLang="zh-CN" b="1">
                <a:latin typeface="Times New Roman" panose="02020603050405020304" charset="0"/>
                <a:cs typeface="Times New Roman" panose="02020603050405020304" charset="0"/>
                <a:sym typeface="+mn-ea"/>
              </a:rPr>
              <a:t>Book by four or more authors:</a:t>
            </a:r>
            <a:endParaRPr lang="en-US" altLang="zh-CN" b="1">
              <a:latin typeface="Times New Roman" panose="02020603050405020304" charset="0"/>
              <a:cs typeface="Times New Roman" panose="02020603050405020304" charset="0"/>
            </a:endParaRPr>
          </a:p>
          <a:p>
            <a:pPr fontAlgn="auto">
              <a:lnSpc>
                <a:spcPct val="150000"/>
              </a:lnSpc>
              <a:spcBef>
                <a:spcPts val="0"/>
              </a:spcBef>
              <a:buNone/>
            </a:pP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[1]Belenky, Mary Field, et al. </a:t>
            </a:r>
            <a:r>
              <a:rPr lang="en-US" altLang="zh-CN" i="1">
                <a:latin typeface="Times New Roman" panose="02020603050405020304" charset="0"/>
                <a:cs typeface="Times New Roman" panose="02020603050405020304" charset="0"/>
                <a:sym typeface="+mn-ea"/>
              </a:rPr>
              <a:t>Women’s Ways of Knowing: the</a:t>
            </a:r>
            <a:r>
              <a:rPr lang="en-US" altLang="zh-CN">
                <a:latin typeface="Times New Roman" panose="02020603050405020304" charset="0"/>
                <a:cs typeface="Times New Roman" panose="02020603050405020304" charset="0"/>
                <a:sym typeface="+mn-ea"/>
              </a:rPr>
              <a:t> </a:t>
            </a:r>
            <a:r>
              <a:rPr lang="en-US" altLang="zh-CN" i="1">
                <a:latin typeface="Times New Roman" panose="02020603050405020304" charset="0"/>
                <a:cs typeface="Times New Roman" panose="02020603050405020304" charset="0"/>
                <a:sym typeface="+mn-ea"/>
              </a:rPr>
              <a:t>Development of Self, Voice, and Mind</a:t>
            </a:r>
            <a:r>
              <a:rPr lang="en-US" altLang="zh-CN">
                <a:latin typeface="Times New Roman" panose="02020603050405020304" charset="0"/>
                <a:cs typeface="Times New Roman" panose="02020603050405020304" charset="0"/>
                <a:sym typeface="+mn-ea"/>
              </a:rPr>
              <a:t>. New York: Basic, 1986. Print.</a:t>
            </a:r>
          </a:p>
          <a:p>
            <a:pPr eaLnBrk="1" hangingPunct="1">
              <a:buNone/>
            </a:pPr>
            <a:endParaRPr lang="en-US" altLang="zh-CN"/>
          </a:p>
          <a:p>
            <a:pPr eaLnBrk="1" hangingPunct="1">
              <a:lnSpc>
                <a:spcPct val="80000"/>
              </a:lnSpc>
              <a:buNone/>
            </a:pPr>
            <a:endParaRPr lang="en-US" altLang="zh-CN"/>
          </a:p>
          <a:p>
            <a:pPr marL="0" indent="0" fontAlgn="auto">
              <a:lnSpc>
                <a:spcPct val="200000"/>
              </a:lnSpc>
              <a:spcBef>
                <a:spcPts val="0"/>
              </a:spcBef>
              <a:buNone/>
            </a:pPr>
            <a:endParaRPr lang="en-US">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fontAlgn="auto">
              <a:lnSpc>
                <a:spcPct val="150000"/>
              </a:lnSpc>
              <a:spcBef>
                <a:spcPts val="0"/>
              </a:spcBef>
              <a:buNone/>
            </a:pPr>
            <a:r>
              <a:rPr lang="en-US" altLang="zh-CN" b="1">
                <a:latin typeface="Times New Roman" panose="02020603050405020304" charset="0"/>
                <a:cs typeface="Times New Roman" panose="02020603050405020304" charset="0"/>
                <a:sym typeface="+mn-ea"/>
              </a:rPr>
              <a:t>Article in a journal:</a:t>
            </a:r>
            <a:endParaRPr lang="en-US" altLang="zh-CN" b="1">
              <a:latin typeface="Times New Roman" panose="02020603050405020304" charset="0"/>
              <a:cs typeface="Times New Roman" panose="02020603050405020304" charset="0"/>
            </a:endParaRPr>
          </a:p>
          <a:p>
            <a:pPr fontAlgn="auto">
              <a:lnSpc>
                <a:spcPct val="150000"/>
              </a:lnSpc>
              <a:spcBef>
                <a:spcPts val="0"/>
              </a:spcBef>
              <a:buNone/>
            </a:pPr>
            <a:r>
              <a:rPr lang="en-US" altLang="zh-CN">
                <a:latin typeface="Times New Roman" panose="02020603050405020304" charset="0"/>
                <a:cs typeface="Times New Roman" panose="02020603050405020304" charset="0"/>
                <a:sym typeface="+mn-ea"/>
              </a:rPr>
              <a:t>Author(s). “Title of Article.” </a:t>
            </a:r>
            <a:r>
              <a:rPr lang="en-US" altLang="zh-CN" i="1">
                <a:latin typeface="Times New Roman" panose="02020603050405020304" charset="0"/>
                <a:cs typeface="Times New Roman" panose="02020603050405020304" charset="0"/>
                <a:sym typeface="+mn-ea"/>
              </a:rPr>
              <a:t>Title of Journal</a:t>
            </a:r>
            <a:r>
              <a:rPr lang="en-US" altLang="zh-CN">
                <a:latin typeface="Times New Roman" panose="02020603050405020304" charset="0"/>
                <a:cs typeface="Times New Roman" panose="02020603050405020304" charset="0"/>
                <a:sym typeface="+mn-ea"/>
              </a:rPr>
              <a:t>, Volume, Issue, Year, pages.</a:t>
            </a:r>
            <a:endParaRPr lang="en-US" altLang="zh-CN">
              <a:latin typeface="Times New Roman" panose="02020603050405020304" charset="0"/>
              <a:cs typeface="Times New Roman" panose="02020603050405020304" charset="0"/>
            </a:endParaRPr>
          </a:p>
          <a:p>
            <a:pPr fontAlgn="auto">
              <a:lnSpc>
                <a:spcPct val="150000"/>
              </a:lnSpc>
              <a:spcBef>
                <a:spcPts val="0"/>
              </a:spcBef>
              <a:buNone/>
            </a:pPr>
            <a:r>
              <a:rPr lang="en-US" altLang="zh-CN">
                <a:latin typeface="Times New Roman" panose="02020603050405020304" charset="0"/>
                <a:cs typeface="Times New Roman" panose="02020603050405020304" charset="0"/>
                <a:sym typeface="+mn-ea"/>
              </a:rPr>
              <a:t>   Maguire, James H. “The Canon and the ‘Diminished Thing.’” </a:t>
            </a:r>
            <a:r>
              <a:rPr lang="en-US" altLang="zh-CN" i="1">
                <a:latin typeface="Times New Roman" panose="02020603050405020304" charset="0"/>
                <a:cs typeface="Times New Roman" panose="02020603050405020304" charset="0"/>
                <a:sym typeface="+mn-ea"/>
              </a:rPr>
              <a:t>American Literature</a:t>
            </a:r>
            <a:r>
              <a:rPr lang="en-US" altLang="zh-CN">
                <a:latin typeface="Times New Roman" panose="02020603050405020304" charset="0"/>
                <a:cs typeface="Times New Roman" panose="02020603050405020304" charset="0"/>
                <a:sym typeface="+mn-ea"/>
              </a:rPr>
              <a:t> 60 (1988): 645-52. Print.</a:t>
            </a:r>
            <a:endParaRPr lang="en-US" altLang="zh-CN">
              <a:latin typeface="Times New Roman" panose="02020603050405020304" charset="0"/>
              <a:cs typeface="Times New Roman" panose="02020603050405020304" charset="0"/>
            </a:endParaRPr>
          </a:p>
          <a:p>
            <a:pPr fontAlgn="auto">
              <a:lnSpc>
                <a:spcPct val="150000"/>
              </a:lnSpc>
              <a:spcBef>
                <a:spcPts val="0"/>
              </a:spcBef>
              <a:buNone/>
            </a:pPr>
            <a:r>
              <a:rPr lang="en-US" altLang="zh-CN">
                <a:latin typeface="Times New Roman" panose="02020603050405020304" charset="0"/>
                <a:cs typeface="Times New Roman" panose="02020603050405020304" charset="0"/>
                <a:sym typeface="+mn-ea"/>
              </a:rPr>
              <a:t>   Bagchi, Alaknanda. “Conflicting Nationalisms: The Voice of the Subaltern in Mahasweta Devi’s </a:t>
            </a:r>
            <a:r>
              <a:rPr lang="en-US" altLang="zh-CN" i="1">
                <a:latin typeface="Times New Roman" panose="02020603050405020304" charset="0"/>
                <a:cs typeface="Times New Roman" panose="02020603050405020304" charset="0"/>
                <a:sym typeface="+mn-ea"/>
              </a:rPr>
              <a:t>Bashai Tudu</a:t>
            </a:r>
            <a:r>
              <a:rPr lang="en-US" altLang="zh-CN">
                <a:latin typeface="Times New Roman" panose="02020603050405020304" charset="0"/>
                <a:cs typeface="Times New Roman" panose="02020603050405020304" charset="0"/>
                <a:sym typeface="+mn-ea"/>
              </a:rPr>
              <a:t>.” </a:t>
            </a:r>
            <a:r>
              <a:rPr lang="en-US" altLang="zh-CN" i="1">
                <a:latin typeface="Times New Roman" panose="02020603050405020304" charset="0"/>
                <a:cs typeface="Times New Roman" panose="02020603050405020304" charset="0"/>
                <a:sym typeface="+mn-ea"/>
              </a:rPr>
              <a:t>Tulsa Studies in Women’s Literature</a:t>
            </a:r>
            <a:r>
              <a:rPr lang="en-US" altLang="zh-CN">
                <a:latin typeface="Times New Roman" panose="02020603050405020304" charset="0"/>
                <a:cs typeface="Times New Roman" panose="02020603050405020304" charset="0"/>
                <a:sym typeface="+mn-ea"/>
              </a:rPr>
              <a:t>15.1 (1996): 41-50. Print.</a:t>
            </a:r>
            <a:endParaRPr lang="en-US" altLang="zh-CN">
              <a:latin typeface="Times New Roman" panose="02020603050405020304" charset="0"/>
              <a:cs typeface="Times New Roman" panose="02020603050405020304" charset="0"/>
            </a:endParaRPr>
          </a:p>
          <a:p>
            <a:pPr eaLnBrk="1" hangingPunct="1">
              <a:buNone/>
            </a:pPr>
            <a:endParaRPr lang="en-US" altLang="zh-CN"/>
          </a:p>
          <a:p>
            <a:pPr eaLnBrk="1" hangingPunct="1">
              <a:lnSpc>
                <a:spcPct val="80000"/>
              </a:lnSpc>
              <a:buNone/>
            </a:pPr>
            <a:endParaRPr lang="en-US" altLang="zh-CN"/>
          </a:p>
          <a:p>
            <a:pPr marL="0" indent="0" fontAlgn="auto">
              <a:lnSpc>
                <a:spcPct val="200000"/>
              </a:lnSpc>
              <a:spcBef>
                <a:spcPts val="0"/>
              </a:spcBef>
              <a:buNone/>
            </a:pPr>
            <a:endParaRPr lang="en-US">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fontAlgn="auto">
              <a:lnSpc>
                <a:spcPct val="150000"/>
              </a:lnSpc>
              <a:spcBef>
                <a:spcPts val="0"/>
              </a:spcBef>
              <a:buNone/>
            </a:pPr>
            <a:r>
              <a:rPr lang="en-US" altLang="zh-CN" b="1">
                <a:latin typeface="Times New Roman" panose="02020603050405020304" charset="0"/>
                <a:cs typeface="Times New Roman" panose="02020603050405020304" charset="0"/>
                <a:sym typeface="+mn-ea"/>
              </a:rPr>
              <a:t>Electronic sources:</a:t>
            </a:r>
            <a:endParaRPr lang="en-US" altLang="zh-CN" b="1">
              <a:latin typeface="Times New Roman" panose="02020603050405020304" charset="0"/>
              <a:cs typeface="Times New Roman" panose="02020603050405020304" charset="0"/>
            </a:endParaRPr>
          </a:p>
          <a:p>
            <a:pPr fontAlgn="auto">
              <a:lnSpc>
                <a:spcPct val="150000"/>
              </a:lnSpc>
              <a:spcBef>
                <a:spcPts val="0"/>
              </a:spcBef>
              <a:buNone/>
            </a:pPr>
            <a:r>
              <a:rPr lang="en-US" altLang="zh-CN" b="1">
                <a:latin typeface="Times New Roman" panose="02020603050405020304" charset="0"/>
                <a:cs typeface="Times New Roman" panose="02020603050405020304" charset="0"/>
                <a:sym typeface="+mn-ea"/>
              </a:rPr>
              <a:t>Article in an online journal:</a:t>
            </a:r>
            <a:endParaRPr lang="en-US" altLang="zh-CN" b="1">
              <a:latin typeface="Times New Roman" panose="02020603050405020304" charset="0"/>
              <a:cs typeface="Times New Roman" panose="02020603050405020304" charset="0"/>
            </a:endParaRPr>
          </a:p>
          <a:p>
            <a:pPr fontAlgn="auto">
              <a:lnSpc>
                <a:spcPct val="150000"/>
              </a:lnSpc>
              <a:spcBef>
                <a:spcPts val="0"/>
              </a:spcBef>
            </a:pPr>
            <a:r>
              <a:rPr lang="en-US" altLang="zh-CN">
                <a:latin typeface="Times New Roman" panose="02020603050405020304" charset="0"/>
                <a:cs typeface="Times New Roman" panose="02020603050405020304" charset="0"/>
                <a:sym typeface="+mn-ea"/>
              </a:rPr>
              <a:t>Editor, author, or compiler name (if available). </a:t>
            </a:r>
            <a:r>
              <a:rPr lang="en-US" altLang="zh-CN" i="1">
                <a:latin typeface="Times New Roman" panose="02020603050405020304" charset="0"/>
                <a:cs typeface="Times New Roman" panose="02020603050405020304" charset="0"/>
                <a:sym typeface="+mn-ea"/>
              </a:rPr>
              <a:t>Name of Site</a:t>
            </a:r>
            <a:r>
              <a:rPr lang="en-US" altLang="zh-CN">
                <a:latin typeface="Times New Roman" panose="02020603050405020304" charset="0"/>
                <a:cs typeface="Times New Roman" panose="02020603050405020304" charset="0"/>
                <a:sym typeface="+mn-ea"/>
              </a:rPr>
              <a:t>. Version number. Name of institution/organization affiliated with the site (sponsor or publisher), date of resource creation (if available). Medium of publication. Date of access.</a:t>
            </a:r>
            <a:endParaRPr lang="en-US" altLang="zh-CN">
              <a:latin typeface="Times New Roman" panose="02020603050405020304" charset="0"/>
              <a:cs typeface="Times New Roman" panose="02020603050405020304" charset="0"/>
            </a:endParaRPr>
          </a:p>
          <a:p>
            <a:pPr eaLnBrk="1" hangingPunct="1">
              <a:buNone/>
            </a:pPr>
            <a:endParaRPr lang="en-US" altLang="zh-CN"/>
          </a:p>
          <a:p>
            <a:pPr eaLnBrk="1" hangingPunct="1">
              <a:lnSpc>
                <a:spcPct val="80000"/>
              </a:lnSpc>
              <a:buNone/>
            </a:pPr>
            <a:endParaRPr lang="en-US" altLang="zh-CN"/>
          </a:p>
          <a:p>
            <a:pPr marL="0" indent="0" fontAlgn="auto">
              <a:lnSpc>
                <a:spcPct val="200000"/>
              </a:lnSpc>
              <a:spcBef>
                <a:spcPts val="0"/>
              </a:spcBef>
              <a:buNone/>
            </a:pPr>
            <a:endParaRPr lang="en-US">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0000"/>
          </a:bodyPr>
          <a:lstStyle/>
          <a:p>
            <a:pPr fontAlgn="auto">
              <a:lnSpc>
                <a:spcPct val="150000"/>
              </a:lnSpc>
              <a:spcBef>
                <a:spcPts val="0"/>
              </a:spcBef>
              <a:buNone/>
            </a:pPr>
            <a:r>
              <a:rPr lang="en-US" altLang="zh-CN" b="1">
                <a:latin typeface="Times New Roman" panose="02020603050405020304" charset="0"/>
                <a:cs typeface="Times New Roman" panose="02020603050405020304" charset="0"/>
                <a:sym typeface="+mn-ea"/>
              </a:rPr>
              <a:t>Articles on the web:</a:t>
            </a:r>
          </a:p>
          <a:p>
            <a:pPr fontAlgn="auto">
              <a:lnSpc>
                <a:spcPct val="150000"/>
              </a:lnSpc>
              <a:spcBef>
                <a:spcPts val="0"/>
              </a:spcBef>
              <a:buNone/>
            </a:pPr>
            <a:r>
              <a:rPr lang="en-US" altLang="zh-CN">
                <a:latin typeface="Times New Roman" panose="02020603050405020304" charset="0"/>
                <a:cs typeface="Times New Roman" panose="02020603050405020304" charset="0"/>
                <a:sym typeface="+mn-ea"/>
              </a:rPr>
              <a:t>Last name, First name. “Article Title.” </a:t>
            </a:r>
            <a:r>
              <a:rPr lang="en-US" altLang="zh-CN" i="1">
                <a:latin typeface="Times New Roman" panose="02020603050405020304" charset="0"/>
                <a:cs typeface="Times New Roman" panose="02020603050405020304" charset="0"/>
                <a:sym typeface="+mn-ea"/>
              </a:rPr>
              <a:t>Website Title.</a:t>
            </a:r>
            <a:r>
              <a:rPr lang="en-US" altLang="zh-CN">
                <a:latin typeface="Times New Roman" panose="02020603050405020304" charset="0"/>
                <a:cs typeface="Times New Roman" panose="02020603050405020304" charset="0"/>
                <a:sym typeface="+mn-ea"/>
              </a:rPr>
              <a:t> Publisher of Website, Day Month Year article was published. Web. Day Month Year article was accessed.</a:t>
            </a:r>
            <a:endParaRPr lang="en-US" altLang="zh-CN">
              <a:latin typeface="Times New Roman" panose="02020603050405020304" charset="0"/>
              <a:cs typeface="Times New Roman" panose="02020603050405020304" charset="0"/>
            </a:endParaRPr>
          </a:p>
          <a:p>
            <a:pPr fontAlgn="auto">
              <a:lnSpc>
                <a:spcPct val="150000"/>
              </a:lnSpc>
              <a:spcBef>
                <a:spcPts val="0"/>
              </a:spcBef>
              <a:buNone/>
            </a:pPr>
            <a:r>
              <a:rPr lang="en-US" altLang="zh-CN">
                <a:latin typeface="Times New Roman" panose="02020603050405020304" charset="0"/>
                <a:cs typeface="Times New Roman" panose="02020603050405020304" charset="0"/>
                <a:sym typeface="+mn-ea"/>
              </a:rPr>
              <a:t>Felluga, Dino. </a:t>
            </a:r>
            <a:r>
              <a:rPr lang="en-US" altLang="zh-CN" i="1">
                <a:latin typeface="Times New Roman" panose="02020603050405020304" charset="0"/>
                <a:cs typeface="Times New Roman" panose="02020603050405020304" charset="0"/>
                <a:sym typeface="+mn-ea"/>
              </a:rPr>
              <a:t>Guide to Literary and Critical Theory</a:t>
            </a:r>
            <a:r>
              <a:rPr lang="en-US" altLang="zh-CN">
                <a:latin typeface="Times New Roman" panose="02020603050405020304" charset="0"/>
                <a:cs typeface="Times New Roman" panose="02020603050405020304" charset="0"/>
                <a:sym typeface="+mn-ea"/>
              </a:rPr>
              <a:t>. Purdue U, 28 Nov. 2003. Web. 10 May 2006.</a:t>
            </a:r>
            <a:endParaRPr lang="en-US" altLang="zh-CN" b="1">
              <a:latin typeface="Times New Roman" panose="02020603050405020304" charset="0"/>
              <a:cs typeface="Times New Roman" panose="02020603050405020304" charset="0"/>
            </a:endParaRPr>
          </a:p>
          <a:p>
            <a:pPr fontAlgn="auto">
              <a:lnSpc>
                <a:spcPct val="150000"/>
              </a:lnSpc>
              <a:spcBef>
                <a:spcPts val="0"/>
              </a:spcBef>
              <a:buNone/>
            </a:pPr>
            <a:r>
              <a:rPr lang="en-US" altLang="zh-CN">
                <a:latin typeface="Times New Roman" panose="02020603050405020304" charset="0"/>
                <a:cs typeface="Times New Roman" panose="02020603050405020304" charset="0"/>
                <a:sym typeface="+mn-ea"/>
              </a:rPr>
              <a:t>“How to Make Vegetarian Chili.” </a:t>
            </a:r>
            <a:r>
              <a:rPr lang="en-US" altLang="zh-CN" i="1">
                <a:latin typeface="Times New Roman" panose="02020603050405020304" charset="0"/>
                <a:cs typeface="Times New Roman" panose="02020603050405020304" charset="0"/>
                <a:sym typeface="+mn-ea"/>
              </a:rPr>
              <a:t>eHow</a:t>
            </a:r>
            <a:r>
              <a:rPr lang="en-US" altLang="zh-CN">
                <a:latin typeface="Times New Roman" panose="02020603050405020304" charset="0"/>
                <a:cs typeface="Times New Roman" panose="02020603050405020304" charset="0"/>
                <a:sym typeface="+mn-ea"/>
              </a:rPr>
              <a:t>. Demand Media, </a:t>
            </a:r>
            <a:r>
              <a:rPr lang="en-US" altLang="zh-CN">
                <a:solidFill>
                  <a:srgbClr val="FF0000"/>
                </a:solidFill>
                <a:latin typeface="Times New Roman" panose="02020603050405020304" charset="0"/>
                <a:cs typeface="Times New Roman" panose="02020603050405020304" charset="0"/>
                <a:sym typeface="+mn-ea"/>
              </a:rPr>
              <a:t>n.d. </a:t>
            </a:r>
            <a:r>
              <a:rPr lang="en-US" altLang="zh-CN">
                <a:latin typeface="Times New Roman" panose="02020603050405020304" charset="0"/>
                <a:cs typeface="Times New Roman" panose="02020603050405020304" charset="0"/>
                <a:sym typeface="+mn-ea"/>
              </a:rPr>
              <a:t>Web. 24 Feb. 2009.</a:t>
            </a:r>
            <a:endParaRPr lang="en-US" altLang="zh-CN">
              <a:latin typeface="Times New Roman" panose="02020603050405020304" charset="0"/>
              <a:cs typeface="Times New Roman" panose="02020603050405020304" charset="0"/>
            </a:endParaRPr>
          </a:p>
          <a:p>
            <a:pPr fontAlgn="auto">
              <a:lnSpc>
                <a:spcPct val="150000"/>
              </a:lnSpc>
              <a:spcBef>
                <a:spcPts val="0"/>
              </a:spcBef>
            </a:pPr>
            <a:r>
              <a:rPr lang="en-US" altLang="zh-CN">
                <a:latin typeface="Times New Roman" panose="02020603050405020304" charset="0"/>
                <a:cs typeface="Times New Roman" panose="02020603050405020304" charset="0"/>
                <a:sym typeface="+mn-ea"/>
              </a:rPr>
              <a:t>n.d.:</a:t>
            </a:r>
            <a:r>
              <a:rPr lang="zh-CN" altLang="en-US">
                <a:latin typeface="Times New Roman" panose="02020603050405020304" charset="0"/>
                <a:cs typeface="Times New Roman" panose="02020603050405020304" charset="0"/>
                <a:sym typeface="+mn-ea"/>
              </a:rPr>
              <a:t>日期不详</a:t>
            </a:r>
            <a:endParaRPr lang="zh-CN" altLang="en-US">
              <a:latin typeface="Times New Roman" panose="02020603050405020304" charset="0"/>
              <a:cs typeface="Times New Roman" panose="02020603050405020304" charset="0"/>
            </a:endParaRPr>
          </a:p>
          <a:p>
            <a:pPr eaLnBrk="1" hangingPunct="1">
              <a:buNone/>
            </a:pPr>
            <a:endParaRPr lang="en-US" altLang="zh-CN"/>
          </a:p>
          <a:p>
            <a:pPr eaLnBrk="1" hangingPunct="1">
              <a:lnSpc>
                <a:spcPct val="80000"/>
              </a:lnSpc>
              <a:buNone/>
            </a:pPr>
            <a:endParaRPr lang="en-US" altLang="zh-CN"/>
          </a:p>
          <a:p>
            <a:pPr marL="0" indent="0" fontAlgn="auto">
              <a:lnSpc>
                <a:spcPct val="200000"/>
              </a:lnSpc>
              <a:spcBef>
                <a:spcPts val="0"/>
              </a:spcBef>
              <a:buNone/>
            </a:pPr>
            <a:endParaRPr lang="en-US">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fontAlgn="auto">
              <a:lnSpc>
                <a:spcPct val="150000"/>
              </a:lnSpc>
              <a:spcBef>
                <a:spcPts val="0"/>
              </a:spcBef>
              <a:buNone/>
            </a:pPr>
            <a:r>
              <a:rPr lang="en-US" altLang="zh-CN" b="1">
                <a:latin typeface="Times New Roman" panose="02020603050405020304" charset="0"/>
                <a:cs typeface="Times New Roman" panose="02020603050405020304" charset="0"/>
                <a:sym typeface="+mn-ea"/>
              </a:rPr>
              <a:t>CD-ROM:</a:t>
            </a:r>
            <a:endParaRPr lang="en-US" altLang="zh-CN" b="1">
              <a:latin typeface="Times New Roman" panose="02020603050405020304" charset="0"/>
              <a:cs typeface="Times New Roman" panose="02020603050405020304" charset="0"/>
            </a:endParaRPr>
          </a:p>
          <a:p>
            <a:pPr fontAlgn="auto">
              <a:lnSpc>
                <a:spcPct val="150000"/>
              </a:lnSpc>
              <a:spcBef>
                <a:spcPts val="0"/>
              </a:spcBef>
              <a:buNone/>
            </a:pP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[1]Communion.” </a:t>
            </a:r>
            <a:r>
              <a:rPr lang="en-US" altLang="zh-CN" i="1">
                <a:latin typeface="Times New Roman" panose="02020603050405020304" charset="0"/>
                <a:cs typeface="Times New Roman" panose="02020603050405020304" charset="0"/>
                <a:sym typeface="+mn-ea"/>
              </a:rPr>
              <a:t>The Oxford English Dictionary</a:t>
            </a:r>
            <a:r>
              <a:rPr lang="en-US" altLang="zh-CN">
                <a:latin typeface="Times New Roman" panose="02020603050405020304" charset="0"/>
                <a:cs typeface="Times New Roman" panose="02020603050405020304" charset="0"/>
                <a:sym typeface="+mn-ea"/>
              </a:rPr>
              <a:t>. 2nd ed. CD-ROM. Oxford: Oxford UP, 1992.</a:t>
            </a:r>
            <a:endParaRPr lang="en-US" altLang="zh-CN">
              <a:latin typeface="Times New Roman" panose="02020603050405020304" charset="0"/>
              <a:cs typeface="Times New Roman" panose="02020603050405020304" charset="0"/>
            </a:endParaRPr>
          </a:p>
          <a:p>
            <a:pPr eaLnBrk="1" hangingPunct="1">
              <a:buNone/>
            </a:pPr>
            <a:endParaRPr lang="en-US" altLang="zh-CN"/>
          </a:p>
          <a:p>
            <a:pPr eaLnBrk="1" hangingPunct="1">
              <a:lnSpc>
                <a:spcPct val="80000"/>
              </a:lnSpc>
              <a:buNone/>
            </a:pPr>
            <a:endParaRPr lang="en-US" altLang="zh-CN"/>
          </a:p>
          <a:p>
            <a:pPr marL="0" indent="0" fontAlgn="auto">
              <a:lnSpc>
                <a:spcPct val="200000"/>
              </a:lnSpc>
              <a:spcBef>
                <a:spcPts val="0"/>
              </a:spcBef>
              <a:buNone/>
            </a:pPr>
            <a:endParaRPr lang="en-US">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fontAlgn="auto">
              <a:lnSpc>
                <a:spcPct val="150000"/>
              </a:lnSpc>
              <a:buNone/>
            </a:pPr>
            <a:r>
              <a:rPr lang="en-US" altLang="zh-CN" b="1">
                <a:latin typeface="Times New Roman" panose="02020603050405020304" charset="0"/>
                <a:cs typeface="Times New Roman" panose="02020603050405020304" charset="0"/>
                <a:sym typeface="+mn-ea"/>
              </a:rPr>
              <a:t>2.3 ACS</a:t>
            </a:r>
            <a:r>
              <a:rPr lang="en-US" altLang="zh-CN">
                <a:latin typeface="Times New Roman" panose="02020603050405020304" charset="0"/>
                <a:cs typeface="Times New Roman" panose="02020603050405020304" charset="0"/>
                <a:sym typeface="+mn-ea"/>
              </a:rPr>
              <a:t>(</a:t>
            </a:r>
            <a:r>
              <a:rPr lang="en-US" altLang="zh-CN" dirty="0">
                <a:latin typeface="Times New Roman" panose="02020603050405020304" charset="0"/>
                <a:cs typeface="Times New Roman" panose="02020603050405020304" charset="0"/>
                <a:sym typeface="+mn-ea"/>
              </a:rPr>
              <a:t>American Chemical Society)</a:t>
            </a:r>
          </a:p>
          <a:p>
            <a:pPr marL="0" indent="0" fontAlgn="auto">
              <a:lnSpc>
                <a:spcPct val="150000"/>
              </a:lnSpc>
              <a:spcBef>
                <a:spcPts val="0"/>
              </a:spcBef>
              <a:buNone/>
            </a:pPr>
            <a:r>
              <a:rPr lang="en-US" altLang="zh-CN" dirty="0">
                <a:latin typeface="Times New Roman" panose="02020603050405020304" charset="0"/>
                <a:cs typeface="Times New Roman" panose="02020603050405020304" charset="0"/>
                <a:sym typeface="+mn-ea"/>
              </a:rPr>
              <a:t>The ACS style, a standard method of citation in academic publications, originated with the American Chemical Society (ACS). The Bibliography section of the ACS style appears at the end of the paper in alphabetical order if cited by author and date or in numerical order if cited by numbers.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2500"/>
          </a:bodyPr>
          <a:lstStyle/>
          <a:p>
            <a:pPr marL="0" indent="0" fontAlgn="auto">
              <a:lnSpc>
                <a:spcPct val="150000"/>
              </a:lnSpc>
              <a:spcBef>
                <a:spcPts val="0"/>
              </a:spcBef>
              <a:buNone/>
            </a:pPr>
            <a:r>
              <a:rPr lang="en-US" altLang="zh-CN" sz="2855" b="1" dirty="0">
                <a:solidFill>
                  <a:schemeClr val="tx1"/>
                </a:solidFill>
                <a:latin typeface="Times New Roman" panose="02020603050405020304" charset="0"/>
                <a:cs typeface="Times New Roman" panose="02020603050405020304" charset="0"/>
                <a:sym typeface="+mn-ea"/>
              </a:rPr>
              <a:t>Book--</a:t>
            </a:r>
            <a:r>
              <a:rPr lang="en-US" altLang="zh-CN" sz="2855" dirty="0">
                <a:latin typeface="Times New Roman" panose="02020603050405020304" charset="0"/>
                <a:cs typeface="Times New Roman" panose="02020603050405020304" charset="0"/>
                <a:sym typeface="+mn-ea"/>
              </a:rPr>
              <a:t>The minimum required information for a BOOK is author or editor, book title, publisher, city of publication and year of publication.</a:t>
            </a:r>
          </a:p>
          <a:p>
            <a:pPr marL="0" indent="0" fontAlgn="auto">
              <a:lnSpc>
                <a:spcPct val="150000"/>
              </a:lnSpc>
              <a:spcBef>
                <a:spcPts val="0"/>
              </a:spcBef>
              <a:buNone/>
            </a:pPr>
            <a:endParaRPr lang="en-US" altLang="zh-CN" sz="2855" dirty="0">
              <a:latin typeface="Times New Roman" panose="02020603050405020304" charset="0"/>
              <a:cs typeface="Times New Roman" panose="02020603050405020304" charset="0"/>
              <a:sym typeface="+mn-ea"/>
            </a:endParaRPr>
          </a:p>
          <a:p>
            <a:pPr marL="0" indent="0" fontAlgn="auto">
              <a:lnSpc>
                <a:spcPct val="150000"/>
              </a:lnSpc>
              <a:spcBef>
                <a:spcPts val="0"/>
              </a:spcBef>
              <a:buNone/>
            </a:pPr>
            <a:r>
              <a:rPr lang="en-US" altLang="zh-CN" sz="2855" dirty="0">
                <a:solidFill>
                  <a:schemeClr val="tx1"/>
                </a:solidFill>
                <a:latin typeface="Times New Roman" panose="02020603050405020304" charset="0"/>
                <a:cs typeface="Times New Roman" panose="02020603050405020304" charset="0"/>
                <a:sym typeface="+mn-ea"/>
              </a:rPr>
              <a:t>Chang, R.</a:t>
            </a:r>
            <a:r>
              <a:rPr lang="en-US" altLang="zh-CN" sz="2855" i="1" dirty="0">
                <a:solidFill>
                  <a:schemeClr val="tx1"/>
                </a:solidFill>
                <a:latin typeface="Times New Roman" panose="02020603050405020304" charset="0"/>
                <a:cs typeface="Times New Roman" panose="02020603050405020304" charset="0"/>
                <a:sym typeface="+mn-ea"/>
              </a:rPr>
              <a:t> General Chemistry: The Essential Concepts</a:t>
            </a:r>
            <a:r>
              <a:rPr lang="en-US" altLang="zh-CN" sz="2855" dirty="0">
                <a:solidFill>
                  <a:schemeClr val="tx1"/>
                </a:solidFill>
                <a:latin typeface="Times New Roman" panose="02020603050405020304" charset="0"/>
                <a:cs typeface="Times New Roman" panose="02020603050405020304" charset="0"/>
                <a:sym typeface="+mn-ea"/>
              </a:rPr>
              <a:t>, 3rd ed.;  </a:t>
            </a:r>
          </a:p>
          <a:p>
            <a:pPr marL="0" indent="0" fontAlgn="auto">
              <a:lnSpc>
                <a:spcPct val="150000"/>
              </a:lnSpc>
              <a:spcBef>
                <a:spcPts val="0"/>
              </a:spcBef>
              <a:buNone/>
            </a:pPr>
            <a:r>
              <a:rPr lang="en-US" altLang="zh-CN" sz="2855" dirty="0">
                <a:solidFill>
                  <a:schemeClr val="tx1"/>
                </a:solidFill>
                <a:latin typeface="Times New Roman" panose="02020603050405020304" charset="0"/>
                <a:cs typeface="Times New Roman" panose="02020603050405020304" charset="0"/>
                <a:sym typeface="+mn-ea"/>
              </a:rPr>
              <a:t>    McGraw-Hill: Boston, 2003. </a:t>
            </a:r>
          </a:p>
          <a:p>
            <a:pPr marL="0" indent="0" fontAlgn="auto">
              <a:lnSpc>
                <a:spcPct val="150000"/>
              </a:lnSpc>
              <a:spcBef>
                <a:spcPts val="0"/>
              </a:spcBef>
              <a:buNone/>
            </a:pPr>
            <a:r>
              <a:rPr lang="en-US" altLang="zh-CN" sz="2855" dirty="0" err="1">
                <a:solidFill>
                  <a:schemeClr val="tx1"/>
                </a:solidFill>
                <a:latin typeface="Times New Roman" panose="02020603050405020304" charset="0"/>
                <a:cs typeface="Times New Roman" panose="02020603050405020304" charset="0"/>
                <a:sym typeface="+mn-ea"/>
              </a:rPr>
              <a:t>Gbalint-Kurti</a:t>
            </a:r>
            <a:r>
              <a:rPr lang="en-US" altLang="zh-CN" sz="2855" dirty="0">
                <a:solidFill>
                  <a:schemeClr val="tx1"/>
                </a:solidFill>
                <a:latin typeface="Times New Roman" panose="02020603050405020304" charset="0"/>
                <a:cs typeface="Times New Roman" panose="02020603050405020304" charset="0"/>
                <a:sym typeface="+mn-ea"/>
              </a:rPr>
              <a:t>, G. G. </a:t>
            </a:r>
            <a:r>
              <a:rPr lang="en-US" altLang="zh-CN" sz="2855" i="1" dirty="0" err="1">
                <a:solidFill>
                  <a:schemeClr val="tx1"/>
                </a:solidFill>
                <a:latin typeface="Times New Roman" panose="02020603050405020304" charset="0"/>
                <a:cs typeface="Times New Roman" panose="02020603050405020304" charset="0"/>
                <a:sym typeface="+mn-ea"/>
              </a:rPr>
              <a:t>Wavepacket</a:t>
            </a:r>
            <a:r>
              <a:rPr lang="en-US" altLang="zh-CN" sz="2855" i="1" dirty="0">
                <a:solidFill>
                  <a:schemeClr val="tx1"/>
                </a:solidFill>
                <a:latin typeface="Times New Roman" panose="02020603050405020304" charset="0"/>
                <a:cs typeface="Times New Roman" panose="02020603050405020304" charset="0"/>
                <a:sym typeface="+mn-ea"/>
              </a:rPr>
              <a:t> Theory of Photodissociation and Reactive Scattering</a:t>
            </a:r>
            <a:r>
              <a:rPr lang="en-US" altLang="zh-CN" sz="2855" dirty="0">
                <a:solidFill>
                  <a:schemeClr val="tx1"/>
                </a:solidFill>
                <a:latin typeface="Times New Roman" panose="02020603050405020304" charset="0"/>
                <a:cs typeface="Times New Roman" panose="02020603050405020304" charset="0"/>
                <a:sym typeface="+mn-ea"/>
              </a:rPr>
              <a:t>. In </a:t>
            </a:r>
            <a:r>
              <a:rPr lang="en-US" altLang="zh-CN" sz="2855" i="1" dirty="0">
                <a:solidFill>
                  <a:schemeClr val="tx1"/>
                </a:solidFill>
                <a:latin typeface="Times New Roman" panose="02020603050405020304" charset="0"/>
                <a:cs typeface="Times New Roman" panose="02020603050405020304" charset="0"/>
                <a:sym typeface="+mn-ea"/>
              </a:rPr>
              <a:t>Advances in Chemical Physics</a:t>
            </a:r>
            <a:r>
              <a:rPr lang="en-US" altLang="zh-CN" sz="2855" dirty="0">
                <a:solidFill>
                  <a:schemeClr val="tx1"/>
                </a:solidFill>
                <a:latin typeface="Times New Roman" panose="02020603050405020304" charset="0"/>
                <a:cs typeface="Times New Roman" panose="02020603050405020304" charset="0"/>
                <a:sym typeface="+mn-ea"/>
              </a:rPr>
              <a:t>; Rice, S. A., Ed.; Wiley: New York, 2004; Vol. 128; p 257.</a:t>
            </a:r>
          </a:p>
          <a:p>
            <a:pPr marL="0" indent="0" fontAlgn="auto">
              <a:lnSpc>
                <a:spcPct val="150000"/>
              </a:lnSpc>
              <a:spcBef>
                <a:spcPts val="0"/>
              </a:spcBef>
              <a:buNone/>
            </a:pPr>
            <a:endParaRPr lang="en-US" altLang="zh-CN" sz="2855" dirty="0">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Goh, S. L. Polymer Chemistry in an Undergraduate Curriculum. In   </a:t>
            </a:r>
          </a:p>
          <a:p>
            <a:pPr marL="0" indent="0"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    </a:t>
            </a:r>
            <a:r>
              <a:rPr lang="en-US" altLang="zh-CN" i="1">
                <a:solidFill>
                  <a:schemeClr val="tx1"/>
                </a:solidFill>
                <a:latin typeface="Times New Roman" panose="02020603050405020304" charset="0"/>
                <a:cs typeface="Times New Roman" panose="02020603050405020304" charset="0"/>
                <a:sym typeface="+mn-ea"/>
              </a:rPr>
              <a:t>Introduction of Macromolecular Science/Polymeric Materials into the </a:t>
            </a:r>
          </a:p>
          <a:p>
            <a:pPr marL="0" indent="0" fontAlgn="auto">
              <a:lnSpc>
                <a:spcPct val="150000"/>
              </a:lnSpc>
              <a:spcBef>
                <a:spcPts val="0"/>
              </a:spcBef>
              <a:buNone/>
            </a:pPr>
            <a:r>
              <a:rPr lang="en-US" altLang="zh-CN" i="1">
                <a:solidFill>
                  <a:schemeClr val="tx1"/>
                </a:solidFill>
                <a:latin typeface="Times New Roman" panose="02020603050405020304" charset="0"/>
                <a:cs typeface="Times New Roman" panose="02020603050405020304" charset="0"/>
                <a:sym typeface="+mn-ea"/>
              </a:rPr>
              <a:t>    Foundational Course in Organic Chemistry</a:t>
            </a:r>
            <a:r>
              <a:rPr lang="en-US" altLang="zh-CN">
                <a:solidFill>
                  <a:schemeClr val="tx1"/>
                </a:solidFill>
                <a:latin typeface="Times New Roman" panose="02020603050405020304" charset="0"/>
                <a:cs typeface="Times New Roman" panose="02020603050405020304" charset="0"/>
                <a:sym typeface="+mn-ea"/>
              </a:rPr>
              <a:t>; ACS Symposium Series </a:t>
            </a:r>
          </a:p>
          <a:p>
            <a:pPr marL="0" indent="0"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    1151; American Chemical Society: Washington, DC, 2013; pp 113-</a:t>
            </a:r>
          </a:p>
          <a:p>
            <a:pPr marL="0" indent="0"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    127.</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spcBef>
                <a:spcPts val="0"/>
              </a:spcBef>
              <a:buNone/>
            </a:pPr>
            <a:r>
              <a:rPr lang="en-US" altLang="zh-CN" sz="2855" b="1">
                <a:solidFill>
                  <a:schemeClr val="tx1"/>
                </a:solidFill>
                <a:latin typeface="Times New Roman" panose="02020603050405020304" charset="0"/>
                <a:cs typeface="Times New Roman" panose="02020603050405020304" charset="0"/>
                <a:sym typeface="+mn-ea"/>
              </a:rPr>
              <a:t>Article Published in a Journal</a:t>
            </a:r>
            <a:r>
              <a:rPr lang="en-US" altLang="zh-CN" sz="2855">
                <a:latin typeface="Times New Roman" panose="02020603050405020304" charset="0"/>
                <a:cs typeface="Times New Roman" panose="02020603050405020304" charset="0"/>
                <a:sym typeface="+mn-ea"/>
              </a:rPr>
              <a:t>--Last Name, First Initial.; Last Name, First Initial. Journal. Year, Volume, Pages.</a:t>
            </a:r>
          </a:p>
          <a:p>
            <a:pPr marL="0" indent="0" fontAlgn="auto">
              <a:lnSpc>
                <a:spcPct val="150000"/>
              </a:lnSpc>
              <a:spcBef>
                <a:spcPts val="0"/>
              </a:spcBef>
              <a:buNone/>
            </a:pPr>
            <a:r>
              <a:rPr lang="en-US" altLang="zh-CN" sz="2855">
                <a:solidFill>
                  <a:schemeClr val="accent2">
                    <a:lumMod val="75000"/>
                  </a:schemeClr>
                </a:solidFill>
                <a:latin typeface="Times New Roman" panose="02020603050405020304" charset="0"/>
                <a:cs typeface="Times New Roman" panose="02020603050405020304" charset="0"/>
                <a:sym typeface="+mn-ea"/>
              </a:rPr>
              <a:t>e.g. </a:t>
            </a:r>
          </a:p>
          <a:p>
            <a:pPr marL="0" indent="0" fontAlgn="auto">
              <a:lnSpc>
                <a:spcPct val="150000"/>
              </a:lnSpc>
              <a:spcBef>
                <a:spcPts val="0"/>
              </a:spcBef>
              <a:buNone/>
            </a:pPr>
            <a:r>
              <a:rPr lang="en-US" altLang="zh-CN" sz="2855">
                <a:latin typeface="Times New Roman" panose="02020603050405020304" charset="0"/>
                <a:cs typeface="Times New Roman" panose="02020603050405020304" charset="0"/>
                <a:sym typeface="+mn-ea"/>
              </a:rPr>
              <a:t>Evans, D. A.; Fitch, D. M.; Smith, T. E.; Cee, V. J. Application of Complex Aldol Reactions to the Total Synthesis of Phorboxazole B.</a:t>
            </a:r>
            <a:r>
              <a:rPr lang="en-US" altLang="zh-CN" sz="2855" i="1">
                <a:latin typeface="Times New Roman" panose="02020603050405020304" charset="0"/>
                <a:cs typeface="Times New Roman" panose="02020603050405020304" charset="0"/>
                <a:sym typeface="+mn-ea"/>
              </a:rPr>
              <a:t> J. Am. Chem. Soc.</a:t>
            </a:r>
            <a:r>
              <a:rPr lang="en-US" altLang="zh-CN" sz="2855" b="1">
                <a:latin typeface="Times New Roman" panose="02020603050405020304" charset="0"/>
                <a:cs typeface="Times New Roman" panose="02020603050405020304" charset="0"/>
                <a:sym typeface="+mn-ea"/>
              </a:rPr>
              <a:t> 2000</a:t>
            </a:r>
            <a:r>
              <a:rPr lang="en-US" altLang="zh-CN" sz="2855">
                <a:latin typeface="Times New Roman" panose="02020603050405020304" charset="0"/>
                <a:cs typeface="Times New Roman" panose="02020603050405020304" charset="0"/>
                <a:sym typeface="+mn-ea"/>
              </a:rPr>
              <a:t>, </a:t>
            </a:r>
            <a:r>
              <a:rPr lang="en-US" altLang="zh-CN" sz="2855" i="1">
                <a:latin typeface="Times New Roman" panose="02020603050405020304" charset="0"/>
                <a:cs typeface="Times New Roman" panose="02020603050405020304" charset="0"/>
                <a:sym typeface="+mn-ea"/>
              </a:rPr>
              <a:t>122</a:t>
            </a:r>
            <a:r>
              <a:rPr lang="en-US" altLang="zh-CN" sz="2855">
                <a:latin typeface="Times New Roman" panose="02020603050405020304" charset="0"/>
                <a:cs typeface="Times New Roman" panose="02020603050405020304" charset="0"/>
                <a:sym typeface="+mn-ea"/>
              </a:rPr>
              <a:t>, 10033-10046.</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80000" lnSpcReduction="10000"/>
          </a:bodyPr>
          <a:lstStyle/>
          <a:p>
            <a:pPr marL="0" indent="0" fontAlgn="auto">
              <a:lnSpc>
                <a:spcPct val="150000"/>
              </a:lnSpc>
              <a:spcBef>
                <a:spcPts val="0"/>
              </a:spcBef>
              <a:buNone/>
            </a:pPr>
            <a:r>
              <a:rPr lang="en-US" altLang="zh-CN" sz="3000" b="1" dirty="0">
                <a:solidFill>
                  <a:schemeClr val="tx1"/>
                </a:solidFill>
                <a:latin typeface="Times New Roman" panose="02020603050405020304" charset="0"/>
                <a:cs typeface="Times New Roman" panose="02020603050405020304" charset="0"/>
                <a:sym typeface="+mn-ea"/>
              </a:rPr>
              <a:t>Online Journal</a:t>
            </a:r>
          </a:p>
          <a:p>
            <a:pPr marL="0" indent="0" fontAlgn="auto">
              <a:lnSpc>
                <a:spcPct val="150000"/>
              </a:lnSpc>
              <a:spcBef>
                <a:spcPts val="0"/>
              </a:spcBef>
              <a:buNone/>
            </a:pPr>
            <a:r>
              <a:rPr lang="en-US" altLang="zh-CN" sz="3000" dirty="0">
                <a:latin typeface="Times New Roman" panose="02020603050405020304" charset="0"/>
                <a:cs typeface="Times New Roman" panose="02020603050405020304" charset="0"/>
                <a:sym typeface="+mn-ea"/>
              </a:rPr>
              <a:t>Online journal articles are cited using the same format as print journals. Add</a:t>
            </a:r>
          </a:p>
          <a:p>
            <a:pPr marL="0" indent="0" fontAlgn="auto">
              <a:lnSpc>
                <a:spcPct val="150000"/>
              </a:lnSpc>
              <a:spcBef>
                <a:spcPts val="0"/>
              </a:spcBef>
              <a:buNone/>
            </a:pPr>
            <a:r>
              <a:rPr lang="en-US" altLang="zh-CN" sz="3000" dirty="0">
                <a:latin typeface="Times New Roman" panose="02020603050405020304" charset="0"/>
                <a:cs typeface="Times New Roman" panose="02020603050405020304" charset="0"/>
                <a:sym typeface="+mn-ea"/>
              </a:rPr>
              <a:t>“[Online]” after the journal name. Include inclusive pagination or other identifying</a:t>
            </a:r>
          </a:p>
          <a:p>
            <a:pPr marL="0" indent="0" fontAlgn="auto">
              <a:lnSpc>
                <a:spcPct val="150000"/>
              </a:lnSpc>
              <a:spcBef>
                <a:spcPts val="0"/>
              </a:spcBef>
              <a:buNone/>
            </a:pPr>
            <a:r>
              <a:rPr lang="en-US" altLang="zh-CN" sz="3000" dirty="0">
                <a:latin typeface="Times New Roman" panose="02020603050405020304" charset="0"/>
                <a:cs typeface="Times New Roman" panose="02020603050405020304" charset="0"/>
                <a:sym typeface="+mn-ea"/>
              </a:rPr>
              <a:t>information such as DOI number.</a:t>
            </a:r>
          </a:p>
          <a:p>
            <a:pPr marL="0" indent="0" fontAlgn="auto">
              <a:lnSpc>
                <a:spcPct val="150000"/>
              </a:lnSpc>
              <a:spcBef>
                <a:spcPts val="0"/>
              </a:spcBef>
              <a:buNone/>
            </a:pPr>
            <a:r>
              <a:rPr lang="en-US" altLang="zh-CN" sz="3000" dirty="0">
                <a:latin typeface="Times New Roman" panose="02020603050405020304" charset="0"/>
                <a:cs typeface="Times New Roman" panose="02020603050405020304" charset="0"/>
                <a:sym typeface="+mn-ea"/>
              </a:rPr>
              <a:t>Peacock-Lopez, E. Exact Solutions of the Quantum Double Square-Well Potential. </a:t>
            </a:r>
          </a:p>
          <a:p>
            <a:pPr marL="0" indent="0" fontAlgn="auto">
              <a:lnSpc>
                <a:spcPct val="150000"/>
              </a:lnSpc>
              <a:spcBef>
                <a:spcPts val="0"/>
              </a:spcBef>
              <a:buNone/>
            </a:pPr>
            <a:r>
              <a:rPr lang="en-US" altLang="zh-CN" sz="3000" dirty="0">
                <a:latin typeface="Times New Roman" panose="02020603050405020304" charset="0"/>
                <a:cs typeface="Times New Roman" panose="02020603050405020304" charset="0"/>
                <a:sym typeface="+mn-ea"/>
              </a:rPr>
              <a:t>   Chem. Ed. [Online] 2007, 11, 383-393 </a:t>
            </a:r>
          </a:p>
          <a:p>
            <a:pPr marL="0" indent="0" fontAlgn="auto">
              <a:lnSpc>
                <a:spcPct val="150000"/>
              </a:lnSpc>
              <a:spcBef>
                <a:spcPts val="0"/>
              </a:spcBef>
              <a:buNone/>
            </a:pPr>
            <a:r>
              <a:rPr lang="en-US" altLang="zh-CN" sz="3000" dirty="0">
                <a:latin typeface="Times New Roman" panose="02020603050405020304" charset="0"/>
                <a:cs typeface="Times New Roman" panose="02020603050405020304" charset="0"/>
                <a:sym typeface="+mn-ea"/>
              </a:rPr>
              <a:t>    http://chemeducator.org/bibs/0011006/110603801b.htm (accessed Aug 23, 2007).</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fontAlgn="auto">
              <a:lnSpc>
                <a:spcPct val="150000"/>
              </a:lnSpc>
              <a:buNone/>
            </a:pPr>
            <a:r>
              <a:rPr lang="en-US" altLang="zh-CN" b="1">
                <a:latin typeface="Times New Roman" panose="02020603050405020304" charset="0"/>
                <a:cs typeface="Times New Roman" panose="02020603050405020304" charset="0"/>
                <a:sym typeface="+mn-ea"/>
              </a:rPr>
              <a:t>2.4 IEEE</a:t>
            </a:r>
            <a:r>
              <a:rPr lang="en-US" altLang="zh-CN">
                <a:latin typeface="Times New Roman" panose="02020603050405020304" charset="0"/>
                <a:cs typeface="Times New Roman" panose="02020603050405020304" charset="0"/>
                <a:sym typeface="+mn-ea"/>
              </a:rPr>
              <a:t> (Institute of Electrical and Electronics Engineers)</a:t>
            </a:r>
          </a:p>
          <a:p>
            <a:pPr fontAlgn="auto">
              <a:lnSpc>
                <a:spcPct val="150000"/>
              </a:lnSpc>
              <a:buNone/>
            </a:pPr>
            <a:endParaRPr lang="en-US" altLang="zh-CN">
              <a:latin typeface="Times New Roman" panose="02020603050405020304" charset="0"/>
              <a:cs typeface="Times New Roman" panose="02020603050405020304" charset="0"/>
              <a:sym typeface="+mn-ea"/>
            </a:endParaRPr>
          </a:p>
          <a:p>
            <a:pPr marL="0" indent="0" fontAlgn="auto">
              <a:lnSpc>
                <a:spcPct val="150000"/>
              </a:lnSpc>
              <a:spcBef>
                <a:spcPts val="0"/>
              </a:spcBef>
              <a:buNone/>
            </a:pPr>
            <a:r>
              <a:rPr lang="en-US" altLang="zh-CN" dirty="0">
                <a:latin typeface="Times New Roman" panose="02020603050405020304" charset="0"/>
                <a:cs typeface="Times New Roman" panose="02020603050405020304" charset="0"/>
                <a:sym typeface="+mn-ea"/>
              </a:rPr>
              <a:t>An IEEE in-text citation consists of a number in brackets at the relevant point in the text, which points the reader to the right entry in the numbered IEEE reference page at the end of the research paper. </a:t>
            </a:r>
          </a:p>
          <a:p>
            <a:pPr marL="0" indent="0" fontAlgn="auto">
              <a:lnSpc>
                <a:spcPct val="150000"/>
              </a:lnSpc>
              <a:spcBef>
                <a:spcPts val="0"/>
              </a:spcBef>
              <a:buNone/>
            </a:pPr>
            <a:endParaRPr lang="en-US" altLang="zh-CN" dirty="0">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478915"/>
            <a:ext cx="10938510" cy="5102860"/>
          </a:xfrm>
          <a:ln w="28575">
            <a:solidFill>
              <a:schemeClr val="accent2">
                <a:lumMod val="75000"/>
              </a:schemeClr>
            </a:solidFill>
          </a:ln>
        </p:spPr>
        <p:txBody>
          <a:bodyPr>
            <a:normAutofit lnSpcReduction="10000"/>
          </a:bodyPr>
          <a:lstStyle/>
          <a:p>
            <a:pPr marL="0" indent="0" eaLnBrk="1" hangingPunct="1">
              <a:lnSpc>
                <a:spcPct val="90000"/>
              </a:lnSpc>
              <a:buNone/>
            </a:pPr>
            <a:endParaRPr lang="en-US" altLang="zh-CN" dirty="0">
              <a:latin typeface="Times New Roman" panose="02020603050405020304" charset="0"/>
              <a:cs typeface="Times New Roman" panose="02020603050405020304" charset="0"/>
              <a:sym typeface="+mn-ea"/>
            </a:endParaRPr>
          </a:p>
          <a:p>
            <a:pPr marL="0" indent="0" eaLnBrk="1" hangingPunct="1">
              <a:lnSpc>
                <a:spcPct val="90000"/>
              </a:lnSpc>
              <a:buNone/>
            </a:pPr>
            <a:r>
              <a:rPr lang="en-US" altLang="zh-CN" dirty="0">
                <a:latin typeface="Times New Roman" panose="02020603050405020304" charset="0"/>
                <a:cs typeface="Times New Roman" panose="02020603050405020304" charset="0"/>
                <a:sym typeface="+mn-ea"/>
              </a:rPr>
              <a:t>2.5 </a:t>
            </a:r>
            <a:r>
              <a:rPr lang="zh-CN" altLang="en-US" b="1" dirty="0">
                <a:sym typeface="+mn-ea"/>
              </a:rPr>
              <a:t>中文参考文献格式（也可参考中文权威学术期刊格式要求）：</a:t>
            </a:r>
            <a:endParaRPr lang="zh-CN" altLang="en-US" b="1" dirty="0"/>
          </a:p>
          <a:p>
            <a:pPr eaLnBrk="1" hangingPunct="1">
              <a:lnSpc>
                <a:spcPct val="90000"/>
              </a:lnSpc>
              <a:buNone/>
            </a:pPr>
            <a:r>
              <a:rPr lang="en-US" altLang="zh-CN" b="1" dirty="0">
                <a:sym typeface="+mn-ea"/>
              </a:rPr>
              <a:t>---</a:t>
            </a:r>
            <a:r>
              <a:rPr lang="zh-CN" altLang="en-US" b="1" dirty="0">
                <a:sym typeface="+mn-ea"/>
              </a:rPr>
              <a:t>专著、编著、译著等：</a:t>
            </a:r>
            <a:endParaRPr lang="zh-CN" altLang="en-US" b="1" dirty="0"/>
          </a:p>
          <a:p>
            <a:pPr eaLnBrk="1" hangingPunct="1">
              <a:lnSpc>
                <a:spcPct val="90000"/>
              </a:lnSpc>
              <a:buNone/>
            </a:pPr>
            <a:r>
              <a:rPr lang="zh-CN" altLang="en-US" dirty="0">
                <a:sym typeface="+mn-ea"/>
              </a:rPr>
              <a:t>杜维明</a:t>
            </a:r>
            <a:r>
              <a:rPr lang="en-US" altLang="zh-CN" dirty="0">
                <a:sym typeface="+mn-ea"/>
              </a:rPr>
              <a:t>.</a:t>
            </a:r>
            <a:r>
              <a:rPr lang="zh-CN" altLang="en-US" dirty="0">
                <a:sym typeface="+mn-ea"/>
              </a:rPr>
              <a:t>东亚价值与多元现代性</a:t>
            </a:r>
            <a:r>
              <a:rPr lang="en-US" altLang="zh-CN" dirty="0">
                <a:sym typeface="+mn-ea"/>
              </a:rPr>
              <a:t>【M】. </a:t>
            </a:r>
            <a:r>
              <a:rPr lang="zh-CN" altLang="en-US" dirty="0">
                <a:sym typeface="+mn-ea"/>
              </a:rPr>
              <a:t>北京</a:t>
            </a:r>
            <a:r>
              <a:rPr lang="en-US" altLang="zh-CN" dirty="0">
                <a:sym typeface="+mn-ea"/>
              </a:rPr>
              <a:t>: </a:t>
            </a:r>
            <a:r>
              <a:rPr lang="zh-CN" altLang="en-US" dirty="0">
                <a:sym typeface="+mn-ea"/>
              </a:rPr>
              <a:t>中国社会科学出版社</a:t>
            </a:r>
            <a:r>
              <a:rPr lang="en-US" altLang="zh-CN" dirty="0">
                <a:sym typeface="+mn-ea"/>
              </a:rPr>
              <a:t>,2001</a:t>
            </a:r>
            <a:endParaRPr lang="en-US" altLang="zh-CN" dirty="0"/>
          </a:p>
          <a:p>
            <a:pPr eaLnBrk="1" hangingPunct="1">
              <a:lnSpc>
                <a:spcPct val="90000"/>
              </a:lnSpc>
              <a:buNone/>
            </a:pPr>
            <a:r>
              <a:rPr lang="zh-CN" altLang="en-US" dirty="0">
                <a:sym typeface="+mn-ea"/>
              </a:rPr>
              <a:t>申丹</a:t>
            </a:r>
            <a:r>
              <a:rPr lang="en-US" altLang="zh-CN" dirty="0">
                <a:sym typeface="+mn-ea"/>
              </a:rPr>
              <a:t>.</a:t>
            </a:r>
            <a:r>
              <a:rPr lang="zh-CN" altLang="en-US" dirty="0">
                <a:sym typeface="+mn-ea"/>
              </a:rPr>
              <a:t>文学文体学与小说翻译</a:t>
            </a:r>
            <a:r>
              <a:rPr lang="en-US" altLang="zh-CN" dirty="0">
                <a:sym typeface="+mn-ea"/>
              </a:rPr>
              <a:t>【M】. </a:t>
            </a:r>
            <a:r>
              <a:rPr lang="zh-CN" altLang="en-US" dirty="0">
                <a:sym typeface="+mn-ea"/>
              </a:rPr>
              <a:t>北京</a:t>
            </a:r>
            <a:r>
              <a:rPr lang="en-US" altLang="zh-CN" dirty="0">
                <a:sym typeface="+mn-ea"/>
              </a:rPr>
              <a:t>:</a:t>
            </a:r>
            <a:r>
              <a:rPr lang="zh-CN" altLang="en-US" dirty="0">
                <a:sym typeface="+mn-ea"/>
              </a:rPr>
              <a:t>北京大学出版社</a:t>
            </a:r>
            <a:r>
              <a:rPr lang="en-US" altLang="zh-CN" dirty="0">
                <a:sym typeface="+mn-ea"/>
              </a:rPr>
              <a:t>,1995</a:t>
            </a:r>
            <a:endParaRPr lang="en-US" altLang="zh-CN" dirty="0"/>
          </a:p>
          <a:p>
            <a:pPr eaLnBrk="1" hangingPunct="1">
              <a:lnSpc>
                <a:spcPct val="90000"/>
              </a:lnSpc>
              <a:buNone/>
            </a:pPr>
            <a:r>
              <a:rPr lang="en-US" altLang="zh-CN" b="1" dirty="0">
                <a:sym typeface="+mn-ea"/>
              </a:rPr>
              <a:t>---</a:t>
            </a:r>
            <a:r>
              <a:rPr lang="zh-CN" altLang="en-US" b="1" dirty="0">
                <a:sym typeface="+mn-ea"/>
              </a:rPr>
              <a:t>期刊文章</a:t>
            </a:r>
            <a:r>
              <a:rPr lang="en-US" altLang="zh-CN" b="1" dirty="0">
                <a:sym typeface="+mn-ea"/>
              </a:rPr>
              <a:t>:</a:t>
            </a:r>
            <a:endParaRPr lang="en-US" altLang="zh-CN" b="1" dirty="0"/>
          </a:p>
          <a:p>
            <a:pPr eaLnBrk="1" hangingPunct="1">
              <a:lnSpc>
                <a:spcPct val="90000"/>
              </a:lnSpc>
              <a:buNone/>
            </a:pPr>
            <a:r>
              <a:rPr lang="zh-CN" altLang="en-US" dirty="0">
                <a:sym typeface="+mn-ea"/>
              </a:rPr>
              <a:t>程爱民</a:t>
            </a:r>
            <a:r>
              <a:rPr lang="en-US" altLang="zh-CN" dirty="0">
                <a:sym typeface="+mn-ea"/>
              </a:rPr>
              <a:t>.</a:t>
            </a:r>
            <a:r>
              <a:rPr lang="zh-CN" altLang="en-US" dirty="0">
                <a:sym typeface="+mn-ea"/>
              </a:rPr>
              <a:t>原型批评的整体性文化批评倾向</a:t>
            </a:r>
            <a:r>
              <a:rPr lang="en-US" altLang="zh-CN" dirty="0">
                <a:sym typeface="+mn-ea"/>
              </a:rPr>
              <a:t>【J】.</a:t>
            </a:r>
            <a:r>
              <a:rPr lang="zh-CN" altLang="en-US" dirty="0">
                <a:sym typeface="+mn-ea"/>
              </a:rPr>
              <a:t>外国文学</a:t>
            </a:r>
            <a:r>
              <a:rPr lang="en-US" altLang="zh-CN" dirty="0">
                <a:sym typeface="+mn-ea"/>
              </a:rPr>
              <a:t>,2000(5): 67-74</a:t>
            </a:r>
            <a:endParaRPr lang="en-US" altLang="zh-CN" dirty="0"/>
          </a:p>
          <a:p>
            <a:pPr eaLnBrk="1" hangingPunct="1">
              <a:lnSpc>
                <a:spcPct val="90000"/>
              </a:lnSpc>
              <a:buNone/>
            </a:pPr>
            <a:r>
              <a:rPr lang="en-US" altLang="zh-CN" b="1" dirty="0">
                <a:sym typeface="+mn-ea"/>
              </a:rPr>
              <a:t>---</a:t>
            </a:r>
            <a:r>
              <a:rPr lang="zh-CN" altLang="en-US" b="1" dirty="0">
                <a:sym typeface="+mn-ea"/>
              </a:rPr>
              <a:t>报纸文章</a:t>
            </a:r>
            <a:r>
              <a:rPr lang="en-US" altLang="zh-CN" b="1" dirty="0">
                <a:sym typeface="+mn-ea"/>
              </a:rPr>
              <a:t>:</a:t>
            </a:r>
            <a:endParaRPr lang="en-US" altLang="zh-CN" b="1" dirty="0"/>
          </a:p>
          <a:p>
            <a:pPr eaLnBrk="1" hangingPunct="1">
              <a:lnSpc>
                <a:spcPct val="90000"/>
              </a:lnSpc>
              <a:buNone/>
            </a:pPr>
            <a:r>
              <a:rPr lang="zh-CN" altLang="en-US" dirty="0">
                <a:sym typeface="+mn-ea"/>
              </a:rPr>
              <a:t>冯宪光</a:t>
            </a:r>
            <a:r>
              <a:rPr lang="en-US" altLang="zh-CN" dirty="0">
                <a:sym typeface="+mn-ea"/>
              </a:rPr>
              <a:t>.</a:t>
            </a:r>
            <a:r>
              <a:rPr lang="zh-CN" altLang="en-US" dirty="0">
                <a:sym typeface="+mn-ea"/>
              </a:rPr>
              <a:t>借鉴与重构</a:t>
            </a:r>
            <a:r>
              <a:rPr lang="en-US" altLang="zh-CN" dirty="0">
                <a:sym typeface="+mn-ea"/>
              </a:rPr>
              <a:t>:</a:t>
            </a:r>
            <a:r>
              <a:rPr lang="zh-CN" altLang="en-US" dirty="0">
                <a:sym typeface="+mn-ea"/>
              </a:rPr>
              <a:t>西方马克思主义文学批评在中国</a:t>
            </a:r>
            <a:r>
              <a:rPr lang="en-US" altLang="zh-CN" dirty="0">
                <a:sym typeface="+mn-ea"/>
              </a:rPr>
              <a:t>【N】.</a:t>
            </a:r>
            <a:r>
              <a:rPr lang="zh-CN" altLang="en-US" dirty="0">
                <a:sym typeface="+mn-ea"/>
              </a:rPr>
              <a:t>文艺报</a:t>
            </a:r>
            <a:r>
              <a:rPr lang="en-US" altLang="zh-CN" dirty="0">
                <a:sym typeface="+mn-ea"/>
              </a:rPr>
              <a:t>,1999/11/23(3)</a:t>
            </a:r>
            <a:endParaRPr lang="en-US" altLang="zh-CN" dirty="0"/>
          </a:p>
          <a:p>
            <a:pPr eaLnBrk="1" hangingPunct="1">
              <a:buNone/>
            </a:pPr>
            <a:endParaRPr lang="en-US" altLang="zh-CN" dirty="0"/>
          </a:p>
          <a:p>
            <a:pPr eaLnBrk="1" hangingPunct="1">
              <a:lnSpc>
                <a:spcPct val="80000"/>
              </a:lnSpc>
              <a:buNone/>
            </a:pPr>
            <a:endParaRPr lang="en-US" altLang="zh-CN" dirty="0"/>
          </a:p>
          <a:p>
            <a:pPr marL="0" indent="0" fontAlgn="auto">
              <a:lnSpc>
                <a:spcPct val="200000"/>
              </a:lnSpc>
              <a:spcBef>
                <a:spcPts val="0"/>
              </a:spcBef>
              <a:buNone/>
            </a:pPr>
            <a:endParaRPr lang="en-US" dirty="0">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spcBef>
                <a:spcPts val="0"/>
              </a:spcBef>
              <a:buNone/>
            </a:pPr>
            <a:r>
              <a:rPr lang="en-US" altLang="zh-CN" sz="3000" dirty="0">
                <a:latin typeface="Times New Roman" panose="02020603050405020304" charset="0"/>
                <a:cs typeface="Times New Roman" panose="02020603050405020304" charset="0"/>
                <a:sym typeface="+mn-ea"/>
              </a:rPr>
              <a:t>Note: </a:t>
            </a:r>
          </a:p>
          <a:p>
            <a:pPr fontAlgn="auto">
              <a:lnSpc>
                <a:spcPct val="150000"/>
              </a:lnSpc>
              <a:spcBef>
                <a:spcPts val="0"/>
              </a:spcBef>
              <a:buFont typeface="Wingdings" panose="05000000000000000000" charset="0"/>
              <a:buChar char="ü"/>
            </a:pPr>
            <a:r>
              <a:rPr lang="en-US" altLang="zh-CN" sz="3000">
                <a:latin typeface="Times New Roman" panose="02020603050405020304" charset="0"/>
                <a:cs typeface="Times New Roman" panose="02020603050405020304" charset="0"/>
                <a:sym typeface="+mn-ea"/>
              </a:rPr>
              <a:t> All sources cited in the text must be documented in the References section.</a:t>
            </a:r>
          </a:p>
          <a:p>
            <a:pPr fontAlgn="auto">
              <a:lnSpc>
                <a:spcPct val="150000"/>
              </a:lnSpc>
              <a:spcBef>
                <a:spcPts val="0"/>
              </a:spcBef>
              <a:buFont typeface="Wingdings" panose="05000000000000000000" charset="0"/>
              <a:buChar char="ü"/>
            </a:pPr>
            <a:r>
              <a:rPr lang="en-US" altLang="zh-CN" sz="3000" dirty="0">
                <a:latin typeface="Times New Roman" panose="02020603050405020304" charset="0"/>
                <a:cs typeface="Times New Roman" panose="02020603050405020304" charset="0"/>
                <a:sym typeface="+mn-ea"/>
              </a:rPr>
              <a:t> No other reference is listed in the References section unless it was cited in the text. </a:t>
            </a:r>
          </a:p>
          <a:p>
            <a:pPr fontAlgn="auto">
              <a:lnSpc>
                <a:spcPct val="150000"/>
              </a:lnSpc>
              <a:spcBef>
                <a:spcPts val="0"/>
              </a:spcBef>
              <a:buFont typeface="Wingdings" panose="05000000000000000000" charset="0"/>
              <a:buChar char="ü"/>
            </a:pPr>
            <a:r>
              <a:rPr lang="en-US" altLang="zh-CN" sz="3000" dirty="0">
                <a:latin typeface="Times New Roman" panose="02020603050405020304" charset="0"/>
                <a:cs typeface="Times New Roman" panose="02020603050405020304" charset="0"/>
                <a:sym typeface="+mn-ea"/>
              </a:rPr>
              <a:t> Write as much information as necessary for the references.</a:t>
            </a:r>
          </a:p>
          <a:p>
            <a:pPr marL="0" indent="0" fontAlgn="auto">
              <a:lnSpc>
                <a:spcPct val="150000"/>
              </a:lnSpc>
              <a:spcBef>
                <a:spcPts val="0"/>
              </a:spcBef>
              <a:buFont typeface="Wingdings" panose="05000000000000000000" charset="0"/>
              <a:buNone/>
            </a:pPr>
            <a:endParaRPr lang="en-US" altLang="zh-CN" sz="3000" dirty="0">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en-US" altLang="zh-CN" sz="2800" b="1">
                <a:latin typeface="Times New Roman" panose="02020603050405020304" charset="0"/>
                <a:cs typeface="Times New Roman" panose="02020603050405020304" charset="0"/>
                <a:sym typeface="+mn-ea"/>
              </a:rPr>
              <a:t>Citation and References--2 References</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fontAlgn="auto">
              <a:lnSpc>
                <a:spcPct val="150000"/>
              </a:lnSpc>
              <a:spcBef>
                <a:spcPts val="0"/>
              </a:spcBef>
              <a:buNone/>
            </a:pPr>
            <a:r>
              <a:rPr lang="en-US" altLang="zh-CN" i="1" dirty="0">
                <a:latin typeface="Times New Roman" panose="02020603050405020304" charset="0"/>
                <a:cs typeface="Times New Roman" panose="02020603050405020304" charset="0"/>
                <a:sym typeface="+mn-ea"/>
              </a:rPr>
              <a:t>Exercise: Document the following sources in the APA/MLA</a:t>
            </a:r>
            <a:r>
              <a:rPr lang="zh-CN" altLang="en-US" i="1" dirty="0">
                <a:latin typeface="Times New Roman" panose="02020603050405020304" charset="0"/>
                <a:cs typeface="Times New Roman" panose="02020603050405020304" charset="0"/>
                <a:sym typeface="+mn-ea"/>
              </a:rPr>
              <a:t> </a:t>
            </a:r>
            <a:r>
              <a:rPr lang="en-US" altLang="zh-CN" i="1" dirty="0">
                <a:latin typeface="Times New Roman" panose="02020603050405020304" charset="0"/>
                <a:cs typeface="Times New Roman" panose="02020603050405020304" charset="0"/>
                <a:sym typeface="+mn-ea"/>
              </a:rPr>
              <a:t>style using the information below.</a:t>
            </a:r>
            <a:endParaRPr lang="en-US" altLang="zh-CN" dirty="0">
              <a:latin typeface="Times New Roman" panose="02020603050405020304" charset="0"/>
              <a:cs typeface="Times New Roman" panose="02020603050405020304" charset="0"/>
            </a:endParaRPr>
          </a:p>
          <a:p>
            <a:pPr fontAlgn="auto">
              <a:lnSpc>
                <a:spcPct val="150000"/>
              </a:lnSpc>
              <a:spcBef>
                <a:spcPts val="0"/>
              </a:spcBef>
              <a:buNone/>
            </a:pPr>
            <a:r>
              <a:rPr lang="en-US" altLang="zh-CN" dirty="0">
                <a:latin typeface="Times New Roman" panose="02020603050405020304" charset="0"/>
                <a:cs typeface="Times New Roman" panose="02020603050405020304" charset="0"/>
                <a:sym typeface="+mn-ea"/>
              </a:rPr>
              <a:t>1. In 1982 an article called “Hearers and Speech Acts” was written for volume 58 of the journal named </a:t>
            </a:r>
            <a:r>
              <a:rPr lang="en-US" altLang="zh-CN" i="1" dirty="0">
                <a:latin typeface="Times New Roman" panose="02020603050405020304" charset="0"/>
                <a:cs typeface="Times New Roman" panose="02020603050405020304" charset="0"/>
                <a:sym typeface="+mn-ea"/>
              </a:rPr>
              <a:t>language</a:t>
            </a:r>
            <a:r>
              <a:rPr lang="en-US" altLang="zh-CN" dirty="0">
                <a:latin typeface="Times New Roman" panose="02020603050405020304" charset="0"/>
                <a:cs typeface="Times New Roman" panose="02020603050405020304" charset="0"/>
                <a:sym typeface="+mn-ea"/>
              </a:rPr>
              <a:t>. It was on pages 332-373 and the authors were Herbert H. Clark and Thomas H. Carlson.</a:t>
            </a:r>
            <a:endParaRPr lang="en-US" altLang="zh-CN" dirty="0">
              <a:latin typeface="Times New Roman" panose="02020603050405020304" charset="0"/>
              <a:cs typeface="Times New Roman" panose="02020603050405020304" charset="0"/>
            </a:endParaRPr>
          </a:p>
          <a:p>
            <a:pPr fontAlgn="auto">
              <a:lnSpc>
                <a:spcPct val="150000"/>
              </a:lnSpc>
              <a:spcBef>
                <a:spcPts val="0"/>
              </a:spcBef>
              <a:buNone/>
            </a:pPr>
            <a:r>
              <a:rPr lang="en-US" altLang="zh-CN" dirty="0">
                <a:latin typeface="Times New Roman" panose="02020603050405020304" charset="0"/>
                <a:cs typeface="Times New Roman" panose="02020603050405020304" charset="0"/>
                <a:sym typeface="+mn-ea"/>
              </a:rPr>
              <a:t>2. Rachel Carson wrote a book called </a:t>
            </a:r>
            <a:r>
              <a:rPr lang="en-US" altLang="zh-CN" i="1" dirty="0">
                <a:latin typeface="Times New Roman" panose="02020603050405020304" charset="0"/>
                <a:cs typeface="Times New Roman" panose="02020603050405020304" charset="0"/>
                <a:sym typeface="+mn-ea"/>
              </a:rPr>
              <a:t>Silent Spring</a:t>
            </a:r>
            <a:r>
              <a:rPr lang="en-US" altLang="zh-CN" dirty="0">
                <a:latin typeface="Times New Roman" panose="02020603050405020304" charset="0"/>
                <a:cs typeface="Times New Roman" panose="02020603050405020304" charset="0"/>
                <a:sym typeface="+mn-ea"/>
              </a:rPr>
              <a:t> in 1962. It was published in Boston by Houghton Mifflin.</a:t>
            </a:r>
            <a:endParaRPr lang="en-US" altLang="zh-CN" dirty="0">
              <a:latin typeface="Times New Roman" panose="02020603050405020304" charset="0"/>
              <a:cs typeface="Times New Roman" panose="02020603050405020304" charset="0"/>
            </a:endParaRPr>
          </a:p>
          <a:p>
            <a:pPr eaLnBrk="1" hangingPunct="1">
              <a:lnSpc>
                <a:spcPct val="80000"/>
              </a:lnSpc>
              <a:buNone/>
            </a:pPr>
            <a:endParaRPr lang="en-US" altLang="zh-CN" dirty="0"/>
          </a:p>
          <a:p>
            <a:pPr marL="0" indent="0" fontAlgn="auto">
              <a:lnSpc>
                <a:spcPct val="200000"/>
              </a:lnSpc>
              <a:spcBef>
                <a:spcPts val="0"/>
              </a:spcBef>
              <a:buNone/>
            </a:pPr>
            <a:endParaRPr lang="en-US" dirty="0">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9</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9 Citation and References</a:t>
            </a:r>
          </a:p>
        </p:txBody>
      </p:sp>
      <p:sp>
        <p:nvSpPr>
          <p:cNvPr id="8" name="文本框 7"/>
          <p:cNvSpPr txBox="1"/>
          <p:nvPr/>
        </p:nvSpPr>
        <p:spPr>
          <a:xfrm>
            <a:off x="3785235" y="8636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869315" y="219075"/>
            <a:ext cx="10575290" cy="1207770"/>
          </a:xfrm>
        </p:spPr>
        <p:txBody>
          <a:bodyPr>
            <a:normAutofit/>
          </a:bodyPr>
          <a:lstStyle/>
          <a:p>
            <a:r>
              <a:rPr lang="en-US" altLang="zh-CN" sz="4445" b="1">
                <a:latin typeface="Times New Roman" panose="02020603050405020304" charset="0"/>
                <a:cs typeface="Times New Roman" panose="02020603050405020304" charset="0"/>
              </a:rPr>
              <a:t>The End</a:t>
            </a:r>
          </a:p>
        </p:txBody>
      </p:sp>
      <p:sp>
        <p:nvSpPr>
          <p:cNvPr id="3" name="副标题 2"/>
          <p:cNvSpPr>
            <a:spLocks noGrp="1"/>
          </p:cNvSpPr>
          <p:nvPr>
            <p:ph type="subTitle" idx="1"/>
          </p:nvPr>
        </p:nvSpPr>
        <p:spPr/>
        <p:txBody>
          <a:bodyPr/>
          <a:lstStyle/>
          <a:p>
            <a:endParaRPr lang="zh-CN" altLang="en-US"/>
          </a:p>
        </p:txBody>
      </p:sp>
      <p:pic>
        <p:nvPicPr>
          <p:cNvPr id="4" name="图片 3"/>
          <p:cNvPicPr>
            <a:picLocks noChangeAspect="1"/>
          </p:cNvPicPr>
          <p:nvPr/>
        </p:nvPicPr>
        <p:blipFill>
          <a:blip r:embed="rId2"/>
          <a:stretch>
            <a:fillRect/>
          </a:stretch>
        </p:blipFill>
        <p:spPr>
          <a:xfrm>
            <a:off x="966470" y="2007235"/>
            <a:ext cx="10268585" cy="34575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WE1YjkyNTI0OGY5ZTY5YTFjYmVjM2U0M2U1MGM5YjQifQ=="/>
  <p:tag name="KSO_WPP_MARK_KEY" val="9a8a450f-8f86-43e0-8f21-dfae82163d08"/>
</p:tagLst>
</file>

<file path=ppt/tags/tag2.xml><?xml version="1.0" encoding="utf-8"?>
<p:tagLst xmlns:a="http://schemas.openxmlformats.org/drawingml/2006/main" xmlns:r="http://schemas.openxmlformats.org/officeDocument/2006/relationships" xmlns:p="http://schemas.openxmlformats.org/presentationml/2006/main">
  <p:tag name="KSO_WM_SLIDE_ID" val="diagram20213293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TAG_VERSION" val="1.0"/>
  <p:tag name="KSO_WM_BEAUTIFY_FLAG" val="#wm#"/>
  <p:tag name="KSO_WM_TEMPLATE_CATEGORY" val="diagram"/>
  <p:tag name="KSO_WM_TEMPLATE_INDEX" val="20213293"/>
  <p:tag name="KSO_WM_SLIDE_LAYOUT" val="a_d_f"/>
  <p:tag name="KSO_WM_SLIDE_LAYOUT_CNT" val="1_1_1"/>
  <p:tag name="KSO_WM_TEMPLATE_THUMBS_INDEX" val="1、4、7、12、13、14、15、16、17、18、20、24、25、28、33、36、40、43、44"/>
  <p:tag name="KSO_WM_SLIDE_LAYOUT_INFO" val="{&quot;backgroundInfo&quot;:[{&quot;bottom&quot;:0,&quot;bottomAbs&quot;:false,&quot;left&quot;:0,&quot;leftAbs&quot;:false,&quot;right&quot;:0,&quot;rightAbs&quot;:false,&quot;top&quot;:0,&quot;topAbs&quot;:false,&quot;type&quot;:&quot;general&quot;}],&quot;id&quot;:&quot;2022-12-15T22:40:38&quot;,&quot;maxSize&quot;:{&quot;size1&quot;:30},&quot;minSize&quot;:{&quot;size1&quot;:17.8},&quot;normalSize&quot;:{&quot;size1&quot;:25.33314814814815},&quot;subLayout&quot;:[{&quot;id&quot;:&quot;2022-12-15T22:40:38&quot;,&quot;margin&quot;:{&quot;bottom&quot;:0,&quot;left&quot;:1.6929999589920044,&quot;right&quot;:1.6929999589920044,&quot;top&quot;:1.6929999589920044},&quot;type&quot;:0},{&quot;id&quot;:&quot;2022-12-15T22:40:38&quot;,&quot;maxSize&quot;:{&quot;size1&quot;:66.7},&quot;minSize&quot;:{&quot;size1&quot;:38.9},&quot;normalSize&quot;:{&quot;size1&quot;:62.423426850370916},&quot;subLayout&quot;:[{&quot;id&quot;:&quot;2022-12-15T22:40:38&quot;,&quot;margin&quot;:{&quot;bottom&quot;:0.02600000612437725,&quot;left&quot;:1.6929999589920044,&quot;right&quot;:1.6929999589920044,&quot;top&quot;:0.847000002861023},&quot;type&quot;:0},{&quot;id&quot;:&quot;2022-12-15T22:40:38&quot;,&quot;margin&quot;:{&quot;bottom&quot;:1.6929999589920044,&quot;left&quot;:1.6929999589920044,&quot;right&quot;:1.6929999589920044,&quot;top&quot;:0.8199999928474426},&quot;type&quot;:0}],&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69675c553136823a5e61e7"/>
  <p:tag name="KSO_WM_CHIP_FILLPROP" val="[[{&quot;text_align&quot;:&quot;ct&quot;,&quot;text_direction&quot;:&quot;horizontal&quot;,&quot;support_big_font&quot;:false,&quot;picture_toward&quot;:0,&quot;picture_dockside&quot;:[],&quot;fill_id&quot;:&quot;42bdfa4a24a64d988a6191cecd716896&quot;,&quot;fill_align&quot;:&quot;ct&quot;,&quot;chip_types&quot;:[&quot;header&quot;]},{&quot;text_align&quot;:&quot;lm&quot;,&quot;text_direction&quot;:&quot;horizontal&quot;,&quot;support_features&quot;:[&quot;collage&quot;,&quot;carousel&quot;],&quot;support_big_font&quot;:false,&quot;picture_toward&quot;:0,&quot;picture_dockside&quot;:[],&quot;fill_id&quot;:&quot;c7f405b535bb49fd9c504e13d5a436be&quot;,&quot;fill_align&quot;:&quot;cm&quot;,&quot;chip_types&quot;:[&quot;diagram&quot;,&quot;pictext&quot;,&quot;picture&quot;,&quot;chart&quot;,&quot;table&quot;,&quot;video&quot;]},{&quot;text_align&quot;:&quot;cm&quot;,&quot;text_direction&quot;:&quot;horizontal&quot;,&quot;support_big_font&quot;:false,&quot;picture_toward&quot;:0,&quot;picture_dockside&quot;:[],&quot;fill_id&quot;:&quot;af7019ab30b54b018c2fc8ea2401cac8&quot;,&quot;fill_align&quot;:&quot;cm&quot;,&quot;chip_types&quot;:[&quot;text&quot;]}],[{&quot;text_align&quot;:&quot;cm&quot;,&quot;text_direction&quot;:&quot;horizontal&quot;,&quot;support_big_font&quot;:false,&quot;picture_toward&quot;:0,&quot;picture_dockside&quot;:[],&quot;fill_id&quot;:&quot;42bdfa4a24a64d988a6191cecd716896&quot;,&quot;fill_align&quot;:&quot;cm&quot;,&quot;chip_types&quot;:[&quot;header&quot;]},{&quot;text_align&quot;:&quot;lm&quot;,&quot;text_direction&quot;:&quot;horizontal&quot;,&quot;support_big_font&quot;:false,&quot;picture_toward&quot;:0,&quot;picture_dockside&quot;:[],&quot;fill_id&quot;:&quot;c7f405b535bb49fd9c504e13d5a436be&quot;,&quot;fill_align&quot;:&quot;cm&quot;,&quot;chip_types&quot;:[&quot;diagram&quot;,&quot;pictext&quot;,&quot;picture&quot;,&quot;chart&quot;,&quot;table&quot;]},{&quot;text_align&quot;:&quot;cm&quot;,&quot;text_direction&quot;:&quot;horizontal&quot;,&quot;support_big_font&quot;:false,&quot;picture_toward&quot;:0,&quot;picture_dockside&quot;:[],&quot;fill_id&quot;:&quot;af7019ab30b54b018c2fc8ea2401cac8&quot;,&quot;fill_align&quot;:&quot;cm&quot;,&quot;chip_types&quot;:[&quot;text&quot;,&quot;picture&quot;]}],[{&quot;text_align&quot;:&quot;lm&quot;,&quot;text_direction&quot;:&quot;horizontal&quot;,&quot;support_big_font&quot;:false,&quot;picture_toward&quot;:0,&quot;picture_dockside&quot;:[],&quot;fill_id&quot;:&quot;42bdfa4a24a64d988a6191cecd716896&quot;,&quot;fill_align&quot;:&quot;lm&quot;,&quot;chip_types&quot;:[&quot;text&quot;,&quot;header&quot;]},{&quot;text_align&quot;:&quot;lm&quot;,&quot;text_direction&quot;:&quot;horizontal&quot;,&quot;support_features&quot;:[&quot;collage&quot;,&quot;carousel&quot;],&quot;support_big_font&quot;:false,&quot;picture_toward&quot;:0,&quot;picture_dockside&quot;:[],&quot;fill_id&quot;:&quot;c7f405b535bb49fd9c504e13d5a436be&quot;,&quot;fill_align&quot;:&quot;cm&quot;,&quot;chip_types&quot;:[&quot;diagram&quot;,&quot;pictext&quot;,&quot;picture&quot;,&quot;chart&quot;,&quot;table&quot;]},{&quot;text_align&quot;:&quot;lm&quot;,&quot;text_direction&quot;:&quot;horizontal&quot;,&quot;support_big_font&quot;:false,&quot;picture_toward&quot;:0,&quot;picture_dockside&quot;:[],&quot;fill_id&quot;:&quot;af7019ab30b54b018c2fc8ea2401cac8&quot;,&quot;fill_align&quot;:&quot;lm&quot;,&quot;chip_types&quot;:[&quot;text&quot;,&quot;picture&quot;]}]]"/>
  <p:tag name="KSO_WM_SLIDE_SIZE" val="865*444"/>
  <p:tag name="KSO_WM_SLIDE_POSITION" val="47*48"/>
  <p:tag name="FIXED_XID_TMP" val="5f5ee1ca4d6848d78f644aed"/>
  <p:tag name="KSO_WM_CHIP_DECFILLPROP" val="[]"/>
  <p:tag name="KSO_WM_CHIP_GROUPID" val="5f5ee1ca4d6848d78f644aed"/>
  <p:tag name="KSO_WM_SLIDE_BK_DARK_LIGHT" val="2"/>
  <p:tag name="KSO_WM_SLIDE_BACKGROUND_TYPE" val="general"/>
  <p:tag name="KSO_WM_SLIDE_SUPPORT_FEATURE_TYPE" val="3"/>
  <p:tag name="KSO_WM_TEMPLATE_ASSEMBLE_XID" val="639b31e60c9383becdeaa802"/>
  <p:tag name="KSO_WM_TEMPLATE_ASSEMBLE_GROUPID" val="639b31e60c9383becdeaa802"/>
</p:tagLst>
</file>

<file path=ppt/tags/tag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293_1*a*1"/>
  <p:tag name="KSO_WM_TEMPLATE_CATEGORY" val="diagram"/>
  <p:tag name="KSO_WM_TEMPLATE_INDEX" val="20213293"/>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eac46169eb2b460bb4a610ed53a67e2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12c141ff192434a81f8ec7859d8d7f3"/>
  <p:tag name="KSO_WM_UNIT_TEXT_FILL_FORE_SCHEMECOLOR_INDEX_BRIGHTNESS" val="0"/>
  <p:tag name="KSO_WM_UNIT_TEXT_FILL_FORE_SCHEMECOLOR_INDEX" val="13"/>
  <p:tag name="KSO_WM_UNIT_TEXT_FILL_TYPE" val="1"/>
  <p:tag name="KSO_WM_TEMPLATE_ASSEMBLE_XID" val="639b31e60c9383becdeaa802"/>
  <p:tag name="KSO_WM_TEMPLATE_ASSEMBLE_GROUPID" val="639b31e60c9383becdeaa802"/>
</p:tagLst>
</file>

<file path=ppt/tags/tag4.xml><?xml version="1.0" encoding="utf-8"?>
<p:tagLst xmlns:a="http://schemas.openxmlformats.org/drawingml/2006/main" xmlns:r="http://schemas.openxmlformats.org/officeDocument/2006/relationships" xmlns:p="http://schemas.openxmlformats.org/presentationml/2006/main">
  <p:tag name="KSO_WM_UNIT_VALUE" val="761*3046"/>
  <p:tag name="KSO_WM_UNIT_HIGHLIGHT" val="0"/>
  <p:tag name="KSO_WM_UNIT_COMPATIBLE" val="0"/>
  <p:tag name="KSO_WM_UNIT_DIAGRAM_ISNUMVISUAL" val="0"/>
  <p:tag name="KSO_WM_UNIT_DIAGRAM_ISREFERUNIT" val="0"/>
  <p:tag name="KSO_WM_UNIT_TYPE" val="d"/>
  <p:tag name="KSO_WM_UNIT_INDEX" val="1"/>
  <p:tag name="KSO_WM_UNIT_ID" val="diagram20213293_1*d*1"/>
  <p:tag name="KSO_WM_TEMPLATE_CATEGORY" val="diagram"/>
  <p:tag name="KSO_WM_TEMPLATE_INDEX" val="20213293"/>
  <p:tag name="KSO_WM_UNIT_LAYERLEVEL" val="1"/>
  <p:tag name="KSO_WM_TAG_VERSION" val="1.0"/>
  <p:tag name="KSO_WM_BEAUTIFY_FLAG" val="#wm#"/>
  <p:tag name="KSO_WM_CHIP_GROUPID" val="5e7310da9a230a26b9e88a19"/>
  <p:tag name="KSO_WM_CHIP_XID" val="5e7310da9a230a26b9e88a1a"/>
  <p:tag name="KSO_WM_UNIT_DEC_AREA_ID" val="d39d48b01a0a4808a05868f443a9408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28373cf9a1d42b2ad4400f46103fc14"/>
  <p:tag name="KSO_WM_UNIT_SUPPORT_UNIT_TYPE" val="[&quot;l&quot;,&quot;m&quot;,&quot;n&quot;,&quot;o&quot;,&quot;p&quot;,&quot;q&quot;,&quot;r&quot;,&quot;δ&quot;,&quot;ε&quot;,&quot;ζ&quot;,&quot;η&quot;,&quot;d&quot;,&quot;α&quot;,&quot;β&quot;,&quot;θ&quot;]"/>
  <p:tag name="KSO_WM_TEMPLATE_ASSEMBLE_XID" val="639b31e60c9383becdeaa802"/>
  <p:tag name="KSO_WM_TEMPLATE_ASSEMBLE_GROUPID" val="639b31e60c9383becdeaa802"/>
  <p:tag name="KSO_WM_UNIT_PICTURE_CLIP_FLAG" val="0"/>
</p:tagLst>
</file>

<file path=ppt/tags/tag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3293_1*f*1"/>
  <p:tag name="KSO_WM_TEMPLATE_CATEGORY" val="diagram"/>
  <p:tag name="KSO_WM_TEMPLATE_INDEX" val="20213293"/>
  <p:tag name="KSO_WM_UNIT_LAYERLEVEL" val="1"/>
  <p:tag name="KSO_WM_TAG_VERSION" val="1.0"/>
  <p:tag name="KSO_WM_BEAUTIFY_FLAG" val="#wm#"/>
  <p:tag name="KSO_WM_UNIT_DEFAULT_FONT" val="14;20;2"/>
  <p:tag name="KSO_WM_UNIT_BLOCK" val="0"/>
  <p:tag name="KSO_WM_UNIT_VALUE" val="172"/>
  <p:tag name="KSO_WM_UNIT_SHOW_EDIT_AREA_INDICATION" val="1"/>
  <p:tag name="KSO_WM_CHIP_GROUPID" val="5e6b05596848fb12bee65ac8"/>
  <p:tag name="KSO_WM_CHIP_XID" val="5e6b05596848fb12bee65aca"/>
  <p:tag name="KSO_WM_UNIT_DEC_AREA_ID" val="f3ba6b55ee6d4aec98d86b43aa728f7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7bdb306efbae44b9a7ac00fd1cb9e337"/>
  <p:tag name="KSO_WM_UNIT_TEXT_FILL_FORE_SCHEMECOLOR_INDEX_BRIGHTNESS" val="0.25"/>
  <p:tag name="KSO_WM_UNIT_TEXT_FILL_FORE_SCHEMECOLOR_INDEX" val="13"/>
  <p:tag name="KSO_WM_UNIT_TEXT_FILL_TYPE" val="1"/>
  <p:tag name="KSO_WM_TEMPLATE_ASSEMBLE_XID" val="639b31e60c9383becdeaa802"/>
  <p:tag name="KSO_WM_TEMPLATE_ASSEMBLE_GROUPID" val="639b31e60c9383becdeaa802"/>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TotalTime>
  <Words>2286</Words>
  <Application>Microsoft Office PowerPoint</Application>
  <PresentationFormat>宽屏</PresentationFormat>
  <Paragraphs>238</Paragraphs>
  <Slides>30</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30</vt:i4>
      </vt:variant>
    </vt:vector>
  </HeadingPairs>
  <TitlesOfParts>
    <vt:vector size="35" baseType="lpstr">
      <vt:lpstr>Arial</vt:lpstr>
      <vt:lpstr>Calibri</vt:lpstr>
      <vt:lpstr>Times New Roman</vt:lpstr>
      <vt:lpstr>Wingdings</vt:lpstr>
      <vt:lpstr>Office 主题</vt:lpstr>
      <vt:lpstr>PowerPoint 演示文稿</vt:lpstr>
      <vt:lpstr>Chapter 9 Citation and References</vt:lpstr>
      <vt:lpstr>Citation and References</vt:lpstr>
      <vt:lpstr>Citation and References--1 Citation</vt:lpstr>
      <vt:lpstr>Citation and References--1 Citation</vt:lpstr>
      <vt:lpstr>Citation and References--1 Citation</vt:lpstr>
      <vt:lpstr>Citation and References--1 Citation</vt:lpstr>
      <vt:lpstr>Citation and References--1 Citation</vt:lpstr>
      <vt:lpstr>Citation and References--1 Citation</vt:lpstr>
      <vt:lpstr>Citation and References--1 Citation</vt:lpstr>
      <vt:lpstr>Citation and References--1 Citation</vt:lpstr>
      <vt:lpstr>Citation and References--1 Citation</vt:lpstr>
      <vt:lpstr>Citation and References--2 References</vt:lpstr>
      <vt:lpstr>Citation and References--2 References</vt:lpstr>
      <vt:lpstr>Citation and References--2 References</vt:lpstr>
      <vt:lpstr>Citation and References--2 References</vt:lpstr>
      <vt:lpstr>Citation and References--2 References</vt:lpstr>
      <vt:lpstr>Citation and References--2 References</vt:lpstr>
      <vt:lpstr>Citation and References--2 References</vt:lpstr>
      <vt:lpstr>Citation and References--2 References</vt:lpstr>
      <vt:lpstr>Citation and References--2 References</vt:lpstr>
      <vt:lpstr>Citation and References--2 References</vt:lpstr>
      <vt:lpstr>Citation and References--2 References</vt:lpstr>
      <vt:lpstr>Citation and References--2 References</vt:lpstr>
      <vt:lpstr>Citation and References--2 References</vt:lpstr>
      <vt:lpstr>Citation and References--2 References</vt:lpstr>
      <vt:lpstr>Citation and References--2 References</vt:lpstr>
      <vt:lpstr>Citation and References--2 References</vt:lpstr>
      <vt:lpstr>Citation and References--2 References</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SY</dc:creator>
  <cp:lastModifiedBy>SY</cp:lastModifiedBy>
  <cp:revision>17</cp:revision>
  <dcterms:created xsi:type="dcterms:W3CDTF">2023-05-31T05:00:00Z</dcterms:created>
  <dcterms:modified xsi:type="dcterms:W3CDTF">2026-06-14T22:56:47Z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3B5B1E123AF3485882F4A37DE2994B51_12</vt:lpwstr>
  </property>
  <property fmtid="{D5CDD505-2E9C-101B-9397-08002B2CF9AE}" pid="3" name="KSOProductBuildVer">
    <vt:lpwstr>2052-12.1.0.21171</vt:lpwstr>
  </property>
</Properties>
</file>